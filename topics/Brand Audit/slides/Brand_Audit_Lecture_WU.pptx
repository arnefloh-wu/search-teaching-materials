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is a full three-hour block on brand audits in five parts: why brands need audits, Keller's audit process, measuring brand equity, data beyond the survey (online data, AI answers, financial valuation) and applying the audit in a mini audit and the team project. All sources with access notes: Notion page "Brand Audit" (377 sources) and the GitHub folder topics/Brand Audit.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objectives. The last one links directly to the team project briefed at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typical triggers, and what it costs to change a brand without an audit.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Paraphrase of Keller's definition. Stress "consumer-focused": an audit is not a design review or an internal SWOT, it is about what is in buyers' memory. The three questions structure the rest of the session. Check the chapter number in the 5th edition before citing (chapter 9 per our resource guide, unverified).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class for examples of each trigger from Austrian brands they know. Ritson's column "Brand diagnosis is the brand manager's first job" (Marketing Week, Feb 2023) separates a deep first-year diagnosis from the annual tracker; we return to that on the tracking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Tropicana: Pure Premium unit sales −20 %, dollar sales −19 % (about USD 33m) between 1 Jan and 22 Feb 2009; redesign scrapped 23 Feb. Gap: October 2010 logo reversed within about a week. Bud Light: YouGov Impression 6.2 to −14 between 1 April and 11 June 2023; Stella Artois only −3.5 in the same period.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Keller and Lehmann organise brand research along this brand value chain. Mizik and Jacobson show that BAV perception pillars carry information for stock returns beyond accounting data. Survey data are one link; market and financial outcomes check whether perceptions matter.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inventory and brand exploratory, structured by the CBBE pyramid.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Keller's two-part structure. The value of the audit lies in comparing the two columns: where the intended positioning (inventory) and what buyers actually hold in memory (exploratory) diverge. Keller's 2016 AMS Review article gives his updated view of the process in a digital context.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templates: Smartsheet's free brand audit templates; Wheeler &amp; Meyerson, Designing Brand Identity. Chattopadhyay &amp; Laborie (2005, JAR) add a contact audit: which touchpoints matter and how strongly each is linked to the brand.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relationship spectrum from Aaker &amp; Joachimsthaler. Examples: A1 migration (Leadersnet, 20 Sep 2017), Merkur to BILLA PLUS (REWE, 28 Jan 2021), Rauch umbrella brand (Horizont 2009), Manner portfolio (annual report 2019). The placement of Rauch and BILLA PLUS is debatable: a good discussion opener. Strebinger (WU) studies drivers of corporate versus product branding. RBI's 2023 group brand refresh is a live case.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Plumeyer et al. (2019, Review of Managerial Science) review 12 brand image measurement techniques and give a decision roadmap; use it to justify method choice. Romaniuk warns that trackers overweight heavy loyal buyers; the audit sample should reflect the category.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pyramid to structure the exploratory: each level becomes a block of survey questions. Keller (1993) defines brand knowledge as awareness plus image. Ask students to draft one survey question per block.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German identity-based school (Burmann, Meffert, Esch's Markensteuerrad) frames the audit as identity versus image. Keller's process is mostly outside-in; an internal survey (King, Grace &amp; Funk's employee brand equity scale) closes the loop. Baumgarth's Markenaudit tool (PraxisWISSEN Marketing 2016, free on econstor) combines both perspectives with scoring.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Associations, scales, mental availability, distinctive assets and tracking.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Schnittka, Sattler &amp; Zenker (2012, IJRM) extend concept maps with favourability. Driesener &amp; Romaniuk show that rating, ranking and pick-any give near-identical brand-level results, which supports the cheap pick-any grid.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Christodoulides &amp; de Chernatony (2010, IJMR) review the scales. Datta et al. (2017, JM) link BAV survey equity to scanner-data equity for 290+ brands. For the lab: lavaan in R or semopy in Python.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activity: students rate two competing brands (for example Manner and Milka) on the Geuens items and discuss whether the results describe personality or just liking. Aaker 1997 JMR 34(3); Geuens, Weijters &amp; De Wulf 2009 IJRM 26(2); Azoulay &amp; Kapferer 2003 JBM 11(2).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r-marketing.r-forge.r-project.org/data/rintro-chapter8.csv (Python notebooks at github.com/python-marketing-research); also in the course Dropbox folder. Li, Castelo, Katona &amp; Sarvary (2024), Marketing Science 43(2). Discussion: what would an LLM-based audit miss?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Romaniuk &amp; Sharp (2003): the number of brand-attribute responses follows brand size (double jeopardy). Romaniuk &amp; Sharp (2004) define brand salience. Better Brand Health turns this into tracker metrics; quantilope's free CEP guide has worked examples. Debate: Keller's differentiation versus Sharp's distinctiveness.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Benchmarks from Phua, Bali, Anesbury &amp; Sharp (2026): 1,162 assets, 21 categories, 4 countries (open access). Brus et al. (2025): marketers' judgements of 405 elements of 50 brands. Tropicana dropped a famous, unique asset without testing; Mastercard dropped the word mark only once over 80 % recognised the circles alone.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Ritson (2023): first-year deep diagnosis, then an annual tracker measuring only the associations that matter. Romaniuk: design the tracker for the category. Riquier (2019): most tracker measures barely move for established brands. planung&amp;analyse (2022): switching providers needs parallel waves.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break: user-generated content, AI visibility and financial brand valuation.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Netzer et al. 2012; Tirunillai &amp; Tellis 2014 (15 firms, 5 markets, LDA); Culotta &amp; Cutler 2016 (code on GitHub, X data now restricted); Rust et al. 2021. Alzate et al. 2022 (open access) gives a review-mining workflow students can copy. Tools: Brandwatch, Talkwalker, Brand24; BERTopic, spaCy, tidytext, quanteda.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is 1.08m divided by 20,400. Teaching case: Darden M-1043 (2023). MASB has a free white paper linking the drop in brand preference to sales volume. Discussion: which lens would you put in front of the board, and why?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OMR Reviews (Jan 2026, German) gives a KPI set for AI visibility; Semrush has a free 30-minute AI visibility routine. Zenodo dataset: Zatuchin 2026, CC BY 4.0, DOI 10.5281/zenodo.20794390. Otterly.AI is a Vienna start-up and a guest-speaker option. Answers vary from run to run: repeat prompts.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pages of Interbrand, Kantar BrandZ and Brand Finance (2021). Salinas &amp; Ambler (2009, JBM) classify valuation methods and show how far results diverge. Gerhard Hrebicek (European Brand Institute, Vienna) chairs the development of ISO 20671 and is a strong guest-speaker option.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Finance Austria 25 (8 Sep 2026): Red Bull EUR 10.6bn, top 25 worth EUR 46.8bn. EBI study (1 July 2026): about EUR 20.1bn. Possible reasons: brand versus brand company, royalty-rate assumptions, forecast horizon, discount rate. Report a valuation only with its method; never compare numbers across providers.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Austrian brand data, cases, a mini audit in class and the team project.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Marketagent press charts (Feb 2025, free PDF): 11 equity questions with top, average and bottom values, so students can benchmark any brand. BAV Austria 2025 by Scholz &amp; Friends Wien (Leadersnet, 1 July 2025). Marketagent founder Thomas Schwabl is a guest-speaker option.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HBP cases cost about USD 9–12 per copy (academic discount via educator account); check WU coursepack licences. The LEGO case (ANA Educational Foundation) is free and includes tracking data and a teaching note. Zotter case number confirmed only via a library record. INSEAD's Rasurel (ref. 5252) is an ageing-brand option.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 before class: the Marketagent BRAND.Diamonds 2024 press charts (free) and, per brand, three asset images with the name removed (e.g. Manner pink, ÖBB red diamond, Almdudler couple). With six teams the pitch block runs about 12 minutes; trim if needed.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the bracketed placeholders. The structure follows Keller's sample brand audit (Rolex example in earlier editions). The Lacasa article (Journal of Brand Strategy) is a published audit at student scale; Baumgarth's Markenaudit tool (free, German) offers a scoring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tools are listed with versions and licences in the Notion resource guide "Brand Audit". Check WU licences for Qualtrics, Unipark and Statista before students start fieldwork.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journal articles need WU library access. The Baumgarth paper is free on econstor. Verify the chapter number of the brand audit in the 5th edition of Keller before putting it on the syllabus.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project deadlines from the project slide before closing. Questions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9.png"/><Relationship Id="rId5"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Brand Audit</a:t>
            </a:r>
          </a:p>
        </p:txBody>
      </p:sp>
      <p:sp>
        <p:nvSpPr>
          <p:cNvPr id="3" name="Subtitle 2"/>
          <p:cNvSpPr>
            <a:spLocks noGrp="1"/>
          </p:cNvSpPr>
          <p:nvPr>
            <p:ph type="subTitle" idx="1"/>
          </p:nvPr>
        </p:nvSpPr>
        <p:spPr/>
        <p:txBody>
          <a:bodyPr/>
          <a:lstStyle/>
          <a:p>
            <a:r>
              <a:rPr lang="en-GB"/>
              <a:t>Diagnosing brand health</a:t>
            </a:r>
          </a:p>
        </p:txBody>
      </p:sp>
      <p:sp>
        <p:nvSpPr>
          <p:cNvPr id="4" name="Text Placeholder 3"/>
          <p:cNvSpPr>
            <a:spLocks noGrp="1"/>
          </p:cNvSpPr>
          <p:nvPr>
            <p:ph type="body" idx="12" sz="quarter"/>
          </p:nvPr>
        </p:nvSpPr>
        <p:spPr/>
        <p:txBody>
          <a:bodyPr/>
          <a:lstStyle/>
          <a:p>
            <a:r>
              <a:rPr lang="en-GB"/>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Learning objectives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Intro"/>
          <p:cNvSpPr txBox="1"/>
          <p:nvPr/>
        </p:nvSpPr>
        <p:spPr>
          <a:xfrm>
            <a:off x="457200" y="1234440"/>
            <a:ext cx="8229600" cy="320040"/>
          </a:xfrm>
          <a:prstGeom prst="rect">
            <a:avLst/>
          </a:prstGeom>
          <a:noFill/>
        </p:spPr>
        <p:txBody>
          <a:bodyPr wrap="square" lIns="36576" rIns="36576" tIns="18288" bIns="18288" anchor="t">
            <a:spAutoFit/>
          </a:bodyPr>
          <a:lstStyle/>
          <a:p>
            <a:pPr algn="l">
              <a:spcAft>
                <a:spcPts val="600"/>
              </a:spcAft>
            </a:pPr>
            <a:r>
              <a:rPr lang="en-GB" sz="1300" b="1">
                <a:solidFill>
                  <a:schemeClr val="tx2"/>
                </a:solidFill>
              </a:rPr>
              <a:t>By the end of this session you can …</a:t>
            </a:r>
          </a:p>
        </p:txBody>
      </p:sp>
      <p:sp>
        <p:nvSpPr>
          <p:cNvPr id="7" name="Goal 1 Band"/>
          <p:cNvSpPr/>
          <p:nvPr/>
        </p:nvSpPr>
        <p:spPr>
          <a:xfrm>
            <a:off x="457200" y="16459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oal 1 Bar"/>
          <p:cNvSpPr/>
          <p:nvPr/>
        </p:nvSpPr>
        <p:spPr>
          <a:xfrm>
            <a:off x="457200" y="1645920"/>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oal 1 Number"/>
          <p:cNvSpPr/>
          <p:nvPr/>
        </p:nvSpPr>
        <p:spPr>
          <a:xfrm>
            <a:off x="658368" y="1709928"/>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1</a:t>
            </a:r>
          </a:p>
        </p:txBody>
      </p:sp>
      <p:sp>
        <p:nvSpPr>
          <p:cNvPr id="10" name="Goal 1 Text"/>
          <p:cNvSpPr txBox="1"/>
          <p:nvPr/>
        </p:nvSpPr>
        <p:spPr>
          <a:xfrm>
            <a:off x="1234440" y="1645920"/>
            <a:ext cx="7315200" cy="512064"/>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Explain what a brand audit is and when a firm should run one.</a:t>
            </a:r>
          </a:p>
        </p:txBody>
      </p:sp>
      <p:sp>
        <p:nvSpPr>
          <p:cNvPr id="11" name="Goal 2 Band"/>
          <p:cNvSpPr/>
          <p:nvPr/>
        </p:nvSpPr>
        <p:spPr>
          <a:xfrm>
            <a:off x="457200" y="22677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oal 2 Bar"/>
          <p:cNvSpPr/>
          <p:nvPr/>
        </p:nvSpPr>
        <p:spPr>
          <a:xfrm>
            <a:off x="457200" y="2267712"/>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oal 2 Number"/>
          <p:cNvSpPr/>
          <p:nvPr/>
        </p:nvSpPr>
        <p:spPr>
          <a:xfrm>
            <a:off x="658368" y="2331720"/>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2</a:t>
            </a:r>
          </a:p>
        </p:txBody>
      </p:sp>
      <p:sp>
        <p:nvSpPr>
          <p:cNvPr id="14" name="Goal 2 Text"/>
          <p:cNvSpPr txBox="1"/>
          <p:nvPr/>
        </p:nvSpPr>
        <p:spPr>
          <a:xfrm>
            <a:off x="1234440" y="2267712"/>
            <a:ext cx="7315200" cy="512064"/>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Structure an audit with Keller's brand inventory and brand exploratory.</a:t>
            </a:r>
          </a:p>
        </p:txBody>
      </p:sp>
      <p:sp>
        <p:nvSpPr>
          <p:cNvPr id="15" name="Goal 3 Band"/>
          <p:cNvSpPr/>
          <p:nvPr/>
        </p:nvSpPr>
        <p:spPr>
          <a:xfrm>
            <a:off x="457200" y="28895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oal 3 Bar"/>
          <p:cNvSpPr/>
          <p:nvPr/>
        </p:nvSpPr>
        <p:spPr>
          <a:xfrm>
            <a:off x="457200" y="2889504"/>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Goal 3 Number"/>
          <p:cNvSpPr/>
          <p:nvPr/>
        </p:nvSpPr>
        <p:spPr>
          <a:xfrm>
            <a:off x="658368" y="2953512"/>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3</a:t>
            </a:r>
          </a:p>
        </p:txBody>
      </p:sp>
      <p:sp>
        <p:nvSpPr>
          <p:cNvPr id="18" name="Goal 3 Text"/>
          <p:cNvSpPr txBox="1"/>
          <p:nvPr/>
        </p:nvSpPr>
        <p:spPr>
          <a:xfrm>
            <a:off x="1234440" y="2889504"/>
            <a:ext cx="7315200" cy="512064"/>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Choose methods to measure brand equity, and justify the choice.</a:t>
            </a:r>
          </a:p>
        </p:txBody>
      </p:sp>
      <p:sp>
        <p:nvSpPr>
          <p:cNvPr id="19" name="Goal 4 Band"/>
          <p:cNvSpPr/>
          <p:nvPr/>
        </p:nvSpPr>
        <p:spPr>
          <a:xfrm>
            <a:off x="457200" y="351129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oal 4 Bar"/>
          <p:cNvSpPr/>
          <p:nvPr/>
        </p:nvSpPr>
        <p:spPr>
          <a:xfrm>
            <a:off x="457200" y="3511296"/>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Goal 4 Number"/>
          <p:cNvSpPr/>
          <p:nvPr/>
        </p:nvSpPr>
        <p:spPr>
          <a:xfrm>
            <a:off x="658368" y="3575303"/>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4</a:t>
            </a:r>
          </a:p>
        </p:txBody>
      </p:sp>
      <p:sp>
        <p:nvSpPr>
          <p:cNvPr id="22" name="Goal 4 Text"/>
          <p:cNvSpPr txBox="1"/>
          <p:nvPr/>
        </p:nvSpPr>
        <p:spPr>
          <a:xfrm>
            <a:off x="1234440" y="3511296"/>
            <a:ext cx="7315200" cy="512064"/>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Read brand health data critically: size effects, sentiment accuracy, valuations.</a:t>
            </a:r>
          </a:p>
        </p:txBody>
      </p:sp>
      <p:sp>
        <p:nvSpPr>
          <p:cNvPr id="23" name="Goal 5 Band"/>
          <p:cNvSpPr/>
          <p:nvPr/>
        </p:nvSpPr>
        <p:spPr>
          <a:xfrm>
            <a:off x="457200" y="4133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oal 5 Bar"/>
          <p:cNvSpPr/>
          <p:nvPr/>
        </p:nvSpPr>
        <p:spPr>
          <a:xfrm>
            <a:off x="457200" y="4133088"/>
            <a:ext cx="6400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oal 5 Number"/>
          <p:cNvSpPr/>
          <p:nvPr/>
        </p:nvSpPr>
        <p:spPr>
          <a:xfrm>
            <a:off x="658368" y="4197096"/>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5</a:t>
            </a:r>
          </a:p>
        </p:txBody>
      </p:sp>
      <p:sp>
        <p:nvSpPr>
          <p:cNvPr id="26" name="Goal 5 Text"/>
          <p:cNvSpPr txBox="1"/>
          <p:nvPr/>
        </p:nvSpPr>
        <p:spPr>
          <a:xfrm>
            <a:off x="1234440" y="4133088"/>
            <a:ext cx="7315200" cy="512064"/>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Plan and run a team brand audit of an Austrian brand.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5 · Definition, triggers, costs</a:t>
            </a:r>
          </a:p>
        </p:txBody>
      </p:sp>
      <p:sp>
        <p:nvSpPr>
          <p:cNvPr id="3" name="Title 2"/>
          <p:cNvSpPr>
            <a:spLocks noGrp="1"/>
          </p:cNvSpPr>
          <p:nvPr>
            <p:ph type="ctrTitle"/>
          </p:nvPr>
        </p:nvSpPr>
        <p:spPr/>
        <p:txBody>
          <a:bodyPr/>
          <a:lstStyle/>
          <a:p>
            <a:r>
              <a:rPr lang="en-GB"/>
              <a:t>Why brands need audits</a:t>
            </a:r>
          </a:p>
        </p:txBody>
      </p:sp>
      <p:sp>
        <p:nvSpPr>
          <p:cNvPr id="4" name="Footer Placeholder 3"/>
          <p:cNvSpPr>
            <a:spLocks noGrp="1"/>
          </p:cNvSpPr>
          <p:nvPr>
            <p:ph type="ftr" idx="14" sz="quarter"/>
          </p:nvPr>
        </p:nvSpPr>
        <p:spPr/>
        <p:txBody>
          <a:bodyPr/>
          <a:p>
            <a:r>
              <a:rPr lang="en-GB"/>
              <a:t>Brand Audit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What a brand audit is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Definition Band"/>
          <p:cNvSpPr/>
          <p:nvPr/>
        </p:nvSpPr>
        <p:spPr>
          <a:xfrm>
            <a:off x="457200" y="1280160"/>
            <a:ext cx="822960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finition Bar"/>
          <p:cNvSpPr/>
          <p:nvPr/>
        </p:nvSpPr>
        <p:spPr>
          <a:xfrm>
            <a:off x="457200" y="1280160"/>
            <a:ext cx="64008" cy="11887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finition"/>
          <p:cNvSpPr txBox="1"/>
          <p:nvPr/>
        </p:nvSpPr>
        <p:spPr>
          <a:xfrm>
            <a:off x="685800" y="1353312"/>
            <a:ext cx="7818120" cy="822960"/>
          </a:xfrm>
          <a:prstGeom prst="rect">
            <a:avLst/>
          </a:prstGeom>
          <a:noFill/>
        </p:spPr>
        <p:txBody>
          <a:bodyPr wrap="square" lIns="36576" rIns="36576" tIns="18288" bIns="18288" anchor="t">
            <a:spAutoFit/>
          </a:bodyPr>
          <a:lstStyle/>
          <a:p>
            <a:pPr algn="l">
              <a:spcAft>
                <a:spcPts val="0"/>
              </a:spcAft>
            </a:pPr>
            <a:r>
              <a:rPr lang="en-GB" sz="1600" b="1">
                <a:solidFill>
                  <a:schemeClr val="tx2"/>
                </a:solidFill>
                <a:latin typeface="+mj-lt"/>
              </a:rPr>
              <a:t>A consumer-focused, comprehensive check of a brand: how healthy it is, where its equity comes from, and how to improve and leverage that equity.</a:t>
            </a:r>
          </a:p>
        </p:txBody>
      </p:sp>
      <p:sp>
        <p:nvSpPr>
          <p:cNvPr id="9" name="Definition Source"/>
          <p:cNvSpPr txBox="1"/>
          <p:nvPr/>
        </p:nvSpPr>
        <p:spPr>
          <a:xfrm>
            <a:off x="685800" y="2130552"/>
            <a:ext cx="7818120" cy="27432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Based on Keller &amp; Swaminathan, Strategic Brand Management, 5th ed., Pearson</a:t>
            </a:r>
          </a:p>
        </p:txBody>
      </p:sp>
      <p:sp>
        <p:nvSpPr>
          <p:cNvPr id="10" name="Question 1 body"/>
          <p:cNvSpPr/>
          <p:nvPr/>
        </p:nvSpPr>
        <p:spPr>
          <a:xfrm>
            <a:off x="457200" y="2697480"/>
            <a:ext cx="2633472"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Question 1 band"/>
          <p:cNvSpPr/>
          <p:nvPr/>
        </p:nvSpPr>
        <p:spPr>
          <a:xfrm>
            <a:off x="457200" y="269748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Question 1 heading"/>
          <p:cNvSpPr txBox="1"/>
          <p:nvPr/>
        </p:nvSpPr>
        <p:spPr>
          <a:xfrm>
            <a:off x="566928" y="2752344"/>
            <a:ext cx="1947672"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Health</a:t>
            </a:r>
          </a:p>
        </p:txBody>
      </p:sp>
      <p:pic>
        <p:nvPicPr>
          <p:cNvPr id="13" name="Icon LuGauge" descr=""/>
          <p:cNvPicPr>
            <a:picLocks noChangeAspect="1"/>
          </p:cNvPicPr>
          <p:nvPr/>
        </p:nvPicPr>
        <p:blipFill>
          <a:blip r:embed="rId3"/>
          <a:stretch>
            <a:fillRect/>
          </a:stretch>
        </p:blipFill>
        <p:spPr>
          <a:xfrm>
            <a:off x="2660904" y="2761488"/>
            <a:ext cx="329184" cy="329184"/>
          </a:xfrm>
          <a:prstGeom prst="rect">
            <a:avLst/>
          </a:prstGeom>
        </p:spPr>
      </p:pic>
      <p:sp>
        <p:nvSpPr>
          <p:cNvPr id="14" name="Question 1 text"/>
          <p:cNvSpPr txBox="1"/>
          <p:nvPr/>
        </p:nvSpPr>
        <p:spPr>
          <a:xfrm>
            <a:off x="594360" y="3264408"/>
            <a:ext cx="2359152" cy="1170432"/>
          </a:xfrm>
          <a:prstGeom prst="rect">
            <a:avLst/>
          </a:prstGeom>
          <a:noFill/>
        </p:spPr>
        <p:txBody>
          <a:bodyPr wrap="square" lIns="36576" rIns="36576" tIns="18288" bIns="18288" anchor="t">
            <a:spAutoFit/>
          </a:bodyPr>
          <a:lstStyle/>
          <a:p>
            <a:pPr algn="l">
              <a:spcAft>
                <a:spcPts val="700"/>
              </a:spcAft>
            </a:pPr>
            <a:r>
              <a:rPr lang="en-GB" sz="1300" b="0">
                <a:solidFill>
                  <a:schemeClr val="tx1"/>
                </a:solidFill>
              </a:rPr>
              <a:t>How strong is the brand today, against competitors and its own past?</a:t>
            </a:r>
          </a:p>
        </p:txBody>
      </p:sp>
      <p:sp>
        <p:nvSpPr>
          <p:cNvPr id="15" name="Question 2 body"/>
          <p:cNvSpPr/>
          <p:nvPr/>
        </p:nvSpPr>
        <p:spPr>
          <a:xfrm>
            <a:off x="3255264" y="2697480"/>
            <a:ext cx="2633472"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Question 2 band"/>
          <p:cNvSpPr/>
          <p:nvPr/>
        </p:nvSpPr>
        <p:spPr>
          <a:xfrm>
            <a:off x="3255264" y="269748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Question 2 heading"/>
          <p:cNvSpPr txBox="1"/>
          <p:nvPr/>
        </p:nvSpPr>
        <p:spPr>
          <a:xfrm>
            <a:off x="3364992" y="2752344"/>
            <a:ext cx="1947672"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Sources</a:t>
            </a:r>
          </a:p>
        </p:txBody>
      </p:sp>
      <p:pic>
        <p:nvPicPr>
          <p:cNvPr id="18" name="Icon LuSearch" descr=""/>
          <p:cNvPicPr>
            <a:picLocks noChangeAspect="1"/>
          </p:cNvPicPr>
          <p:nvPr/>
        </p:nvPicPr>
        <p:blipFill>
          <a:blip r:embed="rId4"/>
          <a:stretch>
            <a:fillRect/>
          </a:stretch>
        </p:blipFill>
        <p:spPr>
          <a:xfrm>
            <a:off x="5458968" y="2761488"/>
            <a:ext cx="329184" cy="329184"/>
          </a:xfrm>
          <a:prstGeom prst="rect">
            <a:avLst/>
          </a:prstGeom>
        </p:spPr>
      </p:pic>
      <p:sp>
        <p:nvSpPr>
          <p:cNvPr id="19" name="Question 2 text"/>
          <p:cNvSpPr txBox="1"/>
          <p:nvPr/>
        </p:nvSpPr>
        <p:spPr>
          <a:xfrm>
            <a:off x="3392424" y="3264408"/>
            <a:ext cx="2359152" cy="1170432"/>
          </a:xfrm>
          <a:prstGeom prst="rect">
            <a:avLst/>
          </a:prstGeom>
          <a:noFill/>
        </p:spPr>
        <p:txBody>
          <a:bodyPr wrap="square" lIns="36576" rIns="36576" tIns="18288" bIns="18288" anchor="t">
            <a:spAutoFit/>
          </a:bodyPr>
          <a:lstStyle/>
          <a:p>
            <a:pPr algn="l">
              <a:spcAft>
                <a:spcPts val="700"/>
              </a:spcAft>
            </a:pPr>
            <a:r>
              <a:rPr lang="en-GB" sz="1300" b="0">
                <a:solidFill>
                  <a:schemeClr val="tx1"/>
                </a:solidFill>
              </a:rPr>
              <a:t>Which associations, assets and touchpoints create that strength?</a:t>
            </a:r>
          </a:p>
        </p:txBody>
      </p:sp>
      <p:sp>
        <p:nvSpPr>
          <p:cNvPr id="20" name="Question 3 body"/>
          <p:cNvSpPr/>
          <p:nvPr/>
        </p:nvSpPr>
        <p:spPr>
          <a:xfrm>
            <a:off x="6053328" y="2697480"/>
            <a:ext cx="2633472"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Question 3 band"/>
          <p:cNvSpPr/>
          <p:nvPr/>
        </p:nvSpPr>
        <p:spPr>
          <a:xfrm>
            <a:off x="6053328" y="269748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Question 3 heading"/>
          <p:cNvSpPr txBox="1"/>
          <p:nvPr/>
        </p:nvSpPr>
        <p:spPr>
          <a:xfrm>
            <a:off x="6163056" y="2752344"/>
            <a:ext cx="1947672"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Action</a:t>
            </a:r>
          </a:p>
        </p:txBody>
      </p:sp>
      <p:pic>
        <p:nvPicPr>
          <p:cNvPr id="23" name="Icon LuTarget" descr=""/>
          <p:cNvPicPr>
            <a:picLocks noChangeAspect="1"/>
          </p:cNvPicPr>
          <p:nvPr/>
        </p:nvPicPr>
        <p:blipFill>
          <a:blip r:embed="rId5"/>
          <a:stretch>
            <a:fillRect/>
          </a:stretch>
        </p:blipFill>
        <p:spPr>
          <a:xfrm>
            <a:off x="8257032" y="2761488"/>
            <a:ext cx="329184" cy="329184"/>
          </a:xfrm>
          <a:prstGeom prst="rect">
            <a:avLst/>
          </a:prstGeom>
        </p:spPr>
      </p:pic>
      <p:sp>
        <p:nvSpPr>
          <p:cNvPr id="24" name="Question 3 text"/>
          <p:cNvSpPr txBox="1"/>
          <p:nvPr/>
        </p:nvSpPr>
        <p:spPr>
          <a:xfrm>
            <a:off x="6190488" y="3264408"/>
            <a:ext cx="2359152" cy="1170432"/>
          </a:xfrm>
          <a:prstGeom prst="rect">
            <a:avLst/>
          </a:prstGeom>
          <a:noFill/>
        </p:spPr>
        <p:txBody>
          <a:bodyPr wrap="square" lIns="36576" rIns="36576" tIns="18288" bIns="18288" anchor="t">
            <a:spAutoFit/>
          </a:bodyPr>
          <a:lstStyle/>
          <a:p>
            <a:pPr algn="l">
              <a:spcAft>
                <a:spcPts val="700"/>
              </a:spcAft>
            </a:pPr>
            <a:r>
              <a:rPr lang="en-GB" sz="1300" b="0">
                <a:solidFill>
                  <a:schemeClr val="tx1"/>
                </a:solidFill>
              </a:rPr>
              <a:t>What should change in positioning, portfolio and marketing?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When firms run an audit</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Trigger 1 body"/>
          <p:cNvSpPr/>
          <p:nvPr/>
        </p:nvSpPr>
        <p:spPr>
          <a:xfrm>
            <a:off x="457200" y="12801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rigger 1 bar"/>
          <p:cNvSpPr/>
          <p:nvPr/>
        </p:nvSpPr>
        <p:spPr>
          <a:xfrm>
            <a:off x="457200"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LuCompass" descr=""/>
          <p:cNvPicPr>
            <a:picLocks noChangeAspect="1"/>
          </p:cNvPicPr>
          <p:nvPr/>
        </p:nvPicPr>
        <p:blipFill>
          <a:blip r:embed="rId3"/>
          <a:stretch>
            <a:fillRect/>
          </a:stretch>
        </p:blipFill>
        <p:spPr>
          <a:xfrm>
            <a:off x="594360" y="1463039"/>
            <a:ext cx="310896" cy="310896"/>
          </a:xfrm>
          <a:prstGeom prst="rect">
            <a:avLst/>
          </a:prstGeom>
        </p:spPr>
      </p:pic>
      <p:sp>
        <p:nvSpPr>
          <p:cNvPr id="9" name="Trigger 1 heading"/>
          <p:cNvSpPr txBox="1"/>
          <p:nvPr/>
        </p:nvSpPr>
        <p:spPr>
          <a:xfrm>
            <a:off x="1005840" y="1435607"/>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Strategic shift</a:t>
            </a:r>
          </a:p>
        </p:txBody>
      </p:sp>
      <p:sp>
        <p:nvSpPr>
          <p:cNvPr id="10" name="Trigger 1 text"/>
          <p:cNvSpPr txBox="1"/>
          <p:nvPr/>
        </p:nvSpPr>
        <p:spPr>
          <a:xfrm>
            <a:off x="594360" y="1883664"/>
            <a:ext cx="2359152" cy="557784"/>
          </a:xfrm>
          <a:prstGeom prst="rect">
            <a:avLst/>
          </a:prstGeom>
          <a:noFill/>
        </p:spPr>
        <p:txBody>
          <a:bodyPr wrap="square" lIns="36576" rIns="36576" tIns="18288" bIns="18288" anchor="t">
            <a:spAutoFit/>
          </a:bodyPr>
          <a:lstStyle/>
          <a:p>
            <a:pPr algn="l">
              <a:spcAft>
                <a:spcPts val="400"/>
              </a:spcAft>
            </a:pPr>
            <a:r>
              <a:rPr lang="en-GB" sz="1300" b="0">
                <a:solidFill>
                  <a:schemeClr val="tx1"/>
                </a:solidFill>
              </a:rPr>
              <a:t>New market, new segment or a planned repositioning.</a:t>
            </a:r>
          </a:p>
        </p:txBody>
      </p:sp>
      <p:sp>
        <p:nvSpPr>
          <p:cNvPr id="11" name="Trigger 2 body"/>
          <p:cNvSpPr/>
          <p:nvPr/>
        </p:nvSpPr>
        <p:spPr>
          <a:xfrm>
            <a:off x="3255264" y="12801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rigger 2 bar"/>
          <p:cNvSpPr/>
          <p:nvPr/>
        </p:nvSpPr>
        <p:spPr>
          <a:xfrm>
            <a:off x="3255264"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UserCheck" descr=""/>
          <p:cNvPicPr>
            <a:picLocks noChangeAspect="1"/>
          </p:cNvPicPr>
          <p:nvPr/>
        </p:nvPicPr>
        <p:blipFill>
          <a:blip r:embed="rId4"/>
          <a:stretch>
            <a:fillRect/>
          </a:stretch>
        </p:blipFill>
        <p:spPr>
          <a:xfrm>
            <a:off x="3392424" y="1463039"/>
            <a:ext cx="310896" cy="310896"/>
          </a:xfrm>
          <a:prstGeom prst="rect">
            <a:avLst/>
          </a:prstGeom>
        </p:spPr>
      </p:pic>
      <p:sp>
        <p:nvSpPr>
          <p:cNvPr id="14" name="Trigger 2 heading"/>
          <p:cNvSpPr txBox="1"/>
          <p:nvPr/>
        </p:nvSpPr>
        <p:spPr>
          <a:xfrm>
            <a:off x="3803904" y="1435607"/>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New leadership</a:t>
            </a:r>
          </a:p>
        </p:txBody>
      </p:sp>
      <p:sp>
        <p:nvSpPr>
          <p:cNvPr id="15" name="Trigger 2 text"/>
          <p:cNvSpPr txBox="1"/>
          <p:nvPr/>
        </p:nvSpPr>
        <p:spPr>
          <a:xfrm>
            <a:off x="3392424" y="1883664"/>
            <a:ext cx="2359152" cy="557784"/>
          </a:xfrm>
          <a:prstGeom prst="rect">
            <a:avLst/>
          </a:prstGeom>
          <a:noFill/>
        </p:spPr>
        <p:txBody>
          <a:bodyPr wrap="square" lIns="36576" rIns="36576" tIns="18288" bIns="18288" anchor="t">
            <a:spAutoFit/>
          </a:bodyPr>
          <a:lstStyle/>
          <a:p>
            <a:pPr algn="l">
              <a:spcAft>
                <a:spcPts val="400"/>
              </a:spcAft>
            </a:pPr>
            <a:r>
              <a:rPr lang="en-GB" sz="1300" b="0">
                <a:solidFill>
                  <a:schemeClr val="tx1"/>
                </a:solidFill>
              </a:rPr>
              <a:t>A new CMO diagnoses before setting strategy.</a:t>
            </a:r>
          </a:p>
        </p:txBody>
      </p:sp>
      <p:sp>
        <p:nvSpPr>
          <p:cNvPr id="16" name="Trigger 3 body"/>
          <p:cNvSpPr/>
          <p:nvPr/>
        </p:nvSpPr>
        <p:spPr>
          <a:xfrm>
            <a:off x="6053328" y="12801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rigger 3 bar"/>
          <p:cNvSpPr/>
          <p:nvPr/>
        </p:nvSpPr>
        <p:spPr>
          <a:xfrm>
            <a:off x="6053328"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LuPalette" descr=""/>
          <p:cNvPicPr>
            <a:picLocks noChangeAspect="1"/>
          </p:cNvPicPr>
          <p:nvPr/>
        </p:nvPicPr>
        <p:blipFill>
          <a:blip r:embed="rId5"/>
          <a:stretch>
            <a:fillRect/>
          </a:stretch>
        </p:blipFill>
        <p:spPr>
          <a:xfrm>
            <a:off x="6190488" y="1463039"/>
            <a:ext cx="310896" cy="310896"/>
          </a:xfrm>
          <a:prstGeom prst="rect">
            <a:avLst/>
          </a:prstGeom>
        </p:spPr>
      </p:pic>
      <p:sp>
        <p:nvSpPr>
          <p:cNvPr id="19" name="Trigger 3 heading"/>
          <p:cNvSpPr txBox="1"/>
          <p:nvPr/>
        </p:nvSpPr>
        <p:spPr>
          <a:xfrm>
            <a:off x="6601968" y="1435607"/>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Before a rebrand</a:t>
            </a:r>
          </a:p>
        </p:txBody>
      </p:sp>
      <p:sp>
        <p:nvSpPr>
          <p:cNvPr id="20" name="Trigger 3 text"/>
          <p:cNvSpPr txBox="1"/>
          <p:nvPr/>
        </p:nvSpPr>
        <p:spPr>
          <a:xfrm>
            <a:off x="6190488" y="1883664"/>
            <a:ext cx="2359152" cy="557784"/>
          </a:xfrm>
          <a:prstGeom prst="rect">
            <a:avLst/>
          </a:prstGeom>
          <a:noFill/>
        </p:spPr>
        <p:txBody>
          <a:bodyPr wrap="square" lIns="36576" rIns="36576" tIns="18288" bIns="18288" anchor="t">
            <a:spAutoFit/>
          </a:bodyPr>
          <a:lstStyle/>
          <a:p>
            <a:pPr algn="l">
              <a:spcAft>
                <a:spcPts val="400"/>
              </a:spcAft>
            </a:pPr>
            <a:r>
              <a:rPr lang="en-GB" sz="1300" b="0">
                <a:solidFill>
                  <a:schemeClr val="tx1"/>
                </a:solidFill>
              </a:rPr>
              <a:t>Know which assets carry equity before changing them.</a:t>
            </a:r>
          </a:p>
        </p:txBody>
      </p:sp>
      <p:sp>
        <p:nvSpPr>
          <p:cNvPr id="21" name="Trigger 4 body"/>
          <p:cNvSpPr/>
          <p:nvPr/>
        </p:nvSpPr>
        <p:spPr>
          <a:xfrm>
            <a:off x="457200" y="26517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rigger 4 bar"/>
          <p:cNvSpPr/>
          <p:nvPr/>
        </p:nvSpPr>
        <p:spPr>
          <a:xfrm>
            <a:off x="457200" y="26517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Icon LuLayers" descr=""/>
          <p:cNvPicPr>
            <a:picLocks noChangeAspect="1"/>
          </p:cNvPicPr>
          <p:nvPr/>
        </p:nvPicPr>
        <p:blipFill>
          <a:blip r:embed="rId6"/>
          <a:stretch>
            <a:fillRect/>
          </a:stretch>
        </p:blipFill>
        <p:spPr>
          <a:xfrm>
            <a:off x="594360" y="2834640"/>
            <a:ext cx="310896" cy="310896"/>
          </a:xfrm>
          <a:prstGeom prst="rect">
            <a:avLst/>
          </a:prstGeom>
        </p:spPr>
      </p:pic>
      <p:sp>
        <p:nvSpPr>
          <p:cNvPr id="24" name="Trigger 4 heading"/>
          <p:cNvSpPr txBox="1"/>
          <p:nvPr/>
        </p:nvSpPr>
        <p:spPr>
          <a:xfrm>
            <a:off x="1005840" y="2807208"/>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Portfolio decisions</a:t>
            </a:r>
          </a:p>
        </p:txBody>
      </p:sp>
      <p:sp>
        <p:nvSpPr>
          <p:cNvPr id="25" name="Trigger 4 text"/>
          <p:cNvSpPr txBox="1"/>
          <p:nvPr/>
        </p:nvSpPr>
        <p:spPr>
          <a:xfrm>
            <a:off x="594360" y="3255264"/>
            <a:ext cx="2359152" cy="557784"/>
          </a:xfrm>
          <a:prstGeom prst="rect">
            <a:avLst/>
          </a:prstGeom>
          <a:noFill/>
        </p:spPr>
        <p:txBody>
          <a:bodyPr wrap="square" lIns="36576" rIns="36576" tIns="18288" bIns="18288" anchor="t">
            <a:spAutoFit/>
          </a:bodyPr>
          <a:lstStyle/>
          <a:p>
            <a:pPr algn="l">
              <a:spcAft>
                <a:spcPts val="400"/>
              </a:spcAft>
            </a:pPr>
            <a:r>
              <a:rPr lang="en-GB" sz="1300" b="0">
                <a:solidFill>
                  <a:schemeClr val="tx1"/>
                </a:solidFill>
              </a:rPr>
              <a:t>Keep, merge, migrate or retire brands after M&amp;A.</a:t>
            </a:r>
          </a:p>
        </p:txBody>
      </p:sp>
      <p:sp>
        <p:nvSpPr>
          <p:cNvPr id="26" name="Trigger 5 body"/>
          <p:cNvSpPr/>
          <p:nvPr/>
        </p:nvSpPr>
        <p:spPr>
          <a:xfrm>
            <a:off x="3255264" y="26517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rigger 5 bar"/>
          <p:cNvSpPr/>
          <p:nvPr/>
        </p:nvSpPr>
        <p:spPr>
          <a:xfrm>
            <a:off x="3255264" y="26517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 LuTriangleAlert" descr=""/>
          <p:cNvPicPr>
            <a:picLocks noChangeAspect="1"/>
          </p:cNvPicPr>
          <p:nvPr/>
        </p:nvPicPr>
        <p:blipFill>
          <a:blip r:embed="rId7"/>
          <a:stretch>
            <a:fillRect/>
          </a:stretch>
        </p:blipFill>
        <p:spPr>
          <a:xfrm>
            <a:off x="3392424" y="2834640"/>
            <a:ext cx="310896" cy="310896"/>
          </a:xfrm>
          <a:prstGeom prst="rect">
            <a:avLst/>
          </a:prstGeom>
        </p:spPr>
      </p:pic>
      <p:sp>
        <p:nvSpPr>
          <p:cNvPr id="29" name="Trigger 5 heading"/>
          <p:cNvSpPr txBox="1"/>
          <p:nvPr/>
        </p:nvSpPr>
        <p:spPr>
          <a:xfrm>
            <a:off x="3803904" y="2807208"/>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Crisis</a:t>
            </a:r>
          </a:p>
        </p:txBody>
      </p:sp>
      <p:sp>
        <p:nvSpPr>
          <p:cNvPr id="30" name="Trigger 5 text"/>
          <p:cNvSpPr txBox="1"/>
          <p:nvPr/>
        </p:nvSpPr>
        <p:spPr>
          <a:xfrm>
            <a:off x="3392424" y="3255264"/>
            <a:ext cx="2359152" cy="557784"/>
          </a:xfrm>
          <a:prstGeom prst="rect">
            <a:avLst/>
          </a:prstGeom>
          <a:noFill/>
        </p:spPr>
        <p:txBody>
          <a:bodyPr wrap="square" lIns="36576" rIns="36576" tIns="18288" bIns="18288" anchor="t">
            <a:spAutoFit/>
          </a:bodyPr>
          <a:lstStyle/>
          <a:p>
            <a:pPr algn="l">
              <a:spcAft>
                <a:spcPts val="400"/>
              </a:spcAft>
            </a:pPr>
            <a:r>
              <a:rPr lang="en-GB" sz="1300" b="0">
                <a:solidFill>
                  <a:schemeClr val="tx1"/>
                </a:solidFill>
              </a:rPr>
              <a:t>Measure reputational damage by segment and over time.</a:t>
            </a:r>
          </a:p>
        </p:txBody>
      </p:sp>
      <p:sp>
        <p:nvSpPr>
          <p:cNvPr id="31" name="Trigger 6 body"/>
          <p:cNvSpPr/>
          <p:nvPr/>
        </p:nvSpPr>
        <p:spPr>
          <a:xfrm>
            <a:off x="6053328" y="2651760"/>
            <a:ext cx="2633472"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rigger 6 bar"/>
          <p:cNvSpPr/>
          <p:nvPr/>
        </p:nvSpPr>
        <p:spPr>
          <a:xfrm>
            <a:off x="6053328" y="26517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Icon LuRefreshCw" descr=""/>
          <p:cNvPicPr>
            <a:picLocks noChangeAspect="1"/>
          </p:cNvPicPr>
          <p:nvPr/>
        </p:nvPicPr>
        <p:blipFill>
          <a:blip r:embed="rId8"/>
          <a:stretch>
            <a:fillRect/>
          </a:stretch>
        </p:blipFill>
        <p:spPr>
          <a:xfrm>
            <a:off x="6190488" y="2834640"/>
            <a:ext cx="310896" cy="310896"/>
          </a:xfrm>
          <a:prstGeom prst="rect">
            <a:avLst/>
          </a:prstGeom>
        </p:spPr>
      </p:pic>
      <p:sp>
        <p:nvSpPr>
          <p:cNvPr id="34" name="Trigger 6 heading"/>
          <p:cNvSpPr txBox="1"/>
          <p:nvPr/>
        </p:nvSpPr>
        <p:spPr>
          <a:xfrm>
            <a:off x="6601968" y="2807208"/>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Regular cadence</a:t>
            </a:r>
          </a:p>
        </p:txBody>
      </p:sp>
      <p:sp>
        <p:nvSpPr>
          <p:cNvPr id="35" name="Trigger 6 text"/>
          <p:cNvSpPr txBox="1"/>
          <p:nvPr/>
        </p:nvSpPr>
        <p:spPr>
          <a:xfrm>
            <a:off x="6190488" y="3255264"/>
            <a:ext cx="2359152" cy="557784"/>
          </a:xfrm>
          <a:prstGeom prst="rect">
            <a:avLst/>
          </a:prstGeom>
          <a:noFill/>
        </p:spPr>
        <p:txBody>
          <a:bodyPr wrap="square" lIns="36576" rIns="36576" tIns="18288" bIns="18288" anchor="t">
            <a:spAutoFit/>
          </a:bodyPr>
          <a:lstStyle/>
          <a:p>
            <a:pPr algn="l">
              <a:spcAft>
                <a:spcPts val="400"/>
              </a:spcAft>
            </a:pPr>
            <a:r>
              <a:rPr lang="en-GB" sz="1300" b="0">
                <a:solidFill>
                  <a:schemeClr val="tx1"/>
                </a:solidFill>
              </a:rPr>
              <a:t>Deep audit every few years, a lean tracker in between.</a:t>
            </a:r>
          </a:p>
        </p:txBody>
      </p:sp>
      <p:sp>
        <p:nvSpPr>
          <p:cNvPr id="36" name="Ritson"/>
          <p:cNvSpPr/>
          <p:nvPr/>
        </p:nvSpPr>
        <p:spPr>
          <a:xfrm>
            <a:off x="457200" y="411480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tson text"/>
          <p:cNvSpPr txBox="1"/>
          <p:nvPr/>
        </p:nvSpPr>
        <p:spPr>
          <a:xfrm>
            <a:off x="640080" y="4114800"/>
            <a:ext cx="7863840" cy="594360"/>
          </a:xfrm>
          <a:prstGeom prst="rect">
            <a:avLst/>
          </a:prstGeom>
          <a:noFill/>
        </p:spPr>
        <p:txBody>
          <a:bodyPr wrap="square" lIns="36576" rIns="36576" tIns="18288" bIns="18288" anchor="ctr">
            <a:spAutoFit/>
          </a:bodyPr>
          <a:lstStyle/>
          <a:p>
            <a:pPr algn="l">
              <a:spcAft>
                <a:spcPts val="0"/>
              </a:spcAft>
            </a:pPr>
            <a:r>
              <a:rPr lang="en-GB" sz="1300" b="1">
                <a:solidFill>
                  <a:schemeClr val="bg1"/>
                </a:solidFill>
              </a:rPr>
              <a:t>Ritson (Marketing Week, 2023): </a:t>
            </a:r>
            <a:r>
              <a:rPr lang="en-GB" sz="1300" b="0">
                <a:solidFill>
                  <a:schemeClr val="bg1"/>
                </a:solidFill>
              </a:rPr>
              <a:t>brand diagnosis is the brand manager's first job.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What skipping the audit can cost</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at bar 1"/>
          <p:cNvSpPr/>
          <p:nvPr/>
        </p:nvSpPr>
        <p:spPr>
          <a:xfrm>
            <a:off x="457200" y="139903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t figure 1"/>
          <p:cNvSpPr txBox="1"/>
          <p:nvPr/>
        </p:nvSpPr>
        <p:spPr>
          <a:xfrm>
            <a:off x="640080" y="1325880"/>
            <a:ext cx="1920240" cy="777240"/>
          </a:xfrm>
          <a:prstGeom prst="rect">
            <a:avLst/>
          </a:prstGeom>
          <a:noFill/>
        </p:spPr>
        <p:txBody>
          <a:bodyPr wrap="square" lIns="36576" rIns="36576" tIns="18288" bIns="18288" anchor="ctr">
            <a:spAutoFit/>
          </a:bodyPr>
          <a:lstStyle/>
          <a:p>
            <a:pPr algn="l">
              <a:spcAft>
                <a:spcPts val="0"/>
              </a:spcAft>
            </a:pPr>
            <a:r>
              <a:rPr lang="en-GB" sz="2800" b="1">
                <a:solidFill>
                  <a:schemeClr val="tx2"/>
                </a:solidFill>
                <a:latin typeface="+mj-lt"/>
              </a:rPr>
              <a:t>−20 %</a:t>
            </a:r>
          </a:p>
        </p:txBody>
      </p:sp>
      <p:sp>
        <p:nvSpPr>
          <p:cNvPr id="8" name="Stat text 1"/>
          <p:cNvSpPr txBox="1"/>
          <p:nvPr/>
        </p:nvSpPr>
        <p:spPr>
          <a:xfrm>
            <a:off x="2651760" y="1371600"/>
            <a:ext cx="6035040" cy="731520"/>
          </a:xfrm>
          <a:prstGeom prst="rect">
            <a:avLst/>
          </a:prstGeom>
          <a:noFill/>
        </p:spPr>
        <p:txBody>
          <a:bodyPr wrap="square" lIns="36576" rIns="36576" tIns="18288" bIns="18288" anchor="t">
            <a:spAutoFit/>
          </a:bodyPr>
          <a:lstStyle/>
          <a:p>
            <a:pPr algn="l">
              <a:spcAft>
                <a:spcPts val="200"/>
              </a:spcAft>
            </a:pPr>
            <a:r>
              <a:rPr lang="en-GB" sz="1300" b="1">
                <a:solidFill>
                  <a:schemeClr val="tx1"/>
                </a:solidFill>
              </a:rPr>
              <a:t>Tropicana, 2009: </a:t>
            </a:r>
            <a:r>
              <a:rPr lang="en-GB" sz="1300" b="0">
                <a:solidFill>
                  <a:schemeClr val="tx1"/>
                </a:solidFill>
              </a:rPr>
              <a:t>unit sales in under two months after the carton redesign dropped the orange-and-straw.</a:t>
            </a:r>
          </a:p>
          <a:p>
            <a:pPr algn="l">
              <a:spcAft>
                <a:spcPts val="200"/>
              </a:spcAft>
            </a:pPr>
            <a:r>
              <a:rPr lang="en-GB" sz="1050" b="0">
                <a:solidFill>
                  <a:srgbClr val="595959"/>
                </a:solidFill>
              </a:rPr>
              <a:t>IRI data via Ad Age/Bloomberg (2009)</a:t>
            </a:r>
          </a:p>
        </p:txBody>
      </p:sp>
      <p:sp>
        <p:nvSpPr>
          <p:cNvPr id="9" name="Stat bar 2"/>
          <p:cNvSpPr/>
          <p:nvPr/>
        </p:nvSpPr>
        <p:spPr>
          <a:xfrm>
            <a:off x="457200" y="235915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figure 2"/>
          <p:cNvSpPr txBox="1"/>
          <p:nvPr/>
        </p:nvSpPr>
        <p:spPr>
          <a:xfrm>
            <a:off x="640080" y="2286000"/>
            <a:ext cx="1920240" cy="777240"/>
          </a:xfrm>
          <a:prstGeom prst="rect">
            <a:avLst/>
          </a:prstGeom>
          <a:noFill/>
        </p:spPr>
        <p:txBody>
          <a:bodyPr wrap="square" lIns="36576" rIns="36576" tIns="18288" bIns="18288" anchor="ctr">
            <a:spAutoFit/>
          </a:bodyPr>
          <a:lstStyle/>
          <a:p>
            <a:pPr algn="l">
              <a:spcAft>
                <a:spcPts val="0"/>
              </a:spcAft>
            </a:pPr>
            <a:r>
              <a:rPr lang="en-GB" sz="2800" b="1">
                <a:solidFill>
                  <a:schemeClr val="tx2"/>
                </a:solidFill>
                <a:latin typeface="+mj-lt"/>
              </a:rPr>
              <a:t>1 week</a:t>
            </a:r>
          </a:p>
        </p:txBody>
      </p:sp>
      <p:sp>
        <p:nvSpPr>
          <p:cNvPr id="11" name="Stat text 2"/>
          <p:cNvSpPr txBox="1"/>
          <p:nvPr/>
        </p:nvSpPr>
        <p:spPr>
          <a:xfrm>
            <a:off x="2651760" y="2331720"/>
            <a:ext cx="6035040" cy="731520"/>
          </a:xfrm>
          <a:prstGeom prst="rect">
            <a:avLst/>
          </a:prstGeom>
          <a:noFill/>
        </p:spPr>
        <p:txBody>
          <a:bodyPr wrap="square" lIns="36576" rIns="36576" tIns="18288" bIns="18288" anchor="t">
            <a:spAutoFit/>
          </a:bodyPr>
          <a:lstStyle/>
          <a:p>
            <a:pPr algn="l">
              <a:spcAft>
                <a:spcPts val="200"/>
              </a:spcAft>
            </a:pPr>
            <a:r>
              <a:rPr lang="en-GB" sz="1300" b="1">
                <a:solidFill>
                  <a:schemeClr val="tx1"/>
                </a:solidFill>
              </a:rPr>
              <a:t>Gap, 2010: </a:t>
            </a:r>
            <a:r>
              <a:rPr lang="en-GB" sz="1300" b="0">
                <a:solidFill>
                  <a:schemeClr val="tx1"/>
                </a:solidFill>
              </a:rPr>
              <a:t>life span of the new logo before a backlash forced a return to the blue box.</a:t>
            </a:r>
          </a:p>
          <a:p>
            <a:pPr algn="l">
              <a:spcAft>
                <a:spcPts val="200"/>
              </a:spcAft>
            </a:pPr>
            <a:r>
              <a:rPr lang="en-GB" sz="1050" b="0">
                <a:solidFill>
                  <a:srgbClr val="595959"/>
                </a:solidFill>
              </a:rPr>
              <a:t>Pollach, The CASE Journal (2016)</a:t>
            </a:r>
          </a:p>
        </p:txBody>
      </p:sp>
      <p:sp>
        <p:nvSpPr>
          <p:cNvPr id="12" name="Stat bar 3"/>
          <p:cNvSpPr/>
          <p:nvPr/>
        </p:nvSpPr>
        <p:spPr>
          <a:xfrm>
            <a:off x="457200" y="331927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figure 3"/>
          <p:cNvSpPr txBox="1"/>
          <p:nvPr/>
        </p:nvSpPr>
        <p:spPr>
          <a:xfrm>
            <a:off x="640080" y="3246120"/>
            <a:ext cx="1920240" cy="777240"/>
          </a:xfrm>
          <a:prstGeom prst="rect">
            <a:avLst/>
          </a:prstGeom>
          <a:noFill/>
        </p:spPr>
        <p:txBody>
          <a:bodyPr wrap="square" lIns="36576" rIns="36576" tIns="18288" bIns="18288" anchor="ctr">
            <a:spAutoFit/>
          </a:bodyPr>
          <a:lstStyle/>
          <a:p>
            <a:pPr algn="l">
              <a:spcAft>
                <a:spcPts val="0"/>
              </a:spcAft>
            </a:pPr>
            <a:r>
              <a:rPr lang="en-GB" sz="2800" b="1">
                <a:solidFill>
                  <a:schemeClr val="tx2"/>
                </a:solidFill>
                <a:latin typeface="+mj-lt"/>
              </a:rPr>
              <a:t>−20 pts</a:t>
            </a:r>
          </a:p>
        </p:txBody>
      </p:sp>
      <p:sp>
        <p:nvSpPr>
          <p:cNvPr id="14" name="Stat text 3"/>
          <p:cNvSpPr txBox="1"/>
          <p:nvPr/>
        </p:nvSpPr>
        <p:spPr>
          <a:xfrm>
            <a:off x="2651760" y="3291839"/>
            <a:ext cx="6035040" cy="731520"/>
          </a:xfrm>
          <a:prstGeom prst="rect">
            <a:avLst/>
          </a:prstGeom>
          <a:noFill/>
        </p:spPr>
        <p:txBody>
          <a:bodyPr wrap="square" lIns="36576" rIns="36576" tIns="18288" bIns="18288" anchor="t">
            <a:spAutoFit/>
          </a:bodyPr>
          <a:lstStyle/>
          <a:p>
            <a:pPr algn="l">
              <a:spcAft>
                <a:spcPts val="200"/>
              </a:spcAft>
            </a:pPr>
            <a:r>
              <a:rPr lang="en-GB" sz="1300" b="1">
                <a:solidFill>
                  <a:schemeClr val="tx1"/>
                </a:solidFill>
              </a:rPr>
              <a:t>Bud Light, 2023: </a:t>
            </a:r>
            <a:r>
              <a:rPr lang="en-GB" sz="1300" b="0">
                <a:solidFill>
                  <a:schemeClr val="tx1"/>
                </a:solidFill>
              </a:rPr>
              <a:t>YouGov Impression, April to June, after a partnership alienated core buyers.</a:t>
            </a:r>
          </a:p>
          <a:p>
            <a:pPr algn="l">
              <a:spcAft>
                <a:spcPts val="200"/>
              </a:spcAft>
            </a:pPr>
            <a:r>
              <a:rPr lang="en-GB" sz="1050" b="0">
                <a:solidFill>
                  <a:srgbClr val="595959"/>
                </a:solidFill>
              </a:rPr>
              <a:t>YouGov BrandIndex (31 Aug 2023)</a:t>
            </a:r>
          </a:p>
        </p:txBody>
      </p:sp>
      <p:sp>
        <p:nvSpPr>
          <p:cNvPr id="15" name="Lesson"/>
          <p:cNvSpPr/>
          <p:nvPr/>
        </p:nvSpPr>
        <p:spPr>
          <a:xfrm>
            <a:off x="457200" y="43434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sson text"/>
          <p:cNvSpPr txBox="1"/>
          <p:nvPr/>
        </p:nvSpPr>
        <p:spPr>
          <a:xfrm>
            <a:off x="640080" y="4343400"/>
            <a:ext cx="7863840" cy="502920"/>
          </a:xfrm>
          <a:prstGeom prst="rect">
            <a:avLst/>
          </a:prstGeom>
          <a:noFill/>
        </p:spPr>
        <p:txBody>
          <a:bodyPr wrap="square" lIns="36576" rIns="36576" tIns="18288" bIns="18288" anchor="ctr">
            <a:spAutoFit/>
          </a:bodyPr>
          <a:lstStyle/>
          <a:p>
            <a:pPr algn="l">
              <a:spcAft>
                <a:spcPts val="0"/>
              </a:spcAft>
            </a:pPr>
            <a:r>
              <a:rPr lang="en-GB" sz="1300" b="0">
                <a:solidFill>
                  <a:schemeClr val="bg1"/>
                </a:solidFill>
              </a:rPr>
              <a:t>Each case changed brand elements without knowing what carried the equity.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Where an audit looks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ep 1"/>
          <p:cNvSpPr/>
          <p:nvPr/>
        </p:nvSpPr>
        <p:spPr>
          <a:xfrm>
            <a:off x="457200" y="1325880"/>
            <a:ext cx="2139696" cy="64008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en-GB" sz="1200" b="1">
                <a:solidFill>
                  <a:schemeClr val="bg1"/>
                </a:solidFill>
              </a:rPr>
              <a:t>Marketing programme</a:t>
            </a:r>
          </a:p>
        </p:txBody>
      </p:sp>
      <p:sp>
        <p:nvSpPr>
          <p:cNvPr id="7" name="Step 2"/>
          <p:cNvSpPr/>
          <p:nvPr/>
        </p:nvSpPr>
        <p:spPr>
          <a:xfrm>
            <a:off x="2487168" y="1325880"/>
            <a:ext cx="2139696" cy="64008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en-GB" sz="1200" b="1">
                <a:solidFill>
                  <a:schemeClr val="bg1"/>
                </a:solidFill>
              </a:rPr>
              <a:t>Customer mindset</a:t>
            </a:r>
          </a:p>
        </p:txBody>
      </p:sp>
      <p:sp>
        <p:nvSpPr>
          <p:cNvPr id="8" name="Step 3"/>
          <p:cNvSpPr/>
          <p:nvPr/>
        </p:nvSpPr>
        <p:spPr>
          <a:xfrm>
            <a:off x="4517136" y="1325880"/>
            <a:ext cx="2139696" cy="64008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en-GB" sz="1200" b="1">
                <a:solidFill>
                  <a:schemeClr val="bg1"/>
                </a:solidFill>
              </a:rPr>
              <a:t>Market performance</a:t>
            </a:r>
          </a:p>
        </p:txBody>
      </p:sp>
      <p:sp>
        <p:nvSpPr>
          <p:cNvPr id="9" name="Step 4"/>
          <p:cNvSpPr/>
          <p:nvPr/>
        </p:nvSpPr>
        <p:spPr>
          <a:xfrm>
            <a:off x="6547103" y="1325880"/>
            <a:ext cx="2139696" cy="64008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en-GB" sz="1200" b="1">
                <a:solidFill>
                  <a:schemeClr val="bg1"/>
                </a:solidFill>
              </a:rPr>
              <a:t>Shareholder value</a:t>
            </a:r>
          </a:p>
        </p:txBody>
      </p:sp>
      <p:sp>
        <p:nvSpPr>
          <p:cNvPr id="10" name="Level 1"/>
          <p:cNvSpPr txBox="1"/>
          <p:nvPr/>
        </p:nvSpPr>
        <p:spPr>
          <a:xfrm>
            <a:off x="548640" y="2148840"/>
            <a:ext cx="1819655" cy="1463040"/>
          </a:xfrm>
          <a:prstGeom prst="rect">
            <a:avLst/>
          </a:prstGeom>
          <a:noFill/>
        </p:spPr>
        <p:txBody>
          <a:bodyPr wrap="square" lIns="36576" rIns="36576" tIns="18288" bIns="18288" anchor="t">
            <a:spAutoFit/>
          </a:bodyPr>
          <a:lstStyle/>
          <a:p>
            <a:pPr algn="l">
              <a:spcAft>
                <a:spcPts val="400"/>
              </a:spcAft>
            </a:pPr>
            <a:r>
              <a:rPr lang="en-GB" sz="1300" b="1">
                <a:solidFill>
                  <a:schemeClr val="tx2"/>
                </a:solidFill>
              </a:rPr>
              <a:t>Brand inventory</a:t>
            </a:r>
          </a:p>
          <a:p>
            <a:pPr algn="l">
              <a:spcAft>
                <a:spcPts val="400"/>
              </a:spcAft>
            </a:pPr>
            <a:r>
              <a:rPr lang="en-GB" sz="1300" b="0">
                <a:solidFill>
                  <a:schemeClr val="tx1"/>
                </a:solidFill>
              </a:rPr>
              <a:t>Elements, products, price, communication, distribution</a:t>
            </a:r>
          </a:p>
        </p:txBody>
      </p:sp>
      <p:sp>
        <p:nvSpPr>
          <p:cNvPr id="11" name="Level 2"/>
          <p:cNvSpPr txBox="1"/>
          <p:nvPr/>
        </p:nvSpPr>
        <p:spPr>
          <a:xfrm>
            <a:off x="2578608" y="2148840"/>
            <a:ext cx="1819655" cy="1463040"/>
          </a:xfrm>
          <a:prstGeom prst="rect">
            <a:avLst/>
          </a:prstGeom>
          <a:noFill/>
        </p:spPr>
        <p:txBody>
          <a:bodyPr wrap="square" lIns="36576" rIns="36576" tIns="18288" bIns="18288" anchor="t">
            <a:spAutoFit/>
          </a:bodyPr>
          <a:lstStyle/>
          <a:p>
            <a:pPr algn="l">
              <a:spcAft>
                <a:spcPts val="400"/>
              </a:spcAft>
            </a:pPr>
            <a:r>
              <a:rPr lang="en-GB" sz="1300" b="1">
                <a:solidFill>
                  <a:schemeClr val="tx2"/>
                </a:solidFill>
              </a:rPr>
              <a:t>Brand exploratory</a:t>
            </a:r>
          </a:p>
          <a:p>
            <a:pPr algn="l">
              <a:spcAft>
                <a:spcPts val="400"/>
              </a:spcAft>
            </a:pPr>
            <a:r>
              <a:rPr lang="en-GB" sz="1300" b="0">
                <a:solidFill>
                  <a:schemeClr val="tx1"/>
                </a:solidFill>
              </a:rPr>
              <a:t>Awareness, associations, attitudes, attachment</a:t>
            </a:r>
          </a:p>
        </p:txBody>
      </p:sp>
      <p:sp>
        <p:nvSpPr>
          <p:cNvPr id="12" name="Level 3"/>
          <p:cNvSpPr txBox="1"/>
          <p:nvPr/>
        </p:nvSpPr>
        <p:spPr>
          <a:xfrm>
            <a:off x="4608575" y="2148840"/>
            <a:ext cx="1819655" cy="1463040"/>
          </a:xfrm>
          <a:prstGeom prst="rect">
            <a:avLst/>
          </a:prstGeom>
          <a:noFill/>
        </p:spPr>
        <p:txBody>
          <a:bodyPr wrap="square" lIns="36576" rIns="36576" tIns="18288" bIns="18288" anchor="t">
            <a:spAutoFit/>
          </a:bodyPr>
          <a:lstStyle/>
          <a:p>
            <a:pPr algn="l">
              <a:spcAft>
                <a:spcPts val="400"/>
              </a:spcAft>
            </a:pPr>
            <a:r>
              <a:rPr lang="en-GB" sz="1300" b="1">
                <a:solidFill>
                  <a:schemeClr val="tx2"/>
                </a:solidFill>
              </a:rPr>
              <a:t>Market data</a:t>
            </a:r>
          </a:p>
          <a:p>
            <a:pPr algn="l">
              <a:spcAft>
                <a:spcPts val="400"/>
              </a:spcAft>
            </a:pPr>
            <a:r>
              <a:rPr lang="en-GB" sz="1300" b="0">
                <a:solidFill>
                  <a:schemeClr val="tx1"/>
                </a:solidFill>
              </a:rPr>
              <a:t>Price premium, share, penetration, loyalty</a:t>
            </a:r>
          </a:p>
        </p:txBody>
      </p:sp>
      <p:sp>
        <p:nvSpPr>
          <p:cNvPr id="13" name="Level 4"/>
          <p:cNvSpPr txBox="1"/>
          <p:nvPr/>
        </p:nvSpPr>
        <p:spPr>
          <a:xfrm>
            <a:off x="6638543" y="2148840"/>
            <a:ext cx="1819655" cy="1463040"/>
          </a:xfrm>
          <a:prstGeom prst="rect">
            <a:avLst/>
          </a:prstGeom>
          <a:noFill/>
        </p:spPr>
        <p:txBody>
          <a:bodyPr wrap="square" lIns="36576" rIns="36576" tIns="18288" bIns="18288" anchor="t">
            <a:spAutoFit/>
          </a:bodyPr>
          <a:lstStyle/>
          <a:p>
            <a:pPr algn="l">
              <a:spcAft>
                <a:spcPts val="400"/>
              </a:spcAft>
            </a:pPr>
            <a:r>
              <a:rPr lang="en-GB" sz="1300" b="1">
                <a:solidFill>
                  <a:schemeClr val="tx2"/>
                </a:solidFill>
              </a:rPr>
              <a:t>Valuation</a:t>
            </a:r>
          </a:p>
          <a:p>
            <a:pPr algn="l">
              <a:spcAft>
                <a:spcPts val="400"/>
              </a:spcAft>
            </a:pPr>
            <a:r>
              <a:rPr lang="en-GB" sz="1300" b="0">
                <a:solidFill>
                  <a:schemeClr val="tx1"/>
                </a:solidFill>
              </a:rPr>
              <a:t>Brand value, stock returns</a:t>
            </a:r>
          </a:p>
        </p:txBody>
      </p:sp>
      <p:sp>
        <p:nvSpPr>
          <p:cNvPr id="14" name="Audit question"/>
          <p:cNvSpPr/>
          <p:nvPr/>
        </p:nvSpPr>
        <p:spPr>
          <a:xfrm>
            <a:off x="457200" y="34747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udit question text"/>
          <p:cNvSpPr txBox="1"/>
          <p:nvPr/>
        </p:nvSpPr>
        <p:spPr>
          <a:xfrm>
            <a:off x="640080" y="3474720"/>
            <a:ext cx="7863840" cy="502920"/>
          </a:xfrm>
          <a:prstGeom prst="rect">
            <a:avLst/>
          </a:prstGeom>
          <a:noFill/>
        </p:spPr>
        <p:txBody>
          <a:bodyPr wrap="square" lIns="36576" rIns="36576" tIns="18288" bIns="18288" anchor="ctr">
            <a:spAutoFit/>
          </a:bodyPr>
          <a:lstStyle/>
          <a:p>
            <a:pPr algn="l">
              <a:spcAft>
                <a:spcPts val="0"/>
              </a:spcAft>
            </a:pPr>
            <a:r>
              <a:rPr lang="en-GB" sz="1300" b="1">
                <a:solidFill>
                  <a:schemeClr val="bg1"/>
                </a:solidFill>
              </a:rPr>
              <a:t>Audit question: </a:t>
            </a:r>
            <a:r>
              <a:rPr lang="en-GB" sz="1300" b="0">
                <a:solidFill>
                  <a:schemeClr val="bg1"/>
                </a:solidFill>
              </a:rPr>
              <a:t>do the perceptions we measure move market and financial outcomes?</a:t>
            </a:r>
          </a:p>
        </p:txBody>
      </p:sp>
      <p:sp>
        <p:nvSpPr>
          <p:cNvPr id="16" name="Source note"/>
          <p:cNvSpPr txBox="1"/>
          <p:nvPr/>
        </p:nvSpPr>
        <p:spPr>
          <a:xfrm>
            <a:off x="457200" y="4160520"/>
            <a:ext cx="8229600" cy="45720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Sources: Keller &amp; Lehmann (2006), Marketing Science 25(6); Mizik &amp; Jacobson (2008), Journal of Marketing Research 45(1).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5 · Inventory, exploratory, CBBE pyramid</a:t>
            </a:r>
          </a:p>
        </p:txBody>
      </p:sp>
      <p:sp>
        <p:nvSpPr>
          <p:cNvPr id="3" name="Title 2"/>
          <p:cNvSpPr>
            <a:spLocks noGrp="1"/>
          </p:cNvSpPr>
          <p:nvPr>
            <p:ph type="ctrTitle"/>
          </p:nvPr>
        </p:nvSpPr>
        <p:spPr/>
        <p:txBody>
          <a:bodyPr/>
          <a:lstStyle/>
          <a:p>
            <a:r>
              <a:rPr lang="en-GB"/>
              <a:t>The brand audit process</a:t>
            </a:r>
          </a:p>
        </p:txBody>
      </p:sp>
      <p:sp>
        <p:nvSpPr>
          <p:cNvPr id="4" name="Footer Placeholder 3"/>
          <p:cNvSpPr>
            <a:spLocks noGrp="1"/>
          </p:cNvSpPr>
          <p:nvPr>
            <p:ph type="ftr" idx="14" sz="quarter"/>
          </p:nvPr>
        </p:nvSpPr>
        <p:spPr/>
        <p:txBody>
          <a:bodyPr/>
          <a:p>
            <a:r>
              <a:rPr lang="en-GB"/>
              <a:t>Brand Audit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Two parts of every audit</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Inventory body"/>
          <p:cNvSpPr/>
          <p:nvPr/>
        </p:nvSpPr>
        <p:spPr>
          <a:xfrm>
            <a:off x="457200" y="1280160"/>
            <a:ext cx="4032504" cy="3246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nventory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nventory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Brand inventory</a:t>
            </a:r>
          </a:p>
        </p:txBody>
      </p:sp>
      <p:pic>
        <p:nvPicPr>
          <p:cNvPr id="9" name="Icon LuClipboardList" descr=""/>
          <p:cNvPicPr>
            <a:picLocks noChangeAspect="1"/>
          </p:cNvPicPr>
          <p:nvPr/>
        </p:nvPicPr>
        <p:blipFill>
          <a:blip r:embed="rId3"/>
          <a:stretch>
            <a:fillRect/>
          </a:stretch>
        </p:blipFill>
        <p:spPr>
          <a:xfrm>
            <a:off x="4059936" y="1344168"/>
            <a:ext cx="329184" cy="329184"/>
          </a:xfrm>
          <a:prstGeom prst="rect">
            <a:avLst/>
          </a:prstGeom>
        </p:spPr>
      </p:pic>
      <p:sp>
        <p:nvSpPr>
          <p:cNvPr id="10" name="Inventory text"/>
          <p:cNvSpPr txBox="1"/>
          <p:nvPr/>
        </p:nvSpPr>
        <p:spPr>
          <a:xfrm>
            <a:off x="594360" y="1847088"/>
            <a:ext cx="3758184" cy="2587752"/>
          </a:xfrm>
          <a:prstGeom prst="rect">
            <a:avLst/>
          </a:prstGeom>
          <a:noFill/>
        </p:spPr>
        <p:txBody>
          <a:bodyPr wrap="square" lIns="36576" rIns="36576" tIns="18288" bIns="18288" anchor="t">
            <a:spAutoFit/>
          </a:bodyPr>
          <a:lstStyle/>
          <a:p>
            <a:pPr algn="l">
              <a:spcAft>
                <a:spcPts val="700"/>
              </a:spcAft>
            </a:pPr>
            <a:r>
              <a:rPr lang="en-GB" sz="1300" b="1">
                <a:solidFill>
                  <a:schemeClr val="tx2"/>
                </a:solidFill>
              </a:rPr>
              <a:t>Supply side: what the firm does</a:t>
            </a:r>
          </a:p>
          <a:p>
            <a:pPr algn="l">
              <a:spcAft>
                <a:spcPts val="700"/>
              </a:spcAft>
            </a:pPr>
            <a:r>
              <a:rPr lang="en-GB" sz="1300" b="0">
                <a:solidFill>
                  <a:schemeClr val="tx1"/>
                </a:solidFill>
              </a:rPr>
              <a:t>A complete profile of how the brand is marketed.</a:t>
            </a:r>
          </a:p>
          <a:p>
            <a:pPr algn="l">
              <a:spcAft>
                <a:spcPts val="700"/>
              </a:spcAft>
            </a:pPr>
            <a:r>
              <a:rPr lang="en-GB" sz="1300" b="0">
                <a:solidFill>
                  <a:schemeClr val="tx1"/>
                </a:solidFill>
              </a:rPr>
              <a:t>Elements, portfolio, products, price, communication, distribution.</a:t>
            </a:r>
          </a:p>
          <a:p>
            <a:pPr algn="l">
              <a:spcAft>
                <a:spcPts val="700"/>
              </a:spcAft>
            </a:pPr>
            <a:r>
              <a:rPr lang="en-GB" sz="1300" b="0">
                <a:solidFill>
                  <a:schemeClr val="tx1"/>
                </a:solidFill>
              </a:rPr>
              <a:t>The same profile for the main competitors.</a:t>
            </a:r>
          </a:p>
          <a:p>
            <a:pPr algn="l">
              <a:spcAft>
                <a:spcPts val="700"/>
              </a:spcAft>
            </a:pPr>
            <a:r>
              <a:rPr lang="en-GB" sz="1300" b="0">
                <a:solidFill>
                  <a:schemeClr val="tx1"/>
                </a:solidFill>
              </a:rPr>
              <a:t>Output: the intended positioning and its consistency.</a:t>
            </a:r>
          </a:p>
        </p:txBody>
      </p:sp>
      <p:sp>
        <p:nvSpPr>
          <p:cNvPr id="11" name="Exploratory body"/>
          <p:cNvSpPr/>
          <p:nvPr/>
        </p:nvSpPr>
        <p:spPr>
          <a:xfrm>
            <a:off x="4654296" y="1280160"/>
            <a:ext cx="4032504" cy="3246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xploratory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xploratory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Brand exploratory</a:t>
            </a:r>
          </a:p>
        </p:txBody>
      </p:sp>
      <p:pic>
        <p:nvPicPr>
          <p:cNvPr id="14" name="Icon LuSearch" descr=""/>
          <p:cNvPicPr>
            <a:picLocks noChangeAspect="1"/>
          </p:cNvPicPr>
          <p:nvPr/>
        </p:nvPicPr>
        <p:blipFill>
          <a:blip r:embed="rId4"/>
          <a:stretch>
            <a:fillRect/>
          </a:stretch>
        </p:blipFill>
        <p:spPr>
          <a:xfrm>
            <a:off x="8257031" y="1344168"/>
            <a:ext cx="329184" cy="329184"/>
          </a:xfrm>
          <a:prstGeom prst="rect">
            <a:avLst/>
          </a:prstGeom>
        </p:spPr>
      </p:pic>
      <p:sp>
        <p:nvSpPr>
          <p:cNvPr id="15" name="Exploratory text"/>
          <p:cNvSpPr txBox="1"/>
          <p:nvPr/>
        </p:nvSpPr>
        <p:spPr>
          <a:xfrm>
            <a:off x="4791456" y="1847088"/>
            <a:ext cx="3758184" cy="2587752"/>
          </a:xfrm>
          <a:prstGeom prst="rect">
            <a:avLst/>
          </a:prstGeom>
          <a:noFill/>
        </p:spPr>
        <p:txBody>
          <a:bodyPr wrap="square" lIns="36576" rIns="36576" tIns="18288" bIns="18288" anchor="t">
            <a:spAutoFit/>
          </a:bodyPr>
          <a:lstStyle/>
          <a:p>
            <a:pPr algn="l">
              <a:spcAft>
                <a:spcPts val="700"/>
              </a:spcAft>
            </a:pPr>
            <a:r>
              <a:rPr lang="en-GB" sz="1300" b="1">
                <a:solidFill>
                  <a:schemeClr val="tx2"/>
                </a:solidFill>
              </a:rPr>
              <a:t>Demand side: what buyers remember</a:t>
            </a:r>
          </a:p>
          <a:p>
            <a:pPr algn="l">
              <a:spcAft>
                <a:spcPts val="700"/>
              </a:spcAft>
            </a:pPr>
            <a:r>
              <a:rPr lang="en-GB" sz="1300" b="0">
                <a:solidFill>
                  <a:schemeClr val="tx1"/>
                </a:solidFill>
              </a:rPr>
              <a:t>What consumers know, think and feel about the brand.</a:t>
            </a:r>
          </a:p>
          <a:p>
            <a:pPr algn="l">
              <a:spcAft>
                <a:spcPts val="700"/>
              </a:spcAft>
            </a:pPr>
            <a:r>
              <a:rPr lang="en-GB" sz="1300" b="0">
                <a:solidFill>
                  <a:schemeClr val="tx1"/>
                </a:solidFill>
              </a:rPr>
              <a:t>Secondary data, then qualitative research, then a survey.</a:t>
            </a:r>
          </a:p>
          <a:p>
            <a:pPr algn="l">
              <a:spcAft>
                <a:spcPts val="700"/>
              </a:spcAft>
            </a:pPr>
            <a:r>
              <a:rPr lang="en-GB" sz="1300" b="0">
                <a:solidFill>
                  <a:schemeClr val="tx1"/>
                </a:solidFill>
              </a:rPr>
              <a:t>Benchmarked against the same competitors.</a:t>
            </a:r>
          </a:p>
          <a:p>
            <a:pPr algn="l">
              <a:spcAft>
                <a:spcPts val="700"/>
              </a:spcAft>
            </a:pPr>
            <a:r>
              <a:rPr lang="en-GB" sz="1300" b="0">
                <a:solidFill>
                  <a:schemeClr val="tx1"/>
                </a:solidFill>
              </a:rPr>
              <a:t>Output: sources of equity and gaps to the intended positioning.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brand inventory checklist</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Inventory table"/>
          <p:cNvGraphicFramePr>
            <a:graphicFrameLocks noGrp="1"/>
          </p:cNvGraphicFramePr>
          <p:nvPr/>
        </p:nvGraphicFramePr>
        <p:xfrm>
          <a:off x="457200" y="1280160"/>
          <a:ext cx="8229600" cy="2834640"/>
        </p:xfrm>
        <a:graphic>
          <a:graphicData uri="http://schemas.openxmlformats.org/drawingml/2006/table">
            <a:tbl>
              <a:tblPr firstRow="1" bandRow="1">
                <a:tableStyleId>{5C22544A-7EE6-4342-B048-85BDC9FD1C3A}</a:tableStyleId>
              </a:tblPr>
              <a:tblGrid>
                <a:gridCol w="1828800"/>
                <a:gridCol w="3566160"/>
                <a:gridCol w="2834640"/>
              </a:tblGrid>
              <a:tr h="354330">
                <a:tc>
                  <a:txBody>
                    <a:bodyPr/>
                    <a:lstStyle/>
                    <a:p>
                      <a:r>
                        <a:rPr lang="en-GB" sz="1200" b="1">
                          <a:solidFill>
                            <a:schemeClr val="bg1"/>
                          </a:solidFill>
                        </a:rPr>
                        <a:t>Area</a:t>
                      </a:r>
                    </a:p>
                  </a:txBody>
                  <a:tcPr marT="36576" marB="36576" anchor="ctr">
                    <a:solidFill>
                      <a:schemeClr val="accent1"/>
                    </a:solidFill>
                  </a:tcPr>
                </a:tc>
                <a:tc>
                  <a:txBody>
                    <a:bodyPr/>
                    <a:lstStyle/>
                    <a:p>
                      <a:r>
                        <a:rPr lang="en-GB" sz="1200" b="1">
                          <a:solidFill>
                            <a:schemeClr val="bg1"/>
                          </a:solidFill>
                        </a:rPr>
                        <a:t>What to collect</a:t>
                      </a:r>
                    </a:p>
                  </a:txBody>
                  <a:tcPr marT="36576" marB="36576" anchor="ctr">
                    <a:solidFill>
                      <a:schemeClr val="accent1"/>
                    </a:solidFill>
                  </a:tcPr>
                </a:tc>
                <a:tc>
                  <a:txBody>
                    <a:bodyPr/>
                    <a:lstStyle/>
                    <a:p>
                      <a:r>
                        <a:rPr lang="en-GB" sz="1200" b="1">
                          <a:solidFill>
                            <a:schemeClr val="bg1"/>
                          </a:solidFill>
                        </a:rPr>
                        <a:t>Typical sources</a:t>
                      </a:r>
                    </a:p>
                  </a:txBody>
                  <a:tcPr marT="36576" marB="36576" anchor="ctr">
                    <a:solidFill>
                      <a:schemeClr val="accent1"/>
                    </a:solidFill>
                  </a:tcPr>
                </a:tc>
              </a:tr>
              <a:tr h="354330">
                <a:tc>
                  <a:txBody>
                    <a:bodyPr/>
                    <a:lstStyle/>
                    <a:p>
                      <a:r>
                        <a:rPr lang="en-GB" sz="1200">
                          <a:solidFill>
                            <a:schemeClr val="tx1"/>
                          </a:solidFill>
                        </a:rPr>
                        <a:t>Brand elements</a:t>
                      </a:r>
                    </a:p>
                  </a:txBody>
                  <a:tcPr marT="36576" marB="36576" anchor="ctr">
                    <a:solidFill>
                      <a:schemeClr val="bg2"/>
                    </a:solidFill>
                  </a:tcPr>
                </a:tc>
                <a:tc>
                  <a:txBody>
                    <a:bodyPr/>
                    <a:lstStyle/>
                    <a:p>
                      <a:r>
                        <a:rPr lang="en-GB" sz="1200">
                          <a:solidFill>
                            <a:schemeClr val="tx1"/>
                          </a:solidFill>
                        </a:rPr>
                        <a:t>Name, logo, colours, pack, slogan, sound</a:t>
                      </a:r>
                    </a:p>
                  </a:txBody>
                  <a:tcPr marT="36576" marB="36576" anchor="ctr">
                    <a:solidFill>
                      <a:schemeClr val="bg2"/>
                    </a:solidFill>
                  </a:tcPr>
                </a:tc>
                <a:tc>
                  <a:txBody>
                    <a:bodyPr/>
                    <a:lstStyle/>
                    <a:p>
                      <a:r>
                        <a:rPr lang="en-GB" sz="1200">
                          <a:solidFill>
                            <a:schemeClr val="tx1"/>
                          </a:solidFill>
                        </a:rPr>
                        <a:t>Packs, website, brand book</a:t>
                      </a:r>
                    </a:p>
                  </a:txBody>
                  <a:tcPr marT="36576" marB="36576" anchor="ctr">
                    <a:solidFill>
                      <a:schemeClr val="bg2"/>
                    </a:solidFill>
                  </a:tcPr>
                </a:tc>
              </a:tr>
              <a:tr h="354330">
                <a:tc>
                  <a:txBody>
                    <a:bodyPr/>
                    <a:lstStyle/>
                    <a:p>
                      <a:r>
                        <a:rPr lang="en-GB" sz="1200">
                          <a:solidFill>
                            <a:schemeClr val="tx1"/>
                          </a:solidFill>
                        </a:rPr>
                        <a:t>Portfolio</a:t>
                      </a:r>
                    </a:p>
                  </a:txBody>
                  <a:tcPr marT="36576" marB="36576" anchor="ctr">
                    <a:solidFill>
                      <a:srgbClr val="F2F2F2"/>
                    </a:solidFill>
                  </a:tcPr>
                </a:tc>
                <a:tc>
                  <a:txBody>
                    <a:bodyPr/>
                    <a:lstStyle/>
                    <a:p>
                      <a:r>
                        <a:rPr lang="en-GB" sz="1200">
                          <a:solidFill>
                            <a:schemeClr val="tx1"/>
                          </a:solidFill>
                        </a:rPr>
                        <a:t>Brands, sub-brands, endorsements</a:t>
                      </a:r>
                    </a:p>
                  </a:txBody>
                  <a:tcPr marT="36576" marB="36576" anchor="ctr">
                    <a:solidFill>
                      <a:srgbClr val="F2F2F2"/>
                    </a:solidFill>
                  </a:tcPr>
                </a:tc>
                <a:tc>
                  <a:txBody>
                    <a:bodyPr/>
                    <a:lstStyle/>
                    <a:p>
                      <a:r>
                        <a:rPr lang="en-GB" sz="1200">
                          <a:solidFill>
                            <a:schemeClr val="tx1"/>
                          </a:solidFill>
                        </a:rPr>
                        <a:t>Annual report, company site</a:t>
                      </a:r>
                    </a:p>
                  </a:txBody>
                  <a:tcPr marT="36576" marB="36576" anchor="ctr">
                    <a:solidFill>
                      <a:srgbClr val="F2F2F2"/>
                    </a:solidFill>
                  </a:tcPr>
                </a:tc>
              </a:tr>
              <a:tr h="354330">
                <a:tc>
                  <a:txBody>
                    <a:bodyPr/>
                    <a:lstStyle/>
                    <a:p>
                      <a:r>
                        <a:rPr lang="en-GB" sz="1200">
                          <a:solidFill>
                            <a:schemeClr val="tx1"/>
                          </a:solidFill>
                        </a:rPr>
                        <a:t>Product</a:t>
                      </a:r>
                    </a:p>
                  </a:txBody>
                  <a:tcPr marT="36576" marB="36576" anchor="ctr">
                    <a:solidFill>
                      <a:schemeClr val="bg2"/>
                    </a:solidFill>
                  </a:tcPr>
                </a:tc>
                <a:tc>
                  <a:txBody>
                    <a:bodyPr/>
                    <a:lstStyle/>
                    <a:p>
                      <a:r>
                        <a:rPr lang="en-GB" sz="1200">
                          <a:solidFill>
                            <a:schemeClr val="tx1"/>
                          </a:solidFill>
                        </a:rPr>
                        <a:t>Range, benefits, quality cues</a:t>
                      </a:r>
                    </a:p>
                  </a:txBody>
                  <a:tcPr marT="36576" marB="36576" anchor="ctr">
                    <a:solidFill>
                      <a:schemeClr val="bg2"/>
                    </a:solidFill>
                  </a:tcPr>
                </a:tc>
                <a:tc>
                  <a:txBody>
                    <a:bodyPr/>
                    <a:lstStyle/>
                    <a:p>
                      <a:r>
                        <a:rPr lang="en-GB" sz="1200">
                          <a:solidFill>
                            <a:schemeClr val="tx1"/>
                          </a:solidFill>
                        </a:rPr>
                        <a:t>Range lists, reviews</a:t>
                      </a:r>
                    </a:p>
                  </a:txBody>
                  <a:tcPr marT="36576" marB="36576" anchor="ctr">
                    <a:solidFill>
                      <a:schemeClr val="bg2"/>
                    </a:solidFill>
                  </a:tcPr>
                </a:tc>
              </a:tr>
              <a:tr h="354330">
                <a:tc>
                  <a:txBody>
                    <a:bodyPr/>
                    <a:lstStyle/>
                    <a:p>
                      <a:r>
                        <a:rPr lang="en-GB" sz="1200">
                          <a:solidFill>
                            <a:schemeClr val="tx1"/>
                          </a:solidFill>
                        </a:rPr>
                        <a:t>Price</a:t>
                      </a:r>
                    </a:p>
                  </a:txBody>
                  <a:tcPr marT="36576" marB="36576" anchor="ctr">
                    <a:solidFill>
                      <a:srgbClr val="F2F2F2"/>
                    </a:solidFill>
                  </a:tcPr>
                </a:tc>
                <a:tc>
                  <a:txBody>
                    <a:bodyPr/>
                    <a:lstStyle/>
                    <a:p>
                      <a:r>
                        <a:rPr lang="en-GB" sz="1200">
                          <a:solidFill>
                            <a:schemeClr val="tx1"/>
                          </a:solidFill>
                        </a:rPr>
                        <a:t>Price points, premium, promotions</a:t>
                      </a:r>
                    </a:p>
                  </a:txBody>
                  <a:tcPr marT="36576" marB="36576" anchor="ctr">
                    <a:solidFill>
                      <a:srgbClr val="F2F2F2"/>
                    </a:solidFill>
                  </a:tcPr>
                </a:tc>
                <a:tc>
                  <a:txBody>
                    <a:bodyPr/>
                    <a:lstStyle/>
                    <a:p>
                      <a:r>
                        <a:rPr lang="en-GB" sz="1200">
                          <a:solidFill>
                            <a:schemeClr val="tx1"/>
                          </a:solidFill>
                        </a:rPr>
                        <a:t>Store checks, scanner data</a:t>
                      </a:r>
                    </a:p>
                  </a:txBody>
                  <a:tcPr marT="36576" marB="36576" anchor="ctr">
                    <a:solidFill>
                      <a:srgbClr val="F2F2F2"/>
                    </a:solidFill>
                  </a:tcPr>
                </a:tc>
              </a:tr>
              <a:tr h="354330">
                <a:tc>
                  <a:txBody>
                    <a:bodyPr/>
                    <a:lstStyle/>
                    <a:p>
                      <a:r>
                        <a:rPr lang="en-GB" sz="1200">
                          <a:solidFill>
                            <a:schemeClr val="tx1"/>
                          </a:solidFill>
                        </a:rPr>
                        <a:t>Communication</a:t>
                      </a:r>
                    </a:p>
                  </a:txBody>
                  <a:tcPr marT="36576" marB="36576" anchor="ctr">
                    <a:solidFill>
                      <a:schemeClr val="bg2"/>
                    </a:solidFill>
                  </a:tcPr>
                </a:tc>
                <a:tc>
                  <a:txBody>
                    <a:bodyPr/>
                    <a:lstStyle/>
                    <a:p>
                      <a:r>
                        <a:rPr lang="en-GB" sz="1200">
                          <a:solidFill>
                            <a:schemeClr val="tx1"/>
                          </a:solidFill>
                        </a:rPr>
                        <a:t>Campaigns, claims, media mix, social</a:t>
                      </a:r>
                    </a:p>
                  </a:txBody>
                  <a:tcPr marT="36576" marB="36576" anchor="ctr">
                    <a:solidFill>
                      <a:schemeClr val="bg2"/>
                    </a:solidFill>
                  </a:tcPr>
                </a:tc>
                <a:tc>
                  <a:txBody>
                    <a:bodyPr/>
                    <a:lstStyle/>
                    <a:p>
                      <a:r>
                        <a:rPr lang="en-GB" sz="1200">
                          <a:solidFill>
                            <a:schemeClr val="tx1"/>
                          </a:solidFill>
                        </a:rPr>
                        <a:t>Ad archives, Effie entries</a:t>
                      </a:r>
                    </a:p>
                  </a:txBody>
                  <a:tcPr marT="36576" marB="36576" anchor="ctr">
                    <a:solidFill>
                      <a:schemeClr val="bg2"/>
                    </a:solidFill>
                  </a:tcPr>
                </a:tc>
              </a:tr>
              <a:tr h="354330">
                <a:tc>
                  <a:txBody>
                    <a:bodyPr/>
                    <a:lstStyle/>
                    <a:p>
                      <a:r>
                        <a:rPr lang="en-GB" sz="1200">
                          <a:solidFill>
                            <a:schemeClr val="tx1"/>
                          </a:solidFill>
                        </a:rPr>
                        <a:t>Distribution</a:t>
                      </a:r>
                    </a:p>
                  </a:txBody>
                  <a:tcPr marT="36576" marB="36576" anchor="ctr">
                    <a:solidFill>
                      <a:srgbClr val="F2F2F2"/>
                    </a:solidFill>
                  </a:tcPr>
                </a:tc>
                <a:tc>
                  <a:txBody>
                    <a:bodyPr/>
                    <a:lstStyle/>
                    <a:p>
                      <a:r>
                        <a:rPr lang="en-GB" sz="1200">
                          <a:solidFill>
                            <a:schemeClr val="tx1"/>
                          </a:solidFill>
                        </a:rPr>
                        <a:t>Channels, shelf presence, availability</a:t>
                      </a:r>
                    </a:p>
                  </a:txBody>
                  <a:tcPr marT="36576" marB="36576" anchor="ctr">
                    <a:solidFill>
                      <a:srgbClr val="F2F2F2"/>
                    </a:solidFill>
                  </a:tcPr>
                </a:tc>
                <a:tc>
                  <a:txBody>
                    <a:bodyPr/>
                    <a:lstStyle/>
                    <a:p>
                      <a:r>
                        <a:rPr lang="en-GB" sz="1200">
                          <a:solidFill>
                            <a:schemeClr val="tx1"/>
                          </a:solidFill>
                        </a:rPr>
                        <a:t>Store visits, retailer data</a:t>
                      </a:r>
                    </a:p>
                  </a:txBody>
                  <a:tcPr marT="36576" marB="36576" anchor="ctr">
                    <a:solidFill>
                      <a:srgbClr val="F2F2F2"/>
                    </a:solidFill>
                  </a:tcPr>
                </a:tc>
              </a:tr>
              <a:tr h="354330">
                <a:tc>
                  <a:txBody>
                    <a:bodyPr/>
                    <a:lstStyle/>
                    <a:p>
                      <a:r>
                        <a:rPr lang="en-GB" sz="1200">
                          <a:solidFill>
                            <a:schemeClr val="tx1"/>
                          </a:solidFill>
                        </a:rPr>
                        <a:t>Competitors</a:t>
                      </a:r>
                    </a:p>
                  </a:txBody>
                  <a:tcPr marT="36576" marB="36576" anchor="ctr">
                    <a:solidFill>
                      <a:schemeClr val="bg2"/>
                    </a:solidFill>
                  </a:tcPr>
                </a:tc>
                <a:tc>
                  <a:txBody>
                    <a:bodyPr/>
                    <a:lstStyle/>
                    <a:p>
                      <a:r>
                        <a:rPr lang="en-GB" sz="1200">
                          <a:solidFill>
                            <a:schemeClr val="tx1"/>
                          </a:solidFill>
                        </a:rPr>
                        <a:t>The same profile for 2–3 rivals</a:t>
                      </a:r>
                    </a:p>
                  </a:txBody>
                  <a:tcPr marT="36576" marB="36576" anchor="ctr">
                    <a:solidFill>
                      <a:schemeClr val="bg2"/>
                    </a:solidFill>
                  </a:tcPr>
                </a:tc>
                <a:tc>
                  <a:txBody>
                    <a:bodyPr/>
                    <a:lstStyle/>
                    <a:p>
                      <a:r>
                        <a:rPr lang="en-GB" sz="1200">
                          <a:solidFill>
                            <a:schemeClr val="tx1"/>
                          </a:solidFill>
                        </a:rPr>
                        <a:t>All of the above</a:t>
                      </a:r>
                    </a:p>
                  </a:txBody>
                  <a:tcPr marT="36576" marB="36576" anchor="ctr">
                    <a:solidFill>
                      <a:schemeClr val="bg2"/>
                    </a:solidFill>
                  </a:tcPr>
                </a:tc>
              </a:tr>
            </a:tbl>
          </a:graphicData>
        </a:graphic>
      </p:graphicFrame>
      <p:sp>
        <p:nvSpPr>
          <p:cNvPr id="7" name="Hinweis"/>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inweis text"/>
          <p:cNvSpPr txBox="1"/>
          <p:nvPr/>
        </p:nvSpPr>
        <p:spPr>
          <a:xfrm>
            <a:off x="640080" y="4343400"/>
            <a:ext cx="7863840" cy="50292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Key question: </a:t>
            </a:r>
            <a:r>
              <a:rPr lang="en-GB" sz="1300" b="0">
                <a:solidFill>
                  <a:schemeClr val="tx1"/>
                </a:solidFill>
              </a:rPr>
              <a:t>do elements, claims and touchpoints tell one consistent story?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Auditing the brand architecture</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Pole left"/>
          <p:cNvSpPr txBox="1"/>
          <p:nvPr/>
        </p:nvSpPr>
        <p:spPr>
          <a:xfrm>
            <a:off x="457200" y="1261872"/>
            <a:ext cx="2011680" cy="274320"/>
          </a:xfrm>
          <a:prstGeom prst="rect">
            <a:avLst/>
          </a:prstGeom>
          <a:noFill/>
        </p:spPr>
        <p:txBody>
          <a:bodyPr wrap="square" lIns="36576" rIns="36576" tIns="18288" bIns="18288" anchor="t">
            <a:spAutoFit/>
          </a:bodyPr>
          <a:lstStyle/>
          <a:p>
            <a:pPr algn="l">
              <a:spcAft>
                <a:spcPts val="0"/>
              </a:spcAft>
            </a:pPr>
            <a:r>
              <a:rPr lang="en-GB" sz="1300" b="1">
                <a:solidFill>
                  <a:schemeClr val="tx2"/>
                </a:solidFill>
              </a:rPr>
              <a:t>One master brand</a:t>
            </a:r>
          </a:p>
        </p:txBody>
      </p:sp>
      <p:sp>
        <p:nvSpPr>
          <p:cNvPr id="7" name="Pole right"/>
          <p:cNvSpPr txBox="1"/>
          <p:nvPr/>
        </p:nvSpPr>
        <p:spPr>
          <a:xfrm>
            <a:off x="6309360" y="1261872"/>
            <a:ext cx="2377440" cy="274320"/>
          </a:xfrm>
          <a:prstGeom prst="rect">
            <a:avLst/>
          </a:prstGeom>
          <a:noFill/>
        </p:spPr>
        <p:txBody>
          <a:bodyPr wrap="square" lIns="36576" rIns="36576" tIns="18288" bIns="18288" anchor="t">
            <a:spAutoFit/>
          </a:bodyPr>
          <a:lstStyle/>
          <a:p>
            <a:pPr algn="r">
              <a:spcAft>
                <a:spcPts val="0"/>
              </a:spcAft>
            </a:pPr>
            <a:r>
              <a:rPr lang="en-GB" sz="1300" b="1">
                <a:solidFill>
                  <a:schemeClr val="tx2"/>
                </a:solidFill>
              </a:rPr>
              <a:t>Stand-alone brands</a:t>
            </a:r>
          </a:p>
        </p:txBody>
      </p:sp>
      <p:cxnSp>
        <p:nvCxnSpPr>
          <p:cNvPr id="8" name="Spectrum"/>
          <p:cNvCxnSpPr/>
          <p:nvPr/>
        </p:nvCxnSpPr>
        <p:spPr>
          <a:xfrm>
            <a:off x="2331720" y="1399032"/>
            <a:ext cx="4206240" cy="0"/>
          </a:xfrm>
          <a:prstGeom prst="line">
            <a:avLst/>
          </a:prstGeom>
          <a:ln w="25400">
            <a:solidFill>
              <a:schemeClr val="accent1"/>
            </a:solidFill>
          </a:ln>
        </p:spPr>
        <p:style>
          <a:lnRef idx="2">
            <a:schemeClr val="accent1"/>
          </a:lnRef>
          <a:fillRef idx="0">
            <a:schemeClr val="accent1"/>
          </a:fillRef>
          <a:effectRef idx="1">
            <a:schemeClr val="accent1"/>
          </a:effectRef>
          <a:fontRef idx="minor">
            <a:schemeClr val="tx1"/>
          </a:fontRef>
        </p:style>
      </p:cxnSp>
      <p:sp>
        <p:nvSpPr>
          <p:cNvPr id="9" name="Architecture 1"/>
          <p:cNvSpPr/>
          <p:nvPr/>
        </p:nvSpPr>
        <p:spPr>
          <a:xfrm>
            <a:off x="457200" y="1691640"/>
            <a:ext cx="1933956" cy="2057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rchitecture 1 Text"/>
          <p:cNvSpPr txBox="1"/>
          <p:nvPr/>
        </p:nvSpPr>
        <p:spPr>
          <a:xfrm>
            <a:off x="566928" y="1783080"/>
            <a:ext cx="1714500" cy="1874519"/>
          </a:xfrm>
          <a:prstGeom prst="rect">
            <a:avLst/>
          </a:prstGeom>
          <a:noFill/>
        </p:spPr>
        <p:txBody>
          <a:bodyPr wrap="square" lIns="36576" rIns="36576" tIns="18288" bIns="18288" anchor="t">
            <a:spAutoFit/>
          </a:bodyPr>
          <a:lstStyle/>
          <a:p>
            <a:pPr algn="l">
              <a:spcAft>
                <a:spcPts val="600"/>
              </a:spcAft>
            </a:pPr>
            <a:r>
              <a:rPr lang="en-GB" sz="1400" b="1">
                <a:solidFill>
                  <a:schemeClr val="tx1"/>
                </a:solidFill>
                <a:latin typeface="+mj-lt"/>
              </a:rPr>
              <a:t>Branded house</a:t>
            </a:r>
          </a:p>
          <a:p>
            <a:pPr algn="l">
              <a:spcAft>
                <a:spcPts val="600"/>
              </a:spcAft>
            </a:pPr>
            <a:r>
              <a:rPr lang="en-GB" sz="1200" b="0">
                <a:solidFill>
                  <a:schemeClr val="tx1"/>
                </a:solidFill>
              </a:rPr>
              <a:t>A1: more than 10 local brands moved to one brand in 2017; EUR 350m of brand value written off.</a:t>
            </a:r>
          </a:p>
        </p:txBody>
      </p:sp>
      <p:sp>
        <p:nvSpPr>
          <p:cNvPr id="11" name="Architecture 2"/>
          <p:cNvSpPr/>
          <p:nvPr/>
        </p:nvSpPr>
        <p:spPr>
          <a:xfrm>
            <a:off x="2555748" y="1691640"/>
            <a:ext cx="1933956" cy="20574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rchitecture 2 Text"/>
          <p:cNvSpPr txBox="1"/>
          <p:nvPr/>
        </p:nvSpPr>
        <p:spPr>
          <a:xfrm>
            <a:off x="2665476" y="1783080"/>
            <a:ext cx="1714500" cy="1874519"/>
          </a:xfrm>
          <a:prstGeom prst="rect">
            <a:avLst/>
          </a:prstGeom>
          <a:noFill/>
        </p:spPr>
        <p:txBody>
          <a:bodyPr wrap="square" lIns="36576" rIns="36576" tIns="18288" bIns="18288" anchor="t">
            <a:spAutoFit/>
          </a:bodyPr>
          <a:lstStyle/>
          <a:p>
            <a:pPr algn="l">
              <a:spcAft>
                <a:spcPts val="600"/>
              </a:spcAft>
            </a:pPr>
            <a:r>
              <a:rPr lang="en-GB" sz="1400" b="1">
                <a:solidFill>
                  <a:schemeClr val="tx1"/>
                </a:solidFill>
                <a:latin typeface="+mj-lt"/>
              </a:rPr>
              <a:t>Sub-brands</a:t>
            </a:r>
          </a:p>
          <a:p>
            <a:pPr algn="l">
              <a:spcAft>
                <a:spcPts val="600"/>
              </a:spcAft>
            </a:pPr>
            <a:r>
              <a:rPr lang="en-GB" sz="1200" b="0">
                <a:solidFill>
                  <a:schemeClr val="tx1"/>
                </a:solidFill>
              </a:rPr>
              <a:t>BILLA and BILLA PLUS: the 52-year-old Merkur brand retired into BILLA PLUS in 2021.</a:t>
            </a:r>
          </a:p>
        </p:txBody>
      </p:sp>
      <p:sp>
        <p:nvSpPr>
          <p:cNvPr id="13" name="Architecture 3"/>
          <p:cNvSpPr/>
          <p:nvPr/>
        </p:nvSpPr>
        <p:spPr>
          <a:xfrm>
            <a:off x="4654296" y="1691640"/>
            <a:ext cx="1933956" cy="2057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rchitecture 3 Text"/>
          <p:cNvSpPr txBox="1"/>
          <p:nvPr/>
        </p:nvSpPr>
        <p:spPr>
          <a:xfrm>
            <a:off x="4764024" y="1783080"/>
            <a:ext cx="1714500" cy="1874519"/>
          </a:xfrm>
          <a:prstGeom prst="rect">
            <a:avLst/>
          </a:prstGeom>
          <a:noFill/>
        </p:spPr>
        <p:txBody>
          <a:bodyPr wrap="square" lIns="36576" rIns="36576" tIns="18288" bIns="18288" anchor="t">
            <a:spAutoFit/>
          </a:bodyPr>
          <a:lstStyle/>
          <a:p>
            <a:pPr algn="l">
              <a:spcAft>
                <a:spcPts val="600"/>
              </a:spcAft>
            </a:pPr>
            <a:r>
              <a:rPr lang="en-GB" sz="1400" b="1">
                <a:solidFill>
                  <a:schemeClr val="tx1"/>
                </a:solidFill>
                <a:latin typeface="+mj-lt"/>
              </a:rPr>
              <a:t>Endorsed brands</a:t>
            </a:r>
          </a:p>
          <a:p>
            <a:pPr algn="l">
              <a:spcAft>
                <a:spcPts val="600"/>
              </a:spcAft>
            </a:pPr>
            <a:r>
              <a:rPr lang="en-GB" sz="1200" b="0">
                <a:solidFill>
                  <a:schemeClr val="tx1"/>
                </a:solidFill>
              </a:rPr>
              <a:t>Rauch: Happy Day and Bravo carry the Rauch umbrella brand and its tree.</a:t>
            </a:r>
          </a:p>
        </p:txBody>
      </p:sp>
      <p:sp>
        <p:nvSpPr>
          <p:cNvPr id="15" name="Architecture 4"/>
          <p:cNvSpPr/>
          <p:nvPr/>
        </p:nvSpPr>
        <p:spPr>
          <a:xfrm>
            <a:off x="6752844" y="1691640"/>
            <a:ext cx="1933956"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rchitecture 4 Text"/>
          <p:cNvSpPr txBox="1"/>
          <p:nvPr/>
        </p:nvSpPr>
        <p:spPr>
          <a:xfrm>
            <a:off x="6862572" y="1783080"/>
            <a:ext cx="1714500" cy="1874519"/>
          </a:xfrm>
          <a:prstGeom prst="rect">
            <a:avLst/>
          </a:prstGeom>
          <a:noFill/>
        </p:spPr>
        <p:txBody>
          <a:bodyPr wrap="square" lIns="36576" rIns="36576" tIns="18288" bIns="18288" anchor="t">
            <a:spAutoFit/>
          </a:bodyPr>
          <a:lstStyle/>
          <a:p>
            <a:pPr algn="l">
              <a:spcAft>
                <a:spcPts val="600"/>
              </a:spcAft>
            </a:pPr>
            <a:r>
              <a:rPr lang="en-GB" sz="1400" b="1">
                <a:solidFill>
                  <a:schemeClr val="tx1"/>
                </a:solidFill>
                <a:latin typeface="+mj-lt"/>
              </a:rPr>
              <a:t>House of brands</a:t>
            </a:r>
          </a:p>
          <a:p>
            <a:pPr algn="l">
              <a:spcAft>
                <a:spcPts val="600"/>
              </a:spcAft>
            </a:pPr>
            <a:r>
              <a:rPr lang="en-GB" sz="1200" b="0">
                <a:solidFill>
                  <a:schemeClr val="tx1"/>
                </a:solidFill>
              </a:rPr>
              <a:t>Josef Manner &amp; Comp.: Manner, Casali, Napoli, Victor Schmidt.</a:t>
            </a:r>
          </a:p>
        </p:txBody>
      </p:sp>
      <p:sp>
        <p:nvSpPr>
          <p:cNvPr id="17" name="Punkt"/>
          <p:cNvSpPr txBox="1"/>
          <p:nvPr/>
        </p:nvSpPr>
        <p:spPr>
          <a:xfrm>
            <a:off x="457200" y="3931920"/>
            <a:ext cx="8229600" cy="36576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en-GB" sz="1300" b="1">
                <a:solidFill>
                  <a:schemeClr val="tx1"/>
                </a:solidFill>
              </a:rPr>
              <a:t>Audit question: </a:t>
            </a:r>
            <a:r>
              <a:rPr lang="en-GB" sz="1300" b="0">
                <a:solidFill>
                  <a:schemeClr val="tx1"/>
                </a:solidFill>
              </a:rPr>
              <a:t>does the current position fit industry, company and product drivers?</a:t>
            </a:r>
          </a:p>
        </p:txBody>
      </p:sp>
      <p:sp>
        <p:nvSpPr>
          <p:cNvPr id="18" name="Source note"/>
          <p:cNvSpPr txBox="1"/>
          <p:nvPr/>
        </p:nvSpPr>
        <p:spPr>
          <a:xfrm>
            <a:off x="457200" y="4434840"/>
            <a:ext cx="8229600" cy="45720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Sources: Aaker &amp; Joachimsthaler (2000), California Management Review; Strebinger (2014), European Journal of Marketing; Leadersnet (2017); REWE Group (2021).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brand exploratory in three steps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ep 1"/>
          <p:cNvSpPr/>
          <p:nvPr/>
        </p:nvSpPr>
        <p:spPr>
          <a:xfrm>
            <a:off x="457200" y="1325880"/>
            <a:ext cx="2816352" cy="54864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en-GB" sz="1300" b="1">
                <a:solidFill>
                  <a:schemeClr val="bg1"/>
                </a:solidFill>
              </a:rPr>
              <a:t>1  Secondary data</a:t>
            </a:r>
          </a:p>
        </p:txBody>
      </p:sp>
      <p:sp>
        <p:nvSpPr>
          <p:cNvPr id="7" name="Step 2"/>
          <p:cNvSpPr/>
          <p:nvPr/>
        </p:nvSpPr>
        <p:spPr>
          <a:xfrm>
            <a:off x="3163824" y="1325880"/>
            <a:ext cx="2816352" cy="54864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en-GB" sz="1300" b="1">
                <a:solidFill>
                  <a:schemeClr val="bg1"/>
                </a:solidFill>
              </a:rPr>
              <a:t>2  Qualitative research</a:t>
            </a:r>
          </a:p>
        </p:txBody>
      </p:sp>
      <p:sp>
        <p:nvSpPr>
          <p:cNvPr id="8" name="Step 3"/>
          <p:cNvSpPr/>
          <p:nvPr/>
        </p:nvSpPr>
        <p:spPr>
          <a:xfrm>
            <a:off x="5870448" y="1325880"/>
            <a:ext cx="2816352" cy="54864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73152"/>
          <a:lstStyle/>
          <a:p>
            <a:pPr algn="ctr"/>
            <a:r>
              <a:rPr lang="en-GB" sz="1300" b="1">
                <a:solidFill>
                  <a:schemeClr val="bg1"/>
                </a:solidFill>
              </a:rPr>
              <a:t>3  Survey</a:t>
            </a:r>
          </a:p>
        </p:txBody>
      </p:sp>
      <p:sp>
        <p:nvSpPr>
          <p:cNvPr id="9" name="Step 1 Field"/>
          <p:cNvSpPr/>
          <p:nvPr/>
        </p:nvSpPr>
        <p:spPr>
          <a:xfrm>
            <a:off x="502920" y="2011680"/>
            <a:ext cx="2615184"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1 Text"/>
          <p:cNvSpPr txBox="1"/>
          <p:nvPr/>
        </p:nvSpPr>
        <p:spPr>
          <a:xfrm>
            <a:off x="612648" y="2103120"/>
            <a:ext cx="2395728" cy="1097280"/>
          </a:xfrm>
          <a:prstGeom prst="rect">
            <a:avLst/>
          </a:prstGeom>
          <a:noFill/>
        </p:spPr>
        <p:txBody>
          <a:bodyPr wrap="square" lIns="36576" rIns="36576" tIns="18288" bIns="18288" anchor="t">
            <a:spAutoFit/>
          </a:bodyPr>
          <a:lstStyle/>
          <a:p>
            <a:pPr algn="l">
              <a:spcAft>
                <a:spcPts val="0"/>
              </a:spcAft>
            </a:pPr>
            <a:r>
              <a:rPr lang="en-GB" sz="1300" b="0">
                <a:solidFill>
                  <a:schemeClr val="tx1"/>
                </a:solidFill>
              </a:rPr>
              <a:t>Annual reports, trackers, rankings, search trends, earlier studies.</a:t>
            </a:r>
          </a:p>
        </p:txBody>
      </p:sp>
      <p:sp>
        <p:nvSpPr>
          <p:cNvPr id="11" name="Step 2 Field"/>
          <p:cNvSpPr/>
          <p:nvPr/>
        </p:nvSpPr>
        <p:spPr>
          <a:xfrm>
            <a:off x="3209544" y="2011680"/>
            <a:ext cx="2615184"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ep 2 Text"/>
          <p:cNvSpPr txBox="1"/>
          <p:nvPr/>
        </p:nvSpPr>
        <p:spPr>
          <a:xfrm>
            <a:off x="3319272" y="2103120"/>
            <a:ext cx="2395728" cy="1097280"/>
          </a:xfrm>
          <a:prstGeom prst="rect">
            <a:avLst/>
          </a:prstGeom>
          <a:noFill/>
        </p:spPr>
        <p:txBody>
          <a:bodyPr wrap="square" lIns="36576" rIns="36576" tIns="18288" bIns="18288" anchor="t">
            <a:spAutoFit/>
          </a:bodyPr>
          <a:lstStyle/>
          <a:p>
            <a:pPr algn="l">
              <a:spcAft>
                <a:spcPts val="0"/>
              </a:spcAft>
            </a:pPr>
            <a:r>
              <a:rPr lang="en-GB" sz="1300" b="0">
                <a:solidFill>
                  <a:schemeClr val="tx1"/>
                </a:solidFill>
              </a:rPr>
              <a:t>Free association, laddering, ZMET, brand concept maps, projective tasks.</a:t>
            </a:r>
          </a:p>
        </p:txBody>
      </p:sp>
      <p:sp>
        <p:nvSpPr>
          <p:cNvPr id="13" name="Step 3 Field"/>
          <p:cNvSpPr/>
          <p:nvPr/>
        </p:nvSpPr>
        <p:spPr>
          <a:xfrm>
            <a:off x="5916168" y="2011680"/>
            <a:ext cx="2615184"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3 Text"/>
          <p:cNvSpPr txBox="1"/>
          <p:nvPr/>
        </p:nvSpPr>
        <p:spPr>
          <a:xfrm>
            <a:off x="6025896" y="2103120"/>
            <a:ext cx="2395728" cy="1097280"/>
          </a:xfrm>
          <a:prstGeom prst="rect">
            <a:avLst/>
          </a:prstGeom>
          <a:noFill/>
        </p:spPr>
        <p:txBody>
          <a:bodyPr wrap="square" lIns="36576" rIns="36576" tIns="18288" bIns="18288" anchor="t">
            <a:spAutoFit/>
          </a:bodyPr>
          <a:lstStyle/>
          <a:p>
            <a:pPr algn="l">
              <a:spcAft>
                <a:spcPts val="0"/>
              </a:spcAft>
            </a:pPr>
            <a:r>
              <a:rPr lang="en-GB" sz="1300" b="0">
                <a:solidFill>
                  <a:schemeClr val="tx1"/>
                </a:solidFill>
              </a:rPr>
              <a:t>Awareness, brand-attribute grid, equity scales, personality, vs. competitors.</a:t>
            </a:r>
          </a:p>
        </p:txBody>
      </p:sp>
      <p:sp>
        <p:nvSpPr>
          <p:cNvPr id="15" name="Punkt"/>
          <p:cNvSpPr txBox="1"/>
          <p:nvPr/>
        </p:nvSpPr>
        <p:spPr>
          <a:xfrm>
            <a:off x="457200" y="3520440"/>
            <a:ext cx="8229600" cy="82296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en-GB" sz="1300" b="1">
                <a:solidFill>
                  <a:schemeClr val="tx1"/>
                </a:solidFill>
              </a:rPr>
              <a:t>Qualitative first: </a:t>
            </a:r>
            <a:r>
              <a:rPr lang="en-GB" sz="1300" b="0">
                <a:solidFill>
                  <a:schemeClr val="tx1"/>
                </a:solidFill>
              </a:rPr>
              <a:t>it gives you the buyers' words for the survey items.</a:t>
            </a:r>
          </a:p>
          <a:p>
            <a:pPr algn="l" marL="182880" indent="-182880">
              <a:spcAft>
                <a:spcPts val="600"/>
              </a:spcAft>
              <a:buClr>
                <a:schemeClr val="accent1"/>
              </a:buClr>
              <a:buFont typeface="Arial"/>
              <a:buChar char="▪"/>
            </a:pPr>
            <a:r>
              <a:rPr lang="en-GB" sz="1300" b="1">
                <a:solidFill>
                  <a:schemeClr val="tx1"/>
                </a:solidFill>
              </a:rPr>
              <a:t>Sample: </a:t>
            </a:r>
            <a:r>
              <a:rPr lang="en-GB" sz="1300" b="0">
                <a:solidFill>
                  <a:schemeClr val="tx1"/>
                </a:solidFill>
              </a:rPr>
              <a:t>category buyers, light buyers and non-buyers, not only loyal fans.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CBBE pyramid as audit structure</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Pyramid Resonance"/>
          <p:cNvSpPr/>
          <p:nvPr/>
        </p:nvSpPr>
        <p:spPr>
          <a:xfrm>
            <a:off x="1691640" y="1325880"/>
            <a:ext cx="1371600" cy="6583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bg1"/>
                </a:solidFill>
              </a:rPr>
              <a:t>Resonance</a:t>
            </a:r>
          </a:p>
        </p:txBody>
      </p:sp>
      <p:sp>
        <p:nvSpPr>
          <p:cNvPr id="7" name="Level 1 Question"/>
          <p:cNvSpPr txBox="1"/>
          <p:nvPr/>
        </p:nvSpPr>
        <p:spPr>
          <a:xfrm>
            <a:off x="4572000" y="1325880"/>
            <a:ext cx="4114800" cy="65836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Relationships. </a:t>
            </a:r>
            <a:r>
              <a:rPr lang="en-GB" sz="1300" b="0">
                <a:solidFill>
                  <a:schemeClr val="tx1"/>
                </a:solidFill>
              </a:rPr>
              <a:t>How loyal, attached and engaged are buyers?</a:t>
            </a:r>
          </a:p>
        </p:txBody>
      </p:sp>
      <p:sp>
        <p:nvSpPr>
          <p:cNvPr id="8" name="Pyramid Judgements"/>
          <p:cNvSpPr/>
          <p:nvPr/>
        </p:nvSpPr>
        <p:spPr>
          <a:xfrm>
            <a:off x="960120" y="2103120"/>
            <a:ext cx="1371600"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Judgements</a:t>
            </a:r>
          </a:p>
        </p:txBody>
      </p:sp>
      <p:sp>
        <p:nvSpPr>
          <p:cNvPr id="9" name="Pyramid Feelings"/>
          <p:cNvSpPr/>
          <p:nvPr/>
        </p:nvSpPr>
        <p:spPr>
          <a:xfrm>
            <a:off x="2423160" y="2103120"/>
            <a:ext cx="1371600"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Feelings</a:t>
            </a:r>
          </a:p>
        </p:txBody>
      </p:sp>
      <p:sp>
        <p:nvSpPr>
          <p:cNvPr id="10" name="Level 2 Question"/>
          <p:cNvSpPr txBox="1"/>
          <p:nvPr/>
        </p:nvSpPr>
        <p:spPr>
          <a:xfrm>
            <a:off x="4572000" y="2103120"/>
            <a:ext cx="4114800" cy="65836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Response. </a:t>
            </a:r>
            <a:r>
              <a:rPr lang="en-GB" sz="1300" b="0">
                <a:solidFill>
                  <a:schemeClr val="tx1"/>
                </a:solidFill>
              </a:rPr>
              <a:t>Quality, credibility, consideration; warmth, fun, security?</a:t>
            </a:r>
          </a:p>
        </p:txBody>
      </p:sp>
      <p:sp>
        <p:nvSpPr>
          <p:cNvPr id="11" name="Pyramid Performance"/>
          <p:cNvSpPr/>
          <p:nvPr/>
        </p:nvSpPr>
        <p:spPr>
          <a:xfrm>
            <a:off x="731520" y="2880360"/>
            <a:ext cx="1600200" cy="658368"/>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Performance</a:t>
            </a:r>
          </a:p>
        </p:txBody>
      </p:sp>
      <p:sp>
        <p:nvSpPr>
          <p:cNvPr id="12" name="Pyramid Imagery"/>
          <p:cNvSpPr/>
          <p:nvPr/>
        </p:nvSpPr>
        <p:spPr>
          <a:xfrm>
            <a:off x="2423160" y="2880360"/>
            <a:ext cx="1600200" cy="658368"/>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Imagery</a:t>
            </a:r>
          </a:p>
        </p:txBody>
      </p:sp>
      <p:sp>
        <p:nvSpPr>
          <p:cNvPr id="13" name="Level 3 Question"/>
          <p:cNvSpPr txBox="1"/>
          <p:nvPr/>
        </p:nvSpPr>
        <p:spPr>
          <a:xfrm>
            <a:off x="4572000" y="2880360"/>
            <a:ext cx="4114800" cy="65836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Meaning. </a:t>
            </a:r>
            <a:r>
              <a:rPr lang="en-GB" sz="1300" b="0">
                <a:solidFill>
                  <a:schemeClr val="tx1"/>
                </a:solidFill>
              </a:rPr>
              <a:t>Which associations, and how strong, favourable and unique?</a:t>
            </a:r>
          </a:p>
        </p:txBody>
      </p:sp>
      <p:sp>
        <p:nvSpPr>
          <p:cNvPr id="14" name="Pyramid Salience"/>
          <p:cNvSpPr/>
          <p:nvPr/>
        </p:nvSpPr>
        <p:spPr>
          <a:xfrm>
            <a:off x="457200" y="365760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Salience</a:t>
            </a:r>
          </a:p>
        </p:txBody>
      </p:sp>
      <p:sp>
        <p:nvSpPr>
          <p:cNvPr id="15" name="Level 4 Question"/>
          <p:cNvSpPr txBox="1"/>
          <p:nvPr/>
        </p:nvSpPr>
        <p:spPr>
          <a:xfrm>
            <a:off x="4572000" y="3657600"/>
            <a:ext cx="4114800" cy="65836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Identity. </a:t>
            </a:r>
            <a:r>
              <a:rPr lang="en-GB" sz="1300" b="0">
                <a:solidFill>
                  <a:schemeClr val="tx1"/>
                </a:solidFill>
              </a:rPr>
              <a:t>Does the brand come to mind in buying situations?</a:t>
            </a:r>
          </a:p>
        </p:txBody>
      </p:sp>
      <p:sp>
        <p:nvSpPr>
          <p:cNvPr id="16" name="Source note"/>
          <p:cNvSpPr txBox="1"/>
          <p:nvPr/>
        </p:nvSpPr>
        <p:spPr>
          <a:xfrm>
            <a:off x="457200" y="4526280"/>
            <a:ext cx="8229600" cy="32004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Sources: Keller (1993), Journal of Marketing 57(1); Keller (2016), AMS Review 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Identity versus image</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Identity body"/>
          <p:cNvSpPr/>
          <p:nvPr/>
        </p:nvSpPr>
        <p:spPr>
          <a:xfrm>
            <a:off x="457200"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dentity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dentity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Identity: inside-out</a:t>
            </a:r>
          </a:p>
        </p:txBody>
      </p:sp>
      <p:pic>
        <p:nvPicPr>
          <p:cNvPr id="9" name="Icon LuBuilding2" descr=""/>
          <p:cNvPicPr>
            <a:picLocks noChangeAspect="1"/>
          </p:cNvPicPr>
          <p:nvPr/>
        </p:nvPicPr>
        <p:blipFill>
          <a:blip r:embed="rId3"/>
          <a:stretch>
            <a:fillRect/>
          </a:stretch>
        </p:blipFill>
        <p:spPr>
          <a:xfrm>
            <a:off x="4059936" y="1344168"/>
            <a:ext cx="329184" cy="329184"/>
          </a:xfrm>
          <a:prstGeom prst="rect">
            <a:avLst/>
          </a:prstGeom>
        </p:spPr>
      </p:pic>
      <p:sp>
        <p:nvSpPr>
          <p:cNvPr id="10" name="Identity text"/>
          <p:cNvSpPr txBox="1"/>
          <p:nvPr/>
        </p:nvSpPr>
        <p:spPr>
          <a:xfrm>
            <a:off x="594360" y="1847088"/>
            <a:ext cx="3758184" cy="1856232"/>
          </a:xfrm>
          <a:prstGeom prst="rect">
            <a:avLst/>
          </a:prstGeom>
          <a:noFill/>
        </p:spPr>
        <p:txBody>
          <a:bodyPr wrap="square" lIns="36576" rIns="36576" tIns="18288" bIns="18288" anchor="t">
            <a:spAutoFit/>
          </a:bodyPr>
          <a:lstStyle/>
          <a:p>
            <a:pPr algn="l" marL="182880" indent="-182880">
              <a:spcAft>
                <a:spcPts val="700"/>
              </a:spcAft>
              <a:buClr>
                <a:schemeClr val="accent1"/>
              </a:buClr>
              <a:buFont typeface="Arial"/>
              <a:buChar char="▪"/>
            </a:pPr>
            <a:r>
              <a:rPr lang="en-GB" sz="1300" b="0">
                <a:solidFill>
                  <a:schemeClr val="tx1"/>
                </a:solidFill>
              </a:rPr>
              <a:t>What management and employees intend the brand to be.</a:t>
            </a:r>
          </a:p>
          <a:p>
            <a:pPr algn="l" marL="182880" indent="-182880">
              <a:spcAft>
                <a:spcPts val="700"/>
              </a:spcAft>
              <a:buClr>
                <a:schemeClr val="accent1"/>
              </a:buClr>
              <a:buFont typeface="Arial"/>
              <a:buChar char="▪"/>
            </a:pPr>
            <a:r>
              <a:rPr lang="en-GB" sz="1300" b="0">
                <a:solidFill>
                  <a:schemeClr val="tx1"/>
                </a:solidFill>
              </a:rPr>
              <a:t>Kapferer's prism: physique, personality, culture, relationship, reflection, self-image.</a:t>
            </a:r>
          </a:p>
          <a:p>
            <a:pPr algn="l" marL="182880" indent="-182880">
              <a:spcAft>
                <a:spcPts val="700"/>
              </a:spcAft>
              <a:buClr>
                <a:schemeClr val="accent1"/>
              </a:buClr>
              <a:buFont typeface="Arial"/>
              <a:buChar char="▪"/>
            </a:pPr>
            <a:r>
              <a:rPr lang="en-GB" sz="1300" b="0">
                <a:solidFill>
                  <a:schemeClr val="tx1"/>
                </a:solidFill>
              </a:rPr>
              <a:t>Data: brand book, interviews, employee survey.</a:t>
            </a:r>
          </a:p>
        </p:txBody>
      </p:sp>
      <p:sp>
        <p:nvSpPr>
          <p:cNvPr id="11" name="Image body"/>
          <p:cNvSpPr/>
          <p:nvPr/>
        </p:nvSpPr>
        <p:spPr>
          <a:xfrm>
            <a:off x="4654296"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mage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mage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Image: outside-in</a:t>
            </a:r>
          </a:p>
        </p:txBody>
      </p:sp>
      <p:pic>
        <p:nvPicPr>
          <p:cNvPr id="14" name="Icon LuEye" descr=""/>
          <p:cNvPicPr>
            <a:picLocks noChangeAspect="1"/>
          </p:cNvPicPr>
          <p:nvPr/>
        </p:nvPicPr>
        <p:blipFill>
          <a:blip r:embed="rId4"/>
          <a:stretch>
            <a:fillRect/>
          </a:stretch>
        </p:blipFill>
        <p:spPr>
          <a:xfrm>
            <a:off x="8257031" y="1344168"/>
            <a:ext cx="329184" cy="329184"/>
          </a:xfrm>
          <a:prstGeom prst="rect">
            <a:avLst/>
          </a:prstGeom>
        </p:spPr>
      </p:pic>
      <p:sp>
        <p:nvSpPr>
          <p:cNvPr id="15" name="Image text"/>
          <p:cNvSpPr txBox="1"/>
          <p:nvPr/>
        </p:nvSpPr>
        <p:spPr>
          <a:xfrm>
            <a:off x="4791456" y="1847088"/>
            <a:ext cx="3758184" cy="1856232"/>
          </a:xfrm>
          <a:prstGeom prst="rect">
            <a:avLst/>
          </a:prstGeom>
          <a:noFill/>
        </p:spPr>
        <p:txBody>
          <a:bodyPr wrap="square" lIns="36576" rIns="36576" tIns="18288" bIns="18288" anchor="t">
            <a:spAutoFit/>
          </a:bodyPr>
          <a:lstStyle/>
          <a:p>
            <a:pPr algn="l" marL="182880" indent="-182880">
              <a:spcAft>
                <a:spcPts val="700"/>
              </a:spcAft>
              <a:buClr>
                <a:schemeClr val="accent1"/>
              </a:buClr>
              <a:buFont typeface="Arial"/>
              <a:buChar char="▪"/>
            </a:pPr>
            <a:r>
              <a:rPr lang="en-GB" sz="1300" b="0">
                <a:solidFill>
                  <a:schemeClr val="tx1"/>
                </a:solidFill>
              </a:rPr>
              <a:t>What buyers actually associate with the brand.</a:t>
            </a:r>
          </a:p>
          <a:p>
            <a:pPr algn="l" marL="182880" indent="-182880">
              <a:spcAft>
                <a:spcPts val="700"/>
              </a:spcAft>
              <a:buClr>
                <a:schemeClr val="accent1"/>
              </a:buClr>
              <a:buFont typeface="Arial"/>
              <a:buChar char="▪"/>
            </a:pPr>
            <a:r>
              <a:rPr lang="en-GB" sz="1300" b="0">
                <a:solidFill>
                  <a:schemeClr val="tx1"/>
                </a:solidFill>
              </a:rPr>
              <a:t>Keller's CBBE: strength, favourability and uniqueness of associations.</a:t>
            </a:r>
          </a:p>
          <a:p>
            <a:pPr algn="l" marL="182880" indent="-182880">
              <a:spcAft>
                <a:spcPts val="700"/>
              </a:spcAft>
              <a:buClr>
                <a:schemeClr val="accent1"/>
              </a:buClr>
              <a:buFont typeface="Arial"/>
              <a:buChar char="▪"/>
            </a:pPr>
            <a:r>
              <a:rPr lang="en-GB" sz="1300" b="0">
                <a:solidFill>
                  <a:schemeClr val="tx1"/>
                </a:solidFill>
              </a:rPr>
              <a:t>Data: the brand exploratory with buyers and non-buyers.</a:t>
            </a:r>
          </a:p>
        </p:txBody>
      </p:sp>
      <p:sp>
        <p:nvSpPr>
          <p:cNvPr id="16" name="Gap"/>
          <p:cNvSpPr/>
          <p:nvPr/>
        </p:nvSpPr>
        <p:spPr>
          <a:xfrm>
            <a:off x="457200" y="3977639"/>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Gap text"/>
          <p:cNvSpPr txBox="1"/>
          <p:nvPr/>
        </p:nvSpPr>
        <p:spPr>
          <a:xfrm>
            <a:off x="640080" y="3977639"/>
            <a:ext cx="7863840" cy="594360"/>
          </a:xfrm>
          <a:prstGeom prst="rect">
            <a:avLst/>
          </a:prstGeom>
          <a:noFill/>
        </p:spPr>
        <p:txBody>
          <a:bodyPr wrap="square" lIns="36576" rIns="36576" tIns="18288" bIns="18288" anchor="ctr">
            <a:spAutoFit/>
          </a:bodyPr>
          <a:lstStyle/>
          <a:p>
            <a:pPr algn="l">
              <a:spcAft>
                <a:spcPts val="0"/>
              </a:spcAft>
            </a:pPr>
            <a:r>
              <a:rPr lang="en-GB" sz="1300" b="1">
                <a:solidFill>
                  <a:schemeClr val="bg1"/>
                </a:solidFill>
              </a:rPr>
              <a:t>The core audit finding is the gap </a:t>
            </a:r>
            <a:r>
              <a:rPr lang="en-GB" sz="1300" b="0">
                <a:solidFill>
                  <a:schemeClr val="bg1"/>
                </a:solidFill>
              </a:rPr>
              <a:t>between intended identity and perceived image.</a:t>
            </a:r>
          </a:p>
        </p:txBody>
      </p:sp>
      <p:sp>
        <p:nvSpPr>
          <p:cNvPr id="18" name="Source note"/>
          <p:cNvSpPr txBox="1"/>
          <p:nvPr/>
        </p:nvSpPr>
        <p:spPr>
          <a:xfrm>
            <a:off x="457200" y="4663440"/>
            <a:ext cx="8229600" cy="45720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Sources: Kapferer, The New Strategic Brand Management; Burmann et al., Identitätsbasierte Markenführung (5th ed., 2024); King, Grace &amp; Funk (2012), JBM.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5 · Associations, scales, mental availability, assets, tracking</a:t>
            </a:r>
          </a:p>
        </p:txBody>
      </p:sp>
      <p:sp>
        <p:nvSpPr>
          <p:cNvPr id="3" name="Title 2"/>
          <p:cNvSpPr>
            <a:spLocks noGrp="1"/>
          </p:cNvSpPr>
          <p:nvPr>
            <p:ph type="ctrTitle"/>
          </p:nvPr>
        </p:nvSpPr>
        <p:spPr/>
        <p:txBody>
          <a:bodyPr/>
          <a:lstStyle/>
          <a:p>
            <a:r>
              <a:rPr lang="en-GB"/>
              <a:t>Measuring brand equity</a:t>
            </a:r>
          </a:p>
        </p:txBody>
      </p:sp>
      <p:sp>
        <p:nvSpPr>
          <p:cNvPr id="4" name="Footer Placeholder 3"/>
          <p:cNvSpPr>
            <a:spLocks noGrp="1"/>
          </p:cNvSpPr>
          <p:nvPr>
            <p:ph type="ftr" idx="14" sz="quarter"/>
          </p:nvPr>
        </p:nvSpPr>
        <p:spPr/>
        <p:txBody>
          <a:bodyPr/>
          <a:p>
            <a:r>
              <a:rPr lang="en-GB"/>
              <a:t>Brand Audit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Methods to uncover associations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Methods table"/>
          <p:cNvGraphicFramePr>
            <a:graphicFrameLocks noGrp="1"/>
          </p:cNvGraphicFramePr>
          <p:nvPr/>
        </p:nvGraphicFramePr>
        <p:xfrm>
          <a:off x="457200" y="1280160"/>
          <a:ext cx="8229600" cy="2651760"/>
        </p:xfrm>
        <a:graphic>
          <a:graphicData uri="http://schemas.openxmlformats.org/drawingml/2006/table">
            <a:tbl>
              <a:tblPr firstRow="1" bandRow="1">
                <a:tableStyleId>{5C22544A-7EE6-4342-B048-85BDC9FD1C3A}</a:tableStyleId>
              </a:tblPr>
              <a:tblGrid>
                <a:gridCol w="1645920"/>
                <a:gridCol w="2834640"/>
                <a:gridCol w="1143000"/>
                <a:gridCol w="2606040"/>
              </a:tblGrid>
              <a:tr h="378822">
                <a:tc>
                  <a:txBody>
                    <a:bodyPr/>
                    <a:lstStyle/>
                    <a:p>
                      <a:r>
                        <a:rPr lang="en-GB" sz="1200" b="1">
                          <a:solidFill>
                            <a:schemeClr val="bg1"/>
                          </a:solidFill>
                        </a:rPr>
                        <a:t>Method</a:t>
                      </a:r>
                    </a:p>
                  </a:txBody>
                  <a:tcPr marT="36576" marB="36576" anchor="ctr">
                    <a:solidFill>
                      <a:schemeClr val="accent1"/>
                    </a:solidFill>
                  </a:tcPr>
                </a:tc>
                <a:tc>
                  <a:txBody>
                    <a:bodyPr/>
                    <a:lstStyle/>
                    <a:p>
                      <a:r>
                        <a:rPr lang="en-GB" sz="1200" b="1">
                          <a:solidFill>
                            <a:schemeClr val="bg1"/>
                          </a:solidFill>
                        </a:rPr>
                        <a:t>What it reveals</a:t>
                      </a:r>
                    </a:p>
                  </a:txBody>
                  <a:tcPr marT="36576" marB="36576" anchor="ctr">
                    <a:solidFill>
                      <a:schemeClr val="accent1"/>
                    </a:solidFill>
                  </a:tcPr>
                </a:tc>
                <a:tc>
                  <a:txBody>
                    <a:bodyPr/>
                    <a:lstStyle/>
                    <a:p>
                      <a:r>
                        <a:rPr lang="en-GB" sz="1200" b="1">
                          <a:solidFill>
                            <a:schemeClr val="bg1"/>
                          </a:solidFill>
                        </a:rPr>
                        <a:t>Effort</a:t>
                      </a:r>
                    </a:p>
                  </a:txBody>
                  <a:tcPr marT="36576" marB="36576" anchor="ctr">
                    <a:solidFill>
                      <a:schemeClr val="accent1"/>
                    </a:solidFill>
                  </a:tcPr>
                </a:tc>
                <a:tc>
                  <a:txBody>
                    <a:bodyPr/>
                    <a:lstStyle/>
                    <a:p>
                      <a:r>
                        <a:rPr lang="en-GB" sz="1200" b="1">
                          <a:solidFill>
                            <a:schemeClr val="bg1"/>
                          </a:solidFill>
                        </a:rPr>
                        <a:t>Key source</a:t>
                      </a:r>
                    </a:p>
                  </a:txBody>
                  <a:tcPr marT="36576" marB="36576" anchor="ctr">
                    <a:solidFill>
                      <a:schemeClr val="accent1"/>
                    </a:solidFill>
                  </a:tcPr>
                </a:tc>
              </a:tr>
              <a:tr h="378822">
                <a:tc>
                  <a:txBody>
                    <a:bodyPr/>
                    <a:lstStyle/>
                    <a:p>
                      <a:r>
                        <a:rPr lang="en-GB" sz="1200">
                          <a:solidFill>
                            <a:schemeClr val="tx1"/>
                          </a:solidFill>
                        </a:rPr>
                        <a:t>Free association</a:t>
                      </a:r>
                    </a:p>
                  </a:txBody>
                  <a:tcPr marT="36576" marB="36576" anchor="ctr">
                    <a:solidFill>
                      <a:schemeClr val="bg2"/>
                    </a:solidFill>
                  </a:tcPr>
                </a:tc>
                <a:tc>
                  <a:txBody>
                    <a:bodyPr/>
                    <a:lstStyle/>
                    <a:p>
                      <a:r>
                        <a:rPr lang="en-GB" sz="1200">
                          <a:solidFill>
                            <a:schemeClr val="tx1"/>
                          </a:solidFill>
                        </a:rPr>
                        <a:t>Number, valence, uniqueness</a:t>
                      </a:r>
                    </a:p>
                  </a:txBody>
                  <a:tcPr marT="36576" marB="36576" anchor="ctr">
                    <a:solidFill>
                      <a:schemeClr val="bg2"/>
                    </a:solidFill>
                  </a:tcPr>
                </a:tc>
                <a:tc>
                  <a:txBody>
                    <a:bodyPr/>
                    <a:lstStyle/>
                    <a:p>
                      <a:r>
                        <a:rPr lang="en-GB" sz="1200">
                          <a:solidFill>
                            <a:schemeClr val="tx1"/>
                          </a:solidFill>
                        </a:rPr>
                        <a:t>Low</a:t>
                      </a:r>
                    </a:p>
                  </a:txBody>
                  <a:tcPr marT="36576" marB="36576" anchor="ctr">
                    <a:solidFill>
                      <a:schemeClr val="bg2"/>
                    </a:solidFill>
                  </a:tcPr>
                </a:tc>
                <a:tc>
                  <a:txBody>
                    <a:bodyPr/>
                    <a:lstStyle/>
                    <a:p>
                      <a:r>
                        <a:rPr lang="en-GB" sz="1200">
                          <a:solidFill>
                            <a:schemeClr val="tx1"/>
                          </a:solidFill>
                        </a:rPr>
                        <a:t>Krishnan (1996), IJRM</a:t>
                      </a:r>
                    </a:p>
                  </a:txBody>
                  <a:tcPr marT="36576" marB="36576" anchor="ctr">
                    <a:solidFill>
                      <a:schemeClr val="bg2"/>
                    </a:solidFill>
                  </a:tcPr>
                </a:tc>
              </a:tr>
              <a:tr h="378822">
                <a:tc>
                  <a:txBody>
                    <a:bodyPr/>
                    <a:lstStyle/>
                    <a:p>
                      <a:r>
                        <a:rPr lang="en-GB" sz="1200">
                          <a:solidFill>
                            <a:schemeClr val="tx1"/>
                          </a:solidFill>
                        </a:rPr>
                        <a:t>Concept maps</a:t>
                      </a:r>
                    </a:p>
                  </a:txBody>
                  <a:tcPr marT="36576" marB="36576" anchor="ctr">
                    <a:solidFill>
                      <a:srgbClr val="F2F2F2"/>
                    </a:solidFill>
                  </a:tcPr>
                </a:tc>
                <a:tc>
                  <a:txBody>
                    <a:bodyPr/>
                    <a:lstStyle/>
                    <a:p>
                      <a:r>
                        <a:rPr lang="en-GB" sz="1200">
                          <a:solidFill>
                            <a:schemeClr val="tx1"/>
                          </a:solidFill>
                        </a:rPr>
                        <a:t>Association network, consensus map</a:t>
                      </a:r>
                    </a:p>
                  </a:txBody>
                  <a:tcPr marT="36576" marB="36576" anchor="ctr">
                    <a:solidFill>
                      <a:srgbClr val="F2F2F2"/>
                    </a:solidFill>
                  </a:tcPr>
                </a:tc>
                <a:tc>
                  <a:txBody>
                    <a:bodyPr/>
                    <a:lstStyle/>
                    <a:p>
                      <a:r>
                        <a:rPr lang="en-GB" sz="1200">
                          <a:solidFill>
                            <a:schemeClr val="tx1"/>
                          </a:solidFill>
                        </a:rPr>
                        <a:t>Medium</a:t>
                      </a:r>
                    </a:p>
                  </a:txBody>
                  <a:tcPr marT="36576" marB="36576" anchor="ctr">
                    <a:solidFill>
                      <a:srgbClr val="F2F2F2"/>
                    </a:solidFill>
                  </a:tcPr>
                </a:tc>
                <a:tc>
                  <a:txBody>
                    <a:bodyPr/>
                    <a:lstStyle/>
                    <a:p>
                      <a:r>
                        <a:rPr lang="en-GB" sz="1200">
                          <a:solidFill>
                            <a:schemeClr val="tx1"/>
                          </a:solidFill>
                        </a:rPr>
                        <a:t>John et al. (2006), JMR</a:t>
                      </a:r>
                    </a:p>
                  </a:txBody>
                  <a:tcPr marT="36576" marB="36576" anchor="ctr">
                    <a:solidFill>
                      <a:srgbClr val="F2F2F2"/>
                    </a:solidFill>
                  </a:tcPr>
                </a:tc>
              </a:tr>
              <a:tr h="378822">
                <a:tc>
                  <a:txBody>
                    <a:bodyPr/>
                    <a:lstStyle/>
                    <a:p>
                      <a:r>
                        <a:rPr lang="en-GB" sz="1200">
                          <a:solidFill>
                            <a:schemeClr val="tx1"/>
                          </a:solidFill>
                        </a:rPr>
                        <a:t>Laddering</a:t>
                      </a:r>
                    </a:p>
                  </a:txBody>
                  <a:tcPr marT="36576" marB="36576" anchor="ctr">
                    <a:solidFill>
                      <a:schemeClr val="bg2"/>
                    </a:solidFill>
                  </a:tcPr>
                </a:tc>
                <a:tc>
                  <a:txBody>
                    <a:bodyPr/>
                    <a:lstStyle/>
                    <a:p>
                      <a:r>
                        <a:rPr lang="en-GB" sz="1200">
                          <a:solidFill>
                            <a:schemeClr val="tx1"/>
                          </a:solidFill>
                        </a:rPr>
                        <a:t>Attributes, consequences, values</a:t>
                      </a:r>
                    </a:p>
                  </a:txBody>
                  <a:tcPr marT="36576" marB="36576" anchor="ctr">
                    <a:solidFill>
                      <a:schemeClr val="bg2"/>
                    </a:solidFill>
                  </a:tcPr>
                </a:tc>
                <a:tc>
                  <a:txBody>
                    <a:bodyPr/>
                    <a:lstStyle/>
                    <a:p>
                      <a:r>
                        <a:rPr lang="en-GB" sz="1200">
                          <a:solidFill>
                            <a:schemeClr val="tx1"/>
                          </a:solidFill>
                        </a:rPr>
                        <a:t>Medium</a:t>
                      </a:r>
                    </a:p>
                  </a:txBody>
                  <a:tcPr marT="36576" marB="36576" anchor="ctr">
                    <a:solidFill>
                      <a:schemeClr val="bg2"/>
                    </a:solidFill>
                  </a:tcPr>
                </a:tc>
                <a:tc>
                  <a:txBody>
                    <a:bodyPr/>
                    <a:lstStyle/>
                    <a:p>
                      <a:r>
                        <a:rPr lang="en-GB" sz="1200">
                          <a:solidFill>
                            <a:schemeClr val="tx1"/>
                          </a:solidFill>
                        </a:rPr>
                        <a:t>Reynolds &amp; Gutman (1988)</a:t>
                      </a:r>
                    </a:p>
                  </a:txBody>
                  <a:tcPr marT="36576" marB="36576" anchor="ctr">
                    <a:solidFill>
                      <a:schemeClr val="bg2"/>
                    </a:solidFill>
                  </a:tcPr>
                </a:tc>
              </a:tr>
              <a:tr h="378822">
                <a:tc>
                  <a:txBody>
                    <a:bodyPr/>
                    <a:lstStyle/>
                    <a:p>
                      <a:r>
                        <a:rPr lang="en-GB" sz="1200">
                          <a:solidFill>
                            <a:schemeClr val="tx1"/>
                          </a:solidFill>
                        </a:rPr>
                        <a:t>ZMET</a:t>
                      </a:r>
                    </a:p>
                  </a:txBody>
                  <a:tcPr marT="36576" marB="36576" anchor="ctr">
                    <a:solidFill>
                      <a:srgbClr val="F2F2F2"/>
                    </a:solidFill>
                  </a:tcPr>
                </a:tc>
                <a:tc>
                  <a:txBody>
                    <a:bodyPr/>
                    <a:lstStyle/>
                    <a:p>
                      <a:r>
                        <a:rPr lang="en-GB" sz="1200">
                          <a:solidFill>
                            <a:schemeClr val="tx1"/>
                          </a:solidFill>
                        </a:rPr>
                        <a:t>Deep metaphors, hidden meaning</a:t>
                      </a:r>
                    </a:p>
                  </a:txBody>
                  <a:tcPr marT="36576" marB="36576" anchor="ctr">
                    <a:solidFill>
                      <a:srgbClr val="F2F2F2"/>
                    </a:solidFill>
                  </a:tcPr>
                </a:tc>
                <a:tc>
                  <a:txBody>
                    <a:bodyPr/>
                    <a:lstStyle/>
                    <a:p>
                      <a:r>
                        <a:rPr lang="en-GB" sz="1200">
                          <a:solidFill>
                            <a:schemeClr val="tx1"/>
                          </a:solidFill>
                        </a:rPr>
                        <a:t>High</a:t>
                      </a:r>
                    </a:p>
                  </a:txBody>
                  <a:tcPr marT="36576" marB="36576" anchor="ctr">
                    <a:solidFill>
                      <a:srgbClr val="F2F2F2"/>
                    </a:solidFill>
                  </a:tcPr>
                </a:tc>
                <a:tc>
                  <a:txBody>
                    <a:bodyPr/>
                    <a:lstStyle/>
                    <a:p>
                      <a:r>
                        <a:rPr lang="en-GB" sz="1200">
                          <a:solidFill>
                            <a:schemeClr val="tx1"/>
                          </a:solidFill>
                        </a:rPr>
                        <a:t>Zaltman &amp; Coulter (1995)</a:t>
                      </a:r>
                    </a:p>
                  </a:txBody>
                  <a:tcPr marT="36576" marB="36576" anchor="ctr">
                    <a:solidFill>
                      <a:srgbClr val="F2F2F2"/>
                    </a:solidFill>
                  </a:tcPr>
                </a:tc>
              </a:tr>
              <a:tr h="378822">
                <a:tc>
                  <a:txBody>
                    <a:bodyPr/>
                    <a:lstStyle/>
                    <a:p>
                      <a:r>
                        <a:rPr lang="en-GB" sz="1200">
                          <a:solidFill>
                            <a:schemeClr val="tx1"/>
                          </a:solidFill>
                        </a:rPr>
                        <a:t>Pick-any grid</a:t>
                      </a:r>
                    </a:p>
                  </a:txBody>
                  <a:tcPr marT="36576" marB="36576" anchor="ctr">
                    <a:solidFill>
                      <a:schemeClr val="bg2"/>
                    </a:solidFill>
                  </a:tcPr>
                </a:tc>
                <a:tc>
                  <a:txBody>
                    <a:bodyPr/>
                    <a:lstStyle/>
                    <a:p>
                      <a:r>
                        <a:rPr lang="en-GB" sz="1200">
                          <a:solidFill>
                            <a:schemeClr val="tx1"/>
                          </a:solidFill>
                        </a:rPr>
                        <a:t>Brand-attribute links at scale</a:t>
                      </a:r>
                    </a:p>
                  </a:txBody>
                  <a:tcPr marT="36576" marB="36576" anchor="ctr">
                    <a:solidFill>
                      <a:schemeClr val="bg2"/>
                    </a:solidFill>
                  </a:tcPr>
                </a:tc>
                <a:tc>
                  <a:txBody>
                    <a:bodyPr/>
                    <a:lstStyle/>
                    <a:p>
                      <a:r>
                        <a:rPr lang="en-GB" sz="1200">
                          <a:solidFill>
                            <a:schemeClr val="tx1"/>
                          </a:solidFill>
                        </a:rPr>
                        <a:t>Low</a:t>
                      </a:r>
                    </a:p>
                  </a:txBody>
                  <a:tcPr marT="36576" marB="36576" anchor="ctr">
                    <a:solidFill>
                      <a:schemeClr val="bg2"/>
                    </a:solidFill>
                  </a:tcPr>
                </a:tc>
                <a:tc>
                  <a:txBody>
                    <a:bodyPr/>
                    <a:lstStyle/>
                    <a:p>
                      <a:r>
                        <a:rPr lang="en-GB" sz="1200">
                          <a:solidFill>
                            <a:schemeClr val="tx1"/>
                          </a:solidFill>
                        </a:rPr>
                        <a:t>Driesener &amp; Romaniuk (2006)</a:t>
                      </a:r>
                    </a:p>
                  </a:txBody>
                  <a:tcPr marT="36576" marB="36576" anchor="ctr">
                    <a:solidFill>
                      <a:schemeClr val="bg2"/>
                    </a:solidFill>
                  </a:tcPr>
                </a:tc>
              </a:tr>
              <a:tr h="378828">
                <a:tc>
                  <a:txBody>
                    <a:bodyPr/>
                    <a:lstStyle/>
                    <a:p>
                      <a:r>
                        <a:rPr lang="en-GB" sz="1200">
                          <a:solidFill>
                            <a:schemeClr val="tx1"/>
                          </a:solidFill>
                        </a:rPr>
                        <a:t>Text mining</a:t>
                      </a:r>
                    </a:p>
                  </a:txBody>
                  <a:tcPr marT="36576" marB="36576" anchor="ctr">
                    <a:solidFill>
                      <a:srgbClr val="F2F2F2"/>
                    </a:solidFill>
                  </a:tcPr>
                </a:tc>
                <a:tc>
                  <a:txBody>
                    <a:bodyPr/>
                    <a:lstStyle/>
                    <a:p>
                      <a:r>
                        <a:rPr lang="en-GB" sz="1200">
                          <a:solidFill>
                            <a:schemeClr val="tx1"/>
                          </a:solidFill>
                        </a:rPr>
                        <a:t>Associations in reviews and posts</a:t>
                      </a:r>
                    </a:p>
                  </a:txBody>
                  <a:tcPr marT="36576" marB="36576" anchor="ctr">
                    <a:solidFill>
                      <a:srgbClr val="F2F2F2"/>
                    </a:solidFill>
                  </a:tcPr>
                </a:tc>
                <a:tc>
                  <a:txBody>
                    <a:bodyPr/>
                    <a:lstStyle/>
                    <a:p>
                      <a:r>
                        <a:rPr lang="en-GB" sz="1200">
                          <a:solidFill>
                            <a:schemeClr val="tx1"/>
                          </a:solidFill>
                        </a:rPr>
                        <a:t>Medium</a:t>
                      </a:r>
                    </a:p>
                  </a:txBody>
                  <a:tcPr marT="36576" marB="36576" anchor="ctr">
                    <a:solidFill>
                      <a:srgbClr val="F2F2F2"/>
                    </a:solidFill>
                  </a:tcPr>
                </a:tc>
                <a:tc>
                  <a:txBody>
                    <a:bodyPr/>
                    <a:lstStyle/>
                    <a:p>
                      <a:r>
                        <a:rPr lang="en-GB" sz="1200">
                          <a:solidFill>
                            <a:schemeClr val="tx1"/>
                          </a:solidFill>
                        </a:rPr>
                        <a:t>Netzer et al. (2012)</a:t>
                      </a:r>
                    </a:p>
                  </a:txBody>
                  <a:tcPr marT="36576" marB="36576" anchor="ctr">
                    <a:solidFill>
                      <a:srgbClr val="F2F2F2"/>
                    </a:solidFill>
                  </a:tcPr>
                </a:tc>
              </a:tr>
            </a:tbl>
          </a:graphicData>
        </a:graphic>
      </p:graphicFrame>
      <p:sp>
        <p:nvSpPr>
          <p:cNvPr id="7" name="Hinweis"/>
          <p:cNvSpPr/>
          <p:nvPr/>
        </p:nvSpPr>
        <p:spPr>
          <a:xfrm>
            <a:off x="457200" y="420624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inweis text"/>
          <p:cNvSpPr txBox="1"/>
          <p:nvPr/>
        </p:nvSpPr>
        <p:spPr>
          <a:xfrm>
            <a:off x="640080" y="4206240"/>
            <a:ext cx="7863840" cy="50292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Choosing: </a:t>
            </a:r>
            <a:r>
              <a:rPr lang="en-GB" sz="1300" b="0">
                <a:solidFill>
                  <a:schemeClr val="tx1"/>
                </a:solidFill>
              </a:rPr>
              <a:t>Plumeyer et al. (2019) compare 12 techniques and give a decision roadmap.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Brand equity scales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Scales table"/>
          <p:cNvGraphicFramePr>
            <a:graphicFrameLocks noGrp="1"/>
          </p:cNvGraphicFramePr>
          <p:nvPr/>
        </p:nvGraphicFramePr>
        <p:xfrm>
          <a:off x="457200" y="1280160"/>
          <a:ext cx="8229600" cy="2377440"/>
        </p:xfrm>
        <a:graphic>
          <a:graphicData uri="http://schemas.openxmlformats.org/drawingml/2006/table">
            <a:tbl>
              <a:tblPr firstRow="1" bandRow="1">
                <a:tableStyleId>{5C22544A-7EE6-4342-B048-85BDC9FD1C3A}</a:tableStyleId>
              </a:tblPr>
              <a:tblGrid>
                <a:gridCol w="2103120"/>
                <a:gridCol w="4114800"/>
                <a:gridCol w="2011680"/>
              </a:tblGrid>
              <a:tr h="475488">
                <a:tc>
                  <a:txBody>
                    <a:bodyPr/>
                    <a:lstStyle/>
                    <a:p>
                      <a:r>
                        <a:rPr lang="en-GB" sz="1200" b="1">
                          <a:solidFill>
                            <a:schemeClr val="bg1"/>
                          </a:solidFill>
                        </a:rPr>
                        <a:t>Scale</a:t>
                      </a:r>
                    </a:p>
                  </a:txBody>
                  <a:tcPr marT="36576" marB="36576" anchor="ctr">
                    <a:solidFill>
                      <a:schemeClr val="accent1"/>
                    </a:solidFill>
                  </a:tcPr>
                </a:tc>
                <a:tc>
                  <a:txBody>
                    <a:bodyPr/>
                    <a:lstStyle/>
                    <a:p>
                      <a:r>
                        <a:rPr lang="en-GB" sz="1200" b="1">
                          <a:solidFill>
                            <a:schemeClr val="bg1"/>
                          </a:solidFill>
                        </a:rPr>
                        <a:t>Dimensions</a:t>
                      </a:r>
                    </a:p>
                  </a:txBody>
                  <a:tcPr marT="36576" marB="36576" anchor="ctr">
                    <a:solidFill>
                      <a:schemeClr val="accent1"/>
                    </a:solidFill>
                  </a:tcPr>
                </a:tc>
                <a:tc>
                  <a:txBody>
                    <a:bodyPr/>
                    <a:lstStyle/>
                    <a:p>
                      <a:r>
                        <a:rPr lang="en-GB" sz="1200" b="1">
                          <a:solidFill>
                            <a:schemeClr val="bg1"/>
                          </a:solidFill>
                        </a:rPr>
                        <a:t>Best for</a:t>
                      </a:r>
                    </a:p>
                  </a:txBody>
                  <a:tcPr marT="36576" marB="36576" anchor="ctr">
                    <a:solidFill>
                      <a:schemeClr val="accent1"/>
                    </a:solidFill>
                  </a:tcPr>
                </a:tc>
              </a:tr>
              <a:tr h="475488">
                <a:tc>
                  <a:txBody>
                    <a:bodyPr/>
                    <a:lstStyle/>
                    <a:p>
                      <a:r>
                        <a:rPr lang="en-GB" sz="1200">
                          <a:solidFill>
                            <a:schemeClr val="tx1"/>
                          </a:solidFill>
                        </a:rPr>
                        <a:t>Aaker (1996): Brand Equity Ten</a:t>
                      </a:r>
                    </a:p>
                  </a:txBody>
                  <a:tcPr marT="36576" marB="36576" anchor="ctr">
                    <a:solidFill>
                      <a:schemeClr val="bg2"/>
                    </a:solidFill>
                  </a:tcPr>
                </a:tc>
                <a:tc>
                  <a:txBody>
                    <a:bodyPr/>
                    <a:lstStyle/>
                    <a:p>
                      <a:r>
                        <a:rPr lang="en-GB" sz="1200">
                          <a:solidFill>
                            <a:schemeClr val="tx1"/>
                          </a:solidFill>
                        </a:rPr>
                        <a:t>Loyalty, quality and leadership, associations, awareness, market behaviour</a:t>
                      </a:r>
                    </a:p>
                  </a:txBody>
                  <a:tcPr marT="36576" marB="36576" anchor="ctr">
                    <a:solidFill>
                      <a:schemeClr val="bg2"/>
                    </a:solidFill>
                  </a:tcPr>
                </a:tc>
                <a:tc>
                  <a:txBody>
                    <a:bodyPr/>
                    <a:lstStyle/>
                    <a:p>
                      <a:r>
                        <a:rPr lang="en-GB" sz="1200">
                          <a:solidFill>
                            <a:schemeClr val="tx1"/>
                          </a:solidFill>
                        </a:rPr>
                        <a:t>Tracker skeleton</a:t>
                      </a:r>
                    </a:p>
                  </a:txBody>
                  <a:tcPr marT="36576" marB="36576" anchor="ctr">
                    <a:solidFill>
                      <a:schemeClr val="bg2"/>
                    </a:solidFill>
                  </a:tcPr>
                </a:tc>
              </a:tr>
              <a:tr h="475488">
                <a:tc>
                  <a:txBody>
                    <a:bodyPr/>
                    <a:lstStyle/>
                    <a:p>
                      <a:r>
                        <a:rPr lang="en-GB" sz="1200">
                          <a:solidFill>
                            <a:schemeClr val="tx1"/>
                          </a:solidFill>
                        </a:rPr>
                        <a:t>Yoo &amp; Donthu (2001)</a:t>
                      </a:r>
                    </a:p>
                  </a:txBody>
                  <a:tcPr marT="36576" marB="36576" anchor="ctr">
                    <a:solidFill>
                      <a:srgbClr val="F2F2F2"/>
                    </a:solidFill>
                  </a:tcPr>
                </a:tc>
                <a:tc>
                  <a:txBody>
                    <a:bodyPr/>
                    <a:lstStyle/>
                    <a:p>
                      <a:r>
                        <a:rPr lang="en-GB" sz="1200">
                          <a:solidFill>
                            <a:schemeClr val="tx1"/>
                          </a:solidFill>
                        </a:rPr>
                        <a:t>Loyalty, perceived quality, awareness and associations, overall equity</a:t>
                      </a:r>
                    </a:p>
                  </a:txBody>
                  <a:tcPr marT="36576" marB="36576" anchor="ctr">
                    <a:solidFill>
                      <a:srgbClr val="F2F2F2"/>
                    </a:solidFill>
                  </a:tcPr>
                </a:tc>
                <a:tc>
                  <a:txBody>
                    <a:bodyPr/>
                    <a:lstStyle/>
                    <a:p>
                      <a:r>
                        <a:rPr lang="en-GB" sz="1200">
                          <a:solidFill>
                            <a:schemeClr val="tx1"/>
                          </a:solidFill>
                        </a:rPr>
                        <a:t>Cross-brand surveys</a:t>
                      </a:r>
                    </a:p>
                  </a:txBody>
                  <a:tcPr marT="36576" marB="36576" anchor="ctr">
                    <a:solidFill>
                      <a:srgbClr val="F2F2F2"/>
                    </a:solidFill>
                  </a:tcPr>
                </a:tc>
              </a:tr>
              <a:tr h="475488">
                <a:tc>
                  <a:txBody>
                    <a:bodyPr/>
                    <a:lstStyle/>
                    <a:p>
                      <a:r>
                        <a:rPr lang="en-GB" sz="1200">
                          <a:solidFill>
                            <a:schemeClr val="tx1"/>
                          </a:solidFill>
                        </a:rPr>
                        <a:t>Netemeyer et al. (2004)</a:t>
                      </a:r>
                    </a:p>
                  </a:txBody>
                  <a:tcPr marT="36576" marB="36576" anchor="ctr">
                    <a:solidFill>
                      <a:schemeClr val="bg2"/>
                    </a:solidFill>
                  </a:tcPr>
                </a:tc>
                <a:tc>
                  <a:txBody>
                    <a:bodyPr/>
                    <a:lstStyle/>
                    <a:p>
                      <a:r>
                        <a:rPr lang="en-GB" sz="1200">
                          <a:solidFill>
                            <a:schemeClr val="tx1"/>
                          </a:solidFill>
                        </a:rPr>
                        <a:t>Quality, value for cost, uniqueness, willingness to pay a premium</a:t>
                      </a:r>
                    </a:p>
                  </a:txBody>
                  <a:tcPr marT="36576" marB="36576" anchor="ctr">
                    <a:solidFill>
                      <a:schemeClr val="bg2"/>
                    </a:solidFill>
                  </a:tcPr>
                </a:tc>
                <a:tc>
                  <a:txBody>
                    <a:bodyPr/>
                    <a:lstStyle/>
                    <a:p>
                      <a:r>
                        <a:rPr lang="en-GB" sz="1200">
                          <a:solidFill>
                            <a:schemeClr val="tx1"/>
                          </a:solidFill>
                        </a:rPr>
                        <a:t>Link to price premium</a:t>
                      </a:r>
                    </a:p>
                  </a:txBody>
                  <a:tcPr marT="36576" marB="36576" anchor="ctr">
                    <a:solidFill>
                      <a:schemeClr val="bg2"/>
                    </a:solidFill>
                  </a:tcPr>
                </a:tc>
              </a:tr>
              <a:tr h="475488">
                <a:tc>
                  <a:txBody>
                    <a:bodyPr/>
                    <a:lstStyle/>
                    <a:p>
                      <a:r>
                        <a:rPr lang="en-GB" sz="1200">
                          <a:solidFill>
                            <a:schemeClr val="tx1"/>
                          </a:solidFill>
                        </a:rPr>
                        <a:t>Brakus et al. (2009)</a:t>
                      </a:r>
                    </a:p>
                  </a:txBody>
                  <a:tcPr marT="36576" marB="36576" anchor="ctr">
                    <a:solidFill>
                      <a:srgbClr val="F2F2F2"/>
                    </a:solidFill>
                  </a:tcPr>
                </a:tc>
                <a:tc>
                  <a:txBody>
                    <a:bodyPr/>
                    <a:lstStyle/>
                    <a:p>
                      <a:r>
                        <a:rPr lang="en-GB" sz="1200">
                          <a:solidFill>
                            <a:schemeClr val="tx1"/>
                          </a:solidFill>
                        </a:rPr>
                        <a:t>Sensory, affective, intellectual, behavioural experience</a:t>
                      </a:r>
                    </a:p>
                  </a:txBody>
                  <a:tcPr marT="36576" marB="36576" anchor="ctr">
                    <a:solidFill>
                      <a:srgbClr val="F2F2F2"/>
                    </a:solidFill>
                  </a:tcPr>
                </a:tc>
                <a:tc>
                  <a:txBody>
                    <a:bodyPr/>
                    <a:lstStyle/>
                    <a:p>
                      <a:r>
                        <a:rPr lang="en-GB" sz="1200">
                          <a:solidFill>
                            <a:schemeClr val="tx1"/>
                          </a:solidFill>
                        </a:rPr>
                        <a:t>Experience module</a:t>
                      </a:r>
                    </a:p>
                  </a:txBody>
                  <a:tcPr marT="36576" marB="36576" anchor="ctr">
                    <a:solidFill>
                      <a:srgbClr val="F2F2F2"/>
                    </a:solidFill>
                  </a:tcPr>
                </a:tc>
              </a:tr>
            </a:tbl>
          </a:graphicData>
        </a:graphic>
      </p:graphicFrame>
      <p:sp>
        <p:nvSpPr>
          <p:cNvPr id="7" name="Punkt"/>
          <p:cNvSpPr txBox="1"/>
          <p:nvPr/>
        </p:nvSpPr>
        <p:spPr>
          <a:xfrm>
            <a:off x="457200" y="3977639"/>
            <a:ext cx="8229600" cy="73152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en-GB" sz="1300" b="0">
                <a:solidFill>
                  <a:schemeClr val="tx1"/>
                </a:solidFill>
              </a:rPr>
              <a:t>Validate with confirmatory factor analysis before comparing brands.</a:t>
            </a:r>
          </a:p>
          <a:p>
            <a:pPr algn="l" marL="182880" indent="-182880">
              <a:spcAft>
                <a:spcPts val="600"/>
              </a:spcAft>
              <a:buClr>
                <a:schemeClr val="accent1"/>
              </a:buClr>
              <a:buFont typeface="Arial"/>
              <a:buChar char="▪"/>
            </a:pPr>
            <a:r>
              <a:rPr lang="en-GB" sz="1300" b="0">
                <a:solidFill>
                  <a:schemeClr val="tx1"/>
                </a:solidFill>
              </a:rPr>
              <a:t>Survey equity does not always track sales-based equity (Datta, Ailawadi &amp; van Heerde, 2017).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Measuring brand personality</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Aaker body"/>
          <p:cNvSpPr/>
          <p:nvPr/>
        </p:nvSpPr>
        <p:spPr>
          <a:xfrm>
            <a:off x="457200"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aker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aker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Aaker (1997)</a:t>
            </a:r>
          </a:p>
        </p:txBody>
      </p:sp>
      <p:pic>
        <p:nvPicPr>
          <p:cNvPr id="9" name="Icon LuUsers" descr=""/>
          <p:cNvPicPr>
            <a:picLocks noChangeAspect="1"/>
          </p:cNvPicPr>
          <p:nvPr/>
        </p:nvPicPr>
        <p:blipFill>
          <a:blip r:embed="rId3"/>
          <a:stretch>
            <a:fillRect/>
          </a:stretch>
        </p:blipFill>
        <p:spPr>
          <a:xfrm>
            <a:off x="4059936" y="1344168"/>
            <a:ext cx="329184" cy="329184"/>
          </a:xfrm>
          <a:prstGeom prst="rect">
            <a:avLst/>
          </a:prstGeom>
        </p:spPr>
      </p:pic>
      <p:sp>
        <p:nvSpPr>
          <p:cNvPr id="10" name="Aaker text"/>
          <p:cNvSpPr txBox="1"/>
          <p:nvPr/>
        </p:nvSpPr>
        <p:spPr>
          <a:xfrm>
            <a:off x="594360" y="1847088"/>
            <a:ext cx="3758184" cy="1856232"/>
          </a:xfrm>
          <a:prstGeom prst="rect">
            <a:avLst/>
          </a:prstGeom>
          <a:noFill/>
        </p:spPr>
        <p:txBody>
          <a:bodyPr wrap="square" lIns="36576" rIns="36576" tIns="18288" bIns="18288" anchor="t">
            <a:spAutoFit/>
          </a:bodyPr>
          <a:lstStyle/>
          <a:p>
            <a:pPr algn="l">
              <a:spcAft>
                <a:spcPts val="700"/>
              </a:spcAft>
            </a:pPr>
            <a:r>
              <a:rPr lang="en-GB" sz="1300" b="1">
                <a:solidFill>
                  <a:schemeClr val="tx2"/>
                </a:solidFill>
              </a:rPr>
              <a:t>42 items, five dimensions</a:t>
            </a:r>
          </a:p>
          <a:p>
            <a:pPr algn="l">
              <a:spcAft>
                <a:spcPts val="700"/>
              </a:spcAft>
            </a:pPr>
            <a:r>
              <a:rPr lang="en-GB" sz="1300" b="0">
                <a:solidFill>
                  <a:schemeClr val="tx1"/>
                </a:solidFill>
              </a:rPr>
              <a:t>Sincerity, excitement, competence, sophistication, ruggedness.</a:t>
            </a:r>
          </a:p>
          <a:p>
            <a:pPr algn="l">
              <a:spcAft>
                <a:spcPts val="700"/>
              </a:spcAft>
            </a:pPr>
            <a:r>
              <a:rPr lang="en-GB" sz="1300" b="0">
                <a:solidFill>
                  <a:schemeClr val="tx1"/>
                </a:solidFill>
              </a:rPr>
              <a:t>The classic, widely replicated instrument.</a:t>
            </a:r>
          </a:p>
        </p:txBody>
      </p:sp>
      <p:sp>
        <p:nvSpPr>
          <p:cNvPr id="11" name="Geuens body"/>
          <p:cNvSpPr/>
          <p:nvPr/>
        </p:nvSpPr>
        <p:spPr>
          <a:xfrm>
            <a:off x="4654296" y="1280160"/>
            <a:ext cx="4032504"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euens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euens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Geuens et al. (2009)</a:t>
            </a:r>
          </a:p>
        </p:txBody>
      </p:sp>
      <p:pic>
        <p:nvPicPr>
          <p:cNvPr id="14" name="Icon LuShieldCheck" descr=""/>
          <p:cNvPicPr>
            <a:picLocks noChangeAspect="1"/>
          </p:cNvPicPr>
          <p:nvPr/>
        </p:nvPicPr>
        <p:blipFill>
          <a:blip r:embed="rId4"/>
          <a:stretch>
            <a:fillRect/>
          </a:stretch>
        </p:blipFill>
        <p:spPr>
          <a:xfrm>
            <a:off x="8257031" y="1344168"/>
            <a:ext cx="329184" cy="329184"/>
          </a:xfrm>
          <a:prstGeom prst="rect">
            <a:avLst/>
          </a:prstGeom>
        </p:spPr>
      </p:pic>
      <p:sp>
        <p:nvSpPr>
          <p:cNvPr id="15" name="Geuens text"/>
          <p:cNvSpPr txBox="1"/>
          <p:nvPr/>
        </p:nvSpPr>
        <p:spPr>
          <a:xfrm>
            <a:off x="4791456" y="1847088"/>
            <a:ext cx="3758184" cy="1856232"/>
          </a:xfrm>
          <a:prstGeom prst="rect">
            <a:avLst/>
          </a:prstGeom>
          <a:noFill/>
        </p:spPr>
        <p:txBody>
          <a:bodyPr wrap="square" lIns="36576" rIns="36576" tIns="18288" bIns="18288" anchor="t">
            <a:spAutoFit/>
          </a:bodyPr>
          <a:lstStyle/>
          <a:p>
            <a:pPr algn="l">
              <a:spcAft>
                <a:spcPts val="700"/>
              </a:spcAft>
            </a:pPr>
            <a:r>
              <a:rPr lang="en-GB" sz="1300" b="1">
                <a:solidFill>
                  <a:schemeClr val="tx2"/>
                </a:solidFill>
              </a:rPr>
              <a:t>12 items, five factors</a:t>
            </a:r>
          </a:p>
          <a:p>
            <a:pPr algn="l">
              <a:spcAft>
                <a:spcPts val="700"/>
              </a:spcAft>
            </a:pPr>
            <a:r>
              <a:rPr lang="en-GB" sz="1300" b="0">
                <a:solidFill>
                  <a:schemeClr val="tx1"/>
                </a:solidFill>
              </a:rPr>
              <a:t>Responsibility, activity, aggressiveness, simplicity, emotionality.</a:t>
            </a:r>
          </a:p>
          <a:p>
            <a:pPr algn="l">
              <a:spcAft>
                <a:spcPts val="700"/>
              </a:spcAft>
            </a:pPr>
            <a:r>
              <a:rPr lang="en-GB" sz="1300" b="0">
                <a:solidFill>
                  <a:schemeClr val="tx1"/>
                </a:solidFill>
              </a:rPr>
              <a:t>Removes non-personality items; tested across brands, categories and countries.</a:t>
            </a:r>
          </a:p>
        </p:txBody>
      </p:sp>
      <p:sp>
        <p:nvSpPr>
          <p:cNvPr id="16" name="Hinweis"/>
          <p:cNvSpPr/>
          <p:nvPr/>
        </p:nvSpPr>
        <p:spPr>
          <a:xfrm>
            <a:off x="457200" y="402336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inweis text"/>
          <p:cNvSpPr txBox="1"/>
          <p:nvPr/>
        </p:nvSpPr>
        <p:spPr>
          <a:xfrm>
            <a:off x="640080" y="4023360"/>
            <a:ext cx="7863840" cy="59436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Critique: </a:t>
            </a:r>
            <a:r>
              <a:rPr lang="en-GB" sz="1300" b="0">
                <a:solidFill>
                  <a:schemeClr val="tx1"/>
                </a:solidFill>
              </a:rPr>
              <a:t>Azoulay &amp; Kapferer (2003) show that Aaker's scale mixes personality with other identity facets.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Lab: a perceptual map in 20 minutes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Data body"/>
          <p:cNvSpPr/>
          <p:nvPr/>
        </p:nvSpPr>
        <p:spPr>
          <a:xfrm>
            <a:off x="457200" y="1280160"/>
            <a:ext cx="3291840"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ata band"/>
          <p:cNvSpPr/>
          <p:nvPr/>
        </p:nvSpPr>
        <p:spPr>
          <a:xfrm>
            <a:off x="457200" y="1280160"/>
            <a:ext cx="32918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ata heading"/>
          <p:cNvSpPr txBox="1"/>
          <p:nvPr/>
        </p:nvSpPr>
        <p:spPr>
          <a:xfrm>
            <a:off x="566928" y="1335024"/>
            <a:ext cx="2606040"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The data</a:t>
            </a:r>
          </a:p>
        </p:txBody>
      </p:sp>
      <p:pic>
        <p:nvPicPr>
          <p:cNvPr id="9" name="Icon LuDatabase" descr=""/>
          <p:cNvPicPr>
            <a:picLocks noChangeAspect="1"/>
          </p:cNvPicPr>
          <p:nvPr/>
        </p:nvPicPr>
        <p:blipFill>
          <a:blip r:embed="rId3"/>
          <a:stretch>
            <a:fillRect/>
          </a:stretch>
        </p:blipFill>
        <p:spPr>
          <a:xfrm>
            <a:off x="3319272" y="1344168"/>
            <a:ext cx="329184" cy="329184"/>
          </a:xfrm>
          <a:prstGeom prst="rect">
            <a:avLst/>
          </a:prstGeom>
        </p:spPr>
      </p:pic>
      <p:sp>
        <p:nvSpPr>
          <p:cNvPr id="10" name="Data text"/>
          <p:cNvSpPr txBox="1"/>
          <p:nvPr/>
        </p:nvSpPr>
        <p:spPr>
          <a:xfrm>
            <a:off x="594360" y="1847088"/>
            <a:ext cx="3017520" cy="2039112"/>
          </a:xfrm>
          <a:prstGeom prst="rect">
            <a:avLst/>
          </a:prstGeom>
          <a:noFill/>
        </p:spPr>
        <p:txBody>
          <a:bodyPr wrap="square" lIns="36576" rIns="36576" tIns="18288" bIns="18288" anchor="t">
            <a:spAutoFit/>
          </a:bodyPr>
          <a:lstStyle/>
          <a:p>
            <a:pPr algn="l">
              <a:spcAft>
                <a:spcPts val="700"/>
              </a:spcAft>
            </a:pPr>
            <a:r>
              <a:rPr lang="en-GB" sz="1300" b="0">
                <a:solidFill>
                  <a:schemeClr val="tx1"/>
                </a:solidFill>
              </a:rPr>
              <a:t>Chapman &amp; Feit: 100 respondents rate 10 brands on 9 adjectives (1–10).</a:t>
            </a:r>
          </a:p>
          <a:p>
            <a:pPr algn="l">
              <a:spcAft>
                <a:spcPts val="700"/>
              </a:spcAft>
            </a:pPr>
            <a:r>
              <a:rPr lang="en-GB" sz="1300" b="0">
                <a:solidFill>
                  <a:schemeClr val="tx1"/>
                </a:solidFill>
              </a:rPr>
              <a:t>Perform, leader, latest, fun, serious, bargain, value, trendy, rebuy.</a:t>
            </a:r>
          </a:p>
          <a:p>
            <a:pPr algn="l">
              <a:spcAft>
                <a:spcPts val="700"/>
              </a:spcAft>
            </a:pPr>
            <a:r>
              <a:rPr lang="en-GB" sz="1300" b="0">
                <a:solidFill>
                  <a:schemeClr val="tx1"/>
                </a:solidFill>
              </a:rPr>
              <a:t>1,000 rows, simulated teaching data, free CSV.</a:t>
            </a:r>
          </a:p>
        </p:txBody>
      </p:sp>
      <p:sp>
        <p:nvSpPr>
          <p:cNvPr id="11" name="Lab step 1"/>
          <p:cNvSpPr/>
          <p:nvPr/>
        </p:nvSpPr>
        <p:spPr>
          <a:xfrm>
            <a:off x="3977639" y="1371600"/>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1</a:t>
            </a:r>
          </a:p>
        </p:txBody>
      </p:sp>
      <p:sp>
        <p:nvSpPr>
          <p:cNvPr id="12" name="Lab step 1 Text"/>
          <p:cNvSpPr txBox="1"/>
          <p:nvPr/>
        </p:nvSpPr>
        <p:spPr>
          <a:xfrm>
            <a:off x="4480560" y="1325880"/>
            <a:ext cx="4206240" cy="566928"/>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Average the ratings per brand.</a:t>
            </a:r>
          </a:p>
        </p:txBody>
      </p:sp>
      <p:sp>
        <p:nvSpPr>
          <p:cNvPr id="13" name="Lab step 2"/>
          <p:cNvSpPr/>
          <p:nvPr/>
        </p:nvSpPr>
        <p:spPr>
          <a:xfrm>
            <a:off x="3977639" y="2039111"/>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2</a:t>
            </a:r>
          </a:p>
        </p:txBody>
      </p:sp>
      <p:sp>
        <p:nvSpPr>
          <p:cNvPr id="14" name="Lab step 2 Text"/>
          <p:cNvSpPr txBox="1"/>
          <p:nvPr/>
        </p:nvSpPr>
        <p:spPr>
          <a:xfrm>
            <a:off x="4480560" y="1993391"/>
            <a:ext cx="4206240" cy="566928"/>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Run a PCA or correspondence analysis (R FactoMineR, Python prince).</a:t>
            </a:r>
          </a:p>
        </p:txBody>
      </p:sp>
      <p:sp>
        <p:nvSpPr>
          <p:cNvPr id="15" name="Lab step 3"/>
          <p:cNvSpPr/>
          <p:nvPr/>
        </p:nvSpPr>
        <p:spPr>
          <a:xfrm>
            <a:off x="3977639" y="2706624"/>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3</a:t>
            </a:r>
          </a:p>
        </p:txBody>
      </p:sp>
      <p:sp>
        <p:nvSpPr>
          <p:cNvPr id="16" name="Lab step 3 Text"/>
          <p:cNvSpPr txBox="1"/>
          <p:nvPr/>
        </p:nvSpPr>
        <p:spPr>
          <a:xfrm>
            <a:off x="4480560" y="2660904"/>
            <a:ext cx="4206240" cy="566928"/>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Plot brands and adjectives on the first two dimensions.</a:t>
            </a:r>
          </a:p>
        </p:txBody>
      </p:sp>
      <p:sp>
        <p:nvSpPr>
          <p:cNvPr id="17" name="Lab step 4"/>
          <p:cNvSpPr/>
          <p:nvPr/>
        </p:nvSpPr>
        <p:spPr>
          <a:xfrm>
            <a:off x="3977639" y="3374135"/>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400" b="1">
                <a:solidFill>
                  <a:schemeClr val="bg1"/>
                </a:solidFill>
                <a:latin typeface="+mj-lt"/>
              </a:rPr>
              <a:t>4</a:t>
            </a:r>
          </a:p>
        </p:txBody>
      </p:sp>
      <p:sp>
        <p:nvSpPr>
          <p:cNvPr id="18" name="Lab step 4 Text"/>
          <p:cNvSpPr txBox="1"/>
          <p:nvPr/>
        </p:nvSpPr>
        <p:spPr>
          <a:xfrm>
            <a:off x="4480560" y="3328415"/>
            <a:ext cx="4206240" cy="566928"/>
          </a:xfrm>
          <a:prstGeom prst="rect">
            <a:avLst/>
          </a:prstGeom>
          <a:noFill/>
        </p:spPr>
        <p:txBody>
          <a:bodyPr wrap="square" lIns="36576" rIns="36576" tIns="18288" bIns="18288" anchor="ctr">
            <a:spAutoFit/>
          </a:bodyPr>
          <a:lstStyle/>
          <a:p>
            <a:pPr algn="l">
              <a:spcAft>
                <a:spcPts val="0"/>
              </a:spcAft>
            </a:pPr>
            <a:r>
              <a:rPr lang="en-GB" sz="1300" b="0">
                <a:solidFill>
                  <a:schemeClr val="tx1"/>
                </a:solidFill>
              </a:rPr>
              <a:t>Name the dimensions, find crowded and empty spaces.</a:t>
            </a:r>
          </a:p>
        </p:txBody>
      </p:sp>
      <p:sp>
        <p:nvSpPr>
          <p:cNvPr id="19" name="Hinweis"/>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inweis text"/>
          <p:cNvSpPr txBox="1"/>
          <p:nvPr/>
        </p:nvSpPr>
        <p:spPr>
          <a:xfrm>
            <a:off x="640080" y="4160520"/>
            <a:ext cx="7863840" cy="54864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Extension: </a:t>
            </a:r>
            <a:r>
              <a:rPr lang="en-GB" sz="1300" b="0">
                <a:solidFill>
                  <a:schemeClr val="tx1"/>
                </a:solidFill>
              </a:rPr>
              <a:t>ask an LLM for the same ratings and compare maps (Li et al., 2024: over 75 % agreement).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Mental availability</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Hinweis"/>
          <p:cNvSpPr/>
          <p:nvPr/>
        </p:nvSpPr>
        <p:spPr>
          <a:xfrm>
            <a:off x="457200" y="128016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inweis text"/>
          <p:cNvSpPr txBox="1"/>
          <p:nvPr/>
        </p:nvSpPr>
        <p:spPr>
          <a:xfrm>
            <a:off x="640080" y="1280160"/>
            <a:ext cx="7863840" cy="54864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Caveat first: </a:t>
            </a:r>
            <a:r>
              <a:rPr lang="en-GB" sz="1300" b="0">
                <a:solidFill>
                  <a:schemeClr val="tx1"/>
                </a:solidFill>
              </a:rPr>
              <a:t>big brands get more associations on every attribute. Compare observed with expected scores.</a:t>
            </a:r>
          </a:p>
        </p:txBody>
      </p:sp>
      <p:sp>
        <p:nvSpPr>
          <p:cNvPr id="8" name="MA 1 body"/>
          <p:cNvSpPr/>
          <p:nvPr/>
        </p:nvSpPr>
        <p:spPr>
          <a:xfrm>
            <a:off x="457200" y="2011680"/>
            <a:ext cx="193395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A 1 bar"/>
          <p:cNvSpPr/>
          <p:nvPr/>
        </p:nvSpPr>
        <p:spPr>
          <a:xfrm>
            <a:off x="457200" y="2011680"/>
            <a:ext cx="1933956"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A 1 heading"/>
          <p:cNvSpPr txBox="1"/>
          <p:nvPr/>
        </p:nvSpPr>
        <p:spPr>
          <a:xfrm>
            <a:off x="594360" y="2167128"/>
            <a:ext cx="1705356"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Category entry points</a:t>
            </a:r>
          </a:p>
        </p:txBody>
      </p:sp>
      <p:sp>
        <p:nvSpPr>
          <p:cNvPr id="11" name="MA 1 text"/>
          <p:cNvSpPr txBox="1"/>
          <p:nvPr/>
        </p:nvSpPr>
        <p:spPr>
          <a:xfrm>
            <a:off x="594360" y="2615184"/>
            <a:ext cx="1659636" cy="1014984"/>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Buying situations and needs that cue the category.</a:t>
            </a:r>
          </a:p>
        </p:txBody>
      </p:sp>
      <p:sp>
        <p:nvSpPr>
          <p:cNvPr id="12" name="MA 2 body"/>
          <p:cNvSpPr/>
          <p:nvPr/>
        </p:nvSpPr>
        <p:spPr>
          <a:xfrm>
            <a:off x="2555748" y="2011680"/>
            <a:ext cx="193395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 2 bar"/>
          <p:cNvSpPr/>
          <p:nvPr/>
        </p:nvSpPr>
        <p:spPr>
          <a:xfrm>
            <a:off x="2555748" y="2011680"/>
            <a:ext cx="1933956"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 2 heading"/>
          <p:cNvSpPr txBox="1"/>
          <p:nvPr/>
        </p:nvSpPr>
        <p:spPr>
          <a:xfrm>
            <a:off x="2692908" y="2167128"/>
            <a:ext cx="1705355"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Mental penetration</a:t>
            </a:r>
          </a:p>
        </p:txBody>
      </p:sp>
      <p:sp>
        <p:nvSpPr>
          <p:cNvPr id="15" name="MA 2 text"/>
          <p:cNvSpPr txBox="1"/>
          <p:nvPr/>
        </p:nvSpPr>
        <p:spPr>
          <a:xfrm>
            <a:off x="2692908" y="2615184"/>
            <a:ext cx="1659636" cy="1014984"/>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Share of category buyers linking the brand to at least one entry point.</a:t>
            </a:r>
          </a:p>
        </p:txBody>
      </p:sp>
      <p:sp>
        <p:nvSpPr>
          <p:cNvPr id="16" name="MA 3 body"/>
          <p:cNvSpPr/>
          <p:nvPr/>
        </p:nvSpPr>
        <p:spPr>
          <a:xfrm>
            <a:off x="4654296" y="2011680"/>
            <a:ext cx="193395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 3 bar"/>
          <p:cNvSpPr/>
          <p:nvPr/>
        </p:nvSpPr>
        <p:spPr>
          <a:xfrm>
            <a:off x="4654296" y="2011680"/>
            <a:ext cx="1933956"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A 3 heading"/>
          <p:cNvSpPr txBox="1"/>
          <p:nvPr/>
        </p:nvSpPr>
        <p:spPr>
          <a:xfrm>
            <a:off x="4791456" y="2167128"/>
            <a:ext cx="1705355"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Mental market share</a:t>
            </a:r>
          </a:p>
        </p:txBody>
      </p:sp>
      <p:sp>
        <p:nvSpPr>
          <p:cNvPr id="19" name="MA 3 text"/>
          <p:cNvSpPr txBox="1"/>
          <p:nvPr/>
        </p:nvSpPr>
        <p:spPr>
          <a:xfrm>
            <a:off x="4791456" y="2615184"/>
            <a:ext cx="1659636" cy="1014984"/>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The brand's share of all brand–entry point links in the category.</a:t>
            </a:r>
          </a:p>
        </p:txBody>
      </p:sp>
      <p:sp>
        <p:nvSpPr>
          <p:cNvPr id="20" name="MA 4 body"/>
          <p:cNvSpPr/>
          <p:nvPr/>
        </p:nvSpPr>
        <p:spPr>
          <a:xfrm>
            <a:off x="6752844" y="2011680"/>
            <a:ext cx="193395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MA 4 bar"/>
          <p:cNvSpPr/>
          <p:nvPr/>
        </p:nvSpPr>
        <p:spPr>
          <a:xfrm>
            <a:off x="6752844" y="2011680"/>
            <a:ext cx="1933956"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A 4 heading"/>
          <p:cNvSpPr txBox="1"/>
          <p:nvPr/>
        </p:nvSpPr>
        <p:spPr>
          <a:xfrm>
            <a:off x="6890004" y="2167128"/>
            <a:ext cx="1705355"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Network size</a:t>
            </a:r>
          </a:p>
        </p:txBody>
      </p:sp>
      <p:sp>
        <p:nvSpPr>
          <p:cNvPr id="23" name="MA 4 text"/>
          <p:cNvSpPr txBox="1"/>
          <p:nvPr/>
        </p:nvSpPr>
        <p:spPr>
          <a:xfrm>
            <a:off x="6890004" y="2615184"/>
            <a:ext cx="1659636" cy="1014984"/>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Entry points linked, among those who link any.</a:t>
            </a:r>
          </a:p>
        </p:txBody>
      </p:sp>
      <p:sp>
        <p:nvSpPr>
          <p:cNvPr id="24" name="Callout"/>
          <p:cNvSpPr/>
          <p:nvPr/>
        </p:nvSpPr>
        <p:spPr>
          <a:xfrm>
            <a:off x="457200" y="38862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llout text"/>
          <p:cNvSpPr txBox="1"/>
          <p:nvPr/>
        </p:nvSpPr>
        <p:spPr>
          <a:xfrm>
            <a:off x="640080" y="3886200"/>
            <a:ext cx="7863840" cy="548640"/>
          </a:xfrm>
          <a:prstGeom prst="rect">
            <a:avLst/>
          </a:prstGeom>
          <a:noFill/>
        </p:spPr>
        <p:txBody>
          <a:bodyPr wrap="square" lIns="36576" rIns="36576" tIns="18288" bIns="18288" anchor="ctr">
            <a:spAutoFit/>
          </a:bodyPr>
          <a:lstStyle/>
          <a:p>
            <a:pPr algn="l">
              <a:spcAft>
                <a:spcPts val="0"/>
              </a:spcAft>
            </a:pPr>
            <a:r>
              <a:rPr lang="en-GB" sz="1300" b="1">
                <a:solidFill>
                  <a:schemeClr val="bg1"/>
                </a:solidFill>
              </a:rPr>
              <a:t>How to measure: </a:t>
            </a:r>
            <a:r>
              <a:rPr lang="en-GB" sz="1300" b="0">
                <a:solidFill>
                  <a:schemeClr val="bg1"/>
                </a:solidFill>
              </a:rPr>
              <a:t>show category buyers about 20 entry points and ask which brands they link to each.</a:t>
            </a:r>
          </a:p>
        </p:txBody>
      </p:sp>
      <p:sp>
        <p:nvSpPr>
          <p:cNvPr id="26" name="Source note"/>
          <p:cNvSpPr txBox="1"/>
          <p:nvPr/>
        </p:nvSpPr>
        <p:spPr>
          <a:xfrm>
            <a:off x="457200" y="4572000"/>
            <a:ext cx="8229600" cy="32004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Sources: Romaniuk &amp; Sharp (2003), JTMAM; Romaniuk &amp; Sharp (2004), Marketing Theory; Romaniuk, Better Brand Health (OUP, 2023).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Auditing distinctive brand assets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Grid 1"/>
          <p:cNvSpPr/>
          <p:nvPr/>
        </p:nvSpPr>
        <p:spPr>
          <a:xfrm>
            <a:off x="457200" y="1280160"/>
            <a:ext cx="1874519" cy="1325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rid 1 Text"/>
          <p:cNvSpPr txBox="1"/>
          <p:nvPr/>
        </p:nvSpPr>
        <p:spPr>
          <a:xfrm>
            <a:off x="566928" y="1389888"/>
            <a:ext cx="1691640" cy="1143000"/>
          </a:xfrm>
          <a:prstGeom prst="rect">
            <a:avLst/>
          </a:prstGeom>
          <a:noFill/>
        </p:spPr>
        <p:txBody>
          <a:bodyPr wrap="square" lIns="36576" rIns="36576" tIns="18288" bIns="18288" anchor="ctr">
            <a:spAutoFit/>
          </a:bodyPr>
          <a:lstStyle/>
          <a:p>
            <a:pPr algn="l">
              <a:spcAft>
                <a:spcPts val="400"/>
              </a:spcAft>
            </a:pPr>
            <a:r>
              <a:rPr lang="en-GB" sz="1100" b="0">
                <a:solidFill>
                  <a:schemeClr val="tx1"/>
                </a:solidFill>
              </a:rPr>
              <a:t>low fame, high uniqueness</a:t>
            </a:r>
          </a:p>
          <a:p>
            <a:pPr algn="l">
              <a:spcAft>
                <a:spcPts val="400"/>
              </a:spcAft>
            </a:pPr>
            <a:r>
              <a:rPr lang="en-GB" sz="1400" b="1">
                <a:solidFill>
                  <a:schemeClr val="tx1"/>
                </a:solidFill>
                <a:latin typeface="+mj-lt"/>
              </a:rPr>
              <a:t>Invest</a:t>
            </a:r>
          </a:p>
        </p:txBody>
      </p:sp>
      <p:sp>
        <p:nvSpPr>
          <p:cNvPr id="8" name="Grid 2"/>
          <p:cNvSpPr/>
          <p:nvPr/>
        </p:nvSpPr>
        <p:spPr>
          <a:xfrm>
            <a:off x="2423160" y="1280160"/>
            <a:ext cx="1874519" cy="1325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rid 2 Text"/>
          <p:cNvSpPr txBox="1"/>
          <p:nvPr/>
        </p:nvSpPr>
        <p:spPr>
          <a:xfrm>
            <a:off x="2532888" y="1389888"/>
            <a:ext cx="1691640" cy="1143000"/>
          </a:xfrm>
          <a:prstGeom prst="rect">
            <a:avLst/>
          </a:prstGeom>
          <a:noFill/>
        </p:spPr>
        <p:txBody>
          <a:bodyPr wrap="square" lIns="36576" rIns="36576" tIns="18288" bIns="18288" anchor="ctr">
            <a:spAutoFit/>
          </a:bodyPr>
          <a:lstStyle/>
          <a:p>
            <a:pPr algn="l">
              <a:spcAft>
                <a:spcPts val="400"/>
              </a:spcAft>
            </a:pPr>
            <a:r>
              <a:rPr lang="en-GB" sz="1100" b="0">
                <a:solidFill>
                  <a:schemeClr val="bg1"/>
                </a:solidFill>
              </a:rPr>
              <a:t>high fame, high uniqueness</a:t>
            </a:r>
          </a:p>
          <a:p>
            <a:pPr algn="l">
              <a:spcAft>
                <a:spcPts val="400"/>
              </a:spcAft>
            </a:pPr>
            <a:r>
              <a:rPr lang="en-GB" sz="1400" b="1">
                <a:solidFill>
                  <a:schemeClr val="bg1"/>
                </a:solidFill>
                <a:latin typeface="+mj-lt"/>
              </a:rPr>
              <a:t>Use or lose</a:t>
            </a:r>
          </a:p>
        </p:txBody>
      </p:sp>
      <p:sp>
        <p:nvSpPr>
          <p:cNvPr id="10" name="Grid 3"/>
          <p:cNvSpPr/>
          <p:nvPr/>
        </p:nvSpPr>
        <p:spPr>
          <a:xfrm>
            <a:off x="457200" y="2697480"/>
            <a:ext cx="1874519"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rid 3 Text"/>
          <p:cNvSpPr txBox="1"/>
          <p:nvPr/>
        </p:nvSpPr>
        <p:spPr>
          <a:xfrm>
            <a:off x="566928" y="2807208"/>
            <a:ext cx="1691640" cy="1143000"/>
          </a:xfrm>
          <a:prstGeom prst="rect">
            <a:avLst/>
          </a:prstGeom>
          <a:noFill/>
        </p:spPr>
        <p:txBody>
          <a:bodyPr wrap="square" lIns="36576" rIns="36576" tIns="18288" bIns="18288" anchor="ctr">
            <a:spAutoFit/>
          </a:bodyPr>
          <a:lstStyle/>
          <a:p>
            <a:pPr algn="l">
              <a:spcAft>
                <a:spcPts val="400"/>
              </a:spcAft>
            </a:pPr>
            <a:r>
              <a:rPr lang="en-GB" sz="1100" b="0">
                <a:solidFill>
                  <a:schemeClr val="tx1"/>
                </a:solidFill>
              </a:rPr>
              <a:t>low fame, low uniqueness</a:t>
            </a:r>
          </a:p>
          <a:p>
            <a:pPr algn="l">
              <a:spcAft>
                <a:spcPts val="400"/>
              </a:spcAft>
            </a:pPr>
            <a:r>
              <a:rPr lang="en-GB" sz="1400" b="1">
                <a:solidFill>
                  <a:schemeClr val="tx1"/>
                </a:solidFill>
                <a:latin typeface="+mj-lt"/>
              </a:rPr>
              <a:t>Ignore or test</a:t>
            </a:r>
          </a:p>
        </p:txBody>
      </p:sp>
      <p:sp>
        <p:nvSpPr>
          <p:cNvPr id="12" name="Grid 4"/>
          <p:cNvSpPr/>
          <p:nvPr/>
        </p:nvSpPr>
        <p:spPr>
          <a:xfrm>
            <a:off x="2423160" y="2697480"/>
            <a:ext cx="1874519" cy="132588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rid 4 Text"/>
          <p:cNvSpPr txBox="1"/>
          <p:nvPr/>
        </p:nvSpPr>
        <p:spPr>
          <a:xfrm>
            <a:off x="2532888" y="2807208"/>
            <a:ext cx="1691640" cy="1143000"/>
          </a:xfrm>
          <a:prstGeom prst="rect">
            <a:avLst/>
          </a:prstGeom>
          <a:noFill/>
        </p:spPr>
        <p:txBody>
          <a:bodyPr wrap="square" lIns="36576" rIns="36576" tIns="18288" bIns="18288" anchor="ctr">
            <a:spAutoFit/>
          </a:bodyPr>
          <a:lstStyle/>
          <a:p>
            <a:pPr algn="l">
              <a:spcAft>
                <a:spcPts val="400"/>
              </a:spcAft>
            </a:pPr>
            <a:r>
              <a:rPr lang="en-GB" sz="1100" b="0">
                <a:solidFill>
                  <a:schemeClr val="tx1"/>
                </a:solidFill>
              </a:rPr>
              <a:t>high fame, low uniqueness</a:t>
            </a:r>
          </a:p>
          <a:p>
            <a:pPr algn="l">
              <a:spcAft>
                <a:spcPts val="400"/>
              </a:spcAft>
            </a:pPr>
            <a:r>
              <a:rPr lang="en-GB" sz="1400" b="1">
                <a:solidFill>
                  <a:schemeClr val="tx1"/>
                </a:solidFill>
                <a:latin typeface="+mj-lt"/>
              </a:rPr>
              <a:t>Avoid using alone</a:t>
            </a:r>
          </a:p>
        </p:txBody>
      </p:sp>
      <p:sp>
        <p:nvSpPr>
          <p:cNvPr id="14" name="Asset explanation"/>
          <p:cNvSpPr txBox="1"/>
          <p:nvPr/>
        </p:nvSpPr>
        <p:spPr>
          <a:xfrm>
            <a:off x="4617720" y="1280160"/>
            <a:ext cx="4069080" cy="2788920"/>
          </a:xfrm>
          <a:prstGeom prst="rect">
            <a:avLst/>
          </a:prstGeom>
          <a:noFill/>
        </p:spPr>
        <p:txBody>
          <a:bodyPr wrap="square" lIns="36576" rIns="36576" tIns="18288" bIns="18288" anchor="t">
            <a:spAutoFit/>
          </a:bodyPr>
          <a:lstStyle/>
          <a:p>
            <a:pPr algn="l">
              <a:spcAft>
                <a:spcPts val="900"/>
              </a:spcAft>
            </a:pPr>
            <a:r>
              <a:rPr lang="en-GB" sz="1300" b="1">
                <a:solidFill>
                  <a:schemeClr val="tx2"/>
                </a:solidFill>
              </a:rPr>
              <a:t>Fame: </a:t>
            </a:r>
            <a:r>
              <a:rPr lang="en-GB" sz="1300" b="0">
                <a:solidFill>
                  <a:schemeClr val="tx1"/>
                </a:solidFill>
              </a:rPr>
              <a:t>share of category buyers who link the asset to the brand.</a:t>
            </a:r>
          </a:p>
          <a:p>
            <a:pPr algn="l">
              <a:spcAft>
                <a:spcPts val="900"/>
              </a:spcAft>
            </a:pPr>
            <a:r>
              <a:rPr lang="en-GB" sz="1300" b="1">
                <a:solidFill>
                  <a:schemeClr val="tx2"/>
                </a:solidFill>
              </a:rPr>
              <a:t>Uniqueness: </a:t>
            </a:r>
            <a:r>
              <a:rPr lang="en-GB" sz="1300" b="0">
                <a:solidFill>
                  <a:schemeClr val="tx1"/>
                </a:solidFill>
              </a:rPr>
              <a:t>share of those links that go to this brand, not rivals.</a:t>
            </a:r>
          </a:p>
          <a:p>
            <a:pPr algn="l">
              <a:spcAft>
                <a:spcPts val="900"/>
              </a:spcAft>
            </a:pPr>
            <a:r>
              <a:rPr lang="en-GB" sz="1300" b="1">
                <a:solidFill>
                  <a:schemeClr val="tx2"/>
                </a:solidFill>
              </a:rPr>
              <a:t>Benchmarks: </a:t>
            </a:r>
            <a:r>
              <a:rPr lang="en-GB" sz="1300" b="0">
                <a:solidFill>
                  <a:schemeClr val="tx1"/>
                </a:solidFill>
              </a:rPr>
              <a:t>shapes average about 40 % fame and 71 % uniqueness; colours about 12 % and 39 %.</a:t>
            </a:r>
          </a:p>
          <a:p>
            <a:pPr algn="l">
              <a:spcAft>
                <a:spcPts val="900"/>
              </a:spcAft>
            </a:pPr>
            <a:r>
              <a:rPr lang="en-GB" sz="1300" b="1">
                <a:solidFill>
                  <a:schemeClr val="tx2"/>
                </a:solidFill>
              </a:rPr>
              <a:t>Warning: </a:t>
            </a:r>
            <a:r>
              <a:rPr lang="en-GB" sz="1300" b="0">
                <a:solidFill>
                  <a:schemeClr val="tx1"/>
                </a:solidFill>
              </a:rPr>
              <a:t>managers overestimate fame and underestimate uniqueness. Test with buyers.</a:t>
            </a:r>
          </a:p>
        </p:txBody>
      </p:sp>
      <p:sp>
        <p:nvSpPr>
          <p:cNvPr id="15" name="Source note"/>
          <p:cNvSpPr txBox="1"/>
          <p:nvPr/>
        </p:nvSpPr>
        <p:spPr>
          <a:xfrm>
            <a:off x="457200" y="4343400"/>
            <a:ext cx="8229600" cy="32004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Sources: Romaniuk, Building Distinctive Brand Assets (2018); Phua et al. (2026), Int. J. of Advertising; Brus et al. (2025), JBM.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From audit to tracker</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Audit body"/>
          <p:cNvSpPr/>
          <p:nvPr/>
        </p:nvSpPr>
        <p:spPr>
          <a:xfrm>
            <a:off x="457200" y="1280160"/>
            <a:ext cx="4032504" cy="2560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udit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udit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Deep audit</a:t>
            </a:r>
          </a:p>
        </p:txBody>
      </p:sp>
      <p:pic>
        <p:nvPicPr>
          <p:cNvPr id="9" name="Icon LuSearch" descr=""/>
          <p:cNvPicPr>
            <a:picLocks noChangeAspect="1"/>
          </p:cNvPicPr>
          <p:nvPr/>
        </p:nvPicPr>
        <p:blipFill>
          <a:blip r:embed="rId3"/>
          <a:stretch>
            <a:fillRect/>
          </a:stretch>
        </p:blipFill>
        <p:spPr>
          <a:xfrm>
            <a:off x="4059936" y="1344168"/>
            <a:ext cx="329184" cy="329184"/>
          </a:xfrm>
          <a:prstGeom prst="rect">
            <a:avLst/>
          </a:prstGeom>
        </p:spPr>
      </p:pic>
      <p:sp>
        <p:nvSpPr>
          <p:cNvPr id="10" name="Audit text"/>
          <p:cNvSpPr txBox="1"/>
          <p:nvPr/>
        </p:nvSpPr>
        <p:spPr>
          <a:xfrm>
            <a:off x="594360" y="1847088"/>
            <a:ext cx="3758184" cy="1901952"/>
          </a:xfrm>
          <a:prstGeom prst="rect">
            <a:avLst/>
          </a:prstGeom>
          <a:noFill/>
        </p:spPr>
        <p:txBody>
          <a:bodyPr wrap="square" lIns="36576" rIns="36576" tIns="18288" bIns="18288" anchor="t">
            <a:spAutoFit/>
          </a:bodyPr>
          <a:lstStyle/>
          <a:p>
            <a:pPr algn="l">
              <a:spcAft>
                <a:spcPts val="700"/>
              </a:spcAft>
            </a:pPr>
            <a:r>
              <a:rPr lang="en-GB" sz="1300" b="1">
                <a:solidFill>
                  <a:schemeClr val="tx2"/>
                </a:solidFill>
              </a:rPr>
              <a:t>Every few years, or at a trigger</a:t>
            </a:r>
          </a:p>
          <a:p>
            <a:pPr algn="l">
              <a:spcAft>
                <a:spcPts val="700"/>
              </a:spcAft>
            </a:pPr>
            <a:r>
              <a:rPr lang="en-GB" sz="1300" b="0">
                <a:solidFill>
                  <a:schemeClr val="tx1"/>
                </a:solidFill>
              </a:rPr>
              <a:t>Full inventory, qualitative and quantitative research.</a:t>
            </a:r>
          </a:p>
          <a:p>
            <a:pPr algn="l">
              <a:spcAft>
                <a:spcPts val="700"/>
              </a:spcAft>
            </a:pPr>
            <a:r>
              <a:rPr lang="en-GB" sz="1300" b="0">
                <a:solidFill>
                  <a:schemeClr val="tx1"/>
                </a:solidFill>
              </a:rPr>
              <a:t>Finds the few associations that drive choice.</a:t>
            </a:r>
          </a:p>
          <a:p>
            <a:pPr algn="l">
              <a:spcAft>
                <a:spcPts val="700"/>
              </a:spcAft>
            </a:pPr>
            <a:r>
              <a:rPr lang="en-GB" sz="1300" b="0">
                <a:solidFill>
                  <a:schemeClr val="tx1"/>
                </a:solidFill>
              </a:rPr>
              <a:t>Defines what the tracker will measure.</a:t>
            </a:r>
          </a:p>
        </p:txBody>
      </p:sp>
      <p:sp>
        <p:nvSpPr>
          <p:cNvPr id="11" name="Tracker body"/>
          <p:cNvSpPr/>
          <p:nvPr/>
        </p:nvSpPr>
        <p:spPr>
          <a:xfrm>
            <a:off x="4654296" y="1280160"/>
            <a:ext cx="4032504" cy="2560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racker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racker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Brand tracker</a:t>
            </a:r>
          </a:p>
        </p:txBody>
      </p:sp>
      <p:pic>
        <p:nvPicPr>
          <p:cNvPr id="14" name="Icon LuChartColumn" descr=""/>
          <p:cNvPicPr>
            <a:picLocks noChangeAspect="1"/>
          </p:cNvPicPr>
          <p:nvPr/>
        </p:nvPicPr>
        <p:blipFill>
          <a:blip r:embed="rId4"/>
          <a:stretch>
            <a:fillRect/>
          </a:stretch>
        </p:blipFill>
        <p:spPr>
          <a:xfrm>
            <a:off x="8257031" y="1344168"/>
            <a:ext cx="329184" cy="329184"/>
          </a:xfrm>
          <a:prstGeom prst="rect">
            <a:avLst/>
          </a:prstGeom>
        </p:spPr>
      </p:pic>
      <p:sp>
        <p:nvSpPr>
          <p:cNvPr id="15" name="Tracker text"/>
          <p:cNvSpPr txBox="1"/>
          <p:nvPr/>
        </p:nvSpPr>
        <p:spPr>
          <a:xfrm>
            <a:off x="4791456" y="1847088"/>
            <a:ext cx="3758184" cy="1901952"/>
          </a:xfrm>
          <a:prstGeom prst="rect">
            <a:avLst/>
          </a:prstGeom>
          <a:noFill/>
        </p:spPr>
        <p:txBody>
          <a:bodyPr wrap="square" lIns="36576" rIns="36576" tIns="18288" bIns="18288" anchor="t">
            <a:spAutoFit/>
          </a:bodyPr>
          <a:lstStyle/>
          <a:p>
            <a:pPr algn="l">
              <a:spcAft>
                <a:spcPts val="700"/>
              </a:spcAft>
            </a:pPr>
            <a:r>
              <a:rPr lang="en-GB" sz="1300" b="1">
                <a:solidFill>
                  <a:schemeClr val="tx2"/>
                </a:solidFill>
              </a:rPr>
              <a:t>Continuous or yearly</a:t>
            </a:r>
          </a:p>
          <a:p>
            <a:pPr algn="l">
              <a:spcAft>
                <a:spcPts val="700"/>
              </a:spcAft>
            </a:pPr>
            <a:r>
              <a:rPr lang="en-GB" sz="1300" b="0">
                <a:solidFill>
                  <a:schemeClr val="tx1"/>
                </a:solidFill>
              </a:rPr>
              <a:t>Few metrics, same questions and sample over time.</a:t>
            </a:r>
          </a:p>
          <a:p>
            <a:pPr algn="l">
              <a:spcAft>
                <a:spcPts val="700"/>
              </a:spcAft>
            </a:pPr>
            <a:r>
              <a:rPr lang="en-GB" sz="1300" b="0">
                <a:solidFill>
                  <a:schemeClr val="tx1"/>
                </a:solidFill>
              </a:rPr>
              <a:t>Always against competitors.</a:t>
            </a:r>
          </a:p>
          <a:p>
            <a:pPr algn="l">
              <a:spcAft>
                <a:spcPts val="700"/>
              </a:spcAft>
            </a:pPr>
            <a:r>
              <a:rPr lang="en-GB" sz="1300" b="0">
                <a:solidFill>
                  <a:schemeClr val="tx1"/>
                </a:solidFill>
              </a:rPr>
              <a:t>Report buyers and non-buyers separately.</a:t>
            </a:r>
          </a:p>
        </p:txBody>
      </p:sp>
      <p:sp>
        <p:nvSpPr>
          <p:cNvPr id="16" name="Hinweis"/>
          <p:cNvSpPr/>
          <p:nvPr/>
        </p:nvSpPr>
        <p:spPr>
          <a:xfrm>
            <a:off x="457200" y="402336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inweis text"/>
          <p:cNvSpPr txBox="1"/>
          <p:nvPr/>
        </p:nvSpPr>
        <p:spPr>
          <a:xfrm>
            <a:off x="640080" y="4023360"/>
            <a:ext cx="7863840" cy="59436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Lean it out: </a:t>
            </a:r>
            <a:r>
              <a:rPr lang="en-GB" sz="1300" b="0">
                <a:solidFill>
                  <a:schemeClr val="tx1"/>
                </a:solidFill>
              </a:rPr>
              <a:t>27 common survey brand metrics reduce to a handful of dimensions (Lehmann, Keller &amp; Farley, 2008).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5 · Online data, AI answers, brand valuation</a:t>
            </a:r>
          </a:p>
        </p:txBody>
      </p:sp>
      <p:sp>
        <p:nvSpPr>
          <p:cNvPr id="3" name="Title 2"/>
          <p:cNvSpPr>
            <a:spLocks noGrp="1"/>
          </p:cNvSpPr>
          <p:nvPr>
            <p:ph type="ctrTitle"/>
          </p:nvPr>
        </p:nvSpPr>
        <p:spPr/>
        <p:txBody>
          <a:bodyPr/>
          <a:lstStyle/>
          <a:p>
            <a:r>
              <a:rPr lang="en-GB"/>
              <a:t>Beyond the survey</a:t>
            </a:r>
          </a:p>
        </p:txBody>
      </p:sp>
      <p:sp>
        <p:nvSpPr>
          <p:cNvPr id="4" name="Footer Placeholder 3"/>
          <p:cNvSpPr>
            <a:spLocks noGrp="1"/>
          </p:cNvSpPr>
          <p:nvPr>
            <p:ph type="ftr" idx="14" sz="quarter"/>
          </p:nvPr>
        </p:nvSpPr>
        <p:spPr/>
        <p:txBody>
          <a:bodyPr/>
          <a:p>
            <a:r>
              <a:rPr lang="en-GB"/>
              <a:t>Brand Audit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Auditing brands from online data</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Online table"/>
          <p:cNvGraphicFramePr>
            <a:graphicFrameLocks noGrp="1"/>
          </p:cNvGraphicFramePr>
          <p:nvPr/>
        </p:nvGraphicFramePr>
        <p:xfrm>
          <a:off x="457200" y="1280160"/>
          <a:ext cx="8229600" cy="2194560"/>
        </p:xfrm>
        <a:graphic>
          <a:graphicData uri="http://schemas.openxmlformats.org/drawingml/2006/table">
            <a:tbl>
              <a:tblPr firstRow="1" bandRow="1">
                <a:tableStyleId>{5C22544A-7EE6-4342-B048-85BDC9FD1C3A}</a:tableStyleId>
              </a:tblPr>
              <a:tblGrid>
                <a:gridCol w="2103120"/>
                <a:gridCol w="2011680"/>
                <a:gridCol w="4114800"/>
              </a:tblGrid>
              <a:tr h="438912">
                <a:tc>
                  <a:txBody>
                    <a:bodyPr/>
                    <a:lstStyle/>
                    <a:p>
                      <a:r>
                        <a:rPr lang="en-GB" sz="1200" b="1">
                          <a:solidFill>
                            <a:schemeClr val="bg1"/>
                          </a:solidFill>
                        </a:rPr>
                        <a:t>Study</a:t>
                      </a:r>
                    </a:p>
                  </a:txBody>
                  <a:tcPr marT="36576" marB="36576" anchor="ctr">
                    <a:solidFill>
                      <a:schemeClr val="accent1"/>
                    </a:solidFill>
                  </a:tcPr>
                </a:tc>
                <a:tc>
                  <a:txBody>
                    <a:bodyPr/>
                    <a:lstStyle/>
                    <a:p>
                      <a:r>
                        <a:rPr lang="en-GB" sz="1200" b="1">
                          <a:solidFill>
                            <a:schemeClr val="bg1"/>
                          </a:solidFill>
                        </a:rPr>
                        <a:t>Data</a:t>
                      </a:r>
                    </a:p>
                  </a:txBody>
                  <a:tcPr marT="36576" marB="36576" anchor="ctr">
                    <a:solidFill>
                      <a:schemeClr val="accent1"/>
                    </a:solidFill>
                  </a:tcPr>
                </a:tc>
                <a:tc>
                  <a:txBody>
                    <a:bodyPr/>
                    <a:lstStyle/>
                    <a:p>
                      <a:r>
                        <a:rPr lang="en-GB" sz="1200" b="1">
                          <a:solidFill>
                            <a:schemeClr val="bg1"/>
                          </a:solidFill>
                        </a:rPr>
                        <a:t>What it gives the audit</a:t>
                      </a:r>
                    </a:p>
                  </a:txBody>
                  <a:tcPr marT="36576" marB="36576" anchor="ctr">
                    <a:solidFill>
                      <a:schemeClr val="accent1"/>
                    </a:solidFill>
                  </a:tcPr>
                </a:tc>
              </a:tr>
              <a:tr h="438912">
                <a:tc>
                  <a:txBody>
                    <a:bodyPr/>
                    <a:lstStyle/>
                    <a:p>
                      <a:r>
                        <a:rPr lang="en-GB" sz="1200">
                          <a:solidFill>
                            <a:schemeClr val="tx1"/>
                          </a:solidFill>
                        </a:rPr>
                        <a:t>Netzer et al. (2012)</a:t>
                      </a:r>
                    </a:p>
                  </a:txBody>
                  <a:tcPr marT="36576" marB="36576" anchor="ctr">
                    <a:solidFill>
                      <a:schemeClr val="bg2"/>
                    </a:solidFill>
                  </a:tcPr>
                </a:tc>
                <a:tc>
                  <a:txBody>
                    <a:bodyPr/>
                    <a:lstStyle/>
                    <a:p>
                      <a:r>
                        <a:rPr lang="en-GB" sz="1200">
                          <a:solidFill>
                            <a:schemeClr val="tx1"/>
                          </a:solidFill>
                        </a:rPr>
                        <a:t>Forum posts</a:t>
                      </a:r>
                    </a:p>
                  </a:txBody>
                  <a:tcPr marT="36576" marB="36576" anchor="ctr">
                    <a:solidFill>
                      <a:schemeClr val="bg2"/>
                    </a:solidFill>
                  </a:tcPr>
                </a:tc>
                <a:tc>
                  <a:txBody>
                    <a:bodyPr/>
                    <a:lstStyle/>
                    <a:p>
                      <a:r>
                        <a:rPr lang="en-GB" sz="1200">
                          <a:solidFill>
                            <a:schemeClr val="tx1"/>
                          </a:solidFill>
                        </a:rPr>
                        <a:t>Brand co-mention maps, checked against surveys and sales</a:t>
                      </a:r>
                    </a:p>
                  </a:txBody>
                  <a:tcPr marT="36576" marB="36576" anchor="ctr">
                    <a:solidFill>
                      <a:schemeClr val="bg2"/>
                    </a:solidFill>
                  </a:tcPr>
                </a:tc>
              </a:tr>
              <a:tr h="438912">
                <a:tc>
                  <a:txBody>
                    <a:bodyPr/>
                    <a:lstStyle/>
                    <a:p>
                      <a:r>
                        <a:rPr lang="en-GB" sz="1200">
                          <a:solidFill>
                            <a:schemeClr val="tx1"/>
                          </a:solidFill>
                        </a:rPr>
                        <a:t>Tirunillai &amp; Tellis (2014)</a:t>
                      </a:r>
                    </a:p>
                  </a:txBody>
                  <a:tcPr marT="36576" marB="36576" anchor="ctr">
                    <a:solidFill>
                      <a:srgbClr val="F2F2F2"/>
                    </a:solidFill>
                  </a:tcPr>
                </a:tc>
                <a:tc>
                  <a:txBody>
                    <a:bodyPr/>
                    <a:lstStyle/>
                    <a:p>
                      <a:r>
                        <a:rPr lang="en-GB" sz="1200">
                          <a:solidFill>
                            <a:schemeClr val="tx1"/>
                          </a:solidFill>
                        </a:rPr>
                        <a:t>About 350,000 reviews</a:t>
                      </a:r>
                    </a:p>
                  </a:txBody>
                  <a:tcPr marT="36576" marB="36576" anchor="ctr">
                    <a:solidFill>
                      <a:srgbClr val="F2F2F2"/>
                    </a:solidFill>
                  </a:tcPr>
                </a:tc>
                <a:tc>
                  <a:txBody>
                    <a:bodyPr/>
                    <a:lstStyle/>
                    <a:p>
                      <a:r>
                        <a:rPr lang="en-GB" sz="1200">
                          <a:solidFill>
                            <a:schemeClr val="tx1"/>
                          </a:solidFill>
                        </a:rPr>
                        <a:t>Quality dimensions and positioning maps over time</a:t>
                      </a:r>
                    </a:p>
                  </a:txBody>
                  <a:tcPr marT="36576" marB="36576" anchor="ctr">
                    <a:solidFill>
                      <a:srgbClr val="F2F2F2"/>
                    </a:solidFill>
                  </a:tcPr>
                </a:tc>
              </a:tr>
              <a:tr h="438912">
                <a:tc>
                  <a:txBody>
                    <a:bodyPr/>
                    <a:lstStyle/>
                    <a:p>
                      <a:r>
                        <a:rPr lang="en-GB" sz="1200">
                          <a:solidFill>
                            <a:schemeClr val="tx1"/>
                          </a:solidFill>
                        </a:rPr>
                        <a:t>Culotta &amp; Cutler (2016)</a:t>
                      </a:r>
                    </a:p>
                  </a:txBody>
                  <a:tcPr marT="36576" marB="36576" anchor="ctr">
                    <a:solidFill>
                      <a:schemeClr val="bg2"/>
                    </a:solidFill>
                  </a:tcPr>
                </a:tc>
                <a:tc>
                  <a:txBody>
                    <a:bodyPr/>
                    <a:lstStyle/>
                    <a:p>
                      <a:r>
                        <a:rPr lang="en-GB" sz="1200">
                          <a:solidFill>
                            <a:schemeClr val="tx1"/>
                          </a:solidFill>
                        </a:rPr>
                        <a:t>Twitter followers</a:t>
                      </a:r>
                    </a:p>
                  </a:txBody>
                  <a:tcPr marT="36576" marB="36576" anchor="ctr">
                    <a:solidFill>
                      <a:schemeClr val="bg2"/>
                    </a:solidFill>
                  </a:tcPr>
                </a:tc>
                <a:tc>
                  <a:txBody>
                    <a:bodyPr/>
                    <a:lstStyle/>
                    <a:p>
                      <a:r>
                        <a:rPr lang="en-GB" sz="1200">
                          <a:solidFill>
                            <a:schemeClr val="tx1"/>
                          </a:solidFill>
                        </a:rPr>
                        <a:t>Eco, luxury and nutrition perceptions for 200+ brands</a:t>
                      </a:r>
                    </a:p>
                  </a:txBody>
                  <a:tcPr marT="36576" marB="36576" anchor="ctr">
                    <a:solidFill>
                      <a:schemeClr val="bg2"/>
                    </a:solidFill>
                  </a:tcPr>
                </a:tc>
              </a:tr>
              <a:tr h="438912">
                <a:tc>
                  <a:txBody>
                    <a:bodyPr/>
                    <a:lstStyle/>
                    <a:p>
                      <a:r>
                        <a:rPr lang="en-GB" sz="1200">
                          <a:solidFill>
                            <a:schemeClr val="tx1"/>
                          </a:solidFill>
                        </a:rPr>
                        <a:t>Rust et al. (2021)</a:t>
                      </a:r>
                    </a:p>
                  </a:txBody>
                  <a:tcPr marT="36576" marB="36576" anchor="ctr">
                    <a:solidFill>
                      <a:srgbClr val="F2F2F2"/>
                    </a:solidFill>
                  </a:tcPr>
                </a:tc>
                <a:tc>
                  <a:txBody>
                    <a:bodyPr/>
                    <a:lstStyle/>
                    <a:p>
                      <a:r>
                        <a:rPr lang="en-GB" sz="1200">
                          <a:solidFill>
                            <a:schemeClr val="tx1"/>
                          </a:solidFill>
                        </a:rPr>
                        <a:t>Twitter text</a:t>
                      </a:r>
                    </a:p>
                  </a:txBody>
                  <a:tcPr marT="36576" marB="36576" anchor="ctr">
                    <a:solidFill>
                      <a:srgbClr val="F2F2F2"/>
                    </a:solidFill>
                  </a:tcPr>
                </a:tc>
                <a:tc>
                  <a:txBody>
                    <a:bodyPr/>
                    <a:lstStyle/>
                    <a:p>
                      <a:r>
                        <a:rPr lang="en-GB" sz="1200">
                          <a:solidFill>
                            <a:schemeClr val="tx1"/>
                          </a:solidFill>
                        </a:rPr>
                        <a:t>A weekly brand reputation tracker</a:t>
                      </a:r>
                    </a:p>
                  </a:txBody>
                  <a:tcPr marT="36576" marB="36576" anchor="ctr">
                    <a:solidFill>
                      <a:srgbClr val="F2F2F2"/>
                    </a:solidFill>
                  </a:tcPr>
                </a:tc>
              </a:tr>
            </a:tbl>
          </a:graphicData>
        </a:graphic>
      </p:graphicFrame>
      <p:sp>
        <p:nvSpPr>
          <p:cNvPr id="7" name="Punkt"/>
          <p:cNvSpPr txBox="1"/>
          <p:nvPr/>
        </p:nvSpPr>
        <p:spPr>
          <a:xfrm>
            <a:off x="457200" y="3749039"/>
            <a:ext cx="8229600" cy="82296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en-GB" sz="1300" b="0">
                <a:solidFill>
                  <a:schemeClr val="tx1"/>
                </a:solidFill>
              </a:rPr>
              <a:t>Sentiment tools differ a lot in accuracy: check the method (Hartmann et al., 2023).</a:t>
            </a:r>
          </a:p>
          <a:p>
            <a:pPr algn="l" marL="182880" indent="-182880">
              <a:spcAft>
                <a:spcPts val="600"/>
              </a:spcAft>
              <a:buClr>
                <a:schemeClr val="accent1"/>
              </a:buClr>
              <a:buFont typeface="Arial"/>
              <a:buChar char="▪"/>
            </a:pPr>
            <a:r>
              <a:rPr lang="en-GB" sz="1300" b="0">
                <a:solidFill>
                  <a:schemeClr val="tx1"/>
                </a:solidFill>
              </a:rPr>
              <a:t>Volume is not representativeness: online voices skew to heavy users and critics.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Bud Light 2023: one crisis, three lenses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at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t figure 1"/>
          <p:cNvSpPr txBox="1"/>
          <p:nvPr/>
        </p:nvSpPr>
        <p:spPr>
          <a:xfrm>
            <a:off x="640080" y="1280160"/>
            <a:ext cx="1463040" cy="777240"/>
          </a:xfrm>
          <a:prstGeom prst="rect">
            <a:avLst/>
          </a:prstGeom>
          <a:noFill/>
        </p:spPr>
        <p:txBody>
          <a:bodyPr wrap="square" lIns="36576" rIns="36576" tIns="18288" bIns="18288" anchor="ctr">
            <a:spAutoFit/>
          </a:bodyPr>
          <a:lstStyle/>
          <a:p>
            <a:pPr algn="l">
              <a:spcAft>
                <a:spcPts val="0"/>
              </a:spcAft>
            </a:pPr>
            <a:r>
              <a:rPr lang="en-GB" sz="2800" b="1">
                <a:solidFill>
                  <a:schemeClr val="tx2"/>
                </a:solidFill>
                <a:latin typeface="+mj-lt"/>
              </a:rPr>
              <a:t>53×</a:t>
            </a:r>
          </a:p>
        </p:txBody>
      </p:sp>
      <p:sp>
        <p:nvSpPr>
          <p:cNvPr id="8" name="Stat text 1"/>
          <p:cNvSpPr txBox="1"/>
          <p:nvPr/>
        </p:nvSpPr>
        <p:spPr>
          <a:xfrm>
            <a:off x="2194560" y="1325880"/>
            <a:ext cx="6492240" cy="731520"/>
          </a:xfrm>
          <a:prstGeom prst="rect">
            <a:avLst/>
          </a:prstGeom>
          <a:noFill/>
        </p:spPr>
        <p:txBody>
          <a:bodyPr wrap="square" lIns="36576" rIns="36576" tIns="18288" bIns="18288" anchor="t">
            <a:spAutoFit/>
          </a:bodyPr>
          <a:lstStyle/>
          <a:p>
            <a:pPr algn="l">
              <a:spcAft>
                <a:spcPts val="200"/>
              </a:spcAft>
            </a:pPr>
            <a:r>
              <a:rPr lang="en-GB" sz="1300" b="1">
                <a:solidFill>
                  <a:schemeClr val="tx1"/>
                </a:solidFill>
              </a:rPr>
              <a:t>Social listening: </a:t>
            </a:r>
            <a:r>
              <a:rPr lang="en-GB" sz="1300" b="0">
                <a:solidFill>
                  <a:schemeClr val="tx1"/>
                </a:solidFill>
              </a:rPr>
              <a:t>1.08m mentions in 11 days after the post, against 20,400 in the 11 days before.</a:t>
            </a:r>
          </a:p>
          <a:p>
            <a:pPr algn="l">
              <a:spcAft>
                <a:spcPts val="200"/>
              </a:spcAft>
            </a:pPr>
            <a:r>
              <a:rPr lang="en-GB" sz="1050" b="0">
                <a:solidFill>
                  <a:srgbClr val="595959"/>
                </a:solidFill>
              </a:rPr>
              <a:t>The Social Element via Fox Business (Apr 2023)</a:t>
            </a:r>
          </a:p>
        </p:txBody>
      </p:sp>
      <p:sp>
        <p:nvSpPr>
          <p:cNvPr id="9" name="Stat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figure 2"/>
          <p:cNvSpPr txBox="1"/>
          <p:nvPr/>
        </p:nvSpPr>
        <p:spPr>
          <a:xfrm>
            <a:off x="640080" y="2194560"/>
            <a:ext cx="1463040" cy="777240"/>
          </a:xfrm>
          <a:prstGeom prst="rect">
            <a:avLst/>
          </a:prstGeom>
          <a:noFill/>
        </p:spPr>
        <p:txBody>
          <a:bodyPr wrap="square" lIns="36576" rIns="36576" tIns="18288" bIns="18288" anchor="ctr">
            <a:spAutoFit/>
          </a:bodyPr>
          <a:lstStyle/>
          <a:p>
            <a:pPr algn="l">
              <a:spcAft>
                <a:spcPts val="0"/>
              </a:spcAft>
            </a:pPr>
            <a:r>
              <a:rPr lang="en-GB" sz="2800" b="1">
                <a:solidFill>
                  <a:schemeClr val="tx2"/>
                </a:solidFill>
                <a:latin typeface="+mj-lt"/>
              </a:rPr>
              <a:t>−20.2</a:t>
            </a:r>
          </a:p>
        </p:txBody>
      </p:sp>
      <p:sp>
        <p:nvSpPr>
          <p:cNvPr id="11" name="Stat text 2"/>
          <p:cNvSpPr txBox="1"/>
          <p:nvPr/>
        </p:nvSpPr>
        <p:spPr>
          <a:xfrm>
            <a:off x="2194560" y="2240279"/>
            <a:ext cx="6492240" cy="731520"/>
          </a:xfrm>
          <a:prstGeom prst="rect">
            <a:avLst/>
          </a:prstGeom>
          <a:noFill/>
        </p:spPr>
        <p:txBody>
          <a:bodyPr wrap="square" lIns="36576" rIns="36576" tIns="18288" bIns="18288" anchor="t">
            <a:spAutoFit/>
          </a:bodyPr>
          <a:lstStyle/>
          <a:p>
            <a:pPr algn="l">
              <a:spcAft>
                <a:spcPts val="200"/>
              </a:spcAft>
            </a:pPr>
            <a:r>
              <a:rPr lang="en-GB" sz="1300" b="1">
                <a:solidFill>
                  <a:schemeClr val="tx1"/>
                </a:solidFill>
              </a:rPr>
              <a:t>Brand tracking: </a:t>
            </a:r>
            <a:r>
              <a:rPr lang="en-GB" sz="1300" b="0">
                <a:solidFill>
                  <a:schemeClr val="tx1"/>
                </a:solidFill>
              </a:rPr>
              <a:t>YouGov Impression 6.2 to −14; Consideration 14.1 to 10.9.</a:t>
            </a:r>
          </a:p>
          <a:p>
            <a:pPr algn="l">
              <a:spcAft>
                <a:spcPts val="200"/>
              </a:spcAft>
            </a:pPr>
            <a:r>
              <a:rPr lang="en-GB" sz="1050" b="0">
                <a:solidFill>
                  <a:srgbClr val="595959"/>
                </a:solidFill>
              </a:rPr>
              <a:t>YouGov BrandIndex, 1 Apr–11 Jun 2023</a:t>
            </a:r>
          </a:p>
        </p:txBody>
      </p:sp>
      <p:sp>
        <p:nvSpPr>
          <p:cNvPr id="12" name="Stat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figure 3"/>
          <p:cNvSpPr txBox="1"/>
          <p:nvPr/>
        </p:nvSpPr>
        <p:spPr>
          <a:xfrm>
            <a:off x="640080" y="3108960"/>
            <a:ext cx="1463040" cy="777240"/>
          </a:xfrm>
          <a:prstGeom prst="rect">
            <a:avLst/>
          </a:prstGeom>
          <a:noFill/>
        </p:spPr>
        <p:txBody>
          <a:bodyPr wrap="square" lIns="36576" rIns="36576" tIns="18288" bIns="18288" anchor="ctr">
            <a:spAutoFit/>
          </a:bodyPr>
          <a:lstStyle/>
          <a:p>
            <a:pPr algn="l">
              <a:spcAft>
                <a:spcPts val="0"/>
              </a:spcAft>
            </a:pPr>
            <a:r>
              <a:rPr lang="en-GB" sz="2800" b="1">
                <a:solidFill>
                  <a:schemeClr val="tx2"/>
                </a:solidFill>
                <a:latin typeface="+mj-lt"/>
              </a:rPr>
              <a:t>−21.5</a:t>
            </a:r>
          </a:p>
        </p:txBody>
      </p:sp>
      <p:sp>
        <p:nvSpPr>
          <p:cNvPr id="14" name="Stat text 3"/>
          <p:cNvSpPr txBox="1"/>
          <p:nvPr/>
        </p:nvSpPr>
        <p:spPr>
          <a:xfrm>
            <a:off x="2194560" y="3154679"/>
            <a:ext cx="6492240" cy="731520"/>
          </a:xfrm>
          <a:prstGeom prst="rect">
            <a:avLst/>
          </a:prstGeom>
          <a:noFill/>
        </p:spPr>
        <p:txBody>
          <a:bodyPr wrap="square" lIns="36576" rIns="36576" tIns="18288" bIns="18288" anchor="t">
            <a:spAutoFit/>
          </a:bodyPr>
          <a:lstStyle/>
          <a:p>
            <a:pPr algn="l">
              <a:spcAft>
                <a:spcPts val="200"/>
              </a:spcAft>
            </a:pPr>
            <a:r>
              <a:rPr lang="en-GB" sz="1300" b="1">
                <a:solidFill>
                  <a:schemeClr val="tx1"/>
                </a:solidFill>
              </a:rPr>
              <a:t>Segments and rivals: </a:t>
            </a:r>
            <a:r>
              <a:rPr lang="en-GB" sz="1300" b="0">
                <a:solidFill>
                  <a:schemeClr val="tx1"/>
                </a:solidFill>
              </a:rPr>
              <a:t>Impression among over-50s (18–34: −10.8); Stella Artois only −3.5.</a:t>
            </a:r>
          </a:p>
          <a:p>
            <a:pPr algn="l">
              <a:spcAft>
                <a:spcPts val="200"/>
              </a:spcAft>
            </a:pPr>
            <a:r>
              <a:rPr lang="en-GB" sz="1050" b="0">
                <a:solidFill>
                  <a:srgbClr val="595959"/>
                </a:solidFill>
              </a:rPr>
              <a:t>YouGov BrandIndex, 1 Apr–11 Jun 2023</a:t>
            </a:r>
          </a:p>
        </p:txBody>
      </p:sp>
      <p:sp>
        <p:nvSpPr>
          <p:cNvPr id="15" name="Callout"/>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llout text"/>
          <p:cNvSpPr txBox="1"/>
          <p:nvPr/>
        </p:nvSpPr>
        <p:spPr>
          <a:xfrm>
            <a:off x="640080" y="4114800"/>
            <a:ext cx="7863840" cy="502920"/>
          </a:xfrm>
          <a:prstGeom prst="rect">
            <a:avLst/>
          </a:prstGeom>
          <a:noFill/>
        </p:spPr>
        <p:txBody>
          <a:bodyPr wrap="square" lIns="36576" rIns="36576" tIns="18288" bIns="18288" anchor="ctr">
            <a:spAutoFit/>
          </a:bodyPr>
          <a:lstStyle/>
          <a:p>
            <a:pPr algn="l">
              <a:spcAft>
                <a:spcPts val="0"/>
              </a:spcAft>
            </a:pPr>
            <a:r>
              <a:rPr lang="en-GB" sz="1300" b="1">
                <a:solidFill>
                  <a:schemeClr val="bg1"/>
                </a:solidFill>
              </a:rPr>
              <a:t>Lesson: </a:t>
            </a:r>
            <a:r>
              <a:rPr lang="en-GB" sz="1300" b="0">
                <a:solidFill>
                  <a:schemeClr val="bg1"/>
                </a:solidFill>
              </a:rPr>
              <a:t>listening shows the noise; tracking shows who changed their mind.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brand in AI answers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AI why body"/>
          <p:cNvSpPr/>
          <p:nvPr/>
        </p:nvSpPr>
        <p:spPr>
          <a:xfrm>
            <a:off x="457200" y="1280160"/>
            <a:ext cx="2633472"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I why band"/>
          <p:cNvSpPr/>
          <p:nvPr/>
        </p:nvSpPr>
        <p:spPr>
          <a:xfrm>
            <a:off x="457200"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I why heading"/>
          <p:cNvSpPr txBox="1"/>
          <p:nvPr/>
        </p:nvSpPr>
        <p:spPr>
          <a:xfrm>
            <a:off x="566928" y="1335024"/>
            <a:ext cx="1947672"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Why it matters</a:t>
            </a:r>
          </a:p>
        </p:txBody>
      </p:sp>
      <p:pic>
        <p:nvPicPr>
          <p:cNvPr id="9" name="Icon LuBot" descr=""/>
          <p:cNvPicPr>
            <a:picLocks noChangeAspect="1"/>
          </p:cNvPicPr>
          <p:nvPr/>
        </p:nvPicPr>
        <p:blipFill>
          <a:blip r:embed="rId3"/>
          <a:stretch>
            <a:fillRect/>
          </a:stretch>
        </p:blipFill>
        <p:spPr>
          <a:xfrm>
            <a:off x="2660904" y="1344168"/>
            <a:ext cx="329184" cy="329184"/>
          </a:xfrm>
          <a:prstGeom prst="rect">
            <a:avLst/>
          </a:prstGeom>
        </p:spPr>
      </p:pic>
      <p:sp>
        <p:nvSpPr>
          <p:cNvPr id="10" name="AI why text"/>
          <p:cNvSpPr txBox="1"/>
          <p:nvPr/>
        </p:nvSpPr>
        <p:spPr>
          <a:xfrm>
            <a:off x="594360" y="1847088"/>
            <a:ext cx="2359152" cy="2039112"/>
          </a:xfrm>
          <a:prstGeom prst="rect">
            <a:avLst/>
          </a:prstGeom>
          <a:noFill/>
        </p:spPr>
        <p:txBody>
          <a:bodyPr wrap="square" lIns="36576" rIns="36576" tIns="18288" bIns="18288" anchor="t">
            <a:spAutoFit/>
          </a:bodyPr>
          <a:lstStyle/>
          <a:p>
            <a:pPr algn="l">
              <a:spcAft>
                <a:spcPts val="700"/>
              </a:spcAft>
            </a:pPr>
            <a:r>
              <a:rPr lang="en-GB" sz="1200" b="0">
                <a:solidFill>
                  <a:schemeClr val="tx1"/>
                </a:solidFill>
              </a:rPr>
              <a:t>Buyers ask ChatGPT, Gemini and Perplexity which brand to choose.</a:t>
            </a:r>
          </a:p>
          <a:p>
            <a:pPr algn="l">
              <a:spcAft>
                <a:spcPts val="700"/>
              </a:spcAft>
            </a:pPr>
            <a:r>
              <a:rPr lang="en-GB" sz="1200" b="0">
                <a:solidFill>
                  <a:schemeClr val="tx1"/>
                </a:solidFill>
              </a:rPr>
              <a:t>LLMs reproduce perceptual maps (Li et al., 2024) but fail as respondents in some tasks (Arora et al., 2025).</a:t>
            </a:r>
          </a:p>
        </p:txBody>
      </p:sp>
      <p:sp>
        <p:nvSpPr>
          <p:cNvPr id="11" name="AI measure body"/>
          <p:cNvSpPr/>
          <p:nvPr/>
        </p:nvSpPr>
        <p:spPr>
          <a:xfrm>
            <a:off x="3255264" y="1280160"/>
            <a:ext cx="2633472"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I measure band"/>
          <p:cNvSpPr/>
          <p:nvPr/>
        </p:nvSpPr>
        <p:spPr>
          <a:xfrm>
            <a:off x="3255264"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I measure heading"/>
          <p:cNvSpPr txBox="1"/>
          <p:nvPr/>
        </p:nvSpPr>
        <p:spPr>
          <a:xfrm>
            <a:off x="3364992" y="1335024"/>
            <a:ext cx="1947672"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What to measure</a:t>
            </a:r>
          </a:p>
        </p:txBody>
      </p:sp>
      <p:pic>
        <p:nvPicPr>
          <p:cNvPr id="14" name="Icon LuGauge" descr=""/>
          <p:cNvPicPr>
            <a:picLocks noChangeAspect="1"/>
          </p:cNvPicPr>
          <p:nvPr/>
        </p:nvPicPr>
        <p:blipFill>
          <a:blip r:embed="rId4"/>
          <a:stretch>
            <a:fillRect/>
          </a:stretch>
        </p:blipFill>
        <p:spPr>
          <a:xfrm>
            <a:off x="5458968" y="1344168"/>
            <a:ext cx="329184" cy="329184"/>
          </a:xfrm>
          <a:prstGeom prst="rect">
            <a:avLst/>
          </a:prstGeom>
        </p:spPr>
      </p:pic>
      <p:sp>
        <p:nvSpPr>
          <p:cNvPr id="15" name="AI measure text"/>
          <p:cNvSpPr txBox="1"/>
          <p:nvPr/>
        </p:nvSpPr>
        <p:spPr>
          <a:xfrm>
            <a:off x="3392424" y="1847088"/>
            <a:ext cx="2359152" cy="2039112"/>
          </a:xfrm>
          <a:prstGeom prst="rect">
            <a:avLst/>
          </a:prstGeom>
          <a:noFill/>
        </p:spPr>
        <p:txBody>
          <a:bodyPr wrap="square" lIns="36576" rIns="36576" tIns="18288" bIns="18288" anchor="t">
            <a:spAutoFit/>
          </a:bodyPr>
          <a:lstStyle/>
          <a:p>
            <a:pPr algn="l">
              <a:spcAft>
                <a:spcPts val="700"/>
              </a:spcAft>
            </a:pPr>
            <a:r>
              <a:rPr lang="en-GB" sz="1200" b="0">
                <a:solidFill>
                  <a:schemeClr val="tx1"/>
                </a:solidFill>
              </a:rPr>
              <a:t>Mentions and position in answers to a fixed prompt set.</a:t>
            </a:r>
          </a:p>
          <a:p>
            <a:pPr algn="l">
              <a:spcAft>
                <a:spcPts val="700"/>
              </a:spcAft>
            </a:pPr>
            <a:r>
              <a:rPr lang="en-GB" sz="1200" b="0">
                <a:solidFill>
                  <a:schemeClr val="tx1"/>
                </a:solidFill>
              </a:rPr>
              <a:t>Share of voice against rivals, sentiment, cited sources, factual accuracy.</a:t>
            </a:r>
          </a:p>
        </p:txBody>
      </p:sp>
      <p:sp>
        <p:nvSpPr>
          <p:cNvPr id="16" name="AI tools body"/>
          <p:cNvSpPr/>
          <p:nvPr/>
        </p:nvSpPr>
        <p:spPr>
          <a:xfrm>
            <a:off x="6053328" y="1280160"/>
            <a:ext cx="2633472" cy="2697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I tools band"/>
          <p:cNvSpPr/>
          <p:nvPr/>
        </p:nvSpPr>
        <p:spPr>
          <a:xfrm>
            <a:off x="6053328" y="128016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I tools heading"/>
          <p:cNvSpPr txBox="1"/>
          <p:nvPr/>
        </p:nvSpPr>
        <p:spPr>
          <a:xfrm>
            <a:off x="6163056" y="1335024"/>
            <a:ext cx="1947672"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Tools and data</a:t>
            </a:r>
          </a:p>
        </p:txBody>
      </p:sp>
      <p:pic>
        <p:nvPicPr>
          <p:cNvPr id="19" name="Icon LuWrench" descr=""/>
          <p:cNvPicPr>
            <a:picLocks noChangeAspect="1"/>
          </p:cNvPicPr>
          <p:nvPr/>
        </p:nvPicPr>
        <p:blipFill>
          <a:blip r:embed="rId5"/>
          <a:stretch>
            <a:fillRect/>
          </a:stretch>
        </p:blipFill>
        <p:spPr>
          <a:xfrm>
            <a:off x="8257032" y="1344168"/>
            <a:ext cx="329184" cy="329184"/>
          </a:xfrm>
          <a:prstGeom prst="rect">
            <a:avLst/>
          </a:prstGeom>
        </p:spPr>
      </p:pic>
      <p:sp>
        <p:nvSpPr>
          <p:cNvPr id="20" name="AI tools text"/>
          <p:cNvSpPr txBox="1"/>
          <p:nvPr/>
        </p:nvSpPr>
        <p:spPr>
          <a:xfrm>
            <a:off x="6190488" y="1847088"/>
            <a:ext cx="2359152" cy="2039112"/>
          </a:xfrm>
          <a:prstGeom prst="rect">
            <a:avLst/>
          </a:prstGeom>
          <a:noFill/>
        </p:spPr>
        <p:txBody>
          <a:bodyPr wrap="square" lIns="36576" rIns="36576" tIns="18288" bIns="18288" anchor="t">
            <a:spAutoFit/>
          </a:bodyPr>
          <a:lstStyle/>
          <a:p>
            <a:pPr algn="l">
              <a:spcAft>
                <a:spcPts val="700"/>
              </a:spcAft>
            </a:pPr>
            <a:r>
              <a:rPr lang="en-GB" sz="1200" b="0">
                <a:solidFill>
                  <a:schemeClr val="tx1"/>
                </a:solidFill>
              </a:rPr>
              <a:t>Otterly.AI (Vienna), Peec AI (Berlin), Profound, Semrush, Ahrefs.</a:t>
            </a:r>
          </a:p>
          <a:p>
            <a:pPr algn="l">
              <a:spcAft>
                <a:spcPts val="700"/>
              </a:spcAft>
            </a:pPr>
            <a:r>
              <a:rPr lang="en-GB" sz="1200" b="0">
                <a:solidFill>
                  <a:schemeClr val="tx1"/>
                </a:solidFill>
              </a:rPr>
              <a:t>Open data: 35,640 LLM answers on 66 European brands in 12 languages (Zenodo, 2026).</a:t>
            </a:r>
          </a:p>
        </p:txBody>
      </p:sp>
      <p:sp>
        <p:nvSpPr>
          <p:cNvPr id="21" name="Hinweis"/>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inweis text"/>
          <p:cNvSpPr txBox="1"/>
          <p:nvPr/>
        </p:nvSpPr>
        <p:spPr>
          <a:xfrm>
            <a:off x="640080" y="4160520"/>
            <a:ext cx="7863840" cy="54864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Try it: </a:t>
            </a:r>
            <a:r>
              <a:rPr lang="en-GB" sz="1300" b="0">
                <a:solidFill>
                  <a:schemeClr val="tx1"/>
                </a:solidFill>
              </a:rPr>
              <a:t>run 10 category prompts for your audit brand and two rivals, three times each, and count mentions.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Putting a value on the brand</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Valuation table"/>
          <p:cNvGraphicFramePr>
            <a:graphicFrameLocks noGrp="1"/>
          </p:cNvGraphicFramePr>
          <p:nvPr/>
        </p:nvGraphicFramePr>
        <p:xfrm>
          <a:off x="457200" y="1280160"/>
          <a:ext cx="8229600" cy="2011680"/>
        </p:xfrm>
        <a:graphic>
          <a:graphicData uri="http://schemas.openxmlformats.org/drawingml/2006/table">
            <a:tbl>
              <a:tblPr firstRow="1" bandRow="1">
                <a:tableStyleId>{5C22544A-7EE6-4342-B048-85BDC9FD1C3A}</a:tableStyleId>
              </a:tblPr>
              <a:tblGrid>
                <a:gridCol w="2011680"/>
                <a:gridCol w="3931920"/>
                <a:gridCol w="2286000"/>
              </a:tblGrid>
              <a:tr h="402336">
                <a:tc>
                  <a:txBody>
                    <a:bodyPr/>
                    <a:lstStyle/>
                    <a:p>
                      <a:r>
                        <a:rPr lang="en-GB" sz="1200" b="1">
                          <a:solidFill>
                            <a:schemeClr val="bg1"/>
                          </a:solidFill>
                        </a:rPr>
                        <a:t>Provider</a:t>
                      </a:r>
                    </a:p>
                  </a:txBody>
                  <a:tcPr marT="36576" marB="36576" anchor="ctr">
                    <a:solidFill>
                      <a:schemeClr val="accent1"/>
                    </a:solidFill>
                  </a:tcPr>
                </a:tc>
                <a:tc>
                  <a:txBody>
                    <a:bodyPr/>
                    <a:lstStyle/>
                    <a:p>
                      <a:r>
                        <a:rPr lang="en-GB" sz="1200" b="1">
                          <a:solidFill>
                            <a:schemeClr val="bg1"/>
                          </a:solidFill>
                        </a:rPr>
                        <a:t>Logic</a:t>
                      </a:r>
                    </a:p>
                  </a:txBody>
                  <a:tcPr marT="36576" marB="36576" anchor="ctr">
                    <a:solidFill>
                      <a:schemeClr val="accent1"/>
                    </a:solidFill>
                  </a:tcPr>
                </a:tc>
                <a:tc>
                  <a:txBody>
                    <a:bodyPr/>
                    <a:lstStyle/>
                    <a:p>
                      <a:r>
                        <a:rPr lang="en-GB" sz="1200" b="1">
                          <a:solidFill>
                            <a:schemeClr val="bg1"/>
                          </a:solidFill>
                        </a:rPr>
                        <a:t>Consumer input</a:t>
                      </a:r>
                    </a:p>
                  </a:txBody>
                  <a:tcPr marT="36576" marB="36576" anchor="ctr">
                    <a:solidFill>
                      <a:schemeClr val="accent1"/>
                    </a:solidFill>
                  </a:tcPr>
                </a:tc>
              </a:tr>
              <a:tr h="402336">
                <a:tc>
                  <a:txBody>
                    <a:bodyPr/>
                    <a:lstStyle/>
                    <a:p>
                      <a:r>
                        <a:rPr lang="en-GB" sz="1200">
                          <a:solidFill>
                            <a:schemeClr val="tx1"/>
                          </a:solidFill>
                        </a:rPr>
                        <a:t>Interbrand</a:t>
                      </a:r>
                    </a:p>
                  </a:txBody>
                  <a:tcPr marT="36576" marB="36576" anchor="ctr">
                    <a:solidFill>
                      <a:schemeClr val="bg2"/>
                    </a:solidFill>
                  </a:tcPr>
                </a:tc>
                <a:tc>
                  <a:txBody>
                    <a:bodyPr/>
                    <a:lstStyle/>
                    <a:p>
                      <a:r>
                        <a:rPr lang="en-GB" sz="1200">
                          <a:solidFill>
                            <a:schemeClr val="tx1"/>
                          </a:solidFill>
                        </a:rPr>
                        <a:t>Economic profit × role of brand × brand strength</a:t>
                      </a:r>
                    </a:p>
                  </a:txBody>
                  <a:tcPr marT="36576" marB="36576" anchor="ctr">
                    <a:solidFill>
                      <a:schemeClr val="bg2"/>
                    </a:solidFill>
                  </a:tcPr>
                </a:tc>
                <a:tc>
                  <a:txBody>
                    <a:bodyPr/>
                    <a:lstStyle/>
                    <a:p>
                      <a:r>
                        <a:rPr lang="en-GB" sz="1200">
                          <a:solidFill>
                            <a:schemeClr val="tx1"/>
                          </a:solidFill>
                        </a:rPr>
                        <a:t>Brand strength score</a:t>
                      </a:r>
                    </a:p>
                  </a:txBody>
                  <a:tcPr marT="36576" marB="36576" anchor="ctr">
                    <a:solidFill>
                      <a:schemeClr val="bg2"/>
                    </a:solidFill>
                  </a:tcPr>
                </a:tc>
              </a:tr>
              <a:tr h="402336">
                <a:tc>
                  <a:txBody>
                    <a:bodyPr/>
                    <a:lstStyle/>
                    <a:p>
                      <a:r>
                        <a:rPr lang="en-GB" sz="1200">
                          <a:solidFill>
                            <a:schemeClr val="tx1"/>
                          </a:solidFill>
                        </a:rPr>
                        <a:t>Kantar BrandZ</a:t>
                      </a:r>
                    </a:p>
                  </a:txBody>
                  <a:tcPr marT="36576" marB="36576" anchor="ctr">
                    <a:solidFill>
                      <a:srgbClr val="F2F2F2"/>
                    </a:solidFill>
                  </a:tcPr>
                </a:tc>
                <a:tc>
                  <a:txBody>
                    <a:bodyPr/>
                    <a:lstStyle/>
                    <a:p>
                      <a:r>
                        <a:rPr lang="en-GB" sz="1200">
                          <a:solidFill>
                            <a:schemeClr val="tx1"/>
                          </a:solidFill>
                        </a:rPr>
                        <a:t>Financial value × brand contribution</a:t>
                      </a:r>
                    </a:p>
                  </a:txBody>
                  <a:tcPr marT="36576" marB="36576" anchor="ctr">
                    <a:solidFill>
                      <a:srgbClr val="F2F2F2"/>
                    </a:solidFill>
                  </a:tcPr>
                </a:tc>
                <a:tc>
                  <a:txBody>
                    <a:bodyPr/>
                    <a:lstStyle/>
                    <a:p>
                      <a:r>
                        <a:rPr lang="en-GB" sz="1200">
                          <a:solidFill>
                            <a:schemeClr val="tx1"/>
                          </a:solidFill>
                        </a:rPr>
                        <a:t>Meaningful, different, salient</a:t>
                      </a:r>
                    </a:p>
                  </a:txBody>
                  <a:tcPr marT="36576" marB="36576" anchor="ctr">
                    <a:solidFill>
                      <a:srgbClr val="F2F2F2"/>
                    </a:solidFill>
                  </a:tcPr>
                </a:tc>
              </a:tr>
              <a:tr h="402336">
                <a:tc>
                  <a:txBody>
                    <a:bodyPr/>
                    <a:lstStyle/>
                    <a:p>
                      <a:r>
                        <a:rPr lang="en-GB" sz="1200">
                          <a:solidFill>
                            <a:schemeClr val="tx1"/>
                          </a:solidFill>
                        </a:rPr>
                        <a:t>Brand Finance</a:t>
                      </a:r>
                    </a:p>
                  </a:txBody>
                  <a:tcPr marT="36576" marB="36576" anchor="ctr">
                    <a:solidFill>
                      <a:schemeClr val="bg2"/>
                    </a:solidFill>
                  </a:tcPr>
                </a:tc>
                <a:tc>
                  <a:txBody>
                    <a:bodyPr/>
                    <a:lstStyle/>
                    <a:p>
                      <a:r>
                        <a:rPr lang="en-GB" sz="1200">
                          <a:solidFill>
                            <a:schemeClr val="tx1"/>
                          </a:solidFill>
                        </a:rPr>
                        <a:t>Royalty relief: strength index sets the royalty rate</a:t>
                      </a:r>
                    </a:p>
                  </a:txBody>
                  <a:tcPr marT="36576" marB="36576" anchor="ctr">
                    <a:solidFill>
                      <a:schemeClr val="bg2"/>
                    </a:solidFill>
                  </a:tcPr>
                </a:tc>
                <a:tc>
                  <a:txBody>
                    <a:bodyPr/>
                    <a:lstStyle/>
                    <a:p>
                      <a:r>
                        <a:rPr lang="en-GB" sz="1200">
                          <a:solidFill>
                            <a:schemeClr val="tx1"/>
                          </a:solidFill>
                        </a:rPr>
                        <a:t>Brand Strength Index</a:t>
                      </a:r>
                    </a:p>
                  </a:txBody>
                  <a:tcPr marT="36576" marB="36576" anchor="ctr">
                    <a:solidFill>
                      <a:schemeClr val="bg2"/>
                    </a:solidFill>
                  </a:tcPr>
                </a:tc>
              </a:tr>
              <a:tr h="402336">
                <a:tc>
                  <a:txBody>
                    <a:bodyPr/>
                    <a:lstStyle/>
                    <a:p>
                      <a:r>
                        <a:rPr lang="en-GB" sz="1200">
                          <a:solidFill>
                            <a:schemeClr val="tx1"/>
                          </a:solidFill>
                        </a:rPr>
                        <a:t>European Brand Institute</a:t>
                      </a:r>
                    </a:p>
                  </a:txBody>
                  <a:tcPr marT="36576" marB="36576" anchor="ctr">
                    <a:solidFill>
                      <a:srgbClr val="F2F2F2"/>
                    </a:solidFill>
                  </a:tcPr>
                </a:tc>
                <a:tc>
                  <a:txBody>
                    <a:bodyPr/>
                    <a:lstStyle/>
                    <a:p>
                      <a:r>
                        <a:rPr lang="en-GB" sz="1200">
                          <a:solidFill>
                            <a:schemeClr val="tx1"/>
                          </a:solidFill>
                        </a:rPr>
                        <a:t>ISO-oriented valuation; Austrian and EU rankings</a:t>
                      </a:r>
                    </a:p>
                  </a:txBody>
                  <a:tcPr marT="36576" marB="36576" anchor="ctr">
                    <a:solidFill>
                      <a:srgbClr val="F2F2F2"/>
                    </a:solidFill>
                  </a:tcPr>
                </a:tc>
                <a:tc>
                  <a:txBody>
                    <a:bodyPr/>
                    <a:lstStyle/>
                    <a:p>
                      <a:r>
                        <a:rPr lang="en-GB" sz="1200">
                          <a:solidFill>
                            <a:schemeClr val="tx1"/>
                          </a:solidFill>
                        </a:rPr>
                        <a:t>Market and brand data</a:t>
                      </a:r>
                    </a:p>
                  </a:txBody>
                  <a:tcPr marT="36576" marB="36576" anchor="ctr">
                    <a:solidFill>
                      <a:srgbClr val="F2F2F2"/>
                    </a:solidFill>
                  </a:tcPr>
                </a:tc>
              </a:tr>
            </a:tbl>
          </a:graphicData>
        </a:graphic>
      </p:graphicFrame>
      <p:sp>
        <p:nvSpPr>
          <p:cNvPr id="7" name="ISO 10668 body"/>
          <p:cNvSpPr/>
          <p:nvPr/>
        </p:nvSpPr>
        <p:spPr>
          <a:xfrm>
            <a:off x="457200" y="3520440"/>
            <a:ext cx="4032504" cy="1051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 10668 bar"/>
          <p:cNvSpPr/>
          <p:nvPr/>
        </p:nvSpPr>
        <p:spPr>
          <a:xfrm>
            <a:off x="457200" y="3520440"/>
            <a:ext cx="4032504"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 10668 heading"/>
          <p:cNvSpPr txBox="1"/>
          <p:nvPr/>
        </p:nvSpPr>
        <p:spPr>
          <a:xfrm>
            <a:off x="594360" y="3675888"/>
            <a:ext cx="3803904"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ISO 10668 (2010)</a:t>
            </a:r>
          </a:p>
        </p:txBody>
      </p:sp>
      <p:sp>
        <p:nvSpPr>
          <p:cNvPr id="10" name="ISO 10668 text"/>
          <p:cNvSpPr txBox="1"/>
          <p:nvPr/>
        </p:nvSpPr>
        <p:spPr>
          <a:xfrm>
            <a:off x="594360" y="4123944"/>
            <a:ext cx="3758184" cy="374903"/>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Monetary valuation: income, market and cost approaches.</a:t>
            </a:r>
          </a:p>
        </p:txBody>
      </p:sp>
      <p:sp>
        <p:nvSpPr>
          <p:cNvPr id="11" name="ISO 20671 body"/>
          <p:cNvSpPr/>
          <p:nvPr/>
        </p:nvSpPr>
        <p:spPr>
          <a:xfrm>
            <a:off x="4654296" y="3520440"/>
            <a:ext cx="4032504" cy="1051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 20671 bar"/>
          <p:cNvSpPr/>
          <p:nvPr/>
        </p:nvSpPr>
        <p:spPr>
          <a:xfrm>
            <a:off x="4654296" y="3520440"/>
            <a:ext cx="4032504"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 20671 heading"/>
          <p:cNvSpPr txBox="1"/>
          <p:nvPr/>
        </p:nvSpPr>
        <p:spPr>
          <a:xfrm>
            <a:off x="4791456" y="3675888"/>
            <a:ext cx="3803904"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ISO 20671 (2019/2021)</a:t>
            </a:r>
          </a:p>
        </p:txBody>
      </p:sp>
      <p:sp>
        <p:nvSpPr>
          <p:cNvPr id="14" name="ISO 20671 text"/>
          <p:cNvSpPr txBox="1"/>
          <p:nvPr/>
        </p:nvSpPr>
        <p:spPr>
          <a:xfrm>
            <a:off x="4791456" y="4123944"/>
            <a:ext cx="3758184" cy="374903"/>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Non-monetary brand evaluation: inputs and outcomes. A ready audit outline.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Red Bull 2026: same brand, two values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Value 1"/>
          <p:cNvSpPr/>
          <p:nvPr/>
        </p:nvSpPr>
        <p:spPr>
          <a:xfrm>
            <a:off x="457200" y="1280160"/>
            <a:ext cx="4032504"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Value 1 Bar"/>
          <p:cNvSpPr/>
          <p:nvPr/>
        </p:nvSpPr>
        <p:spPr>
          <a:xfrm>
            <a:off x="457200" y="1280160"/>
            <a:ext cx="4032504"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alue 1 Text"/>
          <p:cNvSpPr txBox="1"/>
          <p:nvPr/>
        </p:nvSpPr>
        <p:spPr>
          <a:xfrm>
            <a:off x="640080" y="1417320"/>
            <a:ext cx="3666744" cy="1463040"/>
          </a:xfrm>
          <a:prstGeom prst="rect">
            <a:avLst/>
          </a:prstGeom>
          <a:noFill/>
        </p:spPr>
        <p:txBody>
          <a:bodyPr wrap="square" lIns="36576" rIns="36576" tIns="18288" bIns="18288" anchor="t">
            <a:spAutoFit/>
          </a:bodyPr>
          <a:lstStyle/>
          <a:p>
            <a:pPr algn="l">
              <a:spcAft>
                <a:spcPts val="600"/>
              </a:spcAft>
            </a:pPr>
            <a:r>
              <a:rPr lang="en-GB" sz="1300" b="1">
                <a:solidFill>
                  <a:schemeClr val="tx2"/>
                </a:solidFill>
              </a:rPr>
              <a:t>Brand Finance Austria 25</a:t>
            </a:r>
          </a:p>
          <a:p>
            <a:pPr algn="l">
              <a:spcAft>
                <a:spcPts val="600"/>
              </a:spcAft>
            </a:pPr>
            <a:r>
              <a:rPr lang="en-GB" sz="3200" b="1">
                <a:solidFill>
                  <a:schemeClr val="tx2"/>
                </a:solidFill>
                <a:latin typeface="+mj-lt"/>
              </a:rPr>
              <a:t>€10.6 bn</a:t>
            </a:r>
          </a:p>
          <a:p>
            <a:pPr algn="l">
              <a:spcAft>
                <a:spcPts val="600"/>
              </a:spcAft>
            </a:pPr>
            <a:r>
              <a:rPr lang="en-GB" sz="1200" b="0">
                <a:solidFill>
                  <a:schemeClr val="tx1"/>
                </a:solidFill>
              </a:rPr>
              <a:t>September 2026, royalty-relief method</a:t>
            </a:r>
          </a:p>
        </p:txBody>
      </p:sp>
      <p:sp>
        <p:nvSpPr>
          <p:cNvPr id="9" name="Value 2"/>
          <p:cNvSpPr/>
          <p:nvPr/>
        </p:nvSpPr>
        <p:spPr>
          <a:xfrm>
            <a:off x="4654296" y="1280160"/>
            <a:ext cx="4032504"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Value 2 Bar"/>
          <p:cNvSpPr/>
          <p:nvPr/>
        </p:nvSpPr>
        <p:spPr>
          <a:xfrm>
            <a:off x="4654296" y="1280160"/>
            <a:ext cx="4032504"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alue 2 Text"/>
          <p:cNvSpPr txBox="1"/>
          <p:nvPr/>
        </p:nvSpPr>
        <p:spPr>
          <a:xfrm>
            <a:off x="4837176" y="1417320"/>
            <a:ext cx="3666744" cy="1463040"/>
          </a:xfrm>
          <a:prstGeom prst="rect">
            <a:avLst/>
          </a:prstGeom>
          <a:noFill/>
        </p:spPr>
        <p:txBody>
          <a:bodyPr wrap="square" lIns="36576" rIns="36576" tIns="18288" bIns="18288" anchor="t">
            <a:spAutoFit/>
          </a:bodyPr>
          <a:lstStyle/>
          <a:p>
            <a:pPr algn="l">
              <a:spcAft>
                <a:spcPts val="600"/>
              </a:spcAft>
            </a:pPr>
            <a:r>
              <a:rPr lang="en-GB" sz="1300" b="1">
                <a:solidFill>
                  <a:schemeClr val="tx2"/>
                </a:solidFill>
              </a:rPr>
              <a:t>European Brand Institute</a:t>
            </a:r>
          </a:p>
          <a:p>
            <a:pPr algn="l">
              <a:spcAft>
                <a:spcPts val="600"/>
              </a:spcAft>
            </a:pPr>
            <a:r>
              <a:rPr lang="en-GB" sz="3200" b="1">
                <a:solidFill>
                  <a:schemeClr val="tx2"/>
                </a:solidFill>
                <a:latin typeface="+mj-lt"/>
              </a:rPr>
              <a:t>~€20.1 bn</a:t>
            </a:r>
          </a:p>
          <a:p>
            <a:pPr algn="l">
              <a:spcAft>
                <a:spcPts val="600"/>
              </a:spcAft>
            </a:pPr>
            <a:r>
              <a:rPr lang="en-GB" sz="1200" b="0">
                <a:solidFill>
                  <a:schemeClr val="tx1"/>
                </a:solidFill>
              </a:rPr>
              <a:t>July 2026, Österreichische Markenwert-Studie</a:t>
            </a:r>
          </a:p>
        </p:txBody>
      </p:sp>
      <p:sp>
        <p:nvSpPr>
          <p:cNvPr id="12" name="Punkt"/>
          <p:cNvSpPr txBox="1"/>
          <p:nvPr/>
        </p:nvSpPr>
        <p:spPr>
          <a:xfrm>
            <a:off x="457200" y="3246120"/>
            <a:ext cx="8229600" cy="914400"/>
          </a:xfrm>
          <a:prstGeom prst="rect">
            <a:avLst/>
          </a:prstGeom>
          <a:noFill/>
        </p:spPr>
        <p:txBody>
          <a:bodyPr wrap="square" lIns="36576" rIns="36576" tIns="18288" bIns="18288" anchor="t">
            <a:spAutoFit/>
          </a:bodyPr>
          <a:lstStyle/>
          <a:p>
            <a:pPr algn="l" marL="182880" indent="-182880">
              <a:spcAft>
                <a:spcPts val="600"/>
              </a:spcAft>
              <a:buClr>
                <a:schemeClr val="accent1"/>
              </a:buClr>
              <a:buFont typeface="Arial"/>
              <a:buChar char="▪"/>
            </a:pPr>
            <a:r>
              <a:rPr lang="en-GB" sz="1300" b="1">
                <a:solidFill>
                  <a:schemeClr val="tx1"/>
                </a:solidFill>
              </a:rPr>
              <a:t>Discuss: </a:t>
            </a:r>
            <a:r>
              <a:rPr lang="en-GB" sz="1300" b="0">
                <a:solidFill>
                  <a:schemeClr val="tx1"/>
                </a:solidFill>
              </a:rPr>
              <a:t>why do two ISO-oriented methods differ by about a factor of two?</a:t>
            </a:r>
          </a:p>
          <a:p>
            <a:pPr algn="l" marL="182880" indent="-182880">
              <a:spcAft>
                <a:spcPts val="600"/>
              </a:spcAft>
              <a:buClr>
                <a:schemeClr val="accent1"/>
              </a:buClr>
              <a:buFont typeface="Arial"/>
              <a:buChar char="▪"/>
            </a:pPr>
            <a:r>
              <a:rPr lang="en-GB" sz="1300" b="1">
                <a:solidFill>
                  <a:schemeClr val="tx1"/>
                </a:solidFill>
              </a:rPr>
              <a:t>Evidence: </a:t>
            </a:r>
            <a:r>
              <a:rPr lang="en-GB" sz="1300" b="0">
                <a:solidFill>
                  <a:schemeClr val="tx1"/>
                </a:solidFill>
              </a:rPr>
              <a:t>in 2008, consumer-based equity predicted stock returns better than Interbrand values (Johansson et al., 2012).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5 · Data, cases, mini audit, team project</a:t>
            </a:r>
          </a:p>
        </p:txBody>
      </p:sp>
      <p:sp>
        <p:nvSpPr>
          <p:cNvPr id="3" name="Title 2"/>
          <p:cNvSpPr>
            <a:spLocks noGrp="1"/>
          </p:cNvSpPr>
          <p:nvPr>
            <p:ph type="ctrTitle"/>
          </p:nvPr>
        </p:nvSpPr>
        <p:spPr/>
        <p:txBody>
          <a:bodyPr/>
          <a:lstStyle/>
          <a:p>
            <a:r>
              <a:rPr lang="en-GB"/>
              <a:t>Applying the audit</a:t>
            </a:r>
          </a:p>
        </p:txBody>
      </p:sp>
      <p:sp>
        <p:nvSpPr>
          <p:cNvPr id="4" name="Footer Placeholder 3"/>
          <p:cNvSpPr>
            <a:spLocks noGrp="1"/>
          </p:cNvSpPr>
          <p:nvPr>
            <p:ph type="ftr" idx="14" sz="quarter"/>
          </p:nvPr>
        </p:nvSpPr>
        <p:spPr/>
        <p:txBody>
          <a:bodyPr/>
          <a:p>
            <a:r>
              <a:rPr lang="en-GB"/>
              <a:t>Brand Audit</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Free brand data for Austria</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Data table"/>
          <p:cNvGraphicFramePr>
            <a:graphicFrameLocks noGrp="1"/>
          </p:cNvGraphicFramePr>
          <p:nvPr/>
        </p:nvGraphicFramePr>
        <p:xfrm>
          <a:off x="457200" y="1280160"/>
          <a:ext cx="8229600" cy="2514600"/>
        </p:xfrm>
        <a:graphic>
          <a:graphicData uri="http://schemas.openxmlformats.org/drawingml/2006/table">
            <a:tbl>
              <a:tblPr firstRow="1" bandRow="1">
                <a:tableStyleId>{5C22544A-7EE6-4342-B048-85BDC9FD1C3A}</a:tableStyleId>
              </a:tblPr>
              <a:tblGrid>
                <a:gridCol w="2331720"/>
                <a:gridCol w="2377440"/>
                <a:gridCol w="3520440"/>
              </a:tblGrid>
              <a:tr h="419100">
                <a:tc>
                  <a:txBody>
                    <a:bodyPr/>
                    <a:lstStyle/>
                    <a:p>
                      <a:r>
                        <a:rPr lang="en-GB" sz="1200" b="1">
                          <a:solidFill>
                            <a:schemeClr val="bg1"/>
                          </a:solidFill>
                        </a:rPr>
                        <a:t>Source</a:t>
                      </a:r>
                    </a:p>
                  </a:txBody>
                  <a:tcPr marT="36576" marB="36576" anchor="ctr">
                    <a:solidFill>
                      <a:schemeClr val="accent1"/>
                    </a:solidFill>
                  </a:tcPr>
                </a:tc>
                <a:tc>
                  <a:txBody>
                    <a:bodyPr/>
                    <a:lstStyle/>
                    <a:p>
                      <a:r>
                        <a:rPr lang="en-GB" sz="1200" b="1">
                          <a:solidFill>
                            <a:schemeClr val="bg1"/>
                          </a:solidFill>
                        </a:rPr>
                        <a:t>Coverage</a:t>
                      </a:r>
                    </a:p>
                  </a:txBody>
                  <a:tcPr marT="36576" marB="36576" anchor="ctr">
                    <a:solidFill>
                      <a:schemeClr val="accent1"/>
                    </a:solidFill>
                  </a:tcPr>
                </a:tc>
                <a:tc>
                  <a:txBody>
                    <a:bodyPr/>
                    <a:lstStyle/>
                    <a:p>
                      <a:r>
                        <a:rPr lang="en-GB" sz="1200" b="1">
                          <a:solidFill>
                            <a:schemeClr val="bg1"/>
                          </a:solidFill>
                        </a:rPr>
                        <a:t>Example finding</a:t>
                      </a:r>
                    </a:p>
                  </a:txBody>
                  <a:tcPr marT="36576" marB="36576" anchor="ctr">
                    <a:solidFill>
                      <a:schemeClr val="accent1"/>
                    </a:solidFill>
                  </a:tcPr>
                </a:tc>
              </a:tr>
              <a:tr h="419100">
                <a:tc>
                  <a:txBody>
                    <a:bodyPr/>
                    <a:lstStyle/>
                    <a:p>
                      <a:r>
                        <a:rPr lang="en-GB" sz="1200">
                          <a:solidFill>
                            <a:schemeClr val="tx1"/>
                          </a:solidFill>
                        </a:rPr>
                        <a:t>Marketagent BRAND.Diamonds 2024</a:t>
                      </a:r>
                    </a:p>
                  </a:txBody>
                  <a:tcPr marT="36576" marB="36576" anchor="ctr">
                    <a:solidFill>
                      <a:schemeClr val="bg2"/>
                    </a:solidFill>
                  </a:tcPr>
                </a:tc>
                <a:tc>
                  <a:txBody>
                    <a:bodyPr/>
                    <a:lstStyle/>
                    <a:p>
                      <a:r>
                        <a:rPr lang="en-GB" sz="1200">
                          <a:solidFill>
                            <a:schemeClr val="tx1"/>
                          </a:solidFill>
                        </a:rPr>
                        <a:t>237,880 ratings, 1,266 brands</a:t>
                      </a:r>
                    </a:p>
                  </a:txBody>
                  <a:tcPr marT="36576" marB="36576" anchor="ctr">
                    <a:solidFill>
                      <a:schemeClr val="bg2"/>
                    </a:solidFill>
                  </a:tcPr>
                </a:tc>
                <a:tc>
                  <a:txBody>
                    <a:bodyPr/>
                    <a:lstStyle/>
                    <a:p>
                      <a:r>
                        <a:rPr lang="en-GB" sz="1200">
                          <a:solidFill>
                            <a:schemeClr val="tx1"/>
                          </a:solidFill>
                        </a:rPr>
                        <a:t>Manner #1 on attraction, 84.5 %</a:t>
                      </a:r>
                    </a:p>
                  </a:txBody>
                  <a:tcPr marT="36576" marB="36576" anchor="ctr">
                    <a:solidFill>
                      <a:schemeClr val="bg2"/>
                    </a:solidFill>
                  </a:tcPr>
                </a:tc>
              </a:tr>
              <a:tr h="419100">
                <a:tc>
                  <a:txBody>
                    <a:bodyPr/>
                    <a:lstStyle/>
                    <a:p>
                      <a:r>
                        <a:rPr lang="en-GB" sz="1200">
                          <a:solidFill>
                            <a:schemeClr val="tx1"/>
                          </a:solidFill>
                        </a:rPr>
                        <a:t>BAV Austria 2025</a:t>
                      </a:r>
                    </a:p>
                  </a:txBody>
                  <a:tcPr marT="36576" marB="36576" anchor="ctr">
                    <a:solidFill>
                      <a:srgbClr val="F2F2F2"/>
                    </a:solidFill>
                  </a:tcPr>
                </a:tc>
                <a:tc>
                  <a:txBody>
                    <a:bodyPr/>
                    <a:lstStyle/>
                    <a:p>
                      <a:r>
                        <a:rPr lang="en-GB" sz="1200">
                          <a:solidFill>
                            <a:schemeClr val="tx1"/>
                          </a:solidFill>
                        </a:rPr>
                        <a:t>12,500 people, ~1,000 brands</a:t>
                      </a:r>
                    </a:p>
                  </a:txBody>
                  <a:tcPr marT="36576" marB="36576" anchor="ctr">
                    <a:solidFill>
                      <a:srgbClr val="F2F2F2"/>
                    </a:solidFill>
                  </a:tcPr>
                </a:tc>
                <a:tc>
                  <a:txBody>
                    <a:bodyPr/>
                    <a:lstStyle/>
                    <a:p>
                      <a:r>
                        <a:rPr lang="en-GB" sz="1200">
                          <a:solidFill>
                            <a:schemeClr val="tx1"/>
                          </a:solidFill>
                        </a:rPr>
                        <a:t>Manner and Apple lost strength</a:t>
                      </a:r>
                    </a:p>
                  </a:txBody>
                  <a:tcPr marT="36576" marB="36576" anchor="ctr">
                    <a:solidFill>
                      <a:srgbClr val="F2F2F2"/>
                    </a:solidFill>
                  </a:tcPr>
                </a:tc>
              </a:tr>
              <a:tr h="419100">
                <a:tc>
                  <a:txBody>
                    <a:bodyPr/>
                    <a:lstStyle/>
                    <a:p>
                      <a:r>
                        <a:rPr lang="en-GB" sz="1200">
                          <a:solidFill>
                            <a:schemeClr val="tx1"/>
                          </a:solidFill>
                        </a:rPr>
                        <a:t>Brand Finance Austria 25</a:t>
                      </a:r>
                    </a:p>
                  </a:txBody>
                  <a:tcPr marT="36576" marB="36576" anchor="ctr">
                    <a:solidFill>
                      <a:schemeClr val="bg2"/>
                    </a:solidFill>
                  </a:tcPr>
                </a:tc>
                <a:tc>
                  <a:txBody>
                    <a:bodyPr/>
                    <a:lstStyle/>
                    <a:p>
                      <a:r>
                        <a:rPr lang="en-GB" sz="1200">
                          <a:solidFill>
                            <a:schemeClr val="tx1"/>
                          </a:solidFill>
                        </a:rPr>
                        <a:t>Brand value, strength index</a:t>
                      </a:r>
                    </a:p>
                  </a:txBody>
                  <a:tcPr marT="36576" marB="36576" anchor="ctr">
                    <a:solidFill>
                      <a:schemeClr val="bg2"/>
                    </a:solidFill>
                  </a:tcPr>
                </a:tc>
                <a:tc>
                  <a:txBody>
                    <a:bodyPr/>
                    <a:lstStyle/>
                    <a:p>
                      <a:r>
                        <a:rPr lang="en-GB" sz="1200">
                          <a:solidFill>
                            <a:schemeClr val="tx1"/>
                          </a:solidFill>
                        </a:rPr>
                        <a:t>Top 25 worth EUR 46.8bn (2026)</a:t>
                      </a:r>
                    </a:p>
                  </a:txBody>
                  <a:tcPr marT="36576" marB="36576" anchor="ctr">
                    <a:solidFill>
                      <a:schemeClr val="bg2"/>
                    </a:solidFill>
                  </a:tcPr>
                </a:tc>
              </a:tr>
              <a:tr h="419100">
                <a:tc>
                  <a:txBody>
                    <a:bodyPr/>
                    <a:lstStyle/>
                    <a:p>
                      <a:r>
                        <a:rPr lang="en-GB" sz="1200">
                          <a:solidFill>
                            <a:schemeClr val="tx1"/>
                          </a:solidFill>
                        </a:rPr>
                        <a:t>EBI Markenwert-Studie</a:t>
                      </a:r>
                    </a:p>
                  </a:txBody>
                  <a:tcPr marT="36576" marB="36576" anchor="ctr">
                    <a:solidFill>
                      <a:srgbClr val="F2F2F2"/>
                    </a:solidFill>
                  </a:tcPr>
                </a:tc>
                <a:tc>
                  <a:txBody>
                    <a:bodyPr/>
                    <a:lstStyle/>
                    <a:p>
                      <a:r>
                        <a:rPr lang="en-GB" sz="1200">
                          <a:solidFill>
                            <a:schemeClr val="tx1"/>
                          </a:solidFill>
                        </a:rPr>
                        <a:t>180 brand companies, 16 sectors</a:t>
                      </a:r>
                    </a:p>
                  </a:txBody>
                  <a:tcPr marT="36576" marB="36576" anchor="ctr">
                    <a:solidFill>
                      <a:srgbClr val="F2F2F2"/>
                    </a:solidFill>
                  </a:tcPr>
                </a:tc>
                <a:tc>
                  <a:txBody>
                    <a:bodyPr/>
                    <a:lstStyle/>
                    <a:p>
                      <a:r>
                        <a:rPr lang="en-GB" sz="1200">
                          <a:solidFill>
                            <a:schemeClr val="tx1"/>
                          </a:solidFill>
                        </a:rPr>
                        <a:t>ÖBB most sustainable brand</a:t>
                      </a:r>
                    </a:p>
                  </a:txBody>
                  <a:tcPr marT="36576" marB="36576" anchor="ctr">
                    <a:solidFill>
                      <a:srgbClr val="F2F2F2"/>
                    </a:solidFill>
                  </a:tcPr>
                </a:tc>
              </a:tr>
              <a:tr h="419100">
                <a:tc>
                  <a:txBody>
                    <a:bodyPr/>
                    <a:lstStyle/>
                    <a:p>
                      <a:r>
                        <a:rPr lang="en-GB" sz="1200">
                          <a:solidFill>
                            <a:schemeClr val="tx1"/>
                          </a:solidFill>
                        </a:rPr>
                        <a:t>Google Trends</a:t>
                      </a:r>
                    </a:p>
                  </a:txBody>
                  <a:tcPr marT="36576" marB="36576" anchor="ctr">
                    <a:solidFill>
                      <a:schemeClr val="bg2"/>
                    </a:solidFill>
                  </a:tcPr>
                </a:tc>
                <a:tc>
                  <a:txBody>
                    <a:bodyPr/>
                    <a:lstStyle/>
                    <a:p>
                      <a:r>
                        <a:rPr lang="en-GB" sz="1200">
                          <a:solidFill>
                            <a:schemeClr val="tx1"/>
                          </a:solidFill>
                        </a:rPr>
                        <a:t>Search interest by Bundesland</a:t>
                      </a:r>
                    </a:p>
                  </a:txBody>
                  <a:tcPr marT="36576" marB="36576" anchor="ctr">
                    <a:solidFill>
                      <a:schemeClr val="bg2"/>
                    </a:solidFill>
                  </a:tcPr>
                </a:tc>
                <a:tc>
                  <a:txBody>
                    <a:bodyPr/>
                    <a:lstStyle/>
                    <a:p>
                      <a:r>
                        <a:rPr lang="en-GB" sz="1200">
                          <a:solidFill>
                            <a:schemeClr val="tx1"/>
                          </a:solidFill>
                        </a:rPr>
                        <a:t>Share of search by brand</a:t>
                      </a:r>
                    </a:p>
                  </a:txBody>
                  <a:tcPr marT="36576" marB="36576" anchor="ctr">
                    <a:solidFill>
                      <a:schemeClr val="bg2"/>
                    </a:solidFill>
                  </a:tcPr>
                </a:tc>
              </a:tr>
            </a:tbl>
          </a:graphicData>
        </a:graphic>
      </p:graphicFrame>
      <p:sp>
        <p:nvSpPr>
          <p:cNvPr id="7" name="Hinweis"/>
          <p:cNvSpPr/>
          <p:nvPr/>
        </p:nvSpPr>
        <p:spPr>
          <a:xfrm>
            <a:off x="457200" y="406908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inweis text"/>
          <p:cNvSpPr txBox="1"/>
          <p:nvPr/>
        </p:nvSpPr>
        <p:spPr>
          <a:xfrm>
            <a:off x="640080" y="4069080"/>
            <a:ext cx="7863840" cy="54864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Plus WU library: </a:t>
            </a:r>
            <a:r>
              <a:rPr lang="en-GB" sz="1300" b="0">
                <a:solidFill>
                  <a:schemeClr val="tx1"/>
                </a:solidFill>
              </a:rPr>
              <a:t>Statista brand KPIs and journal access. Check the licence for Qualtrics or Unipark before fieldwork.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Cases for discussion</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Cases table"/>
          <p:cNvGraphicFramePr>
            <a:graphicFrameLocks noGrp="1"/>
          </p:cNvGraphicFramePr>
          <p:nvPr/>
        </p:nvGraphicFramePr>
        <p:xfrm>
          <a:off x="457200" y="1280160"/>
          <a:ext cx="8229600" cy="2834640"/>
        </p:xfrm>
        <a:graphic>
          <a:graphicData uri="http://schemas.openxmlformats.org/drawingml/2006/table">
            <a:tbl>
              <a:tblPr firstRow="1" bandRow="1">
                <a:tableStyleId>{5C22544A-7EE6-4342-B048-85BDC9FD1C3A}</a:tableStyleId>
              </a:tblPr>
              <a:tblGrid>
                <a:gridCol w="3566160"/>
                <a:gridCol w="2286000"/>
                <a:gridCol w="2377440"/>
              </a:tblGrid>
              <a:tr h="354330">
                <a:tc>
                  <a:txBody>
                    <a:bodyPr/>
                    <a:lstStyle/>
                    <a:p>
                      <a:r>
                        <a:rPr lang="en-GB" sz="1200" b="1">
                          <a:solidFill>
                            <a:schemeClr val="bg1"/>
                          </a:solidFill>
                        </a:rPr>
                        <a:t>Case</a:t>
                      </a:r>
                    </a:p>
                  </a:txBody>
                  <a:tcPr marT="36576" marB="36576" anchor="ctr">
                    <a:solidFill>
                      <a:schemeClr val="accent1"/>
                    </a:solidFill>
                  </a:tcPr>
                </a:tc>
                <a:tc>
                  <a:txBody>
                    <a:bodyPr/>
                    <a:lstStyle/>
                    <a:p>
                      <a:r>
                        <a:rPr lang="en-GB" sz="1200" b="1">
                          <a:solidFill>
                            <a:schemeClr val="bg1"/>
                          </a:solidFill>
                        </a:rPr>
                        <a:t>Source</a:t>
                      </a:r>
                    </a:p>
                  </a:txBody>
                  <a:tcPr marT="36576" marB="36576" anchor="ctr">
                    <a:solidFill>
                      <a:schemeClr val="accent1"/>
                    </a:solidFill>
                  </a:tcPr>
                </a:tc>
                <a:tc>
                  <a:txBody>
                    <a:bodyPr/>
                    <a:lstStyle/>
                    <a:p>
                      <a:r>
                        <a:rPr lang="en-GB" sz="1200" b="1">
                          <a:solidFill>
                            <a:schemeClr val="bg1"/>
                          </a:solidFill>
                        </a:rPr>
                        <a:t>Audit focus</a:t>
                      </a:r>
                    </a:p>
                  </a:txBody>
                  <a:tcPr marT="36576" marB="36576" anchor="ctr">
                    <a:solidFill>
                      <a:schemeClr val="accent1"/>
                    </a:solidFill>
                  </a:tcPr>
                </a:tc>
              </a:tr>
              <a:tr h="354330">
                <a:tc>
                  <a:txBody>
                    <a:bodyPr/>
                    <a:lstStyle/>
                    <a:p>
                      <a:r>
                        <a:rPr lang="en-GB" sz="1200">
                          <a:solidFill>
                            <a:schemeClr val="tx1"/>
                          </a:solidFill>
                        </a:rPr>
                        <a:t>Red Bull Spreads its Wiiings</a:t>
                      </a:r>
                    </a:p>
                  </a:txBody>
                  <a:tcPr marT="36576" marB="36576" anchor="ctr">
                    <a:solidFill>
                      <a:schemeClr val="bg2"/>
                    </a:solidFill>
                  </a:tcPr>
                </a:tc>
                <a:tc>
                  <a:txBody>
                    <a:bodyPr/>
                    <a:lstStyle/>
                    <a:p>
                      <a:r>
                        <a:rPr lang="en-GB" sz="1200">
                          <a:solidFill>
                            <a:schemeClr val="tx1"/>
                          </a:solidFill>
                        </a:rPr>
                        <a:t>LBS CS-22-016 (2022)</a:t>
                      </a:r>
                    </a:p>
                  </a:txBody>
                  <a:tcPr marT="36576" marB="36576" anchor="ctr">
                    <a:solidFill>
                      <a:schemeClr val="bg2"/>
                    </a:solidFill>
                  </a:tcPr>
                </a:tc>
                <a:tc>
                  <a:txBody>
                    <a:bodyPr/>
                    <a:lstStyle/>
                    <a:p>
                      <a:r>
                        <a:rPr lang="en-GB" sz="1200">
                          <a:solidFill>
                            <a:schemeClr val="tx1"/>
                          </a:solidFill>
                        </a:rPr>
                        <a:t>Extensions, architecture</a:t>
                      </a:r>
                    </a:p>
                  </a:txBody>
                  <a:tcPr marT="36576" marB="36576" anchor="ctr">
                    <a:solidFill>
                      <a:schemeClr val="bg2"/>
                    </a:solidFill>
                  </a:tcPr>
                </a:tc>
              </a:tr>
              <a:tr h="354330">
                <a:tc>
                  <a:txBody>
                    <a:bodyPr/>
                    <a:lstStyle/>
                    <a:p>
                      <a:r>
                        <a:rPr lang="en-GB" sz="1200">
                          <a:solidFill>
                            <a:schemeClr val="tx1"/>
                          </a:solidFill>
                        </a:rPr>
                        <a:t>Swarovski: shine through stormy weather?</a:t>
                      </a:r>
                    </a:p>
                  </a:txBody>
                  <a:tcPr marT="36576" marB="36576" anchor="ctr">
                    <a:solidFill>
                      <a:srgbClr val="F2F2F2"/>
                    </a:solidFill>
                  </a:tcPr>
                </a:tc>
                <a:tc>
                  <a:txBody>
                    <a:bodyPr/>
                    <a:lstStyle/>
                    <a:p>
                      <a:r>
                        <a:rPr lang="en-GB" sz="1200">
                          <a:solidFill>
                            <a:schemeClr val="tx1"/>
                          </a:solidFill>
                        </a:rPr>
                        <a:t>IMD-7-2430 (2023)</a:t>
                      </a:r>
                    </a:p>
                  </a:txBody>
                  <a:tcPr marT="36576" marB="36576" anchor="ctr">
                    <a:solidFill>
                      <a:srgbClr val="F2F2F2"/>
                    </a:solidFill>
                  </a:tcPr>
                </a:tc>
                <a:tc>
                  <a:txBody>
                    <a:bodyPr/>
                    <a:lstStyle/>
                    <a:p>
                      <a:r>
                        <a:rPr lang="en-GB" sz="1200">
                          <a:solidFill>
                            <a:schemeClr val="tx1"/>
                          </a:solidFill>
                        </a:rPr>
                        <a:t>Brand image, strategy</a:t>
                      </a:r>
                    </a:p>
                  </a:txBody>
                  <a:tcPr marT="36576" marB="36576" anchor="ctr">
                    <a:solidFill>
                      <a:srgbClr val="F2F2F2"/>
                    </a:solidFill>
                  </a:tcPr>
                </a:tc>
              </a:tr>
              <a:tr h="354330">
                <a:tc>
                  <a:txBody>
                    <a:bodyPr/>
                    <a:lstStyle/>
                    <a:p>
                      <a:r>
                        <a:rPr lang="en-GB" sz="1200">
                          <a:solidFill>
                            <a:schemeClr val="tx1"/>
                          </a:solidFill>
                        </a:rPr>
                        <a:t>Zotter: Living by Chocolate</a:t>
                      </a:r>
                    </a:p>
                  </a:txBody>
                  <a:tcPr marT="36576" marB="36576" anchor="ctr">
                    <a:solidFill>
                      <a:schemeClr val="bg2"/>
                    </a:solidFill>
                  </a:tcPr>
                </a:tc>
                <a:tc>
                  <a:txBody>
                    <a:bodyPr/>
                    <a:lstStyle/>
                    <a:p>
                      <a:r>
                        <a:rPr lang="en-GB" sz="1200">
                          <a:solidFill>
                            <a:schemeClr val="tx1"/>
                          </a:solidFill>
                        </a:rPr>
                        <a:t>HBS 9-810-091</a:t>
                      </a:r>
                    </a:p>
                  </a:txBody>
                  <a:tcPr marT="36576" marB="36576" anchor="ctr">
                    <a:solidFill>
                      <a:schemeClr val="bg2"/>
                    </a:solidFill>
                  </a:tcPr>
                </a:tc>
                <a:tc>
                  <a:txBody>
                    <a:bodyPr/>
                    <a:lstStyle/>
                    <a:p>
                      <a:r>
                        <a:rPr lang="en-GB" sz="1200">
                          <a:solidFill>
                            <a:schemeClr val="tx1"/>
                          </a:solidFill>
                        </a:rPr>
                        <a:t>Founder brand, growth</a:t>
                      </a:r>
                    </a:p>
                  </a:txBody>
                  <a:tcPr marT="36576" marB="36576" anchor="ctr">
                    <a:solidFill>
                      <a:schemeClr val="bg2"/>
                    </a:solidFill>
                  </a:tcPr>
                </a:tc>
              </a:tr>
              <a:tr h="354330">
                <a:tc>
                  <a:txBody>
                    <a:bodyPr/>
                    <a:lstStyle/>
                    <a:p>
                      <a:r>
                        <a:rPr lang="en-GB" sz="1200">
                          <a:solidFill>
                            <a:schemeClr val="tx1"/>
                          </a:solidFill>
                        </a:rPr>
                        <a:t>Barbie: Reviving a Cultural Icon</a:t>
                      </a:r>
                    </a:p>
                  </a:txBody>
                  <a:tcPr marT="36576" marB="36576" anchor="ctr">
                    <a:solidFill>
                      <a:srgbClr val="F2F2F2"/>
                    </a:solidFill>
                  </a:tcPr>
                </a:tc>
                <a:tc>
                  <a:txBody>
                    <a:bodyPr/>
                    <a:lstStyle/>
                    <a:p>
                      <a:r>
                        <a:rPr lang="en-GB" sz="1200">
                          <a:solidFill>
                            <a:schemeClr val="tx1"/>
                          </a:solidFill>
                        </a:rPr>
                        <a:t>HBS 525-006 (2024)</a:t>
                      </a:r>
                    </a:p>
                  </a:txBody>
                  <a:tcPr marT="36576" marB="36576" anchor="ctr">
                    <a:solidFill>
                      <a:srgbClr val="F2F2F2"/>
                    </a:solidFill>
                  </a:tcPr>
                </a:tc>
                <a:tc>
                  <a:txBody>
                    <a:bodyPr/>
                    <a:lstStyle/>
                    <a:p>
                      <a:r>
                        <a:rPr lang="en-GB" sz="1200">
                          <a:solidFill>
                            <a:schemeClr val="tx1"/>
                          </a:solidFill>
                        </a:rPr>
                        <a:t>Revitalisation</a:t>
                      </a:r>
                    </a:p>
                  </a:txBody>
                  <a:tcPr marT="36576" marB="36576" anchor="ctr">
                    <a:solidFill>
                      <a:srgbClr val="F2F2F2"/>
                    </a:solidFill>
                  </a:tcPr>
                </a:tc>
              </a:tr>
              <a:tr h="354330">
                <a:tc>
                  <a:txBody>
                    <a:bodyPr/>
                    <a:lstStyle/>
                    <a:p>
                      <a:r>
                        <a:rPr lang="en-GB" sz="1200">
                          <a:solidFill>
                            <a:schemeClr val="tx1"/>
                          </a:solidFill>
                        </a:rPr>
                        <a:t>Managing Brand Crisis: Bud Light</a:t>
                      </a:r>
                    </a:p>
                  </a:txBody>
                  <a:tcPr marT="36576" marB="36576" anchor="ctr">
                    <a:solidFill>
                      <a:schemeClr val="bg2"/>
                    </a:solidFill>
                  </a:tcPr>
                </a:tc>
                <a:tc>
                  <a:txBody>
                    <a:bodyPr/>
                    <a:lstStyle/>
                    <a:p>
                      <a:r>
                        <a:rPr lang="en-GB" sz="1200">
                          <a:solidFill>
                            <a:schemeClr val="tx1"/>
                          </a:solidFill>
                        </a:rPr>
                        <a:t>Darden M-1043 (2023)</a:t>
                      </a:r>
                    </a:p>
                  </a:txBody>
                  <a:tcPr marT="36576" marB="36576" anchor="ctr">
                    <a:solidFill>
                      <a:schemeClr val="bg2"/>
                    </a:solidFill>
                  </a:tcPr>
                </a:tc>
                <a:tc>
                  <a:txBody>
                    <a:bodyPr/>
                    <a:lstStyle/>
                    <a:p>
                      <a:r>
                        <a:rPr lang="en-GB" sz="1200">
                          <a:solidFill>
                            <a:schemeClr val="tx1"/>
                          </a:solidFill>
                        </a:rPr>
                        <a:t>Crisis, core buyers</a:t>
                      </a:r>
                    </a:p>
                  </a:txBody>
                  <a:tcPr marT="36576" marB="36576" anchor="ctr">
                    <a:solidFill>
                      <a:schemeClr val="bg2"/>
                    </a:solidFill>
                  </a:tcPr>
                </a:tc>
              </a:tr>
              <a:tr h="354330">
                <a:tc>
                  <a:txBody>
                    <a:bodyPr/>
                    <a:lstStyle/>
                    <a:p>
                      <a:r>
                        <a:rPr lang="en-GB" sz="1200">
                          <a:solidFill>
                            <a:schemeClr val="tx1"/>
                          </a:solidFill>
                        </a:rPr>
                        <a:t>Rebuild the World (LEGO)</a:t>
                      </a:r>
                    </a:p>
                  </a:txBody>
                  <a:tcPr marT="36576" marB="36576" anchor="ctr">
                    <a:solidFill>
                      <a:srgbClr val="F2F2F2"/>
                    </a:solidFill>
                  </a:tcPr>
                </a:tc>
                <a:tc>
                  <a:txBody>
                    <a:bodyPr/>
                    <a:lstStyle/>
                    <a:p>
                      <a:r>
                        <a:rPr lang="en-GB" sz="1200">
                          <a:solidFill>
                            <a:schemeClr val="tx1"/>
                          </a:solidFill>
                        </a:rPr>
                        <a:t>AEF, free with data</a:t>
                      </a:r>
                    </a:p>
                  </a:txBody>
                  <a:tcPr marT="36576" marB="36576" anchor="ctr">
                    <a:solidFill>
                      <a:srgbClr val="F2F2F2"/>
                    </a:solidFill>
                  </a:tcPr>
                </a:tc>
                <a:tc>
                  <a:txBody>
                    <a:bodyPr/>
                    <a:lstStyle/>
                    <a:p>
                      <a:r>
                        <a:rPr lang="en-GB" sz="1200">
                          <a:solidFill>
                            <a:schemeClr val="tx1"/>
                          </a:solidFill>
                        </a:rPr>
                        <a:t>Tracking, board report</a:t>
                      </a:r>
                    </a:p>
                  </a:txBody>
                  <a:tcPr marT="36576" marB="36576" anchor="ctr">
                    <a:solidFill>
                      <a:srgbClr val="F2F2F2"/>
                    </a:solidFill>
                  </a:tcPr>
                </a:tc>
              </a:tr>
              <a:tr h="354330">
                <a:tc>
                  <a:txBody>
                    <a:bodyPr/>
                    <a:lstStyle/>
                    <a:p>
                      <a:r>
                        <a:rPr lang="en-GB" sz="1200">
                          <a:solidFill>
                            <a:schemeClr val="tx1"/>
                          </a:solidFill>
                        </a:rPr>
                        <a:t>Brand Report Card Exercise</a:t>
                      </a:r>
                    </a:p>
                  </a:txBody>
                  <a:tcPr marT="36576" marB="36576" anchor="ctr">
                    <a:solidFill>
                      <a:schemeClr val="bg2"/>
                    </a:solidFill>
                  </a:tcPr>
                </a:tc>
                <a:tc>
                  <a:txBody>
                    <a:bodyPr/>
                    <a:lstStyle/>
                    <a:p>
                      <a:r>
                        <a:rPr lang="en-GB" sz="1200">
                          <a:solidFill>
                            <a:schemeClr val="tx1"/>
                          </a:solidFill>
                        </a:rPr>
                        <a:t>HBS 501004</a:t>
                      </a:r>
                    </a:p>
                  </a:txBody>
                  <a:tcPr marT="36576" marB="36576" anchor="ctr">
                    <a:solidFill>
                      <a:schemeClr val="bg2"/>
                    </a:solidFill>
                  </a:tcPr>
                </a:tc>
                <a:tc>
                  <a:txBody>
                    <a:bodyPr/>
                    <a:lstStyle/>
                    <a:p>
                      <a:r>
                        <a:rPr lang="en-GB" sz="1200">
                          <a:solidFill>
                            <a:schemeClr val="tx1"/>
                          </a:solidFill>
                        </a:rPr>
                        <a:t>Ten-trait scoring</a:t>
                      </a:r>
                    </a:p>
                  </a:txBody>
                  <a:tcPr marT="36576" marB="36576" anchor="ctr">
                    <a:solidFill>
                      <a:schemeClr val="bg2"/>
                    </a:solidFill>
                  </a:tcPr>
                </a:tc>
              </a:tr>
            </a:tbl>
          </a:graphicData>
        </a:graphic>
      </p:graphicFrame>
      <p:sp>
        <p:nvSpPr>
          <p:cNvPr id="7" name="Source note"/>
          <p:cNvSpPr txBox="1"/>
          <p:nvPr/>
        </p:nvSpPr>
        <p:spPr>
          <a:xfrm>
            <a:off x="457200" y="4343400"/>
            <a:ext cx="8229600" cy="45720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Austrian brands without a teaching case (Manner, ÖBB, SPAR, Raiffeisen) are covered by press and data in the resource guide.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Exercise: a mini audit in 35 minutes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Task"/>
          <p:cNvSpPr txBox="1"/>
          <p:nvPr/>
        </p:nvSpPr>
        <p:spPr>
          <a:xfrm>
            <a:off x="457200" y="1234440"/>
            <a:ext cx="8229600" cy="320040"/>
          </a:xfrm>
          <a:prstGeom prst="rect">
            <a:avLst/>
          </a:prstGeom>
          <a:noFill/>
        </p:spPr>
        <p:txBody>
          <a:bodyPr wrap="square" lIns="36576" rIns="36576" tIns="18288" bIns="18288" anchor="t">
            <a:spAutoFit/>
          </a:bodyPr>
          <a:lstStyle/>
          <a:p>
            <a:pPr algn="l">
              <a:spcAft>
                <a:spcPts val="0"/>
              </a:spcAft>
            </a:pPr>
            <a:r>
              <a:rPr lang="en-GB" sz="1300" b="0">
                <a:solidFill>
                  <a:schemeClr val="tx1"/>
                </a:solidFill>
              </a:rPr>
              <a:t>Teams of four, one Austrian brand each: Manner, Almdudler, ÖBB, SPAR, BIPA or Stiegl.</a:t>
            </a:r>
          </a:p>
        </p:txBody>
      </p:sp>
      <p:sp>
        <p:nvSpPr>
          <p:cNvPr id="7" name="Time 1"/>
          <p:cNvSpPr/>
          <p:nvPr/>
        </p:nvSpPr>
        <p:spPr>
          <a:xfrm>
            <a:off x="457200" y="1691640"/>
            <a:ext cx="1005840"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10 min</a:t>
            </a:r>
          </a:p>
        </p:txBody>
      </p:sp>
      <p:sp>
        <p:nvSpPr>
          <p:cNvPr id="8" name="Task 1 Band"/>
          <p:cNvSpPr/>
          <p:nvPr/>
        </p:nvSpPr>
        <p:spPr>
          <a:xfrm>
            <a:off x="1554480" y="1691640"/>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sk 1 Text"/>
          <p:cNvSpPr txBox="1"/>
          <p:nvPr/>
        </p:nvSpPr>
        <p:spPr>
          <a:xfrm>
            <a:off x="1691640" y="1691640"/>
            <a:ext cx="6858000" cy="47548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Inventory: </a:t>
            </a:r>
            <a:r>
              <a:rPr lang="en-GB" sz="1300" b="0">
                <a:solidFill>
                  <a:schemeClr val="tx1"/>
                </a:solidFill>
              </a:rPr>
              <a:t>brand elements, sub-brands and current claim from website and packs.</a:t>
            </a:r>
          </a:p>
        </p:txBody>
      </p:sp>
      <p:sp>
        <p:nvSpPr>
          <p:cNvPr id="10" name="Time 2"/>
          <p:cNvSpPr/>
          <p:nvPr/>
        </p:nvSpPr>
        <p:spPr>
          <a:xfrm>
            <a:off x="457200" y="2295144"/>
            <a:ext cx="1005840"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5 min</a:t>
            </a:r>
          </a:p>
        </p:txBody>
      </p:sp>
      <p:sp>
        <p:nvSpPr>
          <p:cNvPr id="11" name="Task 2 Band"/>
          <p:cNvSpPr/>
          <p:nvPr/>
        </p:nvSpPr>
        <p:spPr>
          <a:xfrm>
            <a:off x="1554480" y="2295144"/>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sk 2 Text"/>
          <p:cNvSpPr txBox="1"/>
          <p:nvPr/>
        </p:nvSpPr>
        <p:spPr>
          <a:xfrm>
            <a:off x="1691640" y="2295144"/>
            <a:ext cx="6858000" cy="47548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Free association: </a:t>
            </a:r>
            <a:r>
              <a:rPr lang="en-GB" sz="1300" b="0">
                <a:solidFill>
                  <a:schemeClr val="tx1"/>
                </a:solidFill>
              </a:rPr>
              <a:t>ask five classmates for three words each; code the valence.</a:t>
            </a:r>
          </a:p>
        </p:txBody>
      </p:sp>
      <p:sp>
        <p:nvSpPr>
          <p:cNvPr id="13" name="Time 3"/>
          <p:cNvSpPr/>
          <p:nvPr/>
        </p:nvSpPr>
        <p:spPr>
          <a:xfrm>
            <a:off x="457200" y="2898648"/>
            <a:ext cx="1005840"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5 min</a:t>
            </a:r>
          </a:p>
        </p:txBody>
      </p:sp>
      <p:sp>
        <p:nvSpPr>
          <p:cNvPr id="14" name="Task 3 Band"/>
          <p:cNvSpPr/>
          <p:nvPr/>
        </p:nvSpPr>
        <p:spPr>
          <a:xfrm>
            <a:off x="1554480" y="2898648"/>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sk 3 Text"/>
          <p:cNvSpPr txBox="1"/>
          <p:nvPr/>
        </p:nvSpPr>
        <p:spPr>
          <a:xfrm>
            <a:off x="1691640" y="2898648"/>
            <a:ext cx="6858000" cy="47548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Assets: </a:t>
            </a:r>
            <a:r>
              <a:rPr lang="en-GB" sz="1300" b="0">
                <a:solidFill>
                  <a:schemeClr val="tx1"/>
                </a:solidFill>
              </a:rPr>
              <a:t>show three assets without the name. Who names the brand?</a:t>
            </a:r>
          </a:p>
        </p:txBody>
      </p:sp>
      <p:sp>
        <p:nvSpPr>
          <p:cNvPr id="16" name="Time 4"/>
          <p:cNvSpPr/>
          <p:nvPr/>
        </p:nvSpPr>
        <p:spPr>
          <a:xfrm>
            <a:off x="457200" y="3502152"/>
            <a:ext cx="1005840"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tx1"/>
                </a:solidFill>
              </a:rPr>
              <a:t>5 min</a:t>
            </a:r>
          </a:p>
        </p:txBody>
      </p:sp>
      <p:sp>
        <p:nvSpPr>
          <p:cNvPr id="17" name="Task 4 Band"/>
          <p:cNvSpPr/>
          <p:nvPr/>
        </p:nvSpPr>
        <p:spPr>
          <a:xfrm>
            <a:off x="1554480" y="3502152"/>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sk 4 Text"/>
          <p:cNvSpPr txBox="1"/>
          <p:nvPr/>
        </p:nvSpPr>
        <p:spPr>
          <a:xfrm>
            <a:off x="1691640" y="3502152"/>
            <a:ext cx="6858000" cy="47548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Benchmark: </a:t>
            </a:r>
            <a:r>
              <a:rPr lang="en-GB" sz="1300" b="0">
                <a:solidFill>
                  <a:schemeClr val="tx1"/>
                </a:solidFill>
              </a:rPr>
              <a:t>compare with the Marketagent BRAND.Diamonds charts.</a:t>
            </a:r>
          </a:p>
        </p:txBody>
      </p:sp>
      <p:sp>
        <p:nvSpPr>
          <p:cNvPr id="19" name="Time 5"/>
          <p:cNvSpPr/>
          <p:nvPr/>
        </p:nvSpPr>
        <p:spPr>
          <a:xfrm>
            <a:off x="457200" y="4105656"/>
            <a:ext cx="1005840" cy="47548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300" b="1">
                <a:solidFill>
                  <a:schemeClr val="bg1"/>
                </a:solidFill>
              </a:rPr>
              <a:t>10 min</a:t>
            </a:r>
          </a:p>
        </p:txBody>
      </p:sp>
      <p:sp>
        <p:nvSpPr>
          <p:cNvPr id="20" name="Task 5 Band"/>
          <p:cNvSpPr/>
          <p:nvPr/>
        </p:nvSpPr>
        <p:spPr>
          <a:xfrm>
            <a:off x="1554480" y="4105656"/>
            <a:ext cx="713232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sk 5 Text"/>
          <p:cNvSpPr txBox="1"/>
          <p:nvPr/>
        </p:nvSpPr>
        <p:spPr>
          <a:xfrm>
            <a:off x="1691640" y="4105656"/>
            <a:ext cx="6858000" cy="475488"/>
          </a:xfrm>
          <a:prstGeom prst="rect">
            <a:avLst/>
          </a:prstGeom>
          <a:noFill/>
        </p:spPr>
        <p:txBody>
          <a:bodyPr wrap="square" lIns="36576" rIns="36576" tIns="18288" bIns="18288" anchor="ctr">
            <a:spAutoFit/>
          </a:bodyPr>
          <a:lstStyle/>
          <a:p>
            <a:pPr algn="l">
              <a:spcAft>
                <a:spcPts val="0"/>
              </a:spcAft>
            </a:pPr>
            <a:r>
              <a:rPr lang="en-GB" sz="1300" b="1">
                <a:solidFill>
                  <a:schemeClr val="tx2"/>
                </a:solidFill>
              </a:rPr>
              <a:t>Pitch: </a:t>
            </a:r>
            <a:r>
              <a:rPr lang="en-GB" sz="1300" b="0">
                <a:solidFill>
                  <a:schemeClr val="tx1"/>
                </a:solidFill>
              </a:rPr>
              <a:t>one finding and one recommendation, two minutes per team.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Team project: a full brand audit</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Report body"/>
          <p:cNvSpPr/>
          <p:nvPr/>
        </p:nvSpPr>
        <p:spPr>
          <a:xfrm>
            <a:off x="457200" y="1280160"/>
            <a:ext cx="4032504"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port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port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Report structure</a:t>
            </a:r>
          </a:p>
        </p:txBody>
      </p:sp>
      <p:pic>
        <p:nvPicPr>
          <p:cNvPr id="9" name="Icon LuFileText" descr=""/>
          <p:cNvPicPr>
            <a:picLocks noChangeAspect="1"/>
          </p:cNvPicPr>
          <p:nvPr/>
        </p:nvPicPr>
        <p:blipFill>
          <a:blip r:embed="rId3"/>
          <a:stretch>
            <a:fillRect/>
          </a:stretch>
        </p:blipFill>
        <p:spPr>
          <a:xfrm>
            <a:off x="4059936" y="1344168"/>
            <a:ext cx="329184" cy="329184"/>
          </a:xfrm>
          <a:prstGeom prst="rect">
            <a:avLst/>
          </a:prstGeom>
        </p:spPr>
      </p:pic>
      <p:sp>
        <p:nvSpPr>
          <p:cNvPr id="10" name="Report text"/>
          <p:cNvSpPr txBox="1"/>
          <p:nvPr/>
        </p:nvSpPr>
        <p:spPr>
          <a:xfrm>
            <a:off x="594360" y="1847088"/>
            <a:ext cx="3758184" cy="2084832"/>
          </a:xfrm>
          <a:prstGeom prst="rect">
            <a:avLst/>
          </a:prstGeom>
          <a:noFill/>
        </p:spPr>
        <p:txBody>
          <a:bodyPr wrap="square" lIns="36576" rIns="36576" tIns="18288" bIns="18288" anchor="t">
            <a:spAutoFit/>
          </a:bodyPr>
          <a:lstStyle/>
          <a:p>
            <a:pPr algn="l">
              <a:spcAft>
                <a:spcPts val="700"/>
              </a:spcAft>
            </a:pPr>
            <a:r>
              <a:rPr lang="en-GB" sz="1300" b="1">
                <a:solidFill>
                  <a:schemeClr val="tx2"/>
                </a:solidFill>
              </a:rPr>
              <a:t>1  </a:t>
            </a:r>
            <a:r>
              <a:rPr lang="en-GB" sz="1300" b="0">
                <a:solidFill>
                  <a:schemeClr val="tx1"/>
                </a:solidFill>
              </a:rPr>
              <a:t>Executive summary</a:t>
            </a:r>
          </a:p>
          <a:p>
            <a:pPr algn="l">
              <a:spcAft>
                <a:spcPts val="700"/>
              </a:spcAft>
            </a:pPr>
            <a:r>
              <a:rPr lang="en-GB" sz="1300" b="1">
                <a:solidFill>
                  <a:schemeClr val="tx2"/>
                </a:solidFill>
              </a:rPr>
              <a:t>2  </a:t>
            </a:r>
            <a:r>
              <a:rPr lang="en-GB" sz="1300" b="0">
                <a:solidFill>
                  <a:schemeClr val="tx1"/>
                </a:solidFill>
              </a:rPr>
              <a:t>Brand inventory, with two competitors</a:t>
            </a:r>
          </a:p>
          <a:p>
            <a:pPr algn="l">
              <a:spcAft>
                <a:spcPts val="700"/>
              </a:spcAft>
            </a:pPr>
            <a:r>
              <a:rPr lang="en-GB" sz="1300" b="1">
                <a:solidFill>
                  <a:schemeClr val="tx2"/>
                </a:solidFill>
              </a:rPr>
              <a:t>3  </a:t>
            </a:r>
            <a:r>
              <a:rPr lang="en-GB" sz="1300" b="0">
                <a:solidFill>
                  <a:schemeClr val="tx1"/>
                </a:solidFill>
              </a:rPr>
              <a:t>Exploratory: [__] interviews, survey n ≥ [__]</a:t>
            </a:r>
          </a:p>
          <a:p>
            <a:pPr algn="l">
              <a:spcAft>
                <a:spcPts val="700"/>
              </a:spcAft>
            </a:pPr>
            <a:r>
              <a:rPr lang="en-GB" sz="1300" b="1">
                <a:solidFill>
                  <a:schemeClr val="tx2"/>
                </a:solidFill>
              </a:rPr>
              <a:t>4  </a:t>
            </a:r>
            <a:r>
              <a:rPr lang="en-GB" sz="1300" b="0">
                <a:solidFill>
                  <a:schemeClr val="tx1"/>
                </a:solidFill>
              </a:rPr>
              <a:t>Diagnosis: pyramid, assets, identity–image gap</a:t>
            </a:r>
          </a:p>
          <a:p>
            <a:pPr algn="l">
              <a:spcAft>
                <a:spcPts val="700"/>
              </a:spcAft>
            </a:pPr>
            <a:r>
              <a:rPr lang="en-GB" sz="1300" b="1">
                <a:solidFill>
                  <a:schemeClr val="tx2"/>
                </a:solidFill>
              </a:rPr>
              <a:t>5  </a:t>
            </a:r>
            <a:r>
              <a:rPr lang="en-GB" sz="1300" b="0">
                <a:solidFill>
                  <a:schemeClr val="tx1"/>
                </a:solidFill>
              </a:rPr>
              <a:t>Recommendations and a tracker proposal</a:t>
            </a:r>
          </a:p>
        </p:txBody>
      </p:sp>
      <p:sp>
        <p:nvSpPr>
          <p:cNvPr id="11" name="Logistics body"/>
          <p:cNvSpPr/>
          <p:nvPr/>
        </p:nvSpPr>
        <p:spPr>
          <a:xfrm>
            <a:off x="4654296" y="1280160"/>
            <a:ext cx="4032504"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istics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ogistics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Logistics</a:t>
            </a:r>
          </a:p>
        </p:txBody>
      </p:sp>
      <p:pic>
        <p:nvPicPr>
          <p:cNvPr id="14" name="Icon LuGraduationCap" descr=""/>
          <p:cNvPicPr>
            <a:picLocks noChangeAspect="1"/>
          </p:cNvPicPr>
          <p:nvPr/>
        </p:nvPicPr>
        <p:blipFill>
          <a:blip r:embed="rId4"/>
          <a:stretch>
            <a:fillRect/>
          </a:stretch>
        </p:blipFill>
        <p:spPr>
          <a:xfrm>
            <a:off x="8257031" y="1344168"/>
            <a:ext cx="329184" cy="329184"/>
          </a:xfrm>
          <a:prstGeom prst="rect">
            <a:avLst/>
          </a:prstGeom>
        </p:spPr>
      </p:pic>
      <p:sp>
        <p:nvSpPr>
          <p:cNvPr id="15" name="Logistics text"/>
          <p:cNvSpPr txBox="1"/>
          <p:nvPr/>
        </p:nvSpPr>
        <p:spPr>
          <a:xfrm>
            <a:off x="4791456" y="1847088"/>
            <a:ext cx="3758184" cy="2084832"/>
          </a:xfrm>
          <a:prstGeom prst="rect">
            <a:avLst/>
          </a:prstGeom>
          <a:noFill/>
        </p:spPr>
        <p:txBody>
          <a:bodyPr wrap="square" lIns="36576" rIns="36576" tIns="18288" bIns="18288" anchor="t">
            <a:spAutoFit/>
          </a:bodyPr>
          <a:lstStyle/>
          <a:p>
            <a:pPr algn="l">
              <a:spcAft>
                <a:spcPts val="700"/>
              </a:spcAft>
            </a:pPr>
            <a:r>
              <a:rPr lang="en-GB" sz="1300" b="1">
                <a:solidFill>
                  <a:schemeClr val="tx2"/>
                </a:solidFill>
              </a:rPr>
              <a:t>Teams: </a:t>
            </a:r>
            <a:r>
              <a:rPr lang="en-GB" sz="1300" b="0">
                <a:solidFill>
                  <a:schemeClr val="tx1"/>
                </a:solidFill>
              </a:rPr>
              <a:t>[__] students</a:t>
            </a:r>
          </a:p>
          <a:p>
            <a:pPr algn="l">
              <a:spcAft>
                <a:spcPts val="700"/>
              </a:spcAft>
            </a:pPr>
            <a:r>
              <a:rPr lang="en-GB" sz="1300" b="1">
                <a:solidFill>
                  <a:schemeClr val="tx2"/>
                </a:solidFill>
              </a:rPr>
              <a:t>Brand: </a:t>
            </a:r>
            <a:r>
              <a:rPr lang="en-GB" sz="1300" b="0">
                <a:solidFill>
                  <a:schemeClr val="tx1"/>
                </a:solidFill>
              </a:rPr>
              <a:t>Austrian, approved by [date]</a:t>
            </a:r>
          </a:p>
          <a:p>
            <a:pPr algn="l">
              <a:spcAft>
                <a:spcPts val="700"/>
              </a:spcAft>
            </a:pPr>
            <a:r>
              <a:rPr lang="en-GB" sz="1300" b="1">
                <a:solidFill>
                  <a:schemeClr val="tx2"/>
                </a:solidFill>
              </a:rPr>
              <a:t>Report: </a:t>
            </a:r>
            <a:r>
              <a:rPr lang="en-GB" sz="1300" b="0">
                <a:solidFill>
                  <a:schemeClr val="tx1"/>
                </a:solidFill>
              </a:rPr>
              <a:t>[__] pages plus appendix, due [date]</a:t>
            </a:r>
          </a:p>
          <a:p>
            <a:pPr algn="l">
              <a:spcAft>
                <a:spcPts val="700"/>
              </a:spcAft>
            </a:pPr>
            <a:r>
              <a:rPr lang="en-GB" sz="1300" b="1">
                <a:solidFill>
                  <a:schemeClr val="tx2"/>
                </a:solidFill>
              </a:rPr>
              <a:t>Presentation: </a:t>
            </a:r>
            <a:r>
              <a:rPr lang="en-GB" sz="1300" b="0">
                <a:solidFill>
                  <a:schemeClr val="tx1"/>
                </a:solidFill>
              </a:rPr>
              <a:t>[__] minutes on [date]</a:t>
            </a:r>
          </a:p>
          <a:p>
            <a:pPr algn="l">
              <a:spcAft>
                <a:spcPts val="700"/>
              </a:spcAft>
            </a:pPr>
            <a:r>
              <a:rPr lang="en-GB" sz="1300" b="1">
                <a:solidFill>
                  <a:schemeClr val="tx2"/>
                </a:solidFill>
              </a:rPr>
              <a:t>Weight: </a:t>
            </a:r>
            <a:r>
              <a:rPr lang="en-GB" sz="1300" b="0">
                <a:solidFill>
                  <a:schemeClr val="tx1"/>
                </a:solidFill>
              </a:rPr>
              <a:t>[__] % of the final grade</a:t>
            </a:r>
          </a:p>
        </p:txBody>
      </p:sp>
      <p:sp>
        <p:nvSpPr>
          <p:cNvPr id="16" name="Hinweis"/>
          <p:cNvSpPr/>
          <p:nvPr/>
        </p:nvSpPr>
        <p:spPr>
          <a:xfrm>
            <a:off x="457200" y="420624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inweis text"/>
          <p:cNvSpPr txBox="1"/>
          <p:nvPr/>
        </p:nvSpPr>
        <p:spPr>
          <a:xfrm>
            <a:off x="640080" y="4206240"/>
            <a:ext cx="7863840" cy="502920"/>
          </a:xfrm>
          <a:prstGeom prst="rect">
            <a:avLst/>
          </a:prstGeom>
          <a:noFill/>
        </p:spPr>
        <p:txBody>
          <a:bodyPr wrap="square" lIns="36576" rIns="36576" tIns="18288" bIns="18288" anchor="ctr">
            <a:spAutoFit/>
          </a:bodyPr>
          <a:lstStyle/>
          <a:p>
            <a:pPr algn="l">
              <a:spcAft>
                <a:spcPts val="0"/>
              </a:spcAft>
            </a:pPr>
            <a:r>
              <a:rPr lang="en-GB" sz="1300" b="1">
                <a:solidFill>
                  <a:schemeClr val="tx1"/>
                </a:solidFill>
              </a:rPr>
              <a:t>Model answers: </a:t>
            </a:r>
            <a:r>
              <a:rPr lang="en-GB" sz="1300" b="0">
                <a:solidFill>
                  <a:schemeClr val="tx1"/>
                </a:solidFill>
              </a:rPr>
              <a:t>Keller's sample audit (Rolex) and the published Lacasa audit, Journal of Brand Strategy.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Toolkit for the project</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Tool 1 body"/>
          <p:cNvSpPr/>
          <p:nvPr/>
        </p:nvSpPr>
        <p:spPr>
          <a:xfrm>
            <a:off x="457200" y="128016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ool 1 bar"/>
          <p:cNvSpPr/>
          <p:nvPr/>
        </p:nvSpPr>
        <p:spPr>
          <a:xfrm>
            <a:off x="457200"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LuClipboardList" descr=""/>
          <p:cNvPicPr>
            <a:picLocks noChangeAspect="1"/>
          </p:cNvPicPr>
          <p:nvPr/>
        </p:nvPicPr>
        <p:blipFill>
          <a:blip r:embed="rId3"/>
          <a:stretch>
            <a:fillRect/>
          </a:stretch>
        </p:blipFill>
        <p:spPr>
          <a:xfrm>
            <a:off x="594360" y="1463039"/>
            <a:ext cx="310896" cy="310896"/>
          </a:xfrm>
          <a:prstGeom prst="rect">
            <a:avLst/>
          </a:prstGeom>
        </p:spPr>
      </p:pic>
      <p:sp>
        <p:nvSpPr>
          <p:cNvPr id="9" name="Tool 1 heading"/>
          <p:cNvSpPr txBox="1"/>
          <p:nvPr/>
        </p:nvSpPr>
        <p:spPr>
          <a:xfrm>
            <a:off x="1005840" y="1435607"/>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Survey</a:t>
            </a:r>
          </a:p>
        </p:txBody>
      </p:sp>
      <p:sp>
        <p:nvSpPr>
          <p:cNvPr id="10" name="Tool 1 text"/>
          <p:cNvSpPr txBox="1"/>
          <p:nvPr/>
        </p:nvSpPr>
        <p:spPr>
          <a:xfrm>
            <a:off x="594360" y="1883664"/>
            <a:ext cx="2359152" cy="603503"/>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LimeSurvey (open source); Unipark or Qualtrics, WU licence to be checked.</a:t>
            </a:r>
          </a:p>
        </p:txBody>
      </p:sp>
      <p:sp>
        <p:nvSpPr>
          <p:cNvPr id="11" name="Tool 2 body"/>
          <p:cNvSpPr/>
          <p:nvPr/>
        </p:nvSpPr>
        <p:spPr>
          <a:xfrm>
            <a:off x="3255264" y="128016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ool 2 bar"/>
          <p:cNvSpPr/>
          <p:nvPr/>
        </p:nvSpPr>
        <p:spPr>
          <a:xfrm>
            <a:off x="3255264"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ChartColumn" descr=""/>
          <p:cNvPicPr>
            <a:picLocks noChangeAspect="1"/>
          </p:cNvPicPr>
          <p:nvPr/>
        </p:nvPicPr>
        <p:blipFill>
          <a:blip r:embed="rId4"/>
          <a:stretch>
            <a:fillRect/>
          </a:stretch>
        </p:blipFill>
        <p:spPr>
          <a:xfrm>
            <a:off x="3392424" y="1463039"/>
            <a:ext cx="310896" cy="310896"/>
          </a:xfrm>
          <a:prstGeom prst="rect">
            <a:avLst/>
          </a:prstGeom>
        </p:spPr>
      </p:pic>
      <p:sp>
        <p:nvSpPr>
          <p:cNvPr id="14" name="Tool 2 heading"/>
          <p:cNvSpPr txBox="1"/>
          <p:nvPr/>
        </p:nvSpPr>
        <p:spPr>
          <a:xfrm>
            <a:off x="3803904" y="1435607"/>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Analysis in R</a:t>
            </a:r>
          </a:p>
        </p:txBody>
      </p:sp>
      <p:sp>
        <p:nvSpPr>
          <p:cNvPr id="15" name="Tool 2 text"/>
          <p:cNvSpPr txBox="1"/>
          <p:nvPr/>
        </p:nvSpPr>
        <p:spPr>
          <a:xfrm>
            <a:off x="3392424" y="1883664"/>
            <a:ext cx="2359152" cy="603503"/>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FactoMineR for maps, lavaan for scales, tidytext for text.</a:t>
            </a:r>
          </a:p>
        </p:txBody>
      </p:sp>
      <p:sp>
        <p:nvSpPr>
          <p:cNvPr id="16" name="Tool 3 body"/>
          <p:cNvSpPr/>
          <p:nvPr/>
        </p:nvSpPr>
        <p:spPr>
          <a:xfrm>
            <a:off x="6053328" y="128016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ool 3 bar"/>
          <p:cNvSpPr/>
          <p:nvPr/>
        </p:nvSpPr>
        <p:spPr>
          <a:xfrm>
            <a:off x="6053328" y="128016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LuBrain" descr=""/>
          <p:cNvPicPr>
            <a:picLocks noChangeAspect="1"/>
          </p:cNvPicPr>
          <p:nvPr/>
        </p:nvPicPr>
        <p:blipFill>
          <a:blip r:embed="rId5"/>
          <a:stretch>
            <a:fillRect/>
          </a:stretch>
        </p:blipFill>
        <p:spPr>
          <a:xfrm>
            <a:off x="6190488" y="1463039"/>
            <a:ext cx="310896" cy="310896"/>
          </a:xfrm>
          <a:prstGeom prst="rect">
            <a:avLst/>
          </a:prstGeom>
        </p:spPr>
      </p:pic>
      <p:sp>
        <p:nvSpPr>
          <p:cNvPr id="19" name="Tool 3 heading"/>
          <p:cNvSpPr txBox="1"/>
          <p:nvPr/>
        </p:nvSpPr>
        <p:spPr>
          <a:xfrm>
            <a:off x="6601968" y="1435607"/>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Analysis in Python</a:t>
            </a:r>
          </a:p>
        </p:txBody>
      </p:sp>
      <p:sp>
        <p:nvSpPr>
          <p:cNvPr id="20" name="Tool 3 text"/>
          <p:cNvSpPr txBox="1"/>
          <p:nvPr/>
        </p:nvSpPr>
        <p:spPr>
          <a:xfrm>
            <a:off x="6190488" y="1883664"/>
            <a:ext cx="2359152" cy="603503"/>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prince for maps, semopy for scales, BERTopic for topics.</a:t>
            </a:r>
          </a:p>
        </p:txBody>
      </p:sp>
      <p:sp>
        <p:nvSpPr>
          <p:cNvPr id="21" name="Tool 4 body"/>
          <p:cNvSpPr/>
          <p:nvPr/>
        </p:nvSpPr>
        <p:spPr>
          <a:xfrm>
            <a:off x="457200" y="269748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ool 4 bar"/>
          <p:cNvSpPr/>
          <p:nvPr/>
        </p:nvSpPr>
        <p:spPr>
          <a:xfrm>
            <a:off x="457200" y="269748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Icon LuSearch" descr=""/>
          <p:cNvPicPr>
            <a:picLocks noChangeAspect="1"/>
          </p:cNvPicPr>
          <p:nvPr/>
        </p:nvPicPr>
        <p:blipFill>
          <a:blip r:embed="rId6"/>
          <a:stretch>
            <a:fillRect/>
          </a:stretch>
        </p:blipFill>
        <p:spPr>
          <a:xfrm>
            <a:off x="594360" y="2880360"/>
            <a:ext cx="310896" cy="310896"/>
          </a:xfrm>
          <a:prstGeom prst="rect">
            <a:avLst/>
          </a:prstGeom>
        </p:spPr>
      </p:pic>
      <p:sp>
        <p:nvSpPr>
          <p:cNvPr id="24" name="Tool 4 heading"/>
          <p:cNvSpPr txBox="1"/>
          <p:nvPr/>
        </p:nvSpPr>
        <p:spPr>
          <a:xfrm>
            <a:off x="1005840" y="2852928"/>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Search and social</a:t>
            </a:r>
          </a:p>
        </p:txBody>
      </p:sp>
      <p:sp>
        <p:nvSpPr>
          <p:cNvPr id="25" name="Tool 4 text"/>
          <p:cNvSpPr txBox="1"/>
          <p:nvPr/>
        </p:nvSpPr>
        <p:spPr>
          <a:xfrm>
            <a:off x="594360" y="3300984"/>
            <a:ext cx="2359152" cy="603503"/>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Google Trends for share of search; Brand24 trial for mentions.</a:t>
            </a:r>
          </a:p>
        </p:txBody>
      </p:sp>
      <p:sp>
        <p:nvSpPr>
          <p:cNvPr id="26" name="Tool 5 body"/>
          <p:cNvSpPr/>
          <p:nvPr/>
        </p:nvSpPr>
        <p:spPr>
          <a:xfrm>
            <a:off x="3255264" y="269748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ool 5 bar"/>
          <p:cNvSpPr/>
          <p:nvPr/>
        </p:nvSpPr>
        <p:spPr>
          <a:xfrm>
            <a:off x="3255264" y="269748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 LuBot" descr=""/>
          <p:cNvPicPr>
            <a:picLocks noChangeAspect="1"/>
          </p:cNvPicPr>
          <p:nvPr/>
        </p:nvPicPr>
        <p:blipFill>
          <a:blip r:embed="rId7"/>
          <a:stretch>
            <a:fillRect/>
          </a:stretch>
        </p:blipFill>
        <p:spPr>
          <a:xfrm>
            <a:off x="3392424" y="2880360"/>
            <a:ext cx="310896" cy="310896"/>
          </a:xfrm>
          <a:prstGeom prst="rect">
            <a:avLst/>
          </a:prstGeom>
        </p:spPr>
      </p:pic>
      <p:sp>
        <p:nvSpPr>
          <p:cNvPr id="29" name="Tool 5 heading"/>
          <p:cNvSpPr txBox="1"/>
          <p:nvPr/>
        </p:nvSpPr>
        <p:spPr>
          <a:xfrm>
            <a:off x="3803904" y="2852928"/>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AI visibility</a:t>
            </a:r>
          </a:p>
        </p:txBody>
      </p:sp>
      <p:sp>
        <p:nvSpPr>
          <p:cNvPr id="30" name="Tool 5 text"/>
          <p:cNvSpPr txBox="1"/>
          <p:nvPr/>
        </p:nvSpPr>
        <p:spPr>
          <a:xfrm>
            <a:off x="3392424" y="3300984"/>
            <a:ext cx="2359152" cy="603503"/>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A fixed prompt set; Otterly.AI or Semrush free checks.</a:t>
            </a:r>
          </a:p>
        </p:txBody>
      </p:sp>
      <p:sp>
        <p:nvSpPr>
          <p:cNvPr id="31" name="Tool 6 body"/>
          <p:cNvSpPr/>
          <p:nvPr/>
        </p:nvSpPr>
        <p:spPr>
          <a:xfrm>
            <a:off x="6053328" y="2697480"/>
            <a:ext cx="2633472"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ool 6 bar"/>
          <p:cNvSpPr/>
          <p:nvPr/>
        </p:nvSpPr>
        <p:spPr>
          <a:xfrm>
            <a:off x="6053328" y="2697480"/>
            <a:ext cx="263347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Icon LuPencilRuler" descr=""/>
          <p:cNvPicPr>
            <a:picLocks noChangeAspect="1"/>
          </p:cNvPicPr>
          <p:nvPr/>
        </p:nvPicPr>
        <p:blipFill>
          <a:blip r:embed="rId8"/>
          <a:stretch>
            <a:fillRect/>
          </a:stretch>
        </p:blipFill>
        <p:spPr>
          <a:xfrm>
            <a:off x="6190488" y="2880360"/>
            <a:ext cx="310896" cy="310896"/>
          </a:xfrm>
          <a:prstGeom prst="rect">
            <a:avLst/>
          </a:prstGeom>
        </p:spPr>
      </p:pic>
      <p:sp>
        <p:nvSpPr>
          <p:cNvPr id="34" name="Tool 6 heading"/>
          <p:cNvSpPr txBox="1"/>
          <p:nvPr/>
        </p:nvSpPr>
        <p:spPr>
          <a:xfrm>
            <a:off x="6601968" y="2852928"/>
            <a:ext cx="1993392" cy="384048"/>
          </a:xfrm>
          <a:prstGeom prst="rect">
            <a:avLst/>
          </a:prstGeom>
          <a:noFill/>
        </p:spPr>
        <p:txBody>
          <a:bodyPr wrap="square" lIns="36576" rIns="36576" tIns="18288" bIns="18288" anchor="ctr">
            <a:spAutoFit/>
          </a:bodyPr>
          <a:lstStyle/>
          <a:p>
            <a:pPr algn="l">
              <a:spcAft>
                <a:spcPts val="0"/>
              </a:spcAft>
            </a:pPr>
            <a:r>
              <a:rPr lang="en-GB" sz="1400" b="1">
                <a:solidFill>
                  <a:schemeClr val="tx2"/>
                </a:solidFill>
                <a:latin typeface="+mj-lt"/>
              </a:rPr>
              <a:t>Templates</a:t>
            </a:r>
          </a:p>
        </p:txBody>
      </p:sp>
      <p:sp>
        <p:nvSpPr>
          <p:cNvPr id="35" name="Tool 6 text"/>
          <p:cNvSpPr txBox="1"/>
          <p:nvPr/>
        </p:nvSpPr>
        <p:spPr>
          <a:xfrm>
            <a:off x="6190488" y="3300984"/>
            <a:ext cx="2359152" cy="603503"/>
          </a:xfrm>
          <a:prstGeom prst="rect">
            <a:avLst/>
          </a:prstGeom>
          <a:noFill/>
        </p:spPr>
        <p:txBody>
          <a:bodyPr wrap="square" lIns="36576" rIns="36576" tIns="18288" bIns="18288" anchor="t">
            <a:spAutoFit/>
          </a:bodyPr>
          <a:lstStyle/>
          <a:p>
            <a:pPr algn="l">
              <a:spcAft>
                <a:spcPts val="400"/>
              </a:spcAft>
            </a:pPr>
            <a:r>
              <a:rPr lang="en-GB" sz="1200" b="0">
                <a:solidFill>
                  <a:schemeClr val="tx1"/>
                </a:solidFill>
              </a:rPr>
              <a:t>Smartsheet audit templates, Miro audit board, Baumgarth Markenaudit.</a:t>
            </a:r>
          </a:p>
        </p:txBody>
      </p:sp>
      <p:sp>
        <p:nvSpPr>
          <p:cNvPr id="36" name="Source note"/>
          <p:cNvSpPr txBox="1"/>
          <p:nvPr/>
        </p:nvSpPr>
        <p:spPr>
          <a:xfrm>
            <a:off x="457200" y="4206240"/>
            <a:ext cx="8229600" cy="32004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Practice data: Chapman &amp; Feit brand ratings (CSV in the course folder).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Readings</a:t>
            </a:r>
          </a:p>
        </p:txBody>
      </p:sp>
      <p:sp>
        <p:nvSpPr>
          <p:cNvPr id="4" name="Footer Placeholder 3"/>
          <p:cNvSpPr>
            <a:spLocks noGrp="1"/>
          </p:cNvSpPr>
          <p:nvPr>
            <p:ph type="ftr" idx="11" sz="quarter"/>
          </p:nvPr>
        </p:nvSpPr>
        <p:spPr/>
        <p:txBody>
          <a:bodyPr/>
          <a:p>
            <a:r>
              <a:rPr lang="en-GB"/>
              <a:t>Brand Audit</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Core body"/>
          <p:cNvSpPr/>
          <p:nvPr/>
        </p:nvSpPr>
        <p:spPr>
          <a:xfrm>
            <a:off x="457200" y="1280160"/>
            <a:ext cx="4032504" cy="2926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re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re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Core</a:t>
            </a:r>
          </a:p>
        </p:txBody>
      </p:sp>
      <p:pic>
        <p:nvPicPr>
          <p:cNvPr id="9" name="Icon LuBookOpen" descr=""/>
          <p:cNvPicPr>
            <a:picLocks noChangeAspect="1"/>
          </p:cNvPicPr>
          <p:nvPr/>
        </p:nvPicPr>
        <p:blipFill>
          <a:blip r:embed="rId3"/>
          <a:stretch>
            <a:fillRect/>
          </a:stretch>
        </p:blipFill>
        <p:spPr>
          <a:xfrm>
            <a:off x="4059936" y="1344168"/>
            <a:ext cx="329184" cy="329184"/>
          </a:xfrm>
          <a:prstGeom prst="rect">
            <a:avLst/>
          </a:prstGeom>
        </p:spPr>
      </p:pic>
      <p:sp>
        <p:nvSpPr>
          <p:cNvPr id="10" name="Core text"/>
          <p:cNvSpPr txBox="1"/>
          <p:nvPr/>
        </p:nvSpPr>
        <p:spPr>
          <a:xfrm>
            <a:off x="594360" y="1847088"/>
            <a:ext cx="3758184" cy="2267712"/>
          </a:xfrm>
          <a:prstGeom prst="rect">
            <a:avLst/>
          </a:prstGeom>
          <a:noFill/>
        </p:spPr>
        <p:txBody>
          <a:bodyPr wrap="square" lIns="36576" rIns="36576" tIns="18288" bIns="18288" anchor="t">
            <a:spAutoFit/>
          </a:bodyPr>
          <a:lstStyle/>
          <a:p>
            <a:pPr algn="l" marL="182880" indent="-182880">
              <a:spcAft>
                <a:spcPts val="700"/>
              </a:spcAft>
              <a:buClr>
                <a:schemeClr val="accent1"/>
              </a:buClr>
              <a:buFont typeface="Arial"/>
              <a:buChar char="▪"/>
            </a:pPr>
            <a:r>
              <a:rPr lang="en-GB" sz="1200" b="0">
                <a:solidFill>
                  <a:schemeClr val="tx1"/>
                </a:solidFill>
              </a:rPr>
              <a:t>Keller &amp; Swaminathan, Strategic Brand Management, 5th ed.: brand audit chapter and sample audit.</a:t>
            </a:r>
          </a:p>
          <a:p>
            <a:pPr algn="l" marL="182880" indent="-182880">
              <a:spcAft>
                <a:spcPts val="700"/>
              </a:spcAft>
              <a:buClr>
                <a:schemeClr val="accent1"/>
              </a:buClr>
              <a:buFont typeface="Arial"/>
              <a:buChar char="▪"/>
            </a:pPr>
            <a:r>
              <a:rPr lang="en-GB" sz="1200" b="0">
                <a:solidFill>
                  <a:schemeClr val="tx1"/>
                </a:solidFill>
              </a:rPr>
              <a:t>Keller (1993), Journal of Marketing 57(1).</a:t>
            </a:r>
          </a:p>
          <a:p>
            <a:pPr algn="l" marL="182880" indent="-182880">
              <a:spcAft>
                <a:spcPts val="700"/>
              </a:spcAft>
              <a:buClr>
                <a:schemeClr val="accent1"/>
              </a:buClr>
              <a:buFont typeface="Arial"/>
              <a:buChar char="▪"/>
            </a:pPr>
            <a:r>
              <a:rPr lang="en-GB" sz="1200" b="0">
                <a:solidFill>
                  <a:schemeClr val="tx1"/>
                </a:solidFill>
              </a:rPr>
              <a:t>Romaniuk (2023), Better Brand Health, Oxford University Press.</a:t>
            </a:r>
          </a:p>
          <a:p>
            <a:pPr algn="l" marL="182880" indent="-182880">
              <a:spcAft>
                <a:spcPts val="700"/>
              </a:spcAft>
              <a:buClr>
                <a:schemeClr val="accent1"/>
              </a:buClr>
              <a:buFont typeface="Arial"/>
              <a:buChar char="▪"/>
            </a:pPr>
            <a:r>
              <a:rPr lang="en-GB" sz="1200" b="0">
                <a:solidFill>
                  <a:schemeClr val="tx1"/>
                </a:solidFill>
              </a:rPr>
              <a:t>Baumgarth (2016), Marken-Audit, PraxisWISSEN Marketing (German, free).</a:t>
            </a:r>
          </a:p>
        </p:txBody>
      </p:sp>
      <p:sp>
        <p:nvSpPr>
          <p:cNvPr id="11" name="Further body"/>
          <p:cNvSpPr/>
          <p:nvPr/>
        </p:nvSpPr>
        <p:spPr>
          <a:xfrm>
            <a:off x="4654296" y="1280160"/>
            <a:ext cx="4032504" cy="2926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urther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urther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a:solidFill>
                  <a:schemeClr val="bg1"/>
                </a:solidFill>
                <a:latin typeface="+mj-lt"/>
              </a:rPr>
              <a:t>Further</a:t>
            </a:r>
          </a:p>
        </p:txBody>
      </p:sp>
      <p:pic>
        <p:nvPicPr>
          <p:cNvPr id="14" name="Icon LuLibrary" descr=""/>
          <p:cNvPicPr>
            <a:picLocks noChangeAspect="1"/>
          </p:cNvPicPr>
          <p:nvPr/>
        </p:nvPicPr>
        <p:blipFill>
          <a:blip r:embed="rId4"/>
          <a:stretch>
            <a:fillRect/>
          </a:stretch>
        </p:blipFill>
        <p:spPr>
          <a:xfrm>
            <a:off x="8257031" y="1344168"/>
            <a:ext cx="329184" cy="329184"/>
          </a:xfrm>
          <a:prstGeom prst="rect">
            <a:avLst/>
          </a:prstGeom>
        </p:spPr>
      </p:pic>
      <p:sp>
        <p:nvSpPr>
          <p:cNvPr id="15" name="Further text"/>
          <p:cNvSpPr txBox="1"/>
          <p:nvPr/>
        </p:nvSpPr>
        <p:spPr>
          <a:xfrm>
            <a:off x="4791456" y="1847088"/>
            <a:ext cx="3758184" cy="2267712"/>
          </a:xfrm>
          <a:prstGeom prst="rect">
            <a:avLst/>
          </a:prstGeom>
          <a:noFill/>
        </p:spPr>
        <p:txBody>
          <a:bodyPr wrap="square" lIns="36576" rIns="36576" tIns="18288" bIns="18288" anchor="t">
            <a:spAutoFit/>
          </a:bodyPr>
          <a:lstStyle/>
          <a:p>
            <a:pPr algn="l" marL="182880" indent="-182880">
              <a:spcAft>
                <a:spcPts val="700"/>
              </a:spcAft>
              <a:buClr>
                <a:schemeClr val="accent1"/>
              </a:buClr>
              <a:buFont typeface="Arial"/>
              <a:buChar char="▪"/>
            </a:pPr>
            <a:r>
              <a:rPr lang="en-GB" sz="1200" b="0">
                <a:solidFill>
                  <a:schemeClr val="tx1"/>
                </a:solidFill>
              </a:rPr>
              <a:t>Plumeyer et al. (2019), Review of Managerial Science 13(2).</a:t>
            </a:r>
          </a:p>
          <a:p>
            <a:pPr algn="l" marL="182880" indent="-182880">
              <a:spcAft>
                <a:spcPts val="700"/>
              </a:spcAft>
              <a:buClr>
                <a:schemeClr val="accent1"/>
              </a:buClr>
              <a:buFont typeface="Arial"/>
              <a:buChar char="▪"/>
            </a:pPr>
            <a:r>
              <a:rPr lang="en-GB" sz="1200" b="0">
                <a:solidFill>
                  <a:schemeClr val="tx1"/>
                </a:solidFill>
              </a:rPr>
              <a:t>Yoo &amp; Donthu (2001), Journal of Business Research 52(1).</a:t>
            </a:r>
          </a:p>
          <a:p>
            <a:pPr algn="l" marL="182880" indent="-182880">
              <a:spcAft>
                <a:spcPts val="700"/>
              </a:spcAft>
              <a:buClr>
                <a:schemeClr val="accent1"/>
              </a:buClr>
              <a:buFont typeface="Arial"/>
              <a:buChar char="▪"/>
            </a:pPr>
            <a:r>
              <a:rPr lang="en-GB" sz="1200" b="0">
                <a:solidFill>
                  <a:schemeClr val="tx1"/>
                </a:solidFill>
              </a:rPr>
              <a:t>Netzer et al. (2012), Marketing Science 31(3).</a:t>
            </a:r>
          </a:p>
          <a:p>
            <a:pPr algn="l" marL="182880" indent="-182880">
              <a:spcAft>
                <a:spcPts val="700"/>
              </a:spcAft>
              <a:buClr>
                <a:schemeClr val="accent1"/>
              </a:buClr>
              <a:buFont typeface="Arial"/>
              <a:buChar char="▪"/>
            </a:pPr>
            <a:r>
              <a:rPr lang="en-GB" sz="1200" b="0">
                <a:solidFill>
                  <a:schemeClr val="tx1"/>
                </a:solidFill>
              </a:rPr>
              <a:t>Li et al. (2024), Marketing Science 43(2).</a:t>
            </a:r>
          </a:p>
          <a:p>
            <a:pPr algn="l" marL="182880" indent="-182880">
              <a:spcAft>
                <a:spcPts val="700"/>
              </a:spcAft>
              <a:buClr>
                <a:schemeClr val="accent1"/>
              </a:buClr>
              <a:buFont typeface="Arial"/>
              <a:buChar char="▪"/>
            </a:pPr>
            <a:r>
              <a:rPr lang="en-GB" sz="1200" b="0">
                <a:solidFill>
                  <a:schemeClr val="tx1"/>
                </a:solidFill>
              </a:rPr>
              <a:t>Romaniuk (2018), Building Distinctive Brand Assets.</a:t>
            </a:r>
          </a:p>
        </p:txBody>
      </p:sp>
      <p:sp>
        <p:nvSpPr>
          <p:cNvPr id="16" name="Source note"/>
          <p:cNvSpPr txBox="1"/>
          <p:nvPr/>
        </p:nvSpPr>
        <p:spPr>
          <a:xfrm>
            <a:off x="457200" y="4389120"/>
            <a:ext cx="8229600" cy="320040"/>
          </a:xfrm>
          <a:prstGeom prst="rect">
            <a:avLst/>
          </a:prstGeom>
          <a:noFill/>
        </p:spPr>
        <p:txBody>
          <a:bodyPr wrap="square" lIns="36576" rIns="36576" tIns="18288" bIns="18288" anchor="t">
            <a:spAutoFit/>
          </a:bodyPr>
          <a:lstStyle/>
          <a:p>
            <a:pPr algn="l">
              <a:spcAft>
                <a:spcPts val="0"/>
              </a:spcAft>
            </a:pPr>
            <a:r>
              <a:rPr lang="en-GB" sz="1050" b="0">
                <a:solidFill>
                  <a:srgbClr val="595959"/>
                </a:solidFill>
              </a:rPr>
              <a:t>Full resource guide with 377 sources: Notion page "Brand Audit" in Literature Search for Teaching.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12" sz="quarter"/>
          </p:nvPr>
        </p:nvSpPr>
        <p:spPr/>
        <p:txBody>
          <a:bodyPr/>
          <a:p>
            <a:r>
              <a:rPr lang="en-GB"/>
              <a:t>Brand Audit</a:t>
            </a:r>
          </a:p>
        </p:txBody>
      </p:sp>
      <p:sp>
        <p:nvSpPr>
          <p:cNvPr id="3" name="Slide Number Placeholder 2"/>
          <p:cNvSpPr>
            <a:spLocks noGrp="1"/>
          </p:cNvSpPr>
          <p:nvPr>
            <p:ph type="sldNum" idx="13" sz="quarter"/>
          </p:nvPr>
        </p:nvSpPr>
        <p:spPr/>
        <p:txBody>
          <a:bodyPr/>
          <a:p>
            <a:r>
              <a:rPr lang="en-GB"/>
              <a:t>PAGE </a:t>
            </a:r>
            <a:fld id="{B6F15528-21DE-4FAA-801E-634DDDAF4B2B}" type="slidenum">
              <a:rPr lang="en-GB"/>
              <a:t>‹#›</a:t>
            </a:fld>
          </a:p>
        </p:txBody>
      </p:sp>
      <p:sp>
        <p:nvSpPr>
          <p:cNvPr id="4" name="Next heading"/>
          <p:cNvSpPr txBox="1"/>
          <p:nvPr/>
        </p:nvSpPr>
        <p:spPr>
          <a:xfrm>
            <a:off x="5166360" y="1965960"/>
            <a:ext cx="3520440" cy="365760"/>
          </a:xfrm>
          <a:prstGeom prst="rect">
            <a:avLst/>
          </a:prstGeom>
          <a:noFill/>
        </p:spPr>
        <p:txBody>
          <a:bodyPr wrap="square" lIns="36576" rIns="36576" tIns="18288" bIns="18288" anchor="t">
            <a:spAutoFit/>
          </a:bodyPr>
          <a:lstStyle/>
          <a:p>
            <a:pPr algn="l">
              <a:spcAft>
                <a:spcPts val="0"/>
              </a:spcAft>
            </a:pPr>
            <a:r>
              <a:rPr lang="en-GB" sz="1500" b="1">
                <a:solidFill>
                  <a:schemeClr val="tx2"/>
                </a:solidFill>
                <a:latin typeface="+mj-lt"/>
              </a:rPr>
              <a:t>Next steps</a:t>
            </a:r>
          </a:p>
        </p:txBody>
      </p:sp>
      <p:sp>
        <p:nvSpPr>
          <p:cNvPr id="5" name="Next 1"/>
          <p:cNvSpPr/>
          <p:nvPr/>
        </p:nvSpPr>
        <p:spPr>
          <a:xfrm>
            <a:off x="5166360" y="2423160"/>
            <a:ext cx="352044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ext 1 Text"/>
          <p:cNvSpPr txBox="1"/>
          <p:nvPr/>
        </p:nvSpPr>
        <p:spPr>
          <a:xfrm>
            <a:off x="5303520" y="2423160"/>
            <a:ext cx="3291840" cy="658368"/>
          </a:xfrm>
          <a:prstGeom prst="rect">
            <a:avLst/>
          </a:prstGeom>
          <a:noFill/>
        </p:spPr>
        <p:txBody>
          <a:bodyPr wrap="square" lIns="36576" rIns="36576" tIns="18288" bIns="18288" anchor="ctr">
            <a:spAutoFit/>
          </a:bodyPr>
          <a:lstStyle/>
          <a:p>
            <a:pPr algn="l">
              <a:spcAft>
                <a:spcPts val="0"/>
              </a:spcAft>
            </a:pPr>
            <a:r>
              <a:rPr lang="en-GB" sz="1200" b="1">
                <a:solidFill>
                  <a:schemeClr val="tx2"/>
                </a:solidFill>
              </a:rPr>
              <a:t>Teams: </a:t>
            </a:r>
            <a:r>
              <a:rPr lang="en-GB" sz="1200" b="0">
                <a:solidFill>
                  <a:schemeClr val="tx1"/>
                </a:solidFill>
              </a:rPr>
              <a:t>form your team and choose an Austrian brand for the project.</a:t>
            </a:r>
          </a:p>
        </p:txBody>
      </p:sp>
      <p:sp>
        <p:nvSpPr>
          <p:cNvPr id="7" name="Next 2"/>
          <p:cNvSpPr/>
          <p:nvPr/>
        </p:nvSpPr>
        <p:spPr>
          <a:xfrm>
            <a:off x="5166360" y="3200400"/>
            <a:ext cx="352044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ext 2 Text"/>
          <p:cNvSpPr txBox="1"/>
          <p:nvPr/>
        </p:nvSpPr>
        <p:spPr>
          <a:xfrm>
            <a:off x="5303520" y="3200400"/>
            <a:ext cx="3291840" cy="658368"/>
          </a:xfrm>
          <a:prstGeom prst="rect">
            <a:avLst/>
          </a:prstGeom>
          <a:noFill/>
        </p:spPr>
        <p:txBody>
          <a:bodyPr wrap="square" lIns="36576" rIns="36576" tIns="18288" bIns="18288" anchor="ctr">
            <a:spAutoFit/>
          </a:bodyPr>
          <a:lstStyle/>
          <a:p>
            <a:pPr algn="l">
              <a:spcAft>
                <a:spcPts val="0"/>
              </a:spcAft>
            </a:pPr>
            <a:r>
              <a:rPr lang="en-GB" sz="1200" b="1">
                <a:solidFill>
                  <a:schemeClr val="tx2"/>
                </a:solidFill>
              </a:rPr>
              <a:t>Reading: </a:t>
            </a:r>
            <a:r>
              <a:rPr lang="en-GB" sz="1200" b="0">
                <a:solidFill>
                  <a:schemeClr val="tx1"/>
                </a:solidFill>
              </a:rPr>
              <a:t>Keller's brand audit chapter and Romaniuk, Better Brand Health.</a:t>
            </a:r>
          </a:p>
        </p:txBody>
      </p:sp>
      <p:sp>
        <p:nvSpPr>
          <p:cNvPr id="9" name="Questions"/>
          <p:cNvSpPr/>
          <p:nvPr/>
        </p:nvSpPr>
        <p:spPr>
          <a:xfrm>
            <a:off x="5166360" y="3977639"/>
            <a:ext cx="3520440" cy="6583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uestions Text"/>
          <p:cNvSpPr txBox="1"/>
          <p:nvPr/>
        </p:nvSpPr>
        <p:spPr>
          <a:xfrm>
            <a:off x="5303520" y="3977639"/>
            <a:ext cx="3291840" cy="658368"/>
          </a:xfrm>
          <a:prstGeom prst="rect">
            <a:avLst/>
          </a:prstGeom>
          <a:noFill/>
        </p:spPr>
        <p:txBody>
          <a:bodyPr wrap="square" lIns="36576" rIns="36576" tIns="18288" bIns="18288" anchor="ctr">
            <a:spAutoFit/>
          </a:bodyPr>
          <a:lstStyle/>
          <a:p>
            <a:pPr algn="l">
              <a:spcAft>
                <a:spcPts val="0"/>
              </a:spcAft>
            </a:pPr>
            <a:r>
              <a:rPr lang="en-GB" sz="1200" b="1">
                <a:solidFill>
                  <a:schemeClr val="bg1"/>
                </a:solidFill>
              </a:rPr>
              <a:t>Questions? </a:t>
            </a:r>
            <a:r>
              <a:rPr lang="en-GB" sz="1200" b="0">
                <a:solidFill>
                  <a:schemeClr val="bg1"/>
                </a:solidFill>
              </a:rPr>
              <a:t>Book a slot in my office hours.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