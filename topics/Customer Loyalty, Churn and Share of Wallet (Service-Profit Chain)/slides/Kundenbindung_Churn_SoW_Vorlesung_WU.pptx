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60" r:id="rId4"/>
  </p:sldMasterIdLst>
  <p:notesMasterIdLst>
    <p:notesMasterId r:id="rId31"/>
  </p:notesMasterIdLst>
  <p:handoutMasterIdLst>
    <p:handoutMasterId r:id="rId32"/>
  </p:handout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12"/>
    <p:sldId id="275" r:id="rId11"/>
    <p:sldId id="276" r:id="rId10"/>
    <p:sldId id="277" r:id="rId9"/>
    <p:sldId id="278" r:id="rId8"/>
    <p:sldId id="279" r:id="rId7"/>
    <p:sldId id="280" r:id="rId6"/>
    <p:sldId id="281" r:id="rId5"/>
    <p:sldId id="282" r:id="rId39"/>
    <p:sldId id="283" r:id="rId40"/>
    <p:sldId id="284" r:id="rId41"/>
  </p:sldIdLst>
  <p:sldSz cx="9144000" cy="5715000" type="screen16x10"/>
  <p:notesSz cx="6858000" cy="9144000"/>
  <p:custDataLst>
    <p:tags r:id="rId33"/>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0">
          <p15:clr>
            <a:srgbClr val="A4A3A4"/>
          </p15:clr>
        </p15:guide>
        <p15:guide id="3" pos="4241">
          <p15:clr>
            <a:srgbClr val="A4A3A4"/>
          </p15:clr>
        </p15:guide>
        <p15:guide id="4" pos="4695">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9" name="Autor" initials="A" lastIdx="0" clrIdx="8"/>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FF7"/>
    <a:srgbClr val="CBDDEF"/>
    <a:srgbClr val="0096D3"/>
    <a:srgbClr val="0C94B7"/>
    <a:srgbClr val="41B4CE"/>
    <a:srgbClr val="73BAD1"/>
    <a:srgbClr val="65B4C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D27102A9-8310-4765-A935-A1911B00CA55}" styleName="Helle Formatvorlage 1 - Akz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Helle Formatvorlage 1 - Akz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ittlere Formatvorlage 1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9" autoAdjust="0"/>
    <p:restoredTop sz="93783" autoAdjust="0"/>
  </p:normalViewPr>
  <p:slideViewPr>
    <p:cSldViewPr snapToGrid="0" showGuides="1">
      <p:cViewPr varScale="1">
        <p:scale>
          <a:sx n="164" d="100"/>
          <a:sy n="164" d="100"/>
        </p:scale>
        <p:origin x="758" y="75"/>
      </p:cViewPr>
      <p:guideLst>
        <p:guide orient="horz" pos="1800"/>
        <p:guide pos="4241"/>
        <p:guide pos="4695"/>
      </p:guideLst>
    </p:cSldViewPr>
  </p:slideViewPr>
  <p:outlineViewPr>
    <p:cViewPr>
      <p:scale>
        <a:sx n="33" d="100"/>
        <a:sy n="33" d="100"/>
      </p:scale>
      <p:origin x="0" y="0"/>
    </p:cViewPr>
  </p:outlineViewPr>
  <p:notesTextViewPr>
    <p:cViewPr>
      <p:scale>
        <a:sx n="1" d="1"/>
        <a:sy n="1" d="1"/>
      </p:scale>
      <p:origin x="0" y="0"/>
    </p:cViewPr>
  </p:notesTextViewPr>
  <p:notesViewPr>
    <p:cSldViewPr snapToGrid="0" showGuides="1">
      <p:cViewPr varScale="1">
        <p:scale>
          <a:sx n="94" d="100"/>
          <a:sy n="94" d="100"/>
        </p:scale>
        <p:origin x="2748"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26.xml"/><Relationship Id="rId6" Type="http://schemas.openxmlformats.org/officeDocument/2006/relationships/slide" Target="slides/slide25.xml"/><Relationship Id="rId7" Type="http://schemas.openxmlformats.org/officeDocument/2006/relationships/slide" Target="slides/slide24.xml"/><Relationship Id="rId8" Type="http://schemas.openxmlformats.org/officeDocument/2006/relationships/slide" Target="slides/slide23.xml"/><Relationship Id="rId9" Type="http://schemas.openxmlformats.org/officeDocument/2006/relationships/slide" Target="slides/slide22.xml"/><Relationship Id="rId10" Type="http://schemas.openxmlformats.org/officeDocument/2006/relationships/slide" Target="slides/slide21.xml"/><Relationship Id="rId11" Type="http://schemas.openxmlformats.org/officeDocument/2006/relationships/slide" Target="slides/slide20.xml"/><Relationship Id="rId12" Type="http://schemas.openxmlformats.org/officeDocument/2006/relationships/slide" Target="slides/slide19.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notesMaster" Target="notesMasters/notesMaster1.xml"/><Relationship Id="rId32" Type="http://schemas.openxmlformats.org/officeDocument/2006/relationships/handoutMaster" Target="handoutMasters/handoutMaster1.xml"/><Relationship Id="rId33" Type="http://schemas.openxmlformats.org/officeDocument/2006/relationships/tags" Target="tags/tag1.xml"/><Relationship Id="rId34" Type="http://schemas.openxmlformats.org/officeDocument/2006/relationships/commentAuthors" Target="commentAuthors.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lang="de-AT">
                <a:solidFill>
                  <a:schemeClr val="tx2"/>
                </a:solidFill>
              </a:rPr>
              <a:t>Korrelation mit dem Erfolg</a:t>
            </a:r>
          </a:p>
        </c:rich>
      </c:tx>
      <c:layout/>
      <c:overlay val="0"/>
    </c:title>
    <c:autoTitleDeleted val="0"/>
    <c:plotArea>
      <c:barChart>
        <c:barDir val="col"/>
        <c:grouping val="clustered"/>
        <c:ser>
          <c:idx val="0"/>
          <c:order val="0"/>
          <c:tx>
            <c:strRef>
              <c:f>Sheet1!$B$1</c:f>
              <c:strCache>
                <c:ptCount val="1"/>
                <c:pt idx="0">
                  <c:v>Korrelation mit dem Erfolg</c:v>
                </c:pt>
              </c:strCache>
            </c:strRef>
          </c:tx>
          <c:spPr>
            <a:solidFill>
              <a:schemeClr val="accent1"/>
            </a:solidFill>
          </c:spPr>
          <c:dPt>
            <c:idx val="1"/>
            <c:spPr>
              <a:solidFill>
                <a:schemeClr val="tx2"/>
              </a:solidFill>
            </c:spPr>
          </c:dPt>
          <c:cat>
            <c:strRef>
              <c:f>Sheet1!$A$2:$A$3</c:f>
              <c:strCache>
                <c:ptCount val="2"/>
                <c:pt idx="0">
                  <c:v>Durchschnitt</c:v>
                </c:pt>
                <c:pt idx="1">
                  <c:v>Beste Bedingungen</c:v>
                </c:pt>
              </c:strCache>
            </c:strRef>
          </c:cat>
          <c:val>
            <c:numRef>
              <c:f>Sheet1!$B$2:$B$3</c:f>
              <c:numCache>
                <c:formatCode>General</c:formatCode>
                <c:ptCount val="2"/>
                <c:pt idx="0">
                  <c:v>0.101</c:v>
                </c:pt>
                <c:pt idx="1">
                  <c:v>0.349</c:v>
                </c:pt>
              </c:numCache>
            </c:numRef>
          </c:val>
        </c:ser>
        <c:dLbls>
          <c:numFmt formatCode="0.00" sourceLinked="0"/>
          <c:txPr>
            <a:bodyPr/>
            <a:lstStyle/>
            <a:p>
              <a:pPr>
                <a:defRPr sz="1100">
                  <a:solidFill>
                    <a:schemeClr val="tx2"/>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solidFill>
                  <a:srgbClr val="595959"/>
                </a:solidFill>
              </a:defRPr>
            </a:pPr>
          </a:p>
        </c:txPr>
        <c:crossAx val="-2113994440"/>
        <c:crosses val="autoZero"/>
        <c:auto val="1"/>
        <c:lblAlgn val="ctr"/>
        <c:lblOffset val="100"/>
        <c:noMultiLvlLbl val="0"/>
      </c:catAx>
      <c:valAx>
        <c:axId val="-2113994440"/>
        <c:scaling>
          <c:max val="0.4"/>
          <c:min val="0.0"/>
        </c:scaling>
        <c:delete val="0"/>
        <c:axPos val="l"/>
        <c:majorGridlines>
          <c:spPr>
            <a:ln>
              <a:solidFill>
                <a:srgbClr val="D9D9D9"/>
              </a:solidFill>
            </a:ln>
          </c:spPr>
        </c:majorGridlines>
        <c:numFmt formatCode="0.00" sourceLinked="0"/>
        <c:majorTickMark val="out"/>
        <c:minorTickMark val="none"/>
        <c:tickLblPos val="nextTo"/>
        <c:spPr>
          <a:ln>
            <a:noFill/>
          </a:ln>
        </c:spPr>
        <c:txPr>
          <a:bodyPr/>
          <a:lstStyle/>
          <a:p>
            <a:pPr>
              <a:defRPr sz="1050">
                <a:solidFill>
                  <a:srgbClr val="595959"/>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lang="de-AT">
                <a:solidFill>
                  <a:schemeClr val="tx2"/>
                </a:solidFill>
              </a:rPr>
              <a:t>Anstieg des Firmenwerts</a:t>
            </a:r>
          </a:p>
        </c:rich>
      </c:tx>
      <c:layout/>
      <c:overlay val="0"/>
    </c:title>
    <c:autoTitleDeleted val="0"/>
    <c:plotArea>
      <c:barChart>
        <c:barDir val="bar"/>
        <c:grouping val="clustered"/>
        <c:ser>
          <c:idx val="0"/>
          <c:order val="0"/>
          <c:tx>
            <c:strRef>
              <c:f>Sheet1!$B$1</c:f>
              <c:strCache>
                <c:ptCount val="1"/>
                <c:pt idx="0">
                  <c:v>Anstieg des Firmenwerts</c:v>
                </c:pt>
              </c:strCache>
            </c:strRef>
          </c:tx>
          <c:spPr>
            <a:solidFill>
              <a:schemeClr val="accent1"/>
            </a:solidFill>
          </c:spPr>
          <c:dPt>
            <c:idx val="0"/>
            <c:spPr>
              <a:solidFill>
                <a:schemeClr val="tx2"/>
              </a:solidFill>
            </c:spPr>
          </c:dPt>
          <c:cat>
            <c:strRef>
              <c:f>Sheet1!$A$2:$A$4</c:f>
              <c:strCache>
                <c:ptCount val="3"/>
                <c:pt idx="0">
                  <c:v>Bindungsrate</c:v>
                </c:pt>
                <c:pt idx="1">
                  <c:v>Marge</c:v>
                </c:pt>
                <c:pt idx="2">
                  <c:v>Akquisitionskosten</c:v>
                </c:pt>
              </c:strCache>
            </c:strRef>
          </c:cat>
          <c:val>
            <c:numRef>
              <c:f>Sheet1!$B$2:$B$4</c:f>
              <c:numCache>
                <c:formatCode>General</c:formatCode>
                <c:ptCount val="3"/>
                <c:pt idx="0">
                  <c:v>5.0</c:v>
                </c:pt>
                <c:pt idx="1">
                  <c:v>1.0</c:v>
                </c:pt>
                <c:pt idx="2">
                  <c:v>0.1</c:v>
                </c:pt>
              </c:numCache>
            </c:numRef>
          </c:val>
        </c:ser>
        <c:dLbls>
          <c:numFmt formatCode="0.0&quot;%&quot;" sourceLinked="0"/>
          <c:txPr>
            <a:bodyPr/>
            <a:lstStyle/>
            <a:p>
              <a:pPr>
                <a:defRPr sz="1100">
                  <a:solidFill>
                    <a:schemeClr val="tx2"/>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txPr>
          <a:bodyPr/>
          <a:lstStyle/>
          <a:p>
            <a:pPr>
              <a:defRPr sz="1100">
                <a:solidFill>
                  <a:srgbClr val="595959"/>
                </a:solidFill>
              </a:defRPr>
            </a:pPr>
          </a:p>
        </c:txPr>
        <c:crossAx val="-2113994440"/>
        <c:crosses val="autoZero"/>
        <c:auto val="1"/>
        <c:lblAlgn val="ctr"/>
        <c:lblOffset val="100"/>
        <c:noMultiLvlLbl val="0"/>
      </c:catAx>
      <c:valAx>
        <c:axId val="-2113994440"/>
        <c:scaling>
          <c:max val="6.0"/>
          <c:min val="0.0"/>
        </c:scaling>
        <c:delete val="0"/>
        <c:axPos val="b"/>
        <c:majorGridlines>
          <c:spPr>
            <a:ln>
              <a:solidFill>
                <a:srgbClr val="D9D9D9"/>
              </a:solidFill>
            </a:ln>
          </c:spPr>
        </c:majorGridlines>
        <c:numFmt formatCode="0.0&quot;%&quot;" sourceLinked="0"/>
        <c:majorTickMark val="out"/>
        <c:minorTickMark val="none"/>
        <c:tickLblPos val="nextTo"/>
        <c:spPr>
          <a:ln>
            <a:noFill/>
          </a:ln>
        </c:spPr>
        <c:txPr>
          <a:bodyPr/>
          <a:lstStyle/>
          <a:p>
            <a:pPr>
              <a:defRPr sz="1050">
                <a:solidFill>
                  <a:srgbClr val="595959"/>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lang="de-AT">
                <a:solidFill>
                  <a:schemeClr val="tx2"/>
                </a:solidFill>
              </a:rPr>
              <a:t>Elastizität des Firmenwerts</a:t>
            </a:r>
          </a:p>
        </c:rich>
      </c:tx>
      <c:layout/>
      <c:overlay val="0"/>
    </c:title>
    <c:autoTitleDeleted val="0"/>
    <c:plotArea>
      <c:barChart>
        <c:barDir val="col"/>
        <c:grouping val="clustered"/>
        <c:ser>
          <c:idx val="0"/>
          <c:order val="0"/>
          <c:tx>
            <c:strRef>
              <c:f>Sheet1!$B$1</c:f>
              <c:strCache>
                <c:ptCount val="1"/>
                <c:pt idx="0">
                  <c:v>Elastizität des Firmenwerts</c:v>
                </c:pt>
              </c:strCache>
            </c:strRef>
          </c:tx>
          <c:spPr>
            <a:solidFill>
              <a:schemeClr val="accent1"/>
            </a:solidFill>
          </c:spPr>
          <c:dPt>
            <c:idx val="2"/>
            <c:spPr>
              <a:solidFill>
                <a:schemeClr val="tx2"/>
              </a:solidFill>
            </c:spPr>
          </c:dPt>
          <c:cat>
            <c:strRef>
              <c:f>Sheet1!$A$2:$A$4</c:f>
              <c:strCache>
                <c:ptCount val="3"/>
                <c:pt idx="0">
                  <c:v>Werbung</c:v>
                </c:pt>
                <c:pt idx="1">
                  <c:v>Marken-Assets</c:v>
                </c:pt>
                <c:pt idx="2">
                  <c:v>Kunden-Assets</c:v>
                </c:pt>
              </c:strCache>
            </c:strRef>
          </c:cat>
          <c:val>
            <c:numRef>
              <c:f>Sheet1!$B$2:$B$4</c:f>
              <c:numCache>
                <c:formatCode>General</c:formatCode>
                <c:ptCount val="3"/>
                <c:pt idx="0">
                  <c:v>0.04</c:v>
                </c:pt>
                <c:pt idx="1">
                  <c:v>0.33</c:v>
                </c:pt>
                <c:pt idx="2">
                  <c:v>0.72</c:v>
                </c:pt>
              </c:numCache>
            </c:numRef>
          </c:val>
        </c:ser>
        <c:dLbls>
          <c:numFmt formatCode="0.00" sourceLinked="0"/>
          <c:txPr>
            <a:bodyPr/>
            <a:lstStyle/>
            <a:p>
              <a:pPr>
                <a:defRPr sz="1100">
                  <a:solidFill>
                    <a:schemeClr val="tx2"/>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solidFill>
                  <a:srgbClr val="595959"/>
                </a:solidFill>
              </a:defRPr>
            </a:pPr>
          </a:p>
        </c:txPr>
        <c:crossAx val="-2113994440"/>
        <c:crosses val="autoZero"/>
        <c:auto val="1"/>
        <c:lblAlgn val="ctr"/>
        <c:lblOffset val="100"/>
        <c:noMultiLvlLbl val="0"/>
      </c:catAx>
      <c:valAx>
        <c:axId val="-2113994440"/>
        <c:scaling>
          <c:max val="0.8"/>
          <c:min val="0.0"/>
        </c:scaling>
        <c:delete val="0"/>
        <c:axPos val="l"/>
        <c:majorGridlines>
          <c:spPr>
            <a:ln>
              <a:solidFill>
                <a:srgbClr val="D9D9D9"/>
              </a:solidFill>
            </a:ln>
          </c:spPr>
        </c:majorGridlines>
        <c:numFmt formatCode="0.00" sourceLinked="0"/>
        <c:majorTickMark val="out"/>
        <c:minorTickMark val="none"/>
        <c:tickLblPos val="nextTo"/>
        <c:spPr>
          <a:ln>
            <a:noFill/>
          </a:ln>
        </c:spPr>
        <c:txPr>
          <a:bodyPr/>
          <a:lstStyle/>
          <a:p>
            <a:pPr>
              <a:defRPr sz="1050">
                <a:solidFill>
                  <a:srgbClr val="595959"/>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lang="de-AT">
                <a:solidFill>
                  <a:schemeClr val="tx2"/>
                </a:solidFill>
              </a:rPr>
              <a:t>Erklärte Varianz</a:t>
            </a:r>
          </a:p>
        </c:rich>
      </c:tx>
      <c:layout/>
      <c:overlay val="0"/>
    </c:title>
    <c:autoTitleDeleted val="0"/>
    <c:plotArea>
      <c:barChart>
        <c:barDir val="col"/>
        <c:grouping val="clustered"/>
        <c:ser>
          <c:idx val="0"/>
          <c:order val="0"/>
          <c:tx>
            <c:strRef>
              <c:f>Sheet1!$B$1</c:f>
              <c:strCache>
                <c:ptCount val="1"/>
                <c:pt idx="0">
                  <c:v>Erklärte Varianz</c:v>
                </c:pt>
              </c:strCache>
            </c:strRef>
          </c:tx>
          <c:spPr>
            <a:solidFill>
              <a:schemeClr val="accent1"/>
            </a:solidFill>
          </c:spPr>
          <c:dPt>
            <c:idx val="1"/>
            <c:spPr>
              <a:solidFill>
                <a:schemeClr val="tx2"/>
              </a:solidFill>
            </c:spPr>
          </c:dPt>
          <c:cat>
            <c:strRef>
              <c:f>Sheet1!$A$2:$A$3</c:f>
              <c:strCache>
                <c:ptCount val="2"/>
                <c:pt idx="0">
                  <c:v>Absolute Zufriedenheit</c:v>
                </c:pt>
                <c:pt idx="1">
                  <c:v>Rang (WAR)</c:v>
                </c:pt>
              </c:strCache>
            </c:strRef>
          </c:cat>
          <c:val>
            <c:numRef>
              <c:f>Sheet1!$B$2:$B$3</c:f>
              <c:numCache>
                <c:formatCode>General</c:formatCode>
                <c:ptCount val="2"/>
                <c:pt idx="0">
                  <c:v>9</c:v>
                </c:pt>
                <c:pt idx="1">
                  <c:v>55</c:v>
                </c:pt>
              </c:numCache>
            </c:numRef>
          </c:val>
        </c:ser>
        <c:dLbls>
          <c:numFmt formatCode="0&quot;%&quot;" sourceLinked="0"/>
          <c:txPr>
            <a:bodyPr/>
            <a:lstStyle/>
            <a:p>
              <a:pPr>
                <a:defRPr sz="1100">
                  <a:solidFill>
                    <a:schemeClr val="tx2"/>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solidFill>
                  <a:srgbClr val="595959"/>
                </a:solidFill>
              </a:defRPr>
            </a:pPr>
          </a:p>
        </c:txPr>
        <c:crossAx val="-2113994440"/>
        <c:crosses val="autoZero"/>
        <c:auto val="1"/>
        <c:lblAlgn val="ctr"/>
        <c:lblOffset val="100"/>
        <c:noMultiLvlLbl val="0"/>
      </c:catAx>
      <c:valAx>
        <c:axId val="-2113994440"/>
        <c:scaling>
          <c:max val="60.0"/>
          <c:min val="0.0"/>
        </c:scaling>
        <c:delete val="0"/>
        <c:axPos val="l"/>
        <c:majorGridlines>
          <c:spPr>
            <a:ln>
              <a:solidFill>
                <a:srgbClr val="D9D9D9"/>
              </a:solidFill>
            </a:ln>
          </c:spPr>
        </c:majorGridlines>
        <c:numFmt formatCode="0&quot;%&quot;" sourceLinked="0"/>
        <c:majorTickMark val="out"/>
        <c:minorTickMark val="none"/>
        <c:tickLblPos val="nextTo"/>
        <c:spPr>
          <a:ln>
            <a:noFill/>
          </a:ln>
        </c:spPr>
        <c:txPr>
          <a:bodyPr/>
          <a:lstStyle/>
          <a:p>
            <a:pPr>
              <a:defRPr sz="1050">
                <a:solidFill>
                  <a:srgbClr val="595959"/>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sz="1000" dirty="0">
              <a:latin typeface="Verdana" pitchFamily="34" charset="0"/>
              <a:ea typeface="Verdana" pitchFamily="34" charset="0"/>
              <a:cs typeface="Verdana" pitchFamily="34" charset="0"/>
            </a:endParaRPr>
          </a:p>
        </p:txBody>
      </p:sp>
      <p:sp>
        <p:nvSpPr>
          <p:cNvPr id="3" name="Datumsplatzhalt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68817FD-8155-4502-AF78-DBC2EA4B168F}" type="datetimeFigureOut">
              <a:rPr lang="en-GB" sz="1000" smtClean="0">
                <a:latin typeface="Verdana" pitchFamily="34" charset="0"/>
                <a:ea typeface="Verdana" pitchFamily="34" charset="0"/>
                <a:cs typeface="Verdana" pitchFamily="34" charset="0"/>
              </a:rPr>
              <a:t>25/08/2023</a:t>
            </a:fld>
            <a:endParaRPr lang="en-GB" sz="1000" dirty="0">
              <a:latin typeface="Verdana" pitchFamily="34" charset="0"/>
              <a:ea typeface="Verdana" pitchFamily="34" charset="0"/>
              <a:cs typeface="Verdana" pitchFamily="34" charset="0"/>
            </a:endParaRPr>
          </a:p>
        </p:txBody>
      </p:sp>
      <p:sp>
        <p:nvSpPr>
          <p:cNvPr id="4" name="Fußzeilenplatzhalt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sz="1000" dirty="0">
              <a:latin typeface="Verdana" pitchFamily="34" charset="0"/>
              <a:ea typeface="Verdana" pitchFamily="34" charset="0"/>
              <a:cs typeface="Verdana" pitchFamily="34" charset="0"/>
            </a:endParaRPr>
          </a:p>
        </p:txBody>
      </p:sp>
      <p:sp>
        <p:nvSpPr>
          <p:cNvPr id="5" name="Foliennummernplatzhalt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17F6F62-1C91-45E7-BAED-FBFBF67C82BC}" type="slidenum">
              <a:rPr lang="en-GB" sz="1000" smtClean="0">
                <a:latin typeface="Verdana" pitchFamily="34" charset="0"/>
                <a:ea typeface="Verdana" pitchFamily="34" charset="0"/>
                <a:cs typeface="Verdana" pitchFamily="34" charset="0"/>
              </a:rPr>
              <a:t>‹Nr.›</a:t>
            </a:fld>
            <a:endParaRPr lang="en-GB" sz="1000" dirty="0">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27543456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000">
                <a:latin typeface="Verdana" pitchFamily="34" charset="0"/>
                <a:ea typeface="Verdana" pitchFamily="34" charset="0"/>
                <a:cs typeface="Verdana" pitchFamily="34" charset="0"/>
              </a:defRPr>
            </a:lvl1pPr>
          </a:lstStyle>
          <a:p>
            <a:endParaRPr lang="en-GB" dirty="0"/>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000">
                <a:latin typeface="Verdana" pitchFamily="34" charset="0"/>
                <a:ea typeface="Verdana" pitchFamily="34" charset="0"/>
                <a:cs typeface="Verdana" pitchFamily="34" charset="0"/>
              </a:defRPr>
            </a:lvl1pPr>
          </a:lstStyle>
          <a:p>
            <a:fld id="{C0A972FC-F5E0-4F80-B169-F0B5EFC71333}" type="datetimeFigureOut">
              <a:rPr lang="en-GB" smtClean="0"/>
              <a:pPr/>
              <a:t>25/08/2023</a:t>
            </a:fld>
            <a:endParaRPr lang="en-GB" dirty="0"/>
          </a:p>
        </p:txBody>
      </p:sp>
      <p:sp>
        <p:nvSpPr>
          <p:cNvPr id="4" name="Folienbildplatzhalter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de-AT"/>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000">
                <a:latin typeface="Verdana" pitchFamily="34" charset="0"/>
                <a:ea typeface="Verdana" pitchFamily="34" charset="0"/>
                <a:cs typeface="Verdana" pitchFamily="34" charset="0"/>
              </a:defRPr>
            </a:lvl1pPr>
          </a:lstStyle>
          <a:p>
            <a:endParaRPr lang="en-GB" dirty="0"/>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000">
                <a:latin typeface="Verdana" pitchFamily="34" charset="0"/>
                <a:ea typeface="Verdana" pitchFamily="34" charset="0"/>
                <a:cs typeface="Verdana" pitchFamily="34" charset="0"/>
              </a:defRPr>
            </a:lvl1pPr>
          </a:lstStyle>
          <a:p>
            <a:fld id="{219CC2FD-B32F-4992-A15B-F95E2E35C81B}" type="slidenum">
              <a:rPr lang="en-GB" smtClean="0"/>
              <a:pPr/>
              <a:t>‹Nr.›</a:t>
            </a:fld>
            <a:endParaRPr lang="en-GB" dirty="0"/>
          </a:p>
        </p:txBody>
      </p:sp>
    </p:spTree>
    <p:extLst>
      <p:ext uri="{BB962C8B-B14F-4D97-AF65-F5344CB8AC3E}">
        <p14:creationId xmlns:p14="http://schemas.microsoft.com/office/powerpoint/2010/main" val="915136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Verdana" pitchFamily="34" charset="0"/>
        <a:ea typeface="Verdana" pitchFamily="34" charset="0"/>
        <a:cs typeface="Verdana" pitchFamily="34" charset="0"/>
      </a:defRPr>
    </a:lvl1pPr>
    <a:lvl2pPr marL="457200" algn="l" defTabSz="914400" rtl="0" eaLnBrk="1" latinLnBrk="0" hangingPunct="1">
      <a:defRPr sz="1200" kern="1200">
        <a:solidFill>
          <a:schemeClr val="tx1"/>
        </a:solidFill>
        <a:latin typeface="Verdana" panose="020B0604030504040204" pitchFamily="34" charset="0"/>
        <a:ea typeface="+mn-ea"/>
        <a:cs typeface="+mn-cs"/>
      </a:defRPr>
    </a:lvl2pPr>
    <a:lvl3pPr marL="914400" algn="l" defTabSz="914400" rtl="0" eaLnBrk="1" latinLnBrk="0" hangingPunct="1">
      <a:defRPr sz="1200" kern="1200">
        <a:solidFill>
          <a:schemeClr val="tx1"/>
        </a:solidFill>
        <a:latin typeface="Verdana" panose="020B0604030504040204" pitchFamily="34" charset="0"/>
        <a:ea typeface="+mn-ea"/>
        <a:cs typeface="+mn-cs"/>
      </a:defRPr>
    </a:lvl3pPr>
    <a:lvl4pPr marL="1371600" algn="l" defTabSz="914400" rtl="0" eaLnBrk="1" latinLnBrk="0" hangingPunct="1">
      <a:defRPr sz="1200" kern="1200">
        <a:solidFill>
          <a:schemeClr val="tx1"/>
        </a:solidFill>
        <a:latin typeface="Verdana" panose="020B0604030504040204" pitchFamily="34" charset="0"/>
        <a:ea typeface="+mn-ea"/>
        <a:cs typeface="+mn-cs"/>
      </a:defRPr>
    </a:lvl4pPr>
    <a:lvl5pPr marL="1828800" algn="l" defTabSz="914400" rtl="0" eaLnBrk="1" latinLnBrk="0" hangingPunct="1">
      <a:defRPr sz="1200" kern="1200">
        <a:solidFill>
          <a:schemeClr val="tx1"/>
        </a:solidFill>
        <a:latin typeface="Verdana" panose="020B060403050404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Etwa 100 Minuten in sechs Teilen: Begriffe und Kennzahlen, die Service-Profit-Chain, Ansätze, die Kunden mit dem Unternehmenswert verbinden, Abwanderung (Churn), Share of Wallet sowie Kritik mit Anwendungsteil. Kernliteratur: Heskett et al. (1994) HBR; Gupta &amp; Zeithaml (2006) Marketing Science; Hogreve et al. (2017) Journal of Marketing; Keiningham et al. (2015) Journal of Service Management. Alle Quellen mit Zugangshinweisen stehen auf der Notion-Seite und im GitHub-Ordner zu diesem Thema.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Kurze Umfrage: Welcher Spalte glauben Sie? Die Praxis folgt meist der linken Spalte (Bonusprogramme, NPS-Ziele, Retention-Teams). Die rechte Spalte sammelt die wichtigsten empirischen Einwände; Teil 6 greift die Spannung wieder auf. Die Zahl 5 %/25 % stammt von Reichheld für Finanzdienstleistungen (Bain Brief 2001); die oft zitierten '25 bis 95 %' stehen nicht in dieser Quelle.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Lernziele folgen den sechs Teilen. Das Lab in Teil 6 prüft die Ziele 1 und 4 mit Daten, die Debatte prüft Ziel 5.</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Teil 1, etwa 15 Minuten: Definition und Messung von Kundenbindung, Abwanderung und Share of Wallet.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Loyalitätstypen nach Dick &amp; Basu (1994, JAMS): echte, latente, Schein- und keine Loyalität. Oliver (1999): kognitive, affektive, konative und Handlungsloyalität. Abwanderung: Fader &amp; Hardie unterscheiden vertragliche und nicht vertragliche Settings; davon hängt das Modell ab (sBG bzw. BG/NBD oder Pareto/NBD). Share of Wallet: Du, Kamakura &amp; Mela (2007) zeigen, dass der eigene Umsatz wenig über die gesamten Ausgaben eines Kunden aussagt.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Hardie Note 049: Die durchschnittliche Kundendauer ist nicht 1/Churn, sobald Kunden sich unterscheiden. Fader &amp; Hardie (2010, Marketing Science) zeigen, dass das Ignorieren von Heterogenität den Wert des Kundenstamms unterschätzt. Die einfache CLV-Formel m·r/(1+d−r) unterstellt unendlichen Horizont, konstante Marge und konstante Bindung (Gupta &amp; Lehmann 2005). NPS-Kritik: Keiningham et al. (2007); van Doorn et al. (2013).</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Teil 2, etwa 20 Minuten: die Kette, ihre Evidenz und die Satisfaction-Profit-Chain.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Heskett et al. (1994) entwickeln die Kette aus Fallbeispielen (Southwest, Taco Bell, Banc One). Das Buch von 1997 ergänzt den 'Satisfaction Mirror': Mitarbeiter- und Kundenzufriedenheit verstärken sich gegenseitig. Deutschsprachiges Pendant: die Erfolgskette in Meffert, Bruhn &amp; Hadwich (2018) Dienstleistungsmarketing.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Hogreve et al. (2017) zeigen auch, dass interne Servicequalität über mehr als Mitarbeiterzufriedenheit wirkt; 'Mitarbeiterzufriedenheit maximieren' ist daher keine allgemeine Regel. Brown &amp; Lam (2008, Journal of Retailing): Mitarbeiterzufriedenheit hängt mit Kundenzufriedenheit zusammen, vollständig vermittelt über die wahrgenommene Servicequalität. Hogreve, Iseke &amp; Derfuss (2022, JSR) überarbeiten die Kette für digitale und KI-gestützte Services. Sears-Zahlen vor dem Zitieren am HBR-Original prüfen.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Otto et al. (2020): mittleres r = 0,101; r = 0,349 unter den günstigsten Bedingungen (passendes Setting und passende Maße). Mittal et al. (2023): 535 Korrelationen, N etwa 1,16 Mio., positive Zusammenhänge auf Kunden- und Firmenebene. Mittal &amp; Kamakura (2001): In einem Segment hängen Zufriedenheit und Wiederkauf nicht zusammen. Guenther &amp; Guenther (2021): Auf hohem Niveau können die Kosten weiterer Zufriedenheit den Nutzen übersteigen.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Teil 3, etwa 20 Minuten: Ansätze über die Service-Profit-Chain hinaus und die Kapitalmarktevidenz.</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Diese Ansätze ergänzen sich. Return on Quality (1995) macht Serviceausgaben rechenschaftspflichtig. Customer Equity übersetzt Bindung und Akquisition in Firmenwert. Srivastava et al. (1998) erklären, warum: Kundenbeziehungen sind marktbasierte Vermögenswerte, die Höhe, Timing und Risiko der Cashflows beeinflussen. Rust et al. (2004) liefern die 'Chain of Marketing Productivity' als Rahmen für den ganzen Kurs. Palmatier et al. (2006): Beziehungsqualität wirkt am stärksten auf den objektiven Erfolg, Commitment am schwächsten.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Gupta, Lehmann &amp; Stuart (2004) bewerten Amazon, Ameritrade, eBay u. a. als Summe der Kundenwerte. 1 % mehr Bindung erhöht den Firmenwert um etwa 5 %, 1 % mehr Marge um etwa 1 %, 1 % geringere Akquisitionskosten um 0,1 %. Schulze, Skiera &amp; Wiesel (2012): 10 % mehr Customer Equity gehen mit etwa 15,5 % höherem Shareholder Value einher. McCarthy, Fader &amp; Hardie (2017) bewerten Abo-Firmen aus veröffentlichten Churn-Daten (Customer-Based Corporate Valuation).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Edeling &amp; Fischer (2016): mittlere Firmenwert-Elastizität 0,04 für Werbung, 0,54 für Marketing-Assets; kundenbezogene Assets 0,72, markenbezogene 0,33. Debatte: Fornell, Mithas, Morgeson &amp; Krishnan (2006) 'High returns, low risk' und Fornell, Morgeson &amp; Hult (2016) gegen Jacobson &amp; Mizik (2009) und Sorescu &amp; Sorescu (2016). Malshe, Colicev &amp; Mittal (2020): Unzufriedenheit wiegt etwa 2,4-mal stärker als Zufriedenheit bei Überrenditen.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Teil 4, etwa 15 Minuten: Churn-Rechnung, Vorhersage und warum Targeting nach Risiko scheitern kann.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Rechenbeispiel mit Marge 100 pro Jahr und 10 % Diskontsatz: r = 0,7 ergibt 100 × 0,7 / 0,4 = 175; r = 0,8 ergibt 80 / 0,3 = 267; r = 0,9 ergibt 90 / 0,2 = 450. Studierende rechnen r = 0,95 (950). Dann die Annahmen diskutieren: konstante Bindung ignoriert Heterogenität (Fader &amp; Hardie 2007, sBG-Modell), daher steigen Kohorten-Bindungsraten über die Zeit.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Ascarza (2018, 'Retention futility', Feldexperimente bei einem Mobilfunkanbieter und einer Mitgliederorganisation): Targeting nach geschätztem Treatment-Effekt schlägt Targeting nach Churn-Risiko. Ascarza, Iyengar &amp; Schleicher (2016): Empfehlungen günstigerer Tarife erhöhten den Churn von 6 % auf 10 %, weil träge Kunden aufgeweckt wurden. Gegenbeispiel: Gattermann-Itschert &amp; Thonemann (2022) finden, dass Risiko-Targeting in einer B2B-Feldstudie wirkt. Übung: HBS 'Managing Customer Retention at Teleko' (Ascarza, kostenloses Online-Tool).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Teil 5, etwa 15 Minuten: Zufriedenheit und Share of Wallet, die Wallet Allocation Rule, Bonusprogramme.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Cooil et al. (2007): 4.319 kanadische Bankhaushalte über fünf Jahre; Änderungen der Zufriedenheit hängen positiv, aber schwach mit Änderungen des Share of Wallet zusammen. Keiningham et al. (2015): 79.543 Konsumenten, über 650 Marken, 20 Branchen; die Rangposition hängt viel stärker mit dem Share of Wallet zusammen. Coyles &amp; Gokey (2005, McKinsey): 1.200 Haushalte, 16 Branchen.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Keiningham, Aksoy, Buoye &amp; Cooil (2011, HBR) und das Buch The Wallet Allocation Rule (Wiley 2015). n = Zahl der Marken, die ein Kunde nutzt. Bei drei Marken: Rang 1 = (1 − 1/4) × 2/3 = 50 %, Rang 2 = 33 %, Rang 3 = 17 %. Dauert mit einer Online-Umfrage etwa 10 Minuten. Bezug zur Debatte: Buoye et al. (2016) verbinden WAR mit Double Jeopardy.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Belli et al. (2022, JAMS), Metaanalyse mit 429 Effekten: Programme erhöhen die Verhaltensloyalität, die Einstellungsloyalität kaum. Liu (2007, JM): Wenig- und Mittelkäufer ändern ihr Verhalten, Vielkäufer lösen nur ein. Frage: Geben Starbucks-Mitglieder wegen des Programms mehr aus, oder sind Vielkäufer beigetreten? jö-Zahlen sind Eigenangaben (Presse, 2025); die Billa-'-25 %'-Pickerl gibt es seit Juli 2025 nur für Mitglieder.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Teil 6, etwa 15 Minuten: Loyalität versus Profitabilität, Grenzen, Lab und Fallstudien.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Reinartz &amp; Kumar (2002), 16.000 Kunden in vier Firmen: keine Bestätigung, dass treue Kunden weniger kosten, mehr zahlen oder mehr empfehlen. Die englischen Segmentnamen sind die Originalbegriffe. Shah et al. (2012, JM): 10 bis 35 % der Cross-Buyer sind unprofitabel und verursachen 39 bis 88 % der Verluste aus Kunden. Studierende ordnen ihre eigenen Handy-, Bank- und Supermarktbeziehungen aus Firmensicht ein.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Debatte (10 Minuten): 'Firmen sollten ihr Bonusbudget stattdessen in Neukundengewinnung stecken.' Eine Hälfte argumentiert mit Heskett/Reichheld, die andere mit Sharp/Reinartz. Gao et al. (2022): Lock-in senkt den Churn vor allem bei Erlebniswerten unter 5 von 10 und spielt über 7 keine Rolle mehr. ACSI (Q1 2026) warnt vor 'aufgestauter Abwanderung': unzufriedene Kunden, die mangels Alternativen bleiben.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IBM Telco ist der Standarddatensatz für Churn in der Lehre (Vertragsdauer und Churn-Flag erlauben Überlebenszeitanalyse). CDNOW ist in CLVTools, BTYD und PyMC-Marketing enthalten. Das Python-Paket lifetimes wird nicht mehr gepflegt; PyMC-Marketing verwenden. BTYDplus stammt von Michael Platzer und Thomas Reutterer (WU): Pareto/GGG- und MBG/CNBD-k-Modelle, die die Regelmäßigkeit von Käufen nutzen.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Pilgrim Bank (Frei &amp; Campbell, HBS 2001) enthält Daten zu etwa 30.000 Kunden; (B) ergänzt ein zweites Jahr für ein Bindungsmodell. Teleko (Ascarza, HBS 2022) ist eine zweiseitige Übung mit kostenlosem Online-Tool. Harrah's (Lal, HBS 2001) und Lovemans 'Diamonds in the Data Mine' (HBR 2003). Starbucks (Moon &amp; Quelch, HBS) fragt, ob sich eine Serviceinvestition von 40 Mio. USD lohnt. Alle Fälle sind englischsprachig.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Über 380 weitere Quellen mit Zugangshinweisen: Notion-Seite und GitHub-Ordner 'Customer Loyalty, Churn and Share of Wallet (Service-Profit Chain)' (github.com/arnefloh-wu/search-teaching-materials). Deutschsprachig: Bruhn &amp; Homburg (2017) Handbuch Kundenbindungsmanagement, 9. Aufl.; Homburg (2016) Kundenzufriedenheit; Meffert, Bruhn &amp; Hadwich (2018) Dienstleistungsmarketing; Bruhn (2022) Relationship Marketing. Die meisten Zeitschriftenartikel sind kostenpflichtig; WU-Zugang prüfen.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Zurück zu Folie 2: Welche Aussagen der linken Spalte haben die Evidenz überstanden, welche brauchen Bedingungen?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Fragen und Diskussion.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1.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1.pn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 Id="rId20" Type="http://schemas.openxmlformats.org/officeDocument/2006/relationships/hyperlink" Target="mailto:arne.floh@wu.ac.at" TargetMode="External"/><Relationship Id="rId21" Type="http://schemas.openxmlformats.org/officeDocument/2006/relationships/hyperlink" Target="https://calendar.app.google/o4FuKoF1YcarRfnC8" TargetMode="Externa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20" Type="http://schemas.openxmlformats.org/officeDocument/2006/relationships/hyperlink" Target="mailto:arne.floh@wu.ac.at" TargetMode="External"/><Relationship Id="rId21" Type="http://schemas.openxmlformats.org/officeDocument/2006/relationships/hyperlink" Target="https://calendar.app.google/o4FuKoF1YcarRfnC8" TargetMode="External"/><Relationship Id="rId22" Type="http://schemas.openxmlformats.org/officeDocument/2006/relationships/hyperlink" Target="https://www.wu.ac.at/en/welthandel/arne-floh/"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4" name="Rechteck 13"/>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5" name="Rechteck 14"/>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userDrawn="1">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3" name="Untertitel 2"/>
          <p:cNvSpPr>
            <a:spLocks noGrp="1"/>
          </p:cNvSpPr>
          <p:nvPr userDrawn="1">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baseline="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baseline="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8" name="Grafik 17">
            <a:extLst>
              <a:ext uri="{FF2B5EF4-FFF2-40B4-BE49-F238E27FC236}">
                <a16:creationId xmlns:a16="http://schemas.microsoft.com/office/drawing/2014/main" id="{35A845CD-2D10-42BB-97DB-CDA723EE9EBF}"/>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1A49BD17-4238-4565-A4B6-2E20A7C19FA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1096689772"/>
      </p:ext>
    </p:extLst>
  </p:cSld>
  <p:clrMapOvr>
    <a:masterClrMapping/>
  </p:clrMapOvr>
  <p:transition>
    <p:fade/>
  </p:transition>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4" name="Gruppieren 23"/>
          <p:cNvGrpSpPr/>
          <p:nvPr userDrawn="1"/>
        </p:nvGrpSpPr>
        <p:grpSpPr>
          <a:xfrm>
            <a:off x="287338" y="603319"/>
            <a:ext cx="8552850" cy="1731679"/>
            <a:chOff x="287338" y="603319"/>
            <a:chExt cx="8552850" cy="2037600"/>
          </a:xfrm>
        </p:grpSpPr>
        <p:sp>
          <p:nvSpPr>
            <p:cNvPr id="26" name="Rechteck 25"/>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7" name="Rechteck 26"/>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8" y="1294973"/>
            <a:ext cx="5466982"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8" y="993080"/>
            <a:ext cx="5466982"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6"/>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9" name="Grafik 18">
            <a:extLst>
              <a:ext uri="{FF2B5EF4-FFF2-40B4-BE49-F238E27FC236}">
                <a16:creationId xmlns:a16="http://schemas.microsoft.com/office/drawing/2014/main" id="{BE16B78E-14FB-4C1E-8625-0D5A429E49F4}"/>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1" name="Grafik 10">
            <a:extLst>
              <a:ext uri="{FF2B5EF4-FFF2-40B4-BE49-F238E27FC236}">
                <a16:creationId xmlns:a16="http://schemas.microsoft.com/office/drawing/2014/main" id="{E9B62297-FBCA-40E7-A876-7818F7A81C7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462019" y="1344613"/>
            <a:ext cx="7759644" cy="3853905"/>
          </a:xfrm>
        </p:spPr>
        <p:txBody>
          <a:bodyPr lIns="0" rIns="0">
            <a:normAutofit/>
          </a:bodyPr>
          <a:lstStyle>
            <a:lvl1pPr>
              <a:defRPr sz="1600"/>
            </a:lvl1pPr>
            <a:lvl2pPr>
              <a:defRPr sz="1500"/>
            </a:lvl2pPr>
            <a:lvl3pPr>
              <a:defRPr sz="1400"/>
            </a:lvl3pPr>
            <a:lvl4pPr>
              <a:defRPr sz="1200"/>
            </a:lvl4pPr>
            <a:lvl5pPr>
              <a:defRPr sz="1200"/>
            </a:lvl5pPr>
          </a:lstStyle>
          <a:p>
            <a:pPr lvl="0"/>
            <a:r>
              <a:rPr lang="en-GB" dirty="0" err="1"/>
              <a:t>Textmasterformat</a:t>
            </a:r>
            <a:r>
              <a:rPr lang="en-GB" dirty="0"/>
              <a:t> </a:t>
            </a:r>
            <a:r>
              <a:rPr lang="en-GB" dirty="0" err="1"/>
              <a:t>durch</a:t>
            </a:r>
            <a:r>
              <a:rPr lang="en-GB" dirty="0"/>
              <a:t> </a:t>
            </a:r>
            <a:r>
              <a:rPr lang="en-GB" dirty="0" err="1"/>
              <a:t>Klicken</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4" name="Datumsplatzhalter 3"/>
          <p:cNvSpPr>
            <a:spLocks noGrp="1"/>
          </p:cNvSpPr>
          <p:nvPr>
            <p:ph type="dt" sz="half" idx="10"/>
          </p:nvPr>
        </p:nvSpPr>
        <p:spPr/>
        <p:txBody>
          <a:bodyPr/>
          <a:lstStyle/>
          <a:p>
            <a:fld id="{E40E7AAB-A700-485E-A2FB-EAC3CFB07074}" type="datetime1">
              <a:rPr lang="en-GB" smtClean="0"/>
              <a:t>25/08/2023</a:t>
            </a:fld>
            <a:endParaRPr lang="en-GB" dirty="0"/>
          </a:p>
        </p:txBody>
      </p:sp>
      <p:sp>
        <p:nvSpPr>
          <p:cNvPr id="8" name="Fußzeilenplatzhalter 7"/>
          <p:cNvSpPr>
            <a:spLocks noGrp="1"/>
          </p:cNvSpPr>
          <p:nvPr>
            <p:ph type="ftr" sz="quarter" idx="11"/>
          </p:nvPr>
        </p:nvSpPr>
        <p:spPr/>
        <p:txBody>
          <a:bodyPr/>
          <a:lstStyle/>
          <a:p>
            <a:r>
              <a:rPr lang="en-GB" dirty="0"/>
              <a:t>Sample Footer</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p:spTree>
      <p:nvGrpSpPr>
        <p:cNvPr id="1" name=""/>
        <p:cNvGrpSpPr/>
        <p:nvPr/>
      </p:nvGrpSpPr>
      <p:grpSpPr>
        <a:xfrm>
          <a:off x="0" y="0"/>
          <a:ext cx="0" cy="0"/>
          <a:chOff x="0" y="0"/>
          <a:chExt cx="0" cy="0"/>
        </a:xfrm>
      </p:grpSpPr>
      <p:grpSp>
        <p:nvGrpSpPr>
          <p:cNvPr id="12" name="Gruppieren 11"/>
          <p:cNvGrpSpPr/>
          <p:nvPr userDrawn="1"/>
        </p:nvGrpSpPr>
        <p:grpSpPr>
          <a:xfrm>
            <a:off x="287338" y="603319"/>
            <a:ext cx="8552850" cy="2037600"/>
            <a:chOff x="287338" y="603319"/>
            <a:chExt cx="8552850" cy="2037600"/>
          </a:xfrm>
        </p:grpSpPr>
        <p:sp>
          <p:nvSpPr>
            <p:cNvPr id="16" name="Rechteck 15"/>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4"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0"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3"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5"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1" name="Grafik 20">
            <a:extLst>
              <a:ext uri="{FF2B5EF4-FFF2-40B4-BE49-F238E27FC236}">
                <a16:creationId xmlns:a16="http://schemas.microsoft.com/office/drawing/2014/main" id="{BA9844F5-FA66-4582-86D9-5CEB57D81516}"/>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B702B7F6-CDD2-4C6E-BBC1-61A114A8A82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17341" y="5129960"/>
            <a:ext cx="1831485" cy="317581"/>
          </a:xfrm>
          <a:prstGeom prst="rect">
            <a:avLst/>
          </a:prstGeom>
        </p:spPr>
      </p:pic>
    </p:spTree>
    <p:extLst>
      <p:ext uri="{BB962C8B-B14F-4D97-AF65-F5344CB8AC3E}">
        <p14:creationId xmlns:p14="http://schemas.microsoft.com/office/powerpoint/2010/main" val="154679611"/>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kurz">
    <p:spTree>
      <p:nvGrpSpPr>
        <p:cNvPr id="1" name=""/>
        <p:cNvGrpSpPr/>
        <p:nvPr/>
      </p:nvGrpSpPr>
      <p:grpSpPr>
        <a:xfrm>
          <a:off x="0" y="0"/>
          <a:ext cx="0" cy="0"/>
          <a:chOff x="0" y="0"/>
          <a:chExt cx="0" cy="0"/>
        </a:xfrm>
      </p:grpSpPr>
      <p:grpSp>
        <p:nvGrpSpPr>
          <p:cNvPr id="13" name="Gruppieren 12"/>
          <p:cNvGrpSpPr/>
          <p:nvPr userDrawn="1"/>
        </p:nvGrpSpPr>
        <p:grpSpPr>
          <a:xfrm>
            <a:off x="287338" y="603319"/>
            <a:ext cx="8552850" cy="1731679"/>
            <a:chOff x="287338" y="603319"/>
            <a:chExt cx="8552850" cy="2037600"/>
          </a:xfrm>
        </p:grpSpPr>
        <p:sp>
          <p:nvSpPr>
            <p:cNvPr id="15" name="Rechteck 14"/>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4"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21" name="Grafik 20">
            <a:extLst>
              <a:ext uri="{FF2B5EF4-FFF2-40B4-BE49-F238E27FC236}">
                <a16:creationId xmlns:a16="http://schemas.microsoft.com/office/drawing/2014/main" id="{A463F4F5-A20D-4A70-B3F9-6AD8A3EE255E}"/>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2AB68F06-4800-4D63-9DF2-372B23A8EC2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17341" y="5129960"/>
            <a:ext cx="1831485" cy="317581"/>
          </a:xfrm>
          <a:prstGeom prst="rect">
            <a:avLst/>
          </a:prstGeom>
        </p:spPr>
      </p:pic>
    </p:spTree>
    <p:extLst>
      <p:ext uri="{BB962C8B-B14F-4D97-AF65-F5344CB8AC3E}">
        <p14:creationId xmlns:p14="http://schemas.microsoft.com/office/powerpoint/2010/main" val="1919268004"/>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elfolie Bild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2" name="Rechteck 11"/>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3" name="Rechteck 12"/>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4"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6"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7"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2" name="Grafik 21">
            <a:extLst>
              <a:ext uri="{FF2B5EF4-FFF2-40B4-BE49-F238E27FC236}">
                <a16:creationId xmlns:a16="http://schemas.microsoft.com/office/drawing/2014/main" id="{330D039B-1A60-42B3-A3E1-B44D86C63C0C}"/>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25D9B1B1-5069-4351-A01A-8CD09728414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0"/>
          </a:xfrm>
          <a:prstGeom prst="rect">
            <a:avLst/>
          </a:prstGeom>
        </p:spPr>
      </p:pic>
    </p:spTree>
    <p:extLst>
      <p:ext uri="{BB962C8B-B14F-4D97-AF65-F5344CB8AC3E}">
        <p14:creationId xmlns:p14="http://schemas.microsoft.com/office/powerpoint/2010/main" val="3042078111"/>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elfolie Bild 2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9" name="Gruppieren 18"/>
          <p:cNvGrpSpPr/>
          <p:nvPr userDrawn="1"/>
        </p:nvGrpSpPr>
        <p:grpSpPr>
          <a:xfrm>
            <a:off x="287338" y="603319"/>
            <a:ext cx="8552850" cy="1731679"/>
            <a:chOff x="287338" y="603319"/>
            <a:chExt cx="8552850" cy="2037600"/>
          </a:xfrm>
        </p:grpSpPr>
        <p:sp>
          <p:nvSpPr>
            <p:cNvPr id="21" name="Rechteck 20"/>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2" name="Rechteck 21"/>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24" name="Grafik 23">
            <a:extLst>
              <a:ext uri="{FF2B5EF4-FFF2-40B4-BE49-F238E27FC236}">
                <a16:creationId xmlns:a16="http://schemas.microsoft.com/office/drawing/2014/main" id="{ABF9D4AB-1FA6-4101-9EE8-B852A65B2A1E}"/>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4" name="Grafik 13">
            <a:extLst>
              <a:ext uri="{FF2B5EF4-FFF2-40B4-BE49-F238E27FC236}">
                <a16:creationId xmlns:a16="http://schemas.microsoft.com/office/drawing/2014/main" id="{DDF8959B-5028-481F-A01F-8628D9F2E0D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0"/>
          </a:xfrm>
          <a:prstGeom prst="rect">
            <a:avLst/>
          </a:prstGeom>
        </p:spPr>
      </p:pic>
    </p:spTree>
    <p:extLst>
      <p:ext uri="{BB962C8B-B14F-4D97-AF65-F5344CB8AC3E}">
        <p14:creationId xmlns:p14="http://schemas.microsoft.com/office/powerpoint/2010/main" val="144166685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elfolie Bild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9" name="Rechteck 18"/>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1" name="Rechteck 20"/>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4"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2"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3"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3" name="Grafik 22">
            <a:extLst>
              <a:ext uri="{FF2B5EF4-FFF2-40B4-BE49-F238E27FC236}">
                <a16:creationId xmlns:a16="http://schemas.microsoft.com/office/drawing/2014/main" id="{904218C8-068C-46BC-ADE6-6BC8A468BF77}"/>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D487AD36-3E46-4F41-8B5C-B79909802DD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418831637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elfolie Bild 3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8" name="Gruppieren 17"/>
          <p:cNvGrpSpPr/>
          <p:nvPr userDrawn="1"/>
        </p:nvGrpSpPr>
        <p:grpSpPr>
          <a:xfrm>
            <a:off x="287338" y="603319"/>
            <a:ext cx="8552850" cy="1731679"/>
            <a:chOff x="287338" y="603319"/>
            <a:chExt cx="8552850" cy="2037600"/>
          </a:xfrm>
        </p:grpSpPr>
        <p:sp>
          <p:nvSpPr>
            <p:cNvPr id="21" name="Rechteck 20"/>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2" name="Rechteck 21"/>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7" name="Grafik 16">
            <a:extLst>
              <a:ext uri="{FF2B5EF4-FFF2-40B4-BE49-F238E27FC236}">
                <a16:creationId xmlns:a16="http://schemas.microsoft.com/office/drawing/2014/main" id="{63D0D44A-5625-4C70-A2EB-08D982355B99}"/>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3" name="Grafik 12">
            <a:extLst>
              <a:ext uri="{FF2B5EF4-FFF2-40B4-BE49-F238E27FC236}">
                <a16:creationId xmlns:a16="http://schemas.microsoft.com/office/drawing/2014/main" id="{D91D1A92-B997-47B5-A14A-E2A501C20D0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383958111"/>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Kapitelfolie">
    <p:spTree>
      <p:nvGrpSpPr>
        <p:cNvPr id="1" name=""/>
        <p:cNvGrpSpPr/>
        <p:nvPr/>
      </p:nvGrpSpPr>
      <p:grpSpPr>
        <a:xfrm>
          <a:off x="0" y="0"/>
          <a:ext cx="0" cy="0"/>
          <a:chOff x="0" y="0"/>
          <a:chExt cx="0" cy="0"/>
        </a:xfrm>
      </p:grpSpPr>
      <p:grpSp>
        <p:nvGrpSpPr>
          <p:cNvPr id="21" name="Gruppieren 20"/>
          <p:cNvGrpSpPr/>
          <p:nvPr userDrawn="1"/>
        </p:nvGrpSpPr>
        <p:grpSpPr>
          <a:xfrm>
            <a:off x="287338" y="603319"/>
            <a:ext cx="8552850" cy="2037600"/>
            <a:chOff x="287338" y="603319"/>
            <a:chExt cx="8552850" cy="2037600"/>
          </a:xfrm>
        </p:grpSpPr>
        <p:sp>
          <p:nvSpPr>
            <p:cNvPr id="22" name="Rechteck 21"/>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3" name="Rechteck 22"/>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4" name="Textplatzhalter 9"/>
          <p:cNvSpPr>
            <a:spLocks noGrp="1"/>
          </p:cNvSpPr>
          <p:nvPr>
            <p:ph type="body" sz="quarter" idx="11" hasCustomPrompt="1"/>
          </p:nvPr>
        </p:nvSpPr>
        <p:spPr bwMode="white">
          <a:xfrm>
            <a:off x="287338" y="2941638"/>
            <a:ext cx="4284662" cy="620885"/>
          </a:xfrm>
          <a:solidFill>
            <a:schemeClr val="bg1">
              <a:alpha val="90000"/>
            </a:schemeClr>
          </a:solidFill>
        </p:spPr>
        <p:txBody>
          <a:bodyPr wrap="square" lIns="324000" tIns="216000" rIns="324000" bIns="216000" rtlCol="0" anchor="t" anchorCtr="0">
            <a:spAutoFit/>
          </a:bodyPr>
          <a:lstStyle>
            <a:lvl1pPr marL="0" indent="0" defTabSz="914400">
              <a:buNone/>
              <a:defRPr lang="de-DE" sz="1200" dirty="0" smtClean="0"/>
            </a:lvl1pPr>
          </a:lstStyle>
          <a:p>
            <a:pPr marL="0" lvl="0" defTabSz="914400"/>
            <a:r>
              <a:rPr lang="en-GB" dirty="0"/>
              <a:t>Subtitle chapter</a:t>
            </a:r>
          </a:p>
        </p:txBody>
      </p:sp>
      <p:sp>
        <p:nvSpPr>
          <p:cNvPr id="13"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2800" b="1" i="0" baseline="0">
                <a:solidFill>
                  <a:schemeClr val="bg1"/>
                </a:solidFill>
                <a:latin typeface="Georgia" charset="0"/>
                <a:ea typeface="Georgia" charset="0"/>
                <a:cs typeface="Georgia" charset="0"/>
              </a:defRPr>
            </a:lvl1pPr>
          </a:lstStyle>
          <a:p>
            <a:r>
              <a:rPr lang="en-GB" dirty="0"/>
              <a:t>Max. 2 lines of text for chapter header</a:t>
            </a:r>
          </a:p>
        </p:txBody>
      </p:sp>
      <p:sp>
        <p:nvSpPr>
          <p:cNvPr id="2" name="Datumsplatzhalter 1"/>
          <p:cNvSpPr>
            <a:spLocks noGrp="1"/>
          </p:cNvSpPr>
          <p:nvPr>
            <p:ph type="dt" sz="half" idx="13"/>
          </p:nvPr>
        </p:nvSpPr>
        <p:spPr/>
        <p:txBody>
          <a:bodyPr/>
          <a:lstStyle/>
          <a:p>
            <a:fld id="{529FDC53-5973-45F2-8F83-ED68F7A58508}" type="datetime1">
              <a:rPr lang="en-GB" smtClean="0"/>
              <a:t>25/08/2023</a:t>
            </a:fld>
            <a:endParaRPr lang="en-GB" dirty="0"/>
          </a:p>
        </p:txBody>
      </p:sp>
      <p:sp>
        <p:nvSpPr>
          <p:cNvPr id="3" name="Fußzeilenplatzhalter 2"/>
          <p:cNvSpPr>
            <a:spLocks noGrp="1"/>
          </p:cNvSpPr>
          <p:nvPr>
            <p:ph type="ftr" sz="quarter" idx="14"/>
          </p:nvPr>
        </p:nvSpPr>
        <p:spPr/>
        <p:txBody>
          <a:bodyPr/>
          <a:lstStyle/>
          <a:p>
            <a:r>
              <a:rPr lang="en-GB" dirty="0"/>
              <a:t>Sample Footer</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pic>
        <p:nvPicPr>
          <p:cNvPr id="18" name="Grafik 17">
            <a:extLst>
              <a:ext uri="{FF2B5EF4-FFF2-40B4-BE49-F238E27FC236}">
                <a16:creationId xmlns:a16="http://schemas.microsoft.com/office/drawing/2014/main" id="{89CCD104-DEA0-4048-8CA3-CAB740FC066E}"/>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2" name="Grafik 11">
            <a:extLst>
              <a:ext uri="{FF2B5EF4-FFF2-40B4-BE49-F238E27FC236}">
                <a16:creationId xmlns:a16="http://schemas.microsoft.com/office/drawing/2014/main" id="{72F980AF-DDD0-4966-B1E7-E1B87083C7C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extLst>
      <p:ext uri="{BB962C8B-B14F-4D97-AF65-F5344CB8AC3E}">
        <p14:creationId xmlns:p14="http://schemas.microsoft.com/office/powerpoint/2010/main" val="3772976733"/>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Kapitelfolie kurz">
    <p:spTree>
      <p:nvGrpSpPr>
        <p:cNvPr id="1" name=""/>
        <p:cNvGrpSpPr/>
        <p:nvPr/>
      </p:nvGrpSpPr>
      <p:grpSpPr>
        <a:xfrm>
          <a:off x="0" y="0"/>
          <a:ext cx="0" cy="0"/>
          <a:chOff x="0" y="0"/>
          <a:chExt cx="0" cy="0"/>
        </a:xfrm>
      </p:grpSpPr>
      <p:grpSp>
        <p:nvGrpSpPr>
          <p:cNvPr id="13" name="Gruppieren 12"/>
          <p:cNvGrpSpPr/>
          <p:nvPr userDrawn="1"/>
        </p:nvGrpSpPr>
        <p:grpSpPr>
          <a:xfrm>
            <a:off x="287338" y="603319"/>
            <a:ext cx="8552850" cy="1731679"/>
            <a:chOff x="287338" y="603319"/>
            <a:chExt cx="8552850" cy="2037600"/>
          </a:xfrm>
        </p:grpSpPr>
        <p:sp>
          <p:nvSpPr>
            <p:cNvPr id="15" name="Rechteck 14"/>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302593"/>
            <a:ext cx="5436000" cy="516714"/>
          </a:xfrm>
          <a:prstGeom prst="rect">
            <a:avLst/>
          </a:prstGeom>
        </p:spPr>
        <p:txBody>
          <a:bodyPr tIns="0" anchor="b" anchorCtr="0">
            <a:noAutofit/>
          </a:bodyPr>
          <a:lstStyle>
            <a:lvl1pPr algn="l">
              <a:lnSpc>
                <a:spcPct val="100000"/>
              </a:lnSpc>
              <a:defRPr sz="2800" b="1" i="0" baseline="0">
                <a:solidFill>
                  <a:schemeClr val="bg1"/>
                </a:solidFill>
                <a:latin typeface="Georgia" charset="0"/>
                <a:ea typeface="Georgia" charset="0"/>
                <a:cs typeface="Georgia" charset="0"/>
              </a:defRPr>
            </a:lvl1pPr>
          </a:lstStyle>
          <a:p>
            <a:r>
              <a:rPr lang="en-GB" dirty="0"/>
              <a:t>1 line for chapter header</a:t>
            </a:r>
          </a:p>
        </p:txBody>
      </p:sp>
      <p:sp>
        <p:nvSpPr>
          <p:cNvPr id="14" name="Textplatzhalter 9"/>
          <p:cNvSpPr>
            <a:spLocks noGrp="1"/>
          </p:cNvSpPr>
          <p:nvPr>
            <p:ph type="body" sz="quarter" idx="11" hasCustomPrompt="1"/>
          </p:nvPr>
        </p:nvSpPr>
        <p:spPr bwMode="white">
          <a:xfrm>
            <a:off x="287338" y="2642907"/>
            <a:ext cx="4284662" cy="620885"/>
          </a:xfrm>
          <a:solidFill>
            <a:schemeClr val="bg1">
              <a:alpha val="90000"/>
            </a:schemeClr>
          </a:solidFill>
        </p:spPr>
        <p:txBody>
          <a:bodyPr wrap="square" lIns="324000" tIns="216000" rIns="324000" bIns="216000" rtlCol="0" anchor="t" anchorCtr="0">
            <a:spAutoFit/>
          </a:bodyPr>
          <a:lstStyle>
            <a:lvl1pPr marL="0" indent="0" defTabSz="914400">
              <a:buNone/>
              <a:defRPr lang="de-DE" sz="1200" dirty="0" smtClean="0"/>
            </a:lvl1pPr>
          </a:lstStyle>
          <a:p>
            <a:pPr marL="0" lvl="0" defTabSz="914400"/>
            <a:r>
              <a:rPr lang="en-GB" dirty="0"/>
              <a:t>Subtitle chapter</a:t>
            </a:r>
          </a:p>
        </p:txBody>
      </p:sp>
      <p:sp>
        <p:nvSpPr>
          <p:cNvPr id="4" name="Date Placeholder 3"/>
          <p:cNvSpPr>
            <a:spLocks noGrp="1"/>
          </p:cNvSpPr>
          <p:nvPr>
            <p:ph type="dt" sz="half" idx="12"/>
          </p:nvPr>
        </p:nvSpPr>
        <p:spPr/>
        <p:txBody>
          <a:bodyPr/>
          <a:lstStyle/>
          <a:p>
            <a:fld id="{24570F99-0B5D-40DA-A3D3-DDF1CB693FD8}" type="datetime1">
              <a:rPr lang="en-GB" smtClean="0"/>
              <a:t>25/08/2023</a:t>
            </a:fld>
            <a:endParaRPr lang="en-GB" dirty="0"/>
          </a:p>
        </p:txBody>
      </p:sp>
      <p:sp>
        <p:nvSpPr>
          <p:cNvPr id="5" name="Footer Placeholder 4"/>
          <p:cNvSpPr>
            <a:spLocks noGrp="1"/>
          </p:cNvSpPr>
          <p:nvPr>
            <p:ph type="ftr" sz="quarter" idx="13"/>
          </p:nvPr>
        </p:nvSpPr>
        <p:spPr/>
        <p:txBody>
          <a:bodyPr/>
          <a:lstStyle/>
          <a:p>
            <a:r>
              <a:rPr lang="en-GB" dirty="0"/>
              <a:t>Sample Footer</a:t>
            </a:r>
          </a:p>
        </p:txBody>
      </p:sp>
      <p:sp>
        <p:nvSpPr>
          <p:cNvPr id="6" name="Slide Number Placeholder 5"/>
          <p:cNvSpPr>
            <a:spLocks noGrp="1"/>
          </p:cNvSpPr>
          <p:nvPr>
            <p:ph type="sldNum" sz="quarter" idx="14"/>
          </p:nvPr>
        </p:nvSpPr>
        <p:spPr/>
        <p:txBody>
          <a:bodyPr/>
          <a:lstStyle/>
          <a:p>
            <a:r>
              <a:rPr lang="en-GB" dirty="0"/>
              <a:t>Page </a:t>
            </a:r>
            <a:fld id="{BE3DC40E-DBBE-4E2D-9EEC-FBF0DA0E9179}" type="slidenum">
              <a:rPr lang="en-GB" smtClean="0"/>
              <a:pPr/>
              <a:t>‹Nr.›</a:t>
            </a:fld>
            <a:endParaRPr lang="en-GB" dirty="0"/>
          </a:p>
        </p:txBody>
      </p:sp>
      <p:pic>
        <p:nvPicPr>
          <p:cNvPr id="21" name="Grafik 20">
            <a:extLst>
              <a:ext uri="{FF2B5EF4-FFF2-40B4-BE49-F238E27FC236}">
                <a16:creationId xmlns:a16="http://schemas.microsoft.com/office/drawing/2014/main" id="{416AA66B-0354-461B-A799-CF3EFFC17D87}"/>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2" name="Grafik 11">
            <a:extLst>
              <a:ext uri="{FF2B5EF4-FFF2-40B4-BE49-F238E27FC236}">
                <a16:creationId xmlns:a16="http://schemas.microsoft.com/office/drawing/2014/main" id="{D0ECE620-FB2B-4217-AA10-439373F15D4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extLst>
      <p:ext uri="{BB962C8B-B14F-4D97-AF65-F5344CB8AC3E}">
        <p14:creationId xmlns:p14="http://schemas.microsoft.com/office/powerpoint/2010/main" val="4164094613"/>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Nur Titel">
    <p:spTree>
      <p:nvGrpSpPr>
        <p:cNvPr id="1" name=""/>
        <p:cNvGrpSpPr/>
        <p:nvPr/>
      </p:nvGrpSpPr>
      <p:grpSpPr>
        <a:xfrm>
          <a:off x="0" y="0"/>
          <a:ext cx="0" cy="0"/>
          <a:chOff x="0" y="0"/>
          <a:chExt cx="0" cy="0"/>
        </a:xfrm>
      </p:grpSpPr>
      <p:sp>
        <p:nvSpPr>
          <p:cNvPr id="7" name="Inhaltsplatzhalter 6"/>
          <p:cNvSpPr>
            <a:spLocks noGrp="1"/>
          </p:cNvSpPr>
          <p:nvPr>
            <p:ph sz="quarter" idx="10" hasCustomPrompt="1"/>
          </p:nvPr>
        </p:nvSpPr>
        <p:spPr>
          <a:xfrm>
            <a:off x="468316" y="1344613"/>
            <a:ext cx="8210547" cy="4370387"/>
          </a:xfrm>
        </p:spPr>
        <p:txBody>
          <a:bodyPr/>
          <a:lstStyle>
            <a:lvl1pPr>
              <a:buNone/>
              <a:defRPr/>
            </a:lvl1pPr>
          </a:lstStyle>
          <a:p>
            <a:pPr lvl="0"/>
            <a:r>
              <a:rPr lang="en-GB" dirty="0"/>
              <a:t>Placeholder for objects</a:t>
            </a:r>
          </a:p>
        </p:txBody>
      </p:sp>
      <p:sp>
        <p:nvSpPr>
          <p:cNvPr id="8" name="Rechteck 7"/>
          <p:cNvSpPr/>
          <p:nvPr userDrawn="1"/>
        </p:nvSpPr>
        <p:spPr bwMode="gray">
          <a:xfrm>
            <a:off x="0" y="1043522"/>
            <a:ext cx="9144000" cy="25200"/>
          </a:xfrm>
          <a:prstGeom prst="rect">
            <a:avLst/>
          </a:prstGeom>
          <a:solidFill>
            <a:srgbClr val="0C94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2" name="Titel 1"/>
          <p:cNvSpPr>
            <a:spLocks noGrp="1"/>
          </p:cNvSpPr>
          <p:nvPr>
            <p:ph type="title"/>
          </p:nvPr>
        </p:nvSpPr>
        <p:spPr/>
        <p:txBody>
          <a:bodyPr/>
          <a:lstStyle/>
          <a:p>
            <a:r>
              <a:rPr lang="de-DE"/>
              <a:t>Mastertitelformat bearbeiten</a:t>
            </a:r>
            <a:endParaRPr lang="en-GB" dirty="0"/>
          </a:p>
        </p:txBody>
      </p:sp>
      <p:pic>
        <p:nvPicPr>
          <p:cNvPr id="9" name="Grafik 8">
            <a:extLst>
              <a:ext uri="{FF2B5EF4-FFF2-40B4-BE49-F238E27FC236}">
                <a16:creationId xmlns:a16="http://schemas.microsoft.com/office/drawing/2014/main" id="{293310F7-117D-4045-8610-3277CC5ED29B}"/>
              </a:ext>
            </a:extLst>
          </p:cNvPr>
          <p:cNvPicPr>
            <a:picLocks noChangeAspect="1"/>
          </p:cNvPicPr>
          <p:nvPr userDrawn="1"/>
        </p:nvPicPr>
        <p:blipFill>
          <a:blip r:embed="rId2"/>
          <a:stretch>
            <a:fillRect/>
          </a:stretch>
        </p:blipFill>
        <p:spPr>
          <a:xfrm>
            <a:off x="7711621" y="288569"/>
            <a:ext cx="1170000" cy="617280"/>
          </a:xfrm>
          <a:prstGeom prst="rect">
            <a:avLst/>
          </a:prstGeom>
        </p:spPr>
      </p:pic>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344613"/>
            <a:ext cx="3960000" cy="3859212"/>
          </a:xfrm>
        </p:spPr>
        <p:txBody>
          <a:bodyPr>
            <a:normAutofit/>
          </a:bodyPr>
          <a:lstStyle>
            <a:lvl1pPr>
              <a:defRPr sz="1600"/>
            </a:lvl1pPr>
            <a:lvl2pPr marL="541312" indent="-285750">
              <a:buClr>
                <a:schemeClr val="accent1"/>
              </a:buClr>
              <a:buFont typeface="Wingdings" charset="2"/>
              <a:buChar char="§"/>
              <a:defRPr sz="1500"/>
            </a:lvl2pPr>
            <a:lvl3pPr>
              <a:defRPr sz="1400"/>
            </a:lvl3pPr>
            <a:lvl4pPr>
              <a:buClr>
                <a:schemeClr val="accent1"/>
              </a:buClr>
              <a:defRPr sz="1200"/>
            </a:lvl4pPr>
            <a:lvl5pP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Inhaltsplatzhalter 3"/>
          <p:cNvSpPr>
            <a:spLocks noGrp="1"/>
          </p:cNvSpPr>
          <p:nvPr>
            <p:ph sz="half" idx="2" hasCustomPrompt="1"/>
          </p:nvPr>
        </p:nvSpPr>
        <p:spPr>
          <a:xfrm>
            <a:off x="4715688" y="1344613"/>
            <a:ext cx="3960000" cy="3859212"/>
          </a:xfrm>
        </p:spPr>
        <p:txBody>
          <a:bodyPr>
            <a:normAutofit/>
          </a:bodyPr>
          <a:lstStyle>
            <a:lvl1pPr>
              <a:buClr>
                <a:schemeClr val="accent1"/>
              </a:buClr>
              <a:defRPr sz="1600"/>
            </a:lvl1pPr>
            <a:lvl2pPr marL="541312" indent="-285750">
              <a:buClr>
                <a:schemeClr val="accent1"/>
              </a:buClr>
              <a:buFont typeface="Wingdings" charset="2"/>
              <a:buChar char="§"/>
              <a:defRPr sz="1500"/>
            </a:lvl2pPr>
            <a:lvl3pPr>
              <a:defRPr sz="1400"/>
            </a:lvl3pPr>
            <a:lvl4pPr>
              <a:buClr>
                <a:schemeClr val="accent1"/>
              </a:buClr>
              <a:defRPr sz="1200"/>
            </a:lvl4pPr>
            <a:lvl5pPr>
              <a:buClr>
                <a:schemeClr val="accent1"/>
              </a:buCl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5" name="Datumsplatzhalter 4"/>
          <p:cNvSpPr>
            <a:spLocks noGrp="1"/>
          </p:cNvSpPr>
          <p:nvPr>
            <p:ph type="dt" sz="half" idx="10"/>
          </p:nvPr>
        </p:nvSpPr>
        <p:spPr/>
        <p:txBody>
          <a:bodyPr/>
          <a:lstStyle/>
          <a:p>
            <a:fld id="{C2FD44FF-326E-4934-AE8D-65DEFF191BB1}" type="datetime1">
              <a:rPr lang="en-GB" smtClean="0"/>
              <a:t>25/08/2023</a:t>
            </a:fld>
            <a:endParaRPr lang="en-GB" dirty="0"/>
          </a:p>
        </p:txBody>
      </p:sp>
      <p:sp>
        <p:nvSpPr>
          <p:cNvPr id="9" name="Fußzeilenplatzhalter 8"/>
          <p:cNvSpPr>
            <a:spLocks noGrp="1"/>
          </p:cNvSpPr>
          <p:nvPr>
            <p:ph type="ftr" sz="quarter" idx="11"/>
          </p:nvPr>
        </p:nvSpPr>
        <p:spPr/>
        <p:txBody>
          <a:bodyPr/>
          <a:lstStyle/>
          <a:p>
            <a:r>
              <a:rPr lang="en-GB" dirty="0"/>
              <a:t>Sample Footer</a:t>
            </a:r>
          </a:p>
        </p:txBody>
      </p:sp>
      <p:sp>
        <p:nvSpPr>
          <p:cNvPr id="10" name="Foliennummernplatzhalter 9"/>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Zwei Inhalte Vergleich">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935991"/>
            <a:ext cx="3960000" cy="3267834"/>
          </a:xfrm>
        </p:spPr>
        <p:txBody>
          <a:bodyPr>
            <a:normAutofit/>
          </a:bodyPr>
          <a:lstStyle>
            <a:lvl1pPr>
              <a:defRPr sz="1600"/>
            </a:lvl1pPr>
            <a:lvl2pPr>
              <a:defRPr sz="1500"/>
            </a:lvl2pPr>
            <a:lvl3pPr>
              <a:defRPr sz="1200"/>
            </a:lvl3pPr>
            <a:lvl4pPr>
              <a:defRPr sz="1100"/>
            </a:lvl4pPr>
            <a:lvl5pPr>
              <a:defRPr sz="11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Inhaltsplatzhalter 3"/>
          <p:cNvSpPr>
            <a:spLocks noGrp="1"/>
          </p:cNvSpPr>
          <p:nvPr>
            <p:ph sz="half" idx="2" hasCustomPrompt="1"/>
          </p:nvPr>
        </p:nvSpPr>
        <p:spPr>
          <a:xfrm>
            <a:off x="4715688" y="1935991"/>
            <a:ext cx="3960000" cy="3267834"/>
          </a:xfrm>
        </p:spPr>
        <p:txBody>
          <a:bodyPr>
            <a:normAutofit/>
          </a:bodyPr>
          <a:lstStyle>
            <a:lvl1pPr>
              <a:defRPr sz="1600"/>
            </a:lvl1pPr>
            <a:lvl2pPr>
              <a:defRPr sz="1500"/>
            </a:lvl2pPr>
            <a:lvl3pPr>
              <a:defRPr sz="1200"/>
            </a:lvl3pPr>
            <a:lvl4pPr>
              <a:defRPr sz="1100"/>
            </a:lvl4pPr>
            <a:lvl5pPr>
              <a:defRPr sz="11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8" name="Textplatzhalter 2"/>
          <p:cNvSpPr>
            <a:spLocks noGrp="1"/>
          </p:cNvSpPr>
          <p:nvPr>
            <p:ph type="body" idx="13" hasCustomPrompt="1"/>
          </p:nvPr>
        </p:nvSpPr>
        <p:spPr bwMode="gray">
          <a:xfrm>
            <a:off x="468314" y="1344613"/>
            <a:ext cx="3960811" cy="533136"/>
          </a:xfrm>
          <a:solidFill>
            <a:schemeClr val="accent1"/>
          </a:solidFill>
          <a:ln>
            <a:solidFill>
              <a:schemeClr val="accent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92066" indent="0">
              <a:buNone/>
              <a:tabLst/>
              <a:defRPr sz="1800" b="1" baseline="0">
                <a:solidFill>
                  <a:schemeClr val="bg1"/>
                </a:solidFill>
                <a:latin typeface="+mj-lt"/>
              </a:defRPr>
            </a:lvl1pPr>
            <a:lvl2pPr marL="457153" indent="0">
              <a:buNone/>
              <a:defRPr sz="2000" b="1"/>
            </a:lvl2pPr>
            <a:lvl3pPr marL="914306" indent="0">
              <a:buNone/>
              <a:defRPr sz="1800" b="1"/>
            </a:lvl3pPr>
            <a:lvl4pPr marL="1371460" indent="0">
              <a:buNone/>
              <a:defRPr sz="1600" b="1"/>
            </a:lvl4pPr>
            <a:lvl5pPr marL="1828613" indent="0">
              <a:buNone/>
              <a:defRPr sz="1600" b="1"/>
            </a:lvl5pPr>
            <a:lvl6pPr marL="2285767" indent="0">
              <a:buNone/>
              <a:defRPr sz="1600" b="1"/>
            </a:lvl6pPr>
            <a:lvl7pPr marL="2742920" indent="0">
              <a:buNone/>
              <a:defRPr sz="1600" b="1"/>
            </a:lvl7pPr>
            <a:lvl8pPr marL="3200073" indent="0">
              <a:buNone/>
              <a:defRPr sz="1600" b="1"/>
            </a:lvl8pPr>
            <a:lvl9pPr marL="3657227" indent="0">
              <a:buNone/>
              <a:defRPr sz="1600" b="1"/>
            </a:lvl9pPr>
          </a:lstStyle>
          <a:p>
            <a:pPr lvl="0"/>
            <a:r>
              <a:rPr lang="en-GB" dirty="0"/>
              <a:t>Subtitle 1</a:t>
            </a:r>
          </a:p>
        </p:txBody>
      </p:sp>
      <p:sp>
        <p:nvSpPr>
          <p:cNvPr id="5" name="Datumsplatzhalter 4"/>
          <p:cNvSpPr>
            <a:spLocks noGrp="1"/>
          </p:cNvSpPr>
          <p:nvPr>
            <p:ph type="dt" sz="half" idx="14"/>
          </p:nvPr>
        </p:nvSpPr>
        <p:spPr/>
        <p:txBody>
          <a:bodyPr/>
          <a:lstStyle/>
          <a:p>
            <a:fld id="{9E16A0E8-29DE-4D75-BF66-2C047D439D41}" type="datetime1">
              <a:rPr lang="en-GB" smtClean="0"/>
              <a:t>25/08/2023</a:t>
            </a:fld>
            <a:endParaRPr lang="en-GB" dirty="0"/>
          </a:p>
        </p:txBody>
      </p:sp>
      <p:sp>
        <p:nvSpPr>
          <p:cNvPr id="11" name="Fußzeilenplatzhalter 10"/>
          <p:cNvSpPr>
            <a:spLocks noGrp="1"/>
          </p:cNvSpPr>
          <p:nvPr>
            <p:ph type="ftr" sz="quarter" idx="15"/>
          </p:nvPr>
        </p:nvSpPr>
        <p:spPr/>
        <p:txBody>
          <a:bodyPr/>
          <a:lstStyle/>
          <a:p>
            <a:r>
              <a:rPr lang="en-GB" dirty="0"/>
              <a:t>Sample Footer</a:t>
            </a:r>
          </a:p>
        </p:txBody>
      </p:sp>
      <p:sp>
        <p:nvSpPr>
          <p:cNvPr id="12" name="Foliennummernplatzhalter 11"/>
          <p:cNvSpPr>
            <a:spLocks noGrp="1"/>
          </p:cNvSpPr>
          <p:nvPr>
            <p:ph type="sldNum" sz="quarter" idx="16"/>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
        <p:nvSpPr>
          <p:cNvPr id="14" name="Textplatzhalter 2"/>
          <p:cNvSpPr>
            <a:spLocks noGrp="1"/>
          </p:cNvSpPr>
          <p:nvPr>
            <p:ph type="body" idx="17" hasCustomPrompt="1"/>
          </p:nvPr>
        </p:nvSpPr>
        <p:spPr bwMode="gray">
          <a:xfrm>
            <a:off x="4727894" y="1344613"/>
            <a:ext cx="3960811" cy="533136"/>
          </a:xfrm>
          <a:solidFill>
            <a:schemeClr val="accent1"/>
          </a:solidFill>
          <a:ln>
            <a:solidFill>
              <a:schemeClr val="accent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92066" indent="0">
              <a:buNone/>
              <a:tabLst/>
              <a:defRPr sz="1800" b="1" baseline="0">
                <a:solidFill>
                  <a:schemeClr val="bg1"/>
                </a:solidFill>
                <a:latin typeface="+mj-lt"/>
              </a:defRPr>
            </a:lvl1pPr>
            <a:lvl2pPr marL="457153" indent="0">
              <a:buNone/>
              <a:defRPr sz="2000" b="1"/>
            </a:lvl2pPr>
            <a:lvl3pPr marL="914306" indent="0">
              <a:buNone/>
              <a:defRPr sz="1800" b="1"/>
            </a:lvl3pPr>
            <a:lvl4pPr marL="1371460" indent="0">
              <a:buNone/>
              <a:defRPr sz="1600" b="1"/>
            </a:lvl4pPr>
            <a:lvl5pPr marL="1828613" indent="0">
              <a:buNone/>
              <a:defRPr sz="1600" b="1"/>
            </a:lvl5pPr>
            <a:lvl6pPr marL="2285767" indent="0">
              <a:buNone/>
              <a:defRPr sz="1600" b="1"/>
            </a:lvl6pPr>
            <a:lvl7pPr marL="2742920" indent="0">
              <a:buNone/>
              <a:defRPr sz="1600" b="1"/>
            </a:lvl7pPr>
            <a:lvl8pPr marL="3200073" indent="0">
              <a:buNone/>
              <a:defRPr sz="1600" b="1"/>
            </a:lvl8pPr>
            <a:lvl9pPr marL="3657227" indent="0">
              <a:buNone/>
              <a:defRPr sz="1600" b="1"/>
            </a:lvl9pPr>
          </a:lstStyle>
          <a:p>
            <a:pPr lvl="0"/>
            <a:r>
              <a:rPr lang="en-GB" dirty="0"/>
              <a:t>Subtitle 2</a:t>
            </a:r>
          </a:p>
        </p:txBody>
      </p:sp>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sp>
        <p:nvSpPr>
          <p:cNvPr id="5" name="Rechteck 4"/>
          <p:cNvSpPr/>
          <p:nvPr/>
        </p:nvSpPr>
        <p:spPr>
          <a:xfrm>
            <a:off x="467544" y="1964530"/>
            <a:ext cx="4319712" cy="2716954"/>
          </a:xfrm>
          <a:prstGeom prst="rect">
            <a:avLst/>
          </a:prstGeom>
          <a:ln w="12700">
            <a:solidFill>
              <a:schemeClr val="bg1">
                <a:lumMod val="50000"/>
              </a:schemeClr>
            </a:solidFill>
          </a:ln>
          <a:effectLst/>
        </p:spPr>
        <p:style>
          <a:lnRef idx="2">
            <a:schemeClr val="dk1"/>
          </a:lnRef>
          <a:fillRef idx="1">
            <a:schemeClr val="lt1"/>
          </a:fillRef>
          <a:effectRef idx="0">
            <a:schemeClr val="dk1"/>
          </a:effectRef>
          <a:fontRef idx="minor">
            <a:schemeClr val="dk1"/>
          </a:fontRef>
        </p:style>
        <p:txBody>
          <a:bodyPr lIns="91431" tIns="45715" rIns="91431" bIns="45715" rtlCol="0" anchor="ctr"/>
          <a:lstStyle/>
          <a:p>
            <a:pPr algn="ctr"/>
            <a:endParaRPr lang="en-GB" dirty="0"/>
          </a:p>
        </p:txBody>
      </p:sp>
      <p:pic>
        <p:nvPicPr>
          <p:cNvPr id="7" name="Grafik 6" descr="Logo-für-VK.png"/>
          <p:cNvPicPr>
            <a:picLocks noChangeAspect="1"/>
          </p:cNvPicPr>
          <p:nvPr/>
        </p:nvPicPr>
        <p:blipFill>
          <a:blip r:embed="rId2" cstate="print"/>
          <a:stretch>
            <a:fillRect/>
          </a:stretch>
        </p:blipFill>
        <p:spPr>
          <a:xfrm>
            <a:off x="611560" y="2127250"/>
            <a:ext cx="492443" cy="2252663"/>
          </a:xfrm>
          <a:prstGeom prst="rect">
            <a:avLst/>
          </a:prstGeom>
        </p:spPr>
      </p:pic>
      <p:sp>
        <p:nvSpPr>
          <p:cNvPr id="11" name="Textplatzhalter 10"/>
          <p:cNvSpPr>
            <a:spLocks noGrp="1"/>
          </p:cNvSpPr>
          <p:nvPr>
            <p:ph type="body" sz="quarter" idx="10" hasCustomPrompt="1"/>
          </p:nvPr>
        </p:nvSpPr>
        <p:spPr>
          <a:xfrm>
            <a:off x="1684020" y="2559843"/>
            <a:ext cx="2763926" cy="1811291"/>
          </a:xfrm>
        </p:spPr>
        <p:txBody>
          <a:bodyPr>
            <a:normAutofit/>
          </a:bodyPr>
          <a:lstStyle>
            <a:lvl1pPr marL="0" marR="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sz="1100" baseline="0"/>
            </a:lvl1pPr>
            <a:lvl2pPr marL="0" indent="0">
              <a:buNone/>
              <a:defRPr/>
            </a:lvl2pPr>
            <a:lvl3pPr marL="0" indent="0">
              <a:buNone/>
              <a:defRPr/>
            </a:lvl3pPr>
            <a:lvl4pPr marL="0" indent="0">
              <a:buNone/>
              <a:defRPr/>
            </a:lvl4pPr>
            <a:lvl5pPr marL="0" indent="0">
              <a:buNone/>
              <a:defRPr/>
            </a:lvl5pPr>
          </a:lstStyle>
          <a:p>
            <a:pPr marL="0" marR="0" lvl="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a:pPr>
            <a:r>
              <a:rPr kumimoji="0" lang="en-GB" sz="1000" b="0" i="0" u="none" strike="noStrike" kern="1200" cap="none" spc="0" normalizeH="0" baseline="0" noProof="0" dirty="0" err="1">
                <a:ln>
                  <a:noFill/>
                </a:ln>
                <a:solidFill>
                  <a:srgbClr val="000000"/>
                </a:solidFill>
                <a:effectLst/>
                <a:uLnTx/>
                <a:uFillTx/>
                <a:latin typeface="+mn-lt"/>
                <a:ea typeface="+mn-ea"/>
                <a:cs typeface="+mn-cs"/>
              </a:rPr>
              <a:t>Hier</a:t>
            </a:r>
            <a:r>
              <a:rPr kumimoji="0" lang="en-GB" sz="1000" b="0" i="0" u="none" strike="noStrike" kern="1200" cap="none" spc="0" normalizeH="0" baseline="0" noProof="0" dirty="0">
                <a:ln>
                  <a:noFill/>
                </a:ln>
                <a:solidFill>
                  <a:srgbClr val="000000"/>
                </a:solidFill>
                <a:effectLst/>
                <a:uLnTx/>
                <a:uFillTx/>
                <a:latin typeface="+mn-lt"/>
                <a:ea typeface="+mn-ea"/>
                <a:cs typeface="+mn-cs"/>
              </a:rPr>
              <a:t> </a:t>
            </a:r>
            <a:r>
              <a:rPr kumimoji="0" lang="en-GB" sz="1000" b="0" i="0" u="none" strike="noStrike" kern="1200" cap="none" spc="0" normalizeH="0" baseline="0" noProof="0" dirty="0" err="1">
                <a:ln>
                  <a:noFill/>
                </a:ln>
                <a:solidFill>
                  <a:srgbClr val="000000"/>
                </a:solidFill>
                <a:effectLst/>
                <a:uLnTx/>
                <a:uFillTx/>
                <a:latin typeface="+mn-lt"/>
                <a:ea typeface="+mn-ea"/>
                <a:cs typeface="+mn-cs"/>
              </a:rPr>
              <a:t>Adressdaten</a:t>
            </a:r>
            <a:r>
              <a:rPr kumimoji="0" lang="en-GB" sz="1000" b="0" i="0" u="none" strike="noStrike" kern="1200" cap="none" spc="0" normalizeH="0" baseline="0" noProof="0" dirty="0">
                <a:ln>
                  <a:noFill/>
                </a:ln>
                <a:solidFill>
                  <a:srgbClr val="000000"/>
                </a:solidFill>
                <a:effectLst/>
                <a:uLnTx/>
                <a:uFillTx/>
                <a:latin typeface="+mn-lt"/>
                <a:ea typeface="+mn-ea"/>
                <a:cs typeface="+mn-cs"/>
              </a:rPr>
              <a:t> </a:t>
            </a:r>
            <a:r>
              <a:rPr kumimoji="0" lang="en-GB" sz="1000" b="0" i="0" u="none" strike="noStrike" kern="1200" cap="none" spc="0" normalizeH="0" baseline="0" noProof="0" dirty="0" err="1">
                <a:ln>
                  <a:noFill/>
                </a:ln>
                <a:solidFill>
                  <a:srgbClr val="000000"/>
                </a:solidFill>
                <a:effectLst/>
                <a:uLnTx/>
                <a:uFillTx/>
                <a:latin typeface="+mn-lt"/>
                <a:ea typeface="+mn-ea"/>
                <a:cs typeface="+mn-cs"/>
              </a:rPr>
              <a:t>eingeben</a:t>
            </a:r>
            <a:endParaRPr kumimoji="0" lang="en-GB" sz="1000" b="0" i="0" u="none" strike="noStrike" kern="1200" cap="none" spc="0" normalizeH="0" baseline="0" noProof="0" dirty="0">
              <a:ln>
                <a:noFill/>
              </a:ln>
              <a:solidFill>
                <a:srgbClr val="000000"/>
              </a:solidFill>
              <a:effectLst/>
              <a:uLnTx/>
              <a:uFillTx/>
              <a:latin typeface="+mn-lt"/>
              <a:ea typeface="+mn-ea"/>
              <a:cs typeface="+mn-cs"/>
            </a:endParaRPr>
          </a:p>
        </p:txBody>
      </p:sp>
      <p:sp>
        <p:nvSpPr>
          <p:cNvPr id="8" name="Datumsplatzhalter 7"/>
          <p:cNvSpPr>
            <a:spLocks noGrp="1"/>
          </p:cNvSpPr>
          <p:nvPr>
            <p:ph type="dt" sz="half" idx="11"/>
          </p:nvPr>
        </p:nvSpPr>
        <p:spPr/>
        <p:txBody>
          <a:bodyPr/>
          <a:lstStyle/>
          <a:p>
            <a:fld id="{D1DA7DE9-F6B6-4FDA-A00F-1221D494593B}" type="datetime1">
              <a:rPr lang="en-GB" smtClean="0"/>
              <a:t>25/08/2023</a:t>
            </a:fld>
            <a:endParaRPr lang="en-GB" dirty="0"/>
          </a:p>
        </p:txBody>
      </p:sp>
      <p:sp>
        <p:nvSpPr>
          <p:cNvPr id="9" name="Fußzeilenplatzhalter 8"/>
          <p:cNvSpPr>
            <a:spLocks noGrp="1"/>
          </p:cNvSpPr>
          <p:nvPr>
            <p:ph type="ftr" sz="quarter" idx="12"/>
          </p:nvPr>
        </p:nvSpPr>
        <p:spPr/>
        <p:txBody>
          <a:bodyPr/>
          <a:lstStyle/>
          <a:p>
            <a:r>
              <a:rPr lang="en-GB" dirty="0"/>
              <a:t>Sample Footer</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elfolie Kontak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4" name="Rechteck 13"/>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5" name="Rechteck 14"/>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userDrawn="1">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3" name="Untertitel 2"/>
          <p:cNvSpPr>
            <a:spLocks noGrp="1"/>
          </p:cNvSpPr>
          <p:nvPr userDrawn="1">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baseline="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0" name="Kontaktdaten"/>
          <p:cNvSpPr>
            <a:spLocks noGrp="1"/>
          </p:cNvSpPr>
          <p:nvPr userDrawn="1"/>
        </p:nvSpPr>
        <p:spPr bwMode="white">
          <a:xfrm>
            <a:off x="287338" y="2941638"/>
            <a:ext cx="4284662" cy="1400000"/>
          </a:xfrm>
          <a:prstGeom prst="rect">
            <a:avLst/>
          </a:prstGeom>
          <a:solidFill>
            <a:srgbClr val="FFFFFF">
              <a:alpha val="90000"/>
            </a:srgbClr>
          </a:solidFill>
          <a:ln>
            <a:noFill/>
          </a:ln>
        </p:spPr>
        <p:txBody>
          <a:bodyPr wrap="square" lIns="324000" tIns="216000" rIns="324000" bIns="216000" rtlCol="0" anchor="t" anchorCtr="0">
            <a:spAutoFit/>
          </a:bodyPr>
          <a:lstStyle>
            <a:lvl1pPr marL="0" indent="0">
              <a:buNone/>
              <a:defRPr lang="de-DE" sz="1200" baseline="0" dirty="0" smtClean="0"/>
            </a:lvl1pPr>
          </a:lstStyle>
          <a:p>
            <a:pPr marL="0" indent="0">
              <a:buNone/>
            </a:pPr>
            <a:r>
              <a:rPr lang="en-GB" sz="1100" dirty="0">
                <a:solidFill>
                  <a:srgbClr val="000000"/>
                </a:solidFill>
                <a:latin typeface="+mn-lt"/>
              </a:rPr>
              <a:t>Dr Arne Floh, Senior Lecturer in Marketing</a:t>
            </a:r>
          </a:p>
          <a:p>
            <a:pPr marL="0" indent="0">
              <a:buNone/>
            </a:pPr>
            <a:r>
              <a:rPr lang="en-GB" sz="1100" dirty="0">
                <a:solidFill>
                  <a:srgbClr val="000000"/>
                </a:solidFill>
                <a:latin typeface="+mn-lt"/>
              </a:rPr>
              <a:t>WU Vienna, Institute for International Business</a:t>
            </a:r>
          </a:p>
          <a:p>
            <a:pPr marL="0" indent="0">
              <a:buNone/>
            </a:pPr>
            <a:r>
              <a:rPr lang="en-GB" sz="1100" dirty="0">
                <a:solidFill>
                  <a:srgbClr val="000000"/>
                </a:solidFill>
                <a:latin typeface="+mn-lt"/>
                <a:hlinkClick r:id="rId20"/>
              </a:rPr>
              <a:t>arne.floh@wu.ac.at</a:t>
            </a:r>
          </a:p>
          <a:p>
            <a:pPr marL="0" indent="0">
              <a:buNone/>
            </a:pPr>
            <a:r>
              <a:rPr lang="en-GB" sz="1100" dirty="0">
                <a:solidFill>
                  <a:srgbClr val="000000"/>
                </a:solidFill>
                <a:latin typeface="+mn-lt"/>
                <a:hlinkClick r:id="rId21"/>
              </a:rPr>
              <a:t>Office hours: book online (Google Calendar)</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8" name="Grafik 17">
            <a:extLst>
              <a:ext uri="{FF2B5EF4-FFF2-40B4-BE49-F238E27FC236}">
                <a16:creationId xmlns:a16="http://schemas.microsoft.com/office/drawing/2014/main" id="{35A845CD-2D10-42BB-97DB-CDA723EE9EBF}"/>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1A49BD17-4238-4565-A4B6-2E20A7C19FA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1096689772"/>
      </p:ext>
    </p:extLst>
  </p:cSld>
  <p:clrMapOvr>
    <a:masterClrMapping/>
  </p:clrMapOvr>
  <p:transition>
    <p:fade/>
  </p:transition>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nhalt und Bild mit Logo">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344613"/>
            <a:ext cx="3960000" cy="3859212"/>
          </a:xfrm>
        </p:spPr>
        <p:txBody>
          <a:bodyPr>
            <a:normAutofit/>
          </a:bodyPr>
          <a:lstStyle>
            <a:lvl1pPr>
              <a:defRPr sz="1600"/>
            </a:lvl1pPr>
            <a:lvl2pPr marL="541312" indent="-285750">
              <a:buClr>
                <a:schemeClr val="accent1"/>
              </a:buClr>
              <a:buFont typeface="Wingdings" charset="2"/>
              <a:buChar char="§"/>
              <a:defRPr sz="1500"/>
            </a:lvl2pPr>
            <a:lvl3pPr>
              <a:defRPr sz="1400"/>
            </a:lvl3pPr>
            <a:lvl4pPr>
              <a:buClr>
                <a:schemeClr val="accent1"/>
              </a:buClr>
              <a:defRPr sz="1200"/>
            </a:lvl4pPr>
            <a:lvl5pP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Bildplatzhalter 3"/>
          <p:cNvSpPr>
            <a:spLocks noGrp="1"/>
          </p:cNvSpPr>
          <p:nvPr>
            <p:ph type="pic" sz="half" idx="2" hasCustomPrompt="1"/>
          </p:nvPr>
        </p:nvSpPr>
        <p:spPr>
          <a:xfrm>
            <a:off x="4715688" y="1344613"/>
            <a:ext cx="3960000" cy="3859212"/>
          </a:xfrm>
        </p:spPr>
        <p:txBody>
          <a:bodyPr anchor="ctr"/>
          <a:lstStyle>
            <a:lvl1pPr marL="0" indent="0" algn="ctr">
              <a:buNone/>
              <a:defRPr sz="1200"/>
            </a:lvl1pPr>
          </a:lstStyle>
          <a:p>
            <a:r>
              <a:rPr lang="en-GB" dirty="0"/>
              <a:t>Click icon to add picture</a:t>
            </a:r>
          </a:p>
        </p:txBody>
      </p:sp>
      <p:sp>
        <p:nvSpPr>
          <p:cNvPr id="20" name="Logoplatzhalter 19"/>
          <p:cNvSpPr>
            <a:spLocks noGrp="1"/>
          </p:cNvSpPr>
          <p:nvPr>
            <p:ph type="pic" sz="quarter" idx="13" hasCustomPrompt="1"/>
          </p:nvPr>
        </p:nvSpPr>
        <p:spPr>
          <a:xfrm>
            <a:off x="7715688" y="4243825"/>
            <a:ext cx="860000" cy="860000"/>
          </a:xfrm>
        </p:spPr>
        <p:txBody>
          <a:bodyPr anchor="ctr"/>
          <a:lstStyle>
            <a:lvl1pPr marL="0" indent="0" algn="ctr">
              <a:buNone/>
              <a:defRPr sz="1200"/>
            </a:lvl1pPr>
          </a:lstStyle>
          <a:p>
            <a:r>
              <a:rPr lang="en-GB" dirty="0"/>
              <a:t>Logo</a:t>
            </a:r>
          </a:p>
        </p:txBody>
      </p:sp>
      <p:sp>
        <p:nvSpPr>
          <p:cNvPr id="5" name="Datumsplatzhalter 4"/>
          <p:cNvSpPr>
            <a:spLocks noGrp="1"/>
          </p:cNvSpPr>
          <p:nvPr>
            <p:ph type="dt" sz="half" idx="10"/>
          </p:nvPr>
        </p:nvSpPr>
        <p:spPr/>
        <p:txBody>
          <a:bodyPr/>
          <a:lstStyle/>
          <a:p>
            <a:fld id="{C2FD44FF-326E-4934-AE8D-65DEFF191BB1}" type="datetime1">
              <a:rPr lang="en-GB" smtClean="0"/>
              <a:t>25/08/2023</a:t>
            </a:fld>
            <a:endParaRPr lang="en-GB" dirty="0"/>
          </a:p>
        </p:txBody>
      </p:sp>
      <p:sp>
        <p:nvSpPr>
          <p:cNvPr id="9" name="Fußzeilenplatzhalter 8"/>
          <p:cNvSpPr>
            <a:spLocks noGrp="1"/>
          </p:cNvSpPr>
          <p:nvPr>
            <p:ph type="ftr" sz="quarter" idx="11"/>
          </p:nvPr>
        </p:nvSpPr>
        <p:spPr/>
        <p:txBody>
          <a:bodyPr/>
          <a:lstStyle/>
          <a:p>
            <a:r>
              <a:rPr lang="en-GB" dirty="0"/>
              <a:t>Sample Footer</a:t>
            </a:r>
          </a:p>
        </p:txBody>
      </p:sp>
      <p:sp>
        <p:nvSpPr>
          <p:cNvPr id="10" name="Foliennummernplatzhalter 9"/>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el und Tabelle">
    <p:spTree>
      <p:nvGrpSpPr>
        <p:cNvPr id="1" name=""/>
        <p:cNvGrpSpPr/>
        <p:nvPr/>
      </p:nvGrpSpPr>
      <p:grpSpPr>
        <a:xfrm>
          <a:off x="0" y="0"/>
          <a:ext cx="0" cy="0"/>
          <a:chOff x="0" y="0"/>
          <a:chExt cx="0" cy="0"/>
        </a:xfrm>
      </p:grpSpPr>
      <p:sp>
        <p:nvSpPr>
          <p:cNvPr id="3" name="Inhaltsplatzhalter 2"/>
          <p:cNvSpPr>
            <a:spLocks noGrp="1"/>
          </p:cNvSpPr>
          <p:nvPr>
            <p:ph type="tbl" idx="1" hasCustomPrompt="1"/>
          </p:nvPr>
        </p:nvSpPr>
        <p:spPr>
          <a:xfrm>
            <a:off x="462019" y="1344613"/>
            <a:ext cx="7759644" cy="3853905"/>
          </a:xfrm>
        </p:spPr>
        <p:txBody>
          <a:bodyPr lIns="0" rIns="0">
            <a:normAutofit/>
          </a:bodyPr>
          <a:lstStyle>
            <a:lvl1pPr>
              <a:defRPr sz="1600"/>
            </a:lvl1pPr>
            <a:lvl2pPr>
              <a:defRPr sz="1500"/>
            </a:lvl2pPr>
            <a:lvl3pPr>
              <a:defRPr sz="1400"/>
            </a:lvl3pPr>
            <a:lvl4pPr>
              <a:defRPr sz="1200"/>
            </a:lvl4pPr>
            <a:lvl5pPr>
              <a:defRPr sz="1200"/>
            </a:lvl5pPr>
          </a:lstStyle>
          <a:p>
            <a:pPr marL="0" indent="0">
              <a:buNone/>
            </a:pPr>
            <a:r>
              <a:rPr lang="en-GB" dirty="0"/>
              <a:t>Click icon to add table</a:t>
            </a:r>
          </a:p>
        </p:txBody>
      </p:sp>
      <p:sp>
        <p:nvSpPr>
          <p:cNvPr id="4" name="Datumsplatzhalter 3"/>
          <p:cNvSpPr>
            <a:spLocks noGrp="1"/>
          </p:cNvSpPr>
          <p:nvPr>
            <p:ph type="dt" sz="half" idx="10"/>
          </p:nvPr>
        </p:nvSpPr>
        <p:spPr/>
        <p:txBody>
          <a:bodyPr/>
          <a:lstStyle/>
          <a:p>
            <a:fld id="{E40E7AAB-A700-485E-A2FB-EAC3CFB07074}" type="datetime1">
              <a:rPr lang="en-GB" smtClean="0"/>
              <a:t>25/08/2023</a:t>
            </a:fld>
            <a:endParaRPr lang="en-GB" dirty="0"/>
          </a:p>
        </p:txBody>
      </p:sp>
      <p:sp>
        <p:nvSpPr>
          <p:cNvPr id="8" name="Fußzeilenplatzhalter 7"/>
          <p:cNvSpPr>
            <a:spLocks noGrp="1"/>
          </p:cNvSpPr>
          <p:nvPr>
            <p:ph type="ftr" sz="quarter" idx="11"/>
          </p:nvPr>
        </p:nvSpPr>
        <p:spPr/>
        <p:txBody>
          <a:bodyPr/>
          <a:lstStyle/>
          <a:p>
            <a:r>
              <a:rPr lang="en-GB" dirty="0"/>
              <a:t>Sample Footer</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bschlussfolie Kontakt">
    <p:spTree>
      <p:nvGrpSpPr>
        <p:cNvPr id="1" name=""/>
        <p:cNvGrpSpPr/>
        <p:nvPr/>
      </p:nvGrpSpPr>
      <p:grpSpPr>
        <a:xfrm>
          <a:off x="0" y="0"/>
          <a:ext cx="0" cy="0"/>
          <a:chOff x="0" y="0"/>
          <a:chExt cx="0" cy="0"/>
        </a:xfrm>
      </p:grpSpPr>
      <p:sp>
        <p:nvSpPr>
          <p:cNvPr id="5" name="Rechteck 4"/>
          <p:cNvSpPr/>
          <p:nvPr/>
        </p:nvSpPr>
        <p:spPr>
          <a:xfrm>
            <a:off x="467544" y="1964530"/>
            <a:ext cx="4319712" cy="2716954"/>
          </a:xfrm>
          <a:prstGeom prst="rect">
            <a:avLst/>
          </a:prstGeom>
          <a:ln w="12700">
            <a:solidFill>
              <a:schemeClr val="bg1">
                <a:lumMod val="50000"/>
              </a:schemeClr>
            </a:solidFill>
          </a:ln>
          <a:effectLst/>
        </p:spPr>
        <p:style>
          <a:lnRef idx="2">
            <a:schemeClr val="dk1"/>
          </a:lnRef>
          <a:fillRef idx="1">
            <a:schemeClr val="lt1"/>
          </a:fillRef>
          <a:effectRef idx="0">
            <a:schemeClr val="dk1"/>
          </a:effectRef>
          <a:fontRef idx="minor">
            <a:schemeClr val="dk1"/>
          </a:fontRef>
        </p:style>
        <p:txBody>
          <a:bodyPr lIns="91431" tIns="45715" rIns="91431" bIns="45715" rtlCol="0" anchor="ctr"/>
          <a:lstStyle/>
          <a:p>
            <a:pPr algn="ctr"/>
            <a:endParaRPr lang="en-GB" dirty="0"/>
          </a:p>
        </p:txBody>
      </p:sp>
      <p:pic>
        <p:nvPicPr>
          <p:cNvPr id="7" name="Grafik 6" descr="Logo-für-VK.png"/>
          <p:cNvPicPr>
            <a:picLocks noChangeAspect="1"/>
          </p:cNvPicPr>
          <p:nvPr/>
        </p:nvPicPr>
        <p:blipFill>
          <a:blip r:embed="rId2" cstate="print"/>
          <a:stretch>
            <a:fillRect/>
          </a:stretch>
        </p:blipFill>
        <p:spPr>
          <a:xfrm>
            <a:off x="611560" y="2127250"/>
            <a:ext cx="492443" cy="2252663"/>
          </a:xfrm>
          <a:prstGeom prst="rect">
            <a:avLst/>
          </a:prstGeom>
        </p:spPr>
      </p:pic>
      <p:sp>
        <p:nvSpPr>
          <p:cNvPr id="11" name="Kontaktdaten"/>
          <p:cNvSpPr>
            <a:spLocks noGrp="1"/>
          </p:cNvSpPr>
          <p:nvPr userDrawn="1"/>
        </p:nvSpPr>
        <p:spPr>
          <a:xfrm>
            <a:off x="1684020" y="2559843"/>
            <a:ext cx="2763926" cy="1811291"/>
          </a:xfrm>
          <a:prstGeom prst="rect">
            <a:avLst/>
          </a:prstGeom>
        </p:spPr>
        <p:txBody>
          <a:bodyPr>
            <a:normAutofit/>
          </a:bodyPr>
          <a:lstStyle>
            <a:lvl1pPr marL="0" marR="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sz="1100" baseline="0"/>
            </a:lvl1pPr>
            <a:lvl2pPr marL="0" indent="0">
              <a:buNone/>
              <a:defRPr/>
            </a:lvl2pPr>
            <a:lvl3pPr marL="0" indent="0">
              <a:buNone/>
              <a:defRPr/>
            </a:lvl3pPr>
            <a:lvl4pPr marL="0" indent="0">
              <a:buNone/>
              <a:defRPr/>
            </a:lvl4pPr>
            <a:lvl5pPr marL="0" indent="0">
              <a:buNone/>
              <a:defRPr/>
            </a:lvl5pPr>
          </a:lstStyle>
          <a:p>
            <a:pPr marL="0" indent="0">
              <a:buNone/>
            </a:pPr>
            <a:r>
              <a:rPr lang="en-GB" sz="1000" b="1" dirty="0">
                <a:solidFill>
                  <a:srgbClr val="000000"/>
                </a:solidFill>
                <a:latin typeface="+mn-lt"/>
              </a:rPr>
              <a:t>INSTITUTE FOR INTERNATIONAL BUSINESS</a:t>
            </a:r>
          </a:p>
          <a:p>
            <a:pPr marL="0" indent="0">
              <a:buNone/>
            </a:pPr>
            <a:r>
              <a:rPr lang="en-GB" sz="1000" dirty="0">
                <a:solidFill>
                  <a:srgbClr val="000000"/>
                </a:solidFill>
                <a:latin typeface="+mn-lt"/>
              </a:rPr>
              <a:t>Welthandelsplatz 1, 1020 Vienna, Austria</a:t>
            </a:r>
          </a:p>
          <a:p>
            <a:pPr marL="0" indent="0">
              <a:buNone/>
            </a:pPr>
            <a:endParaRPr lang="en-GB" sz="1000" dirty="0"/>
          </a:p>
          <a:p>
            <a:pPr marL="0" indent="0">
              <a:buNone/>
            </a:pPr>
            <a:r>
              <a:rPr lang="en-GB" sz="1000" b="1" dirty="0">
                <a:solidFill>
                  <a:srgbClr val="000000"/>
                </a:solidFill>
                <a:latin typeface="+mn-lt"/>
              </a:rPr>
              <a:t>DR ARNE FLOH</a:t>
            </a:r>
          </a:p>
          <a:p>
            <a:pPr marL="0" indent="0">
              <a:buNone/>
            </a:pPr>
            <a:r>
              <a:rPr lang="en-GB" sz="1000" dirty="0">
                <a:solidFill>
                  <a:srgbClr val="000000"/>
                </a:solidFill>
                <a:latin typeface="+mn-lt"/>
              </a:rPr>
              <a:t>Senior Lecturer in Marketing</a:t>
            </a:r>
          </a:p>
          <a:p>
            <a:pPr marL="0" indent="0">
              <a:buNone/>
            </a:pPr>
            <a:endParaRPr lang="en-GB" sz="1000" dirty="0"/>
          </a:p>
          <a:p>
            <a:pPr marL="0" indent="0">
              <a:buNone/>
            </a:pPr>
            <a:r>
              <a:rPr lang="en-GB" sz="1000" dirty="0">
                <a:solidFill>
                  <a:srgbClr val="000000"/>
                </a:solidFill>
                <a:latin typeface="+mn-lt"/>
              </a:rPr>
              <a:t>F +43-31336-6367</a:t>
            </a:r>
          </a:p>
          <a:p>
            <a:pPr marL="0" indent="0">
              <a:buNone/>
            </a:pPr>
            <a:r>
              <a:rPr lang="en-GB" sz="1000" dirty="0">
                <a:solidFill>
                  <a:srgbClr val="000000"/>
                </a:solidFill>
                <a:latin typeface="+mn-lt"/>
                <a:hlinkClick r:id="rId20"/>
              </a:rPr>
              <a:t>arne.floh@wu.ac.at</a:t>
            </a:r>
          </a:p>
          <a:p>
            <a:pPr marL="0" indent="0">
              <a:buNone/>
            </a:pPr>
            <a:r>
              <a:rPr lang="en-GB" sz="900" dirty="0">
                <a:solidFill>
                  <a:srgbClr val="000000"/>
                </a:solidFill>
                <a:latin typeface="+mn-lt"/>
                <a:hlinkClick r:id="rId22"/>
              </a:rPr>
              <a:t>www.wu.ac.at/en/welthandel/arne-floh</a:t>
            </a:r>
          </a:p>
          <a:p>
            <a:pPr marL="0" indent="0">
              <a:buNone/>
            </a:pPr>
            <a:r>
              <a:rPr lang="en-GB" sz="1000" dirty="0">
                <a:solidFill>
                  <a:srgbClr val="000000"/>
                </a:solidFill>
                <a:latin typeface="+mn-lt"/>
                <a:hlinkClick r:id="rId21"/>
              </a:rPr>
              <a:t>Office hours: book online</a:t>
            </a:r>
          </a:p>
        </p:txBody>
      </p:sp>
      <p:sp>
        <p:nvSpPr>
          <p:cNvPr id="8" name="Datumsplatzhalter 7"/>
          <p:cNvSpPr>
            <a:spLocks noGrp="1"/>
          </p:cNvSpPr>
          <p:nvPr>
            <p:ph type="dt" sz="half" idx="11"/>
          </p:nvPr>
        </p:nvSpPr>
        <p:spPr/>
        <p:txBody>
          <a:bodyPr/>
          <a:lstStyle/>
          <a:p>
            <a:fld id="{D1DA7DE9-F6B6-4FDA-A00F-1221D494593B}" type="datetime1">
              <a:rPr lang="en-GB" smtClean="0"/>
              <a:t>25/08/2023</a:t>
            </a:fld>
            <a:endParaRPr lang="en-GB" dirty="0"/>
          </a:p>
        </p:txBody>
      </p:sp>
      <p:sp>
        <p:nvSpPr>
          <p:cNvPr id="9" name="Fußzeilenplatzhalter 8"/>
          <p:cNvSpPr>
            <a:spLocks noGrp="1"/>
          </p:cNvSpPr>
          <p:nvPr>
            <p:ph type="ftr" sz="quarter" idx="12"/>
          </p:nvPr>
        </p:nvSpPr>
        <p:spPr/>
        <p:txBody>
          <a:bodyPr/>
          <a:lstStyle/>
          <a:p>
            <a:r>
              <a:rPr lang="en-GB" dirty="0"/>
              <a:t>Sample Footer</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1.png"/><Relationship Id="rId18" Type="http://schemas.openxmlformats.org/officeDocument/2006/relationships/image" Target="../media/image2.png"/><Relationship Id="rId19" Type="http://schemas.openxmlformats.org/officeDocument/2006/relationships/slideLayout" Target="../slideLayouts/slideLayout16.xml"/><Relationship Id="rId20" Type="http://schemas.openxmlformats.org/officeDocument/2006/relationships/slideLayout" Target="../slideLayouts/slideLayout17.xml"/><Relationship Id="rId21" Type="http://schemas.openxmlformats.org/officeDocument/2006/relationships/slideLayout" Target="../slideLayouts/slideLayout18.xml"/><Relationship Id="rId22"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 name="Textplatzhalter 2"/>
          <p:cNvSpPr>
            <a:spLocks noGrp="1"/>
          </p:cNvSpPr>
          <p:nvPr>
            <p:ph type="body" idx="1"/>
          </p:nvPr>
        </p:nvSpPr>
        <p:spPr>
          <a:xfrm>
            <a:off x="457200" y="1344613"/>
            <a:ext cx="7764463" cy="3859212"/>
          </a:xfrm>
          <a:prstGeom prst="rect">
            <a:avLst/>
          </a:prstGeom>
        </p:spPr>
        <p:txBody>
          <a:bodyPr vert="horz" lIns="0" tIns="45715" rIns="0" bIns="45715" rtlCol="0">
            <a:normAutofit/>
          </a:bodyPr>
          <a:lstStyle/>
          <a:p>
            <a:pPr lvl="0"/>
            <a:r>
              <a:rPr lang="en-GB" dirty="0" err="1"/>
              <a:t>Textmasterformate</a:t>
            </a:r>
            <a:r>
              <a:rPr lang="en-GB" dirty="0"/>
              <a:t> </a:t>
            </a:r>
            <a:r>
              <a:rPr lang="en-GB" dirty="0" err="1"/>
              <a:t>durch</a:t>
            </a:r>
            <a:r>
              <a:rPr lang="en-GB" dirty="0"/>
              <a:t> </a:t>
            </a:r>
            <a:r>
              <a:rPr lang="en-GB" dirty="0" err="1"/>
              <a:t>Klicken</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5" name="Fußzeilenplatzhalter 4"/>
          <p:cNvSpPr>
            <a:spLocks noGrp="1"/>
          </p:cNvSpPr>
          <p:nvPr userDrawn="1">
            <p:ph type="ftr" sz="quarter" idx="3"/>
          </p:nvPr>
        </p:nvSpPr>
        <p:spPr>
          <a:xfrm>
            <a:off x="1354561" y="5412059"/>
            <a:ext cx="3217443" cy="258085"/>
          </a:xfrm>
          <a:prstGeom prst="rect">
            <a:avLst/>
          </a:prstGeom>
        </p:spPr>
        <p:txBody>
          <a:bodyPr vert="horz" lIns="91431" tIns="45715" rIns="91431" bIns="45715" rtlCol="0" anchor="ctr"/>
          <a:lstStyle>
            <a:lvl1pPr algn="l">
              <a:defRPr sz="800" cap="all" baseline="0">
                <a:solidFill>
                  <a:schemeClr val="tx1">
                    <a:tint val="75000"/>
                  </a:schemeClr>
                </a:solidFill>
              </a:defRPr>
            </a:lvl1pPr>
          </a:lstStyle>
          <a:p>
            <a:r>
              <a:rPr lang="en-GB" dirty="0"/>
              <a:t>Sample Footer</a:t>
            </a:r>
          </a:p>
        </p:txBody>
      </p:sp>
      <p:sp>
        <p:nvSpPr>
          <p:cNvPr id="6" name="Foliennummernplatzhalter 5"/>
          <p:cNvSpPr>
            <a:spLocks noGrp="1"/>
          </p:cNvSpPr>
          <p:nvPr userDrawn="1">
            <p:ph type="sldNum" sz="quarter" idx="4"/>
          </p:nvPr>
        </p:nvSpPr>
        <p:spPr>
          <a:xfrm>
            <a:off x="462407" y="5412059"/>
            <a:ext cx="892150" cy="258085"/>
          </a:xfrm>
          <a:prstGeom prst="rect">
            <a:avLst/>
          </a:prstGeom>
        </p:spPr>
        <p:txBody>
          <a:bodyPr vert="horz" lIns="0" tIns="45715" rIns="0" bIns="45715" rtlCol="0" anchor="ctr"/>
          <a:lstStyle>
            <a:lvl1pPr algn="l">
              <a:defRPr sz="800" cap="all" baseline="0">
                <a:solidFill>
                  <a:schemeClr val="tx1">
                    <a:tint val="75000"/>
                  </a:schemeClr>
                </a:solidFill>
              </a:defRPr>
            </a:lvl1pPr>
          </a:lstStyle>
          <a:p>
            <a:r>
              <a:rPr lang="en-GB" dirty="0"/>
              <a:t>Page </a:t>
            </a:r>
            <a:fld id="{BE3DC40E-DBBE-4E2D-9EEC-FBF0DA0E9179}" type="slidenum">
              <a:rPr lang="en-GB" smtClean="0"/>
              <a:pPr/>
              <a:t>‹Nr.›</a:t>
            </a:fld>
            <a:endParaRPr lang="en-GB" dirty="0"/>
          </a:p>
        </p:txBody>
      </p:sp>
      <p:sp>
        <p:nvSpPr>
          <p:cNvPr id="7" name="Datumsplatzhalter 6"/>
          <p:cNvSpPr>
            <a:spLocks noGrp="1"/>
          </p:cNvSpPr>
          <p:nvPr userDrawn="1">
            <p:ph type="dt" sz="half" idx="2"/>
          </p:nvPr>
        </p:nvSpPr>
        <p:spPr>
          <a:xfrm>
            <a:off x="5745181" y="5412059"/>
            <a:ext cx="987407" cy="258085"/>
          </a:xfrm>
          <a:prstGeom prst="rect">
            <a:avLst/>
          </a:prstGeom>
        </p:spPr>
        <p:txBody>
          <a:bodyPr vert="horz" lIns="0" tIns="45715" rIns="0" bIns="45715" rtlCol="0" anchor="ctr"/>
          <a:lstStyle>
            <a:lvl1pPr algn="r">
              <a:defRPr lang="de-DE" sz="800" kern="1200" cap="all" baseline="0" smtClean="0">
                <a:solidFill>
                  <a:schemeClr val="tx1">
                    <a:tint val="75000"/>
                  </a:schemeClr>
                </a:solidFill>
                <a:latin typeface="+mn-lt"/>
                <a:ea typeface="+mn-ea"/>
                <a:cs typeface="+mn-cs"/>
              </a:defRPr>
            </a:lvl1pPr>
          </a:lstStyle>
          <a:p>
            <a:fld id="{AD672231-DCCE-48E5-AF73-62895FE58BB4}" type="datetime1">
              <a:rPr lang="en-GB" smtClean="0"/>
              <a:t>25/08/2023</a:t>
            </a:fld>
            <a:endParaRPr lang="en-GB" dirty="0"/>
          </a:p>
        </p:txBody>
      </p:sp>
      <p:sp>
        <p:nvSpPr>
          <p:cNvPr id="18" name="Rechteck 17"/>
          <p:cNvSpPr/>
          <p:nvPr userDrawn="1"/>
        </p:nvSpPr>
        <p:spPr bwMode="gray">
          <a:xfrm>
            <a:off x="0" y="1043522"/>
            <a:ext cx="9144000" cy="25200"/>
          </a:xfrm>
          <a:prstGeom prst="rect">
            <a:avLst/>
          </a:prstGeom>
          <a:solidFill>
            <a:srgbClr val="0C94B7"/>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15" name="Titelplatzhalter 14"/>
          <p:cNvSpPr>
            <a:spLocks noGrp="1"/>
          </p:cNvSpPr>
          <p:nvPr userDrawn="1">
            <p:ph type="title"/>
          </p:nvPr>
        </p:nvSpPr>
        <p:spPr bwMode="auto">
          <a:xfrm>
            <a:off x="462408" y="139700"/>
            <a:ext cx="6840000" cy="903822"/>
          </a:xfrm>
          <a:prstGeom prst="rect">
            <a:avLst/>
          </a:prstGeom>
        </p:spPr>
        <p:txBody>
          <a:bodyPr vert="horz" lIns="0" tIns="0" rIns="0" bIns="0" rtlCol="0" anchor="ctr">
            <a:normAutofit/>
          </a:bodyPr>
          <a:lstStyle/>
          <a:p>
            <a:r>
              <a:rPr lang="en-GB" dirty="0" err="1"/>
              <a:t>Titelmasterformat</a:t>
            </a:r>
            <a:r>
              <a:rPr lang="en-GB" dirty="0"/>
              <a:t> </a:t>
            </a:r>
            <a:r>
              <a:rPr lang="en-GB" dirty="0" err="1"/>
              <a:t>durch</a:t>
            </a:r>
            <a:r>
              <a:rPr lang="en-GB" dirty="0"/>
              <a:t> </a:t>
            </a:r>
            <a:br>
              <a:rPr lang="en-GB" dirty="0"/>
            </a:br>
            <a:r>
              <a:rPr lang="en-GB" dirty="0" err="1"/>
              <a:t>Klicken</a:t>
            </a:r>
            <a:r>
              <a:rPr lang="en-GB" dirty="0"/>
              <a:t> </a:t>
            </a:r>
            <a:r>
              <a:rPr lang="en-GB" dirty="0" err="1"/>
              <a:t>bearbeiten</a:t>
            </a:r>
            <a:endParaRPr lang="en-GB" dirty="0"/>
          </a:p>
        </p:txBody>
      </p:sp>
      <p:pic>
        <p:nvPicPr>
          <p:cNvPr id="13" name="Grafik 12">
            <a:extLst>
              <a:ext uri="{FF2B5EF4-FFF2-40B4-BE49-F238E27FC236}">
                <a16:creationId xmlns:a16="http://schemas.microsoft.com/office/drawing/2014/main" id="{49925201-EC66-4A08-AB14-A541648A67DE}"/>
              </a:ext>
            </a:extLst>
          </p:cNvPr>
          <p:cNvPicPr>
            <a:picLocks noChangeAspect="1"/>
          </p:cNvPicPr>
          <p:nvPr userDrawn="1"/>
        </p:nvPicPr>
        <p:blipFill>
          <a:blip r:embed="rId17"/>
          <a:stretch>
            <a:fillRect/>
          </a:stretch>
        </p:blipFill>
        <p:spPr>
          <a:xfrm>
            <a:off x="7711621" y="288569"/>
            <a:ext cx="1170000" cy="617280"/>
          </a:xfrm>
          <a:prstGeom prst="rect">
            <a:avLst/>
          </a:prstGeom>
        </p:spPr>
      </p:pic>
      <p:pic>
        <p:nvPicPr>
          <p:cNvPr id="11" name="Grafik 10">
            <a:extLst>
              <a:ext uri="{FF2B5EF4-FFF2-40B4-BE49-F238E27FC236}">
                <a16:creationId xmlns:a16="http://schemas.microsoft.com/office/drawing/2014/main" id="{0A212EC7-C80F-4EBC-9817-97C85E0A8AEB}"/>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cSld>
  <p:clrMap bg1="lt1" tx1="dk1" bg2="lt2" tx2="dk2" accent1="accent1" accent2="accent2" accent3="accent3" accent4="accent4" accent5="accent5" accent6="accent6" hlink="hlink" folHlink="folHlink"/>
  <p:sldLayoutIdLst>
    <p:sldLayoutId id="2147483671" r:id="rId1"/>
    <p:sldLayoutId id="2147483661" r:id="rId2"/>
    <p:sldLayoutId id="2147483663" r:id="rId3"/>
    <p:sldLayoutId id="2147483675" r:id="rId4"/>
    <p:sldLayoutId id="2147483676" r:id="rId5"/>
    <p:sldLayoutId id="2147483686" r:id="rId6"/>
    <p:sldLayoutId id="2147483687" r:id="rId7"/>
    <p:sldLayoutId id="2147483681" r:id="rId8"/>
    <p:sldLayoutId id="2147483682" r:id="rId9"/>
    <p:sldLayoutId id="2147483688" r:id="rId10"/>
    <p:sldLayoutId id="2147483691" r:id="rId11"/>
    <p:sldLayoutId id="2147483664" r:id="rId12"/>
    <p:sldLayoutId id="2147483667" r:id="rId13"/>
    <p:sldLayoutId id="2147483668" r:id="rId14"/>
    <p:sldLayoutId id="2147483670" r:id="rId15"/>
    <p:sldLayoutId id="2147483692" r:id="rId19"/>
    <p:sldLayoutId id="2147483693" r:id="rId20"/>
    <p:sldLayoutId id="2147483694" r:id="rId21"/>
    <p:sldLayoutId id="2147483695" r:id="rId22"/>
  </p:sldLayoutIdLst>
  <p:transition>
    <p:fade/>
  </p:transition>
  <p:hf hdr="0" dt="0"/>
  <p:txStyles>
    <p:titleStyle>
      <a:lvl1pPr algn="l" defTabSz="914306" rtl="0" eaLnBrk="1" latinLnBrk="0" hangingPunct="1">
        <a:lnSpc>
          <a:spcPct val="100000"/>
        </a:lnSpc>
        <a:spcBef>
          <a:spcPct val="0"/>
        </a:spcBef>
        <a:buNone/>
        <a:defRPr sz="2400" b="1" kern="1200">
          <a:solidFill>
            <a:schemeClr val="tx1"/>
          </a:solidFill>
          <a:latin typeface="Georgia" charset="0"/>
          <a:ea typeface="Georgia" charset="0"/>
          <a:cs typeface="Georgia" charset="0"/>
        </a:defRPr>
      </a:lvl1pPr>
    </p:titleStyle>
    <p:bodyStyle>
      <a:lvl1pPr marL="266700" indent="-266700" algn="l" defTabSz="914306" rtl="0" eaLnBrk="1" latinLnBrk="0" hangingPunct="1">
        <a:lnSpc>
          <a:spcPct val="100000"/>
        </a:lnSpc>
        <a:spcBef>
          <a:spcPts val="0"/>
        </a:spcBef>
        <a:spcAft>
          <a:spcPts val="600"/>
        </a:spcAft>
        <a:buClr>
          <a:schemeClr val="accent1"/>
        </a:buClr>
        <a:buFont typeface="Wingdings" charset="2"/>
        <a:buChar char="§"/>
        <a:defRPr sz="1600" kern="1200">
          <a:solidFill>
            <a:schemeClr val="tx1"/>
          </a:solidFill>
          <a:latin typeface="+mn-lt"/>
          <a:ea typeface="+mn-ea"/>
          <a:cs typeface="+mn-cs"/>
        </a:defRPr>
      </a:lvl1pPr>
      <a:lvl2pPr marL="539750" indent="-273050" algn="l" defTabSz="914306" rtl="0" eaLnBrk="1" latinLnBrk="0" hangingPunct="1">
        <a:lnSpc>
          <a:spcPct val="100000"/>
        </a:lnSpc>
        <a:spcBef>
          <a:spcPts val="0"/>
        </a:spcBef>
        <a:spcAft>
          <a:spcPts val="400"/>
        </a:spcAft>
        <a:buClr>
          <a:schemeClr val="accent1"/>
        </a:buClr>
        <a:buSzPct val="100000"/>
        <a:buFont typeface="Wingdings" charset="2"/>
        <a:buChar char="§"/>
        <a:defRPr sz="1500" kern="1200">
          <a:solidFill>
            <a:schemeClr val="tx1"/>
          </a:solidFill>
          <a:latin typeface="+mn-lt"/>
          <a:ea typeface="+mn-ea"/>
          <a:cs typeface="+mn-cs"/>
        </a:defRPr>
      </a:lvl2pPr>
      <a:lvl3pPr marL="814388" indent="-273050" algn="l" defTabSz="914306" rtl="0" eaLnBrk="1" latinLnBrk="0" hangingPunct="1">
        <a:lnSpc>
          <a:spcPct val="100000"/>
        </a:lnSpc>
        <a:spcBef>
          <a:spcPts val="0"/>
        </a:spcBef>
        <a:spcAft>
          <a:spcPts val="400"/>
        </a:spcAft>
        <a:buClr>
          <a:schemeClr val="accent1"/>
        </a:buClr>
        <a:buFont typeface="Wingdings" charset="2"/>
        <a:buChar char="§"/>
        <a:defRPr sz="1400" kern="1200">
          <a:solidFill>
            <a:schemeClr val="tx1"/>
          </a:solidFill>
          <a:latin typeface="+mn-lt"/>
          <a:ea typeface="+mn-ea"/>
          <a:cs typeface="+mn-cs"/>
        </a:defRPr>
      </a:lvl3pPr>
      <a:lvl4pPr marL="1074738" indent="-266700" algn="l" defTabSz="914306" rtl="0" eaLnBrk="1" latinLnBrk="0" hangingPunct="1">
        <a:lnSpc>
          <a:spcPct val="100000"/>
        </a:lnSpc>
        <a:spcBef>
          <a:spcPts val="0"/>
        </a:spcBef>
        <a:spcAft>
          <a:spcPts val="400"/>
        </a:spcAft>
        <a:buClr>
          <a:schemeClr val="accent1"/>
        </a:buClr>
        <a:buFont typeface="Wingdings" charset="2"/>
        <a:buChar char="§"/>
        <a:defRPr sz="1200" kern="1200">
          <a:solidFill>
            <a:schemeClr val="tx1"/>
          </a:solidFill>
          <a:latin typeface="+mn-lt"/>
          <a:ea typeface="+mn-ea"/>
          <a:cs typeface="+mn-cs"/>
        </a:defRPr>
      </a:lvl4pPr>
      <a:lvl5pPr marL="1341438" indent="-263525" algn="l" defTabSz="914306" rtl="0" eaLnBrk="1" latinLnBrk="0" hangingPunct="1">
        <a:lnSpc>
          <a:spcPct val="100000"/>
        </a:lnSpc>
        <a:spcBef>
          <a:spcPts val="0"/>
        </a:spcBef>
        <a:spcAft>
          <a:spcPts val="400"/>
        </a:spcAft>
        <a:buClr>
          <a:schemeClr val="accent1"/>
        </a:buClr>
        <a:buFont typeface="Wingdings" charset="2"/>
        <a:buChar char="§"/>
        <a:defRPr sz="1200" kern="1200">
          <a:solidFill>
            <a:schemeClr val="tx1"/>
          </a:solidFill>
          <a:latin typeface="+mn-lt"/>
          <a:ea typeface="+mn-ea"/>
          <a:cs typeface="+mn-cs"/>
        </a:defRPr>
      </a:lvl5pPr>
      <a:lvl6pPr marL="2514343"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96"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50"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03"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306" rtl="0" eaLnBrk="1" latinLnBrk="0" hangingPunct="1">
        <a:defRPr sz="1800" kern="1200">
          <a:solidFill>
            <a:schemeClr val="tx1"/>
          </a:solidFill>
          <a:latin typeface="+mn-lt"/>
          <a:ea typeface="+mn-ea"/>
          <a:cs typeface="+mn-cs"/>
        </a:defRPr>
      </a:lvl1pPr>
      <a:lvl2pPr marL="457153" algn="l" defTabSz="914306" rtl="0" eaLnBrk="1" latinLnBrk="0" hangingPunct="1">
        <a:defRPr sz="1800" kern="1200">
          <a:solidFill>
            <a:schemeClr val="tx1"/>
          </a:solidFill>
          <a:latin typeface="+mn-lt"/>
          <a:ea typeface="+mn-ea"/>
          <a:cs typeface="+mn-cs"/>
        </a:defRPr>
      </a:lvl2pPr>
      <a:lvl3pPr marL="914306" algn="l" defTabSz="914306" rtl="0" eaLnBrk="1" latinLnBrk="0" hangingPunct="1">
        <a:defRPr sz="1800" kern="1200">
          <a:solidFill>
            <a:schemeClr val="tx1"/>
          </a:solidFill>
          <a:latin typeface="+mn-lt"/>
          <a:ea typeface="+mn-ea"/>
          <a:cs typeface="+mn-cs"/>
        </a:defRPr>
      </a:lvl3pPr>
      <a:lvl4pPr marL="1371460" algn="l" defTabSz="914306" rtl="0" eaLnBrk="1" latinLnBrk="0" hangingPunct="1">
        <a:defRPr sz="1800" kern="1200">
          <a:solidFill>
            <a:schemeClr val="tx1"/>
          </a:solidFill>
          <a:latin typeface="+mn-lt"/>
          <a:ea typeface="+mn-ea"/>
          <a:cs typeface="+mn-cs"/>
        </a:defRPr>
      </a:lvl4pPr>
      <a:lvl5pPr marL="1828613" algn="l" defTabSz="914306" rtl="0" eaLnBrk="1" latinLnBrk="0" hangingPunct="1">
        <a:defRPr sz="1800" kern="1200">
          <a:solidFill>
            <a:schemeClr val="tx1"/>
          </a:solidFill>
          <a:latin typeface="+mn-lt"/>
          <a:ea typeface="+mn-ea"/>
          <a:cs typeface="+mn-cs"/>
        </a:defRPr>
      </a:lvl5pPr>
      <a:lvl6pPr marL="2285767" algn="l" defTabSz="914306" rtl="0" eaLnBrk="1" latinLnBrk="0" hangingPunct="1">
        <a:defRPr sz="1800" kern="1200">
          <a:solidFill>
            <a:schemeClr val="tx1"/>
          </a:solidFill>
          <a:latin typeface="+mn-lt"/>
          <a:ea typeface="+mn-ea"/>
          <a:cs typeface="+mn-cs"/>
        </a:defRPr>
      </a:lvl6pPr>
      <a:lvl7pPr marL="2742920" algn="l" defTabSz="914306" rtl="0" eaLnBrk="1" latinLnBrk="0" hangingPunct="1">
        <a:defRPr sz="1800" kern="1200">
          <a:solidFill>
            <a:schemeClr val="tx1"/>
          </a:solidFill>
          <a:latin typeface="+mn-lt"/>
          <a:ea typeface="+mn-ea"/>
          <a:cs typeface="+mn-cs"/>
        </a:defRPr>
      </a:lvl7pPr>
      <a:lvl8pPr marL="3200073" algn="l" defTabSz="914306" rtl="0" eaLnBrk="1" latinLnBrk="0" hangingPunct="1">
        <a:defRPr sz="1800" kern="1200">
          <a:solidFill>
            <a:schemeClr val="tx1"/>
          </a:solidFill>
          <a:latin typeface="+mn-lt"/>
          <a:ea typeface="+mn-ea"/>
          <a:cs typeface="+mn-cs"/>
        </a:defRPr>
      </a:lvl8pPr>
      <a:lvl9pPr marL="3657227" algn="l" defTabSz="91430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880" userDrawn="1">
          <p15:clr>
            <a:srgbClr val="F26B43"/>
          </p15:clr>
        </p15:guide>
        <p15:guide id="3" pos="288" userDrawn="1">
          <p15:clr>
            <a:srgbClr val="F26B43"/>
          </p15:clr>
        </p15:guide>
        <p15:guide id="4" pos="5179" userDrawn="1">
          <p15:clr>
            <a:srgbClr val="F26B43"/>
          </p15:clr>
        </p15:guide>
        <p15:guide id="5" pos="5467" userDrawn="1">
          <p15:clr>
            <a:srgbClr val="F26B43"/>
          </p15:clr>
        </p15:guide>
        <p15:guide id="7" orient="horz" pos="3278" userDrawn="1">
          <p15:clr>
            <a:srgbClr val="F26B43"/>
          </p15:clr>
        </p15:guide>
        <p15:guide id="9" orient="horz" pos="182" userDrawn="1">
          <p15:clr>
            <a:srgbClr val="F26B43"/>
          </p15:clr>
        </p15:guide>
        <p15:guide id="10" orient="horz" pos="847" userDrawn="1">
          <p15:clr>
            <a:srgbClr val="F26B43"/>
          </p15:clr>
        </p15:guide>
        <p15:guide id="11" orient="horz" pos="3515" userDrawn="1">
          <p15:clr>
            <a:srgbClr val="F26B43"/>
          </p15:clr>
        </p15:guide>
        <p15:guide id="12" orient="horz" pos="1097"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1.xml"/><Relationship Id="rId3" Type="http://schemas.openxmlformats.org/officeDocument/2006/relationships/image" Target="../media/image18.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9.png"/><Relationship Id="rId7" Type="http://schemas.openxmlformats.org/officeDocument/2006/relationships/image" Target="../media/image23.png"/><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2.xml"/><Relationship Id="rId3" Type="http://schemas.openxmlformats.org/officeDocument/2006/relationships/image" Target="../media/image20.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3.xml"/><Relationship Id="rId3" Type="http://schemas.openxmlformats.org/officeDocument/2006/relationships/image" Target="../media/image22.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4.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7.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Loyalität, Churn und Share of Wallet</a:t>
            </a:r>
          </a:p>
        </p:txBody>
      </p:sp>
      <p:sp>
        <p:nvSpPr>
          <p:cNvPr id="3" name="Subtitle 2"/>
          <p:cNvSpPr>
            <a:spLocks noGrp="1"/>
          </p:cNvSpPr>
          <p:nvPr>
            <p:ph type="subTitle" idx="1"/>
          </p:nvPr>
        </p:nvSpPr>
        <p:spPr/>
        <p:txBody>
          <a:bodyPr/>
          <a:lstStyle/>
          <a:p>
            <a:r>
              <a:t>Kennzahlen und Unternehmenserfolg</a:t>
            </a:r>
          </a:p>
        </p:txBody>
      </p:sp>
      <p:sp>
        <p:nvSpPr>
          <p:cNvPr id="4" name="Text Placeholder 3"/>
          <p:cNvSpPr>
            <a:spLocks noGrp="1"/>
          </p:cNvSpPr>
          <p:nvPr>
            <p:ph type="body" idx="12" sz="quarter"/>
          </p:nvPr>
        </p:nvSpPr>
        <p:spPr/>
        <p:txBody>
          <a:bodyPr/>
          <a:lstStyle/>
          <a:p>
            <a:r>
              <a:t>Oktober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Zahlt sich Kundenbindung aus?</a:t>
            </a:r>
          </a:p>
        </p:txBody>
      </p:sp>
      <p:sp>
        <p:nvSpPr>
          <p:cNvPr id="4" name="Footer Placeholder 3"/>
          <p:cNvSpPr>
            <a:spLocks noGrp="1"/>
          </p:cNvSpPr>
          <p:nvPr>
            <p:ph type="ftr" idx="11" sz="quarter"/>
          </p:nvPr>
        </p:nvSpPr>
        <p:spPr/>
        <p:txBody>
          <a:bodyPr/>
          <a:p>
            <a:r>
              <a:rPr lang="de-AT"/>
              <a:t>Loyalität, Churn und Share of Wallet</a:t>
            </a:r>
          </a:p>
        </p:txBody>
      </p:sp>
      <p:sp>
        <p:nvSpPr>
          <p:cNvPr id="5" name="Slide Number Placeholder 4"/>
          <p:cNvSpPr>
            <a:spLocks noGrp="1"/>
          </p:cNvSpPr>
          <p:nvPr>
            <p:ph type="sldNum" idx="12" sz="quarter"/>
          </p:nvPr>
        </p:nvSpPr>
        <p:spPr/>
        <p:txBody>
          <a:bodyPr/>
          <a:p>
            <a:r>
              <a:rPr lang="de-AT"/>
              <a:t>SEITE </a:t>
            </a:r>
            <a:fld id="{B6F15528-21DE-4FAA-801E-634DDDAF4B2B}" type="slidenum">
              <a:rPr lang="en-GB"/>
              <a:t>‹#›</a:t>
            </a:fld>
          </a:p>
        </p:txBody>
      </p:sp>
      <p:sp>
        <p:nvSpPr>
          <p:cNvPr id="6" name="Loyalty pays body"/>
          <p:cNvSpPr/>
          <p:nvPr/>
        </p:nvSpPr>
        <p:spPr>
          <a:xfrm>
            <a:off x="457200" y="1280160"/>
            <a:ext cx="4032504" cy="2651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oyalty pays band"/>
          <p:cNvSpPr/>
          <p:nvPr/>
        </p:nvSpPr>
        <p:spPr>
          <a:xfrm>
            <a:off x="457200" y="1280160"/>
            <a:ext cx="4032504"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Loyalty pays heading"/>
          <p:cNvSpPr txBox="1"/>
          <p:nvPr/>
        </p:nvSpPr>
        <p:spPr>
          <a:xfrm>
            <a:off x="566928" y="1335024"/>
            <a:ext cx="3346704" cy="365760"/>
          </a:xfrm>
          <a:prstGeom prst="rect">
            <a:avLst/>
          </a:prstGeom>
          <a:noFill/>
        </p:spPr>
        <p:txBody>
          <a:bodyPr wrap="square" lIns="36576" rIns="36576" tIns="18288" bIns="18288" anchor="ctr">
            <a:spAutoFit/>
          </a:bodyPr>
          <a:lstStyle/>
          <a:p>
            <a:pPr algn="l">
              <a:spcAft>
                <a:spcPts val="600"/>
              </a:spcAft>
            </a:pPr>
            <a:r>
              <a:rPr lang="de-AT" sz="1500" b="1" i="0">
                <a:solidFill>
                  <a:schemeClr val="bg1"/>
                </a:solidFill>
                <a:latin typeface="+mj-lt"/>
              </a:rPr>
              <a:t>Bindung zahlt sich aus</a:t>
            </a:r>
          </a:p>
        </p:txBody>
      </p:sp>
      <p:pic>
        <p:nvPicPr>
          <p:cNvPr id="9" name="Icon LuHeartHandshake" descr="LuHeartHandshake-white.png"/>
          <p:cNvPicPr>
            <a:picLocks noChangeAspect="1"/>
          </p:cNvPicPr>
          <p:nvPr/>
        </p:nvPicPr>
        <p:blipFill>
          <a:blip r:embed="rId2"/>
          <a:stretch>
            <a:fillRect/>
          </a:stretch>
        </p:blipFill>
        <p:spPr>
          <a:xfrm>
            <a:off x="4059936" y="1344168"/>
            <a:ext cx="329184" cy="329184"/>
          </a:xfrm>
          <a:prstGeom prst="rect">
            <a:avLst/>
          </a:prstGeom>
        </p:spPr>
      </p:pic>
      <p:sp>
        <p:nvSpPr>
          <p:cNvPr id="10" name="Loyalty pays text"/>
          <p:cNvSpPr txBox="1"/>
          <p:nvPr/>
        </p:nvSpPr>
        <p:spPr>
          <a:xfrm>
            <a:off x="594360" y="1847088"/>
            <a:ext cx="3758184" cy="1993391"/>
          </a:xfrm>
          <a:prstGeom prst="rect">
            <a:avLst/>
          </a:prstGeom>
          <a:noFill/>
        </p:spPr>
        <p:txBody>
          <a:bodyPr wrap="square" lIns="36576" rIns="36576" tIns="18288" bIns="18288" anchor="t">
            <a:spAutoFit/>
          </a:bodyPr>
          <a:lstStyle/>
          <a:p>
            <a:pPr algn="l">
              <a:spcAft>
                <a:spcPts val="700"/>
              </a:spcAft>
            </a:pPr>
            <a:r>
              <a:rPr lang="de-AT" sz="1400" b="1" i="0">
                <a:solidFill>
                  <a:schemeClr val="tx1"/>
                </a:solidFill>
              </a:rPr>
              <a:t>Service-Profit-Chain: </a:t>
            </a:r>
            <a:r>
              <a:rPr lang="de-AT" sz="1400" b="0" i="0">
                <a:solidFill>
                  <a:schemeClr val="tx1"/>
                </a:solidFill>
              </a:rPr>
              <a:t>zufriedene Mitarbeitende und Kunden steigern den Gewinn</a:t>
            </a:r>
          </a:p>
          <a:p>
            <a:pPr algn="l">
              <a:spcAft>
                <a:spcPts val="700"/>
              </a:spcAft>
            </a:pPr>
            <a:r>
              <a:rPr lang="de-AT" sz="1400" b="1" i="0">
                <a:solidFill>
                  <a:schemeClr val="tx1"/>
                </a:solidFill>
              </a:rPr>
              <a:t>Retention-Ökonomie: </a:t>
            </a:r>
            <a:r>
              <a:rPr lang="de-AT" sz="1400" b="0" i="0">
                <a:solidFill>
                  <a:schemeClr val="tx1"/>
                </a:solidFill>
              </a:rPr>
              <a:t>5 % weniger Abwanderung, 25 % mehr Gewinn</a:t>
            </a:r>
          </a:p>
          <a:p>
            <a:pPr algn="l">
              <a:spcAft>
                <a:spcPts val="700"/>
              </a:spcAft>
            </a:pPr>
            <a:r>
              <a:rPr lang="de-AT" sz="1400" b="1" i="0">
                <a:solidFill>
                  <a:schemeClr val="tx1"/>
                </a:solidFill>
              </a:rPr>
              <a:t>Customer Equity: </a:t>
            </a:r>
            <a:r>
              <a:rPr lang="de-AT" sz="1400" b="0" i="0">
                <a:solidFill>
                  <a:schemeClr val="tx1"/>
                </a:solidFill>
              </a:rPr>
              <a:t>Bindung ist der stärkste Hebel auf den Firmenwert</a:t>
            </a:r>
          </a:p>
        </p:txBody>
      </p:sp>
      <p:sp>
        <p:nvSpPr>
          <p:cNvPr id="11" name="Loyalty is not enough body"/>
          <p:cNvSpPr/>
          <p:nvPr/>
        </p:nvSpPr>
        <p:spPr>
          <a:xfrm>
            <a:off x="4654296" y="1280160"/>
            <a:ext cx="4032504" cy="2651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oyalty is not enough band"/>
          <p:cNvSpPr/>
          <p:nvPr/>
        </p:nvSpPr>
        <p:spPr>
          <a:xfrm>
            <a:off x="4654296" y="1280160"/>
            <a:ext cx="4032504" cy="4572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oyalty is not enough heading"/>
          <p:cNvSpPr txBox="1"/>
          <p:nvPr/>
        </p:nvSpPr>
        <p:spPr>
          <a:xfrm>
            <a:off x="4764024" y="1335024"/>
            <a:ext cx="3346704" cy="365760"/>
          </a:xfrm>
          <a:prstGeom prst="rect">
            <a:avLst/>
          </a:prstGeom>
          <a:noFill/>
        </p:spPr>
        <p:txBody>
          <a:bodyPr wrap="square" lIns="36576" rIns="36576" tIns="18288" bIns="18288" anchor="ctr">
            <a:spAutoFit/>
          </a:bodyPr>
          <a:lstStyle/>
          <a:p>
            <a:pPr algn="l">
              <a:spcAft>
                <a:spcPts val="600"/>
              </a:spcAft>
            </a:pPr>
            <a:r>
              <a:rPr lang="de-AT" sz="1500" b="1" i="0">
                <a:solidFill>
                  <a:schemeClr val="bg1"/>
                </a:solidFill>
                <a:latin typeface="+mj-lt"/>
              </a:rPr>
              <a:t>Bindung reicht nicht</a:t>
            </a:r>
          </a:p>
        </p:txBody>
      </p:sp>
      <p:pic>
        <p:nvPicPr>
          <p:cNvPr id="14" name="Icon LuScale" descr="LuScale-white.png"/>
          <p:cNvPicPr>
            <a:picLocks noChangeAspect="1"/>
          </p:cNvPicPr>
          <p:nvPr/>
        </p:nvPicPr>
        <p:blipFill>
          <a:blip r:embed="rId3"/>
          <a:stretch>
            <a:fillRect/>
          </a:stretch>
        </p:blipFill>
        <p:spPr>
          <a:xfrm>
            <a:off x="8257031" y="1344168"/>
            <a:ext cx="329184" cy="329184"/>
          </a:xfrm>
          <a:prstGeom prst="rect">
            <a:avLst/>
          </a:prstGeom>
        </p:spPr>
      </p:pic>
      <p:sp>
        <p:nvSpPr>
          <p:cNvPr id="15" name="Loyalty is not enough text"/>
          <p:cNvSpPr txBox="1"/>
          <p:nvPr/>
        </p:nvSpPr>
        <p:spPr>
          <a:xfrm>
            <a:off x="4791456" y="1847088"/>
            <a:ext cx="3758184" cy="1993391"/>
          </a:xfrm>
          <a:prstGeom prst="rect">
            <a:avLst/>
          </a:prstGeom>
          <a:noFill/>
        </p:spPr>
        <p:txBody>
          <a:bodyPr wrap="square" lIns="36576" rIns="36576" tIns="18288" bIns="18288" anchor="t">
            <a:spAutoFit/>
          </a:bodyPr>
          <a:lstStyle/>
          <a:p>
            <a:pPr algn="l">
              <a:spcAft>
                <a:spcPts val="700"/>
              </a:spcAft>
            </a:pPr>
            <a:r>
              <a:rPr lang="de-AT" sz="1400" b="1" i="0">
                <a:solidFill>
                  <a:schemeClr val="tx1"/>
                </a:solidFill>
              </a:rPr>
              <a:t>Reinartz &amp; Kumar: </a:t>
            </a:r>
            <a:r>
              <a:rPr lang="de-AT" sz="1400" b="0" i="0">
                <a:solidFill>
                  <a:schemeClr val="tx1"/>
                </a:solidFill>
              </a:rPr>
              <a:t>treue Kunden sind nicht immer profitabel</a:t>
            </a:r>
          </a:p>
          <a:p>
            <a:pPr algn="l">
              <a:spcAft>
                <a:spcPts val="700"/>
              </a:spcAft>
            </a:pPr>
            <a:r>
              <a:rPr lang="de-AT" sz="1400" b="1" i="0">
                <a:solidFill>
                  <a:schemeClr val="tx1"/>
                </a:solidFill>
              </a:rPr>
              <a:t>Keiningham: </a:t>
            </a:r>
            <a:r>
              <a:rPr lang="de-AT" sz="1400" b="0" i="0">
                <a:solidFill>
                  <a:schemeClr val="tx1"/>
                </a:solidFill>
              </a:rPr>
              <a:t>Zufriedenheit bewegt den Share of Wallet kaum</a:t>
            </a:r>
          </a:p>
          <a:p>
            <a:pPr algn="l">
              <a:spcAft>
                <a:spcPts val="700"/>
              </a:spcAft>
            </a:pPr>
            <a:r>
              <a:rPr lang="de-AT" sz="1400" b="1" i="0">
                <a:solidFill>
                  <a:schemeClr val="tx1"/>
                </a:solidFill>
              </a:rPr>
              <a:t>Ehrenberg-Bass: </a:t>
            </a:r>
            <a:r>
              <a:rPr lang="de-AT" sz="1400" b="0" i="0">
                <a:solidFill>
                  <a:schemeClr val="tx1"/>
                </a:solidFill>
              </a:rPr>
              <a:t>Wachstum kommt von mehr Käufern, nicht mehr Treue</a:t>
            </a:r>
          </a:p>
        </p:txBody>
      </p:sp>
      <p:sp>
        <p:nvSpPr>
          <p:cNvPr id="16" name="Central question"/>
          <p:cNvSpPr/>
          <p:nvPr/>
        </p:nvSpPr>
        <p:spPr>
          <a:xfrm>
            <a:off x="457200" y="411480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entral question text"/>
          <p:cNvSpPr txBox="1"/>
          <p:nvPr/>
        </p:nvSpPr>
        <p:spPr>
          <a:xfrm>
            <a:off x="640080" y="4114800"/>
            <a:ext cx="7863840" cy="502920"/>
          </a:xfrm>
          <a:prstGeom prst="rect">
            <a:avLst/>
          </a:prstGeom>
          <a:noFill/>
        </p:spPr>
        <p:txBody>
          <a:bodyPr wrap="square" lIns="36576" rIns="36576" tIns="18288" bIns="18288" anchor="ctr">
            <a:spAutoFit/>
          </a:bodyPr>
          <a:lstStyle/>
          <a:p>
            <a:pPr algn="l">
              <a:spcAft>
                <a:spcPts val="0"/>
              </a:spcAft>
            </a:pPr>
            <a:r>
              <a:rPr lang="de-AT" sz="1300" b="0" i="0">
                <a:solidFill>
                  <a:schemeClr val="bg1"/>
                </a:solidFill>
              </a:rPr>
              <a:t>Heute: die Kette vom Kunden zum Firmenwert verfolgen und jedes Glied an der Evidenz prüfen.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Lernziele</a:t>
            </a:r>
          </a:p>
        </p:txBody>
      </p:sp>
      <p:sp>
        <p:nvSpPr>
          <p:cNvPr id="4" name="Footer Placeholder 3"/>
          <p:cNvSpPr>
            <a:spLocks noGrp="1"/>
          </p:cNvSpPr>
          <p:nvPr>
            <p:ph type="ftr" idx="11" sz="quarter"/>
          </p:nvPr>
        </p:nvSpPr>
        <p:spPr/>
        <p:txBody>
          <a:bodyPr/>
          <a:p>
            <a:r>
              <a:rPr lang="de-AT"/>
              <a:t>Loyalität, Churn und Share of Wallet</a:t>
            </a:r>
          </a:p>
        </p:txBody>
      </p:sp>
      <p:sp>
        <p:nvSpPr>
          <p:cNvPr id="5" name="Slide Number Placeholder 4"/>
          <p:cNvSpPr>
            <a:spLocks noGrp="1"/>
          </p:cNvSpPr>
          <p:nvPr>
            <p:ph type="sldNum" idx="12" sz="quarter"/>
          </p:nvPr>
        </p:nvSpPr>
        <p:spPr/>
        <p:txBody>
          <a:bodyPr/>
          <a:p>
            <a:r>
              <a:rPr lang="de-AT"/>
              <a:t>SEITE </a:t>
            </a:r>
            <a:fld id="{B6F15528-21DE-4FAA-801E-634DDDAF4B2B}" type="slidenum">
              <a:rPr lang="en-GB"/>
              <a:t>‹#›</a:t>
            </a:fld>
          </a:p>
        </p:txBody>
      </p:sp>
      <p:sp>
        <p:nvSpPr>
          <p:cNvPr id="6" name="Objective row 1"/>
          <p:cNvSpPr/>
          <p:nvPr/>
        </p:nvSpPr>
        <p:spPr>
          <a:xfrm>
            <a:off x="457200" y="1234440"/>
            <a:ext cx="8229600" cy="6217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Icon LuGauge" descr="LuGauge-navy.png"/>
          <p:cNvPicPr>
            <a:picLocks noChangeAspect="1"/>
          </p:cNvPicPr>
          <p:nvPr/>
        </p:nvPicPr>
        <p:blipFill>
          <a:blip r:embed="rId2"/>
          <a:stretch>
            <a:fillRect/>
          </a:stretch>
        </p:blipFill>
        <p:spPr>
          <a:xfrm>
            <a:off x="658368" y="1362456"/>
            <a:ext cx="365760" cy="365760"/>
          </a:xfrm>
          <a:prstGeom prst="rect">
            <a:avLst/>
          </a:prstGeom>
        </p:spPr>
      </p:pic>
      <p:sp>
        <p:nvSpPr>
          <p:cNvPr id="8" name="Objective text 1"/>
          <p:cNvSpPr txBox="1"/>
          <p:nvPr/>
        </p:nvSpPr>
        <p:spPr>
          <a:xfrm>
            <a:off x="1234440" y="1234440"/>
            <a:ext cx="7315200" cy="621792"/>
          </a:xfrm>
          <a:prstGeom prst="rect">
            <a:avLst/>
          </a:prstGeom>
          <a:noFill/>
        </p:spPr>
        <p:txBody>
          <a:bodyPr wrap="square" lIns="36576" rIns="36576" tIns="18288" bIns="18288" anchor="ctr">
            <a:spAutoFit/>
          </a:bodyPr>
          <a:lstStyle/>
          <a:p>
            <a:pPr algn="l">
              <a:spcAft>
                <a:spcPts val="0"/>
              </a:spcAft>
            </a:pPr>
            <a:r>
              <a:rPr lang="de-AT" sz="1400" b="1" i="0">
                <a:solidFill>
                  <a:schemeClr val="tx2"/>
                </a:solidFill>
              </a:rPr>
              <a:t>Definieren </a:t>
            </a:r>
            <a:r>
              <a:rPr lang="de-AT" sz="1400" b="0" i="0">
                <a:solidFill>
                  <a:schemeClr val="tx1"/>
                </a:solidFill>
              </a:rPr>
              <a:t>Kundenbindung, Abwanderung und Share of Wallet, und jede korrekt messen</a:t>
            </a:r>
          </a:p>
        </p:txBody>
      </p:sp>
      <p:sp>
        <p:nvSpPr>
          <p:cNvPr id="9" name="Objective row 2"/>
          <p:cNvSpPr/>
          <p:nvPr/>
        </p:nvSpPr>
        <p:spPr>
          <a:xfrm>
            <a:off x="457200" y="1965960"/>
            <a:ext cx="8229600" cy="6217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Icon LuLink" descr="LuLink-navy.png"/>
          <p:cNvPicPr>
            <a:picLocks noChangeAspect="1"/>
          </p:cNvPicPr>
          <p:nvPr/>
        </p:nvPicPr>
        <p:blipFill>
          <a:blip r:embed="rId3"/>
          <a:stretch>
            <a:fillRect/>
          </a:stretch>
        </p:blipFill>
        <p:spPr>
          <a:xfrm>
            <a:off x="658368" y="2093976"/>
            <a:ext cx="365760" cy="365760"/>
          </a:xfrm>
          <a:prstGeom prst="rect">
            <a:avLst/>
          </a:prstGeom>
        </p:spPr>
      </p:pic>
      <p:sp>
        <p:nvSpPr>
          <p:cNvPr id="11" name="Objective text 2"/>
          <p:cNvSpPr txBox="1"/>
          <p:nvPr/>
        </p:nvSpPr>
        <p:spPr>
          <a:xfrm>
            <a:off x="1234440" y="1965960"/>
            <a:ext cx="7315200" cy="621792"/>
          </a:xfrm>
          <a:prstGeom prst="rect">
            <a:avLst/>
          </a:prstGeom>
          <a:noFill/>
        </p:spPr>
        <p:txBody>
          <a:bodyPr wrap="square" lIns="36576" rIns="36576" tIns="18288" bIns="18288" anchor="ctr">
            <a:spAutoFit/>
          </a:bodyPr>
          <a:lstStyle/>
          <a:p>
            <a:pPr algn="l">
              <a:spcAft>
                <a:spcPts val="0"/>
              </a:spcAft>
            </a:pPr>
            <a:r>
              <a:rPr lang="de-AT" sz="1400" b="1" i="0">
                <a:solidFill>
                  <a:schemeClr val="tx2"/>
                </a:solidFill>
              </a:rPr>
              <a:t>Erklären </a:t>
            </a:r>
            <a:r>
              <a:rPr lang="de-AT" sz="1400" b="0" i="0">
                <a:solidFill>
                  <a:schemeClr val="tx1"/>
                </a:solidFill>
              </a:rPr>
              <a:t>die Service-Profit-Chain und die Satisfaction-Profit-Chain</a:t>
            </a:r>
          </a:p>
        </p:txBody>
      </p:sp>
      <p:sp>
        <p:nvSpPr>
          <p:cNvPr id="12" name="Objective row 3"/>
          <p:cNvSpPr/>
          <p:nvPr/>
        </p:nvSpPr>
        <p:spPr>
          <a:xfrm>
            <a:off x="457200" y="2697480"/>
            <a:ext cx="8229600" cy="6217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Icon LuCoins" descr="LuCoins-navy.png"/>
          <p:cNvPicPr>
            <a:picLocks noChangeAspect="1"/>
          </p:cNvPicPr>
          <p:nvPr/>
        </p:nvPicPr>
        <p:blipFill>
          <a:blip r:embed="rId4"/>
          <a:stretch>
            <a:fillRect/>
          </a:stretch>
        </p:blipFill>
        <p:spPr>
          <a:xfrm>
            <a:off x="658368" y="2825496"/>
            <a:ext cx="365760" cy="365760"/>
          </a:xfrm>
          <a:prstGeom prst="rect">
            <a:avLst/>
          </a:prstGeom>
        </p:spPr>
      </p:pic>
      <p:sp>
        <p:nvSpPr>
          <p:cNvPr id="14" name="Objective text 3"/>
          <p:cNvSpPr txBox="1"/>
          <p:nvPr/>
        </p:nvSpPr>
        <p:spPr>
          <a:xfrm>
            <a:off x="1234440" y="2697480"/>
            <a:ext cx="7315200" cy="621792"/>
          </a:xfrm>
          <a:prstGeom prst="rect">
            <a:avLst/>
          </a:prstGeom>
          <a:noFill/>
        </p:spPr>
        <p:txBody>
          <a:bodyPr wrap="square" lIns="36576" rIns="36576" tIns="18288" bIns="18288" anchor="ctr">
            <a:spAutoFit/>
          </a:bodyPr>
          <a:lstStyle/>
          <a:p>
            <a:pPr algn="l">
              <a:spcAft>
                <a:spcPts val="0"/>
              </a:spcAft>
            </a:pPr>
            <a:r>
              <a:rPr lang="de-AT" sz="1400" b="1" i="0">
                <a:solidFill>
                  <a:schemeClr val="tx2"/>
                </a:solidFill>
              </a:rPr>
              <a:t>Verbinden </a:t>
            </a:r>
            <a:r>
              <a:rPr lang="de-AT" sz="1400" b="0" i="0">
                <a:solidFill>
                  <a:schemeClr val="tx1"/>
                </a:solidFill>
              </a:rPr>
              <a:t>Kundenbindung und Customer Equity mit Firmenwert und Aktienrendite</a:t>
            </a:r>
          </a:p>
        </p:txBody>
      </p:sp>
      <p:sp>
        <p:nvSpPr>
          <p:cNvPr id="15" name="Objective row 4"/>
          <p:cNvSpPr/>
          <p:nvPr/>
        </p:nvSpPr>
        <p:spPr>
          <a:xfrm>
            <a:off x="457200" y="3429000"/>
            <a:ext cx="8229600" cy="6217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Icon LuWallet" descr="LuWallet-navy.png"/>
          <p:cNvPicPr>
            <a:picLocks noChangeAspect="1"/>
          </p:cNvPicPr>
          <p:nvPr/>
        </p:nvPicPr>
        <p:blipFill>
          <a:blip r:embed="rId5"/>
          <a:stretch>
            <a:fillRect/>
          </a:stretch>
        </p:blipFill>
        <p:spPr>
          <a:xfrm>
            <a:off x="658368" y="3557016"/>
            <a:ext cx="365760" cy="365760"/>
          </a:xfrm>
          <a:prstGeom prst="rect">
            <a:avLst/>
          </a:prstGeom>
        </p:spPr>
      </p:pic>
      <p:sp>
        <p:nvSpPr>
          <p:cNvPr id="17" name="Objective text 4"/>
          <p:cNvSpPr txBox="1"/>
          <p:nvPr/>
        </p:nvSpPr>
        <p:spPr>
          <a:xfrm>
            <a:off x="1234440" y="3429000"/>
            <a:ext cx="7315200" cy="621792"/>
          </a:xfrm>
          <a:prstGeom prst="rect">
            <a:avLst/>
          </a:prstGeom>
          <a:noFill/>
        </p:spPr>
        <p:txBody>
          <a:bodyPr wrap="square" lIns="36576" rIns="36576" tIns="18288" bIns="18288" anchor="ctr">
            <a:spAutoFit/>
          </a:bodyPr>
          <a:lstStyle/>
          <a:p>
            <a:pPr algn="l">
              <a:spcAft>
                <a:spcPts val="0"/>
              </a:spcAft>
            </a:pPr>
            <a:r>
              <a:rPr lang="de-AT" sz="1400" b="1" i="0">
                <a:solidFill>
                  <a:schemeClr val="tx2"/>
                </a:solidFill>
              </a:rPr>
              <a:t>Anwenden </a:t>
            </a:r>
            <a:r>
              <a:rPr lang="de-AT" sz="1400" b="0" i="0">
                <a:solidFill>
                  <a:schemeClr val="tx1"/>
                </a:solidFill>
              </a:rPr>
              <a:t>CLV, Churn-Targeting und die Wallet Allocation Rule auf Daten</a:t>
            </a:r>
          </a:p>
        </p:txBody>
      </p:sp>
      <p:sp>
        <p:nvSpPr>
          <p:cNvPr id="18" name="Objective row 5"/>
          <p:cNvSpPr/>
          <p:nvPr/>
        </p:nvSpPr>
        <p:spPr>
          <a:xfrm>
            <a:off x="457200" y="4160520"/>
            <a:ext cx="8229600" cy="6217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Icon LuScale" descr="LuScale-navy.png"/>
          <p:cNvPicPr>
            <a:picLocks noChangeAspect="1"/>
          </p:cNvPicPr>
          <p:nvPr/>
        </p:nvPicPr>
        <p:blipFill>
          <a:blip r:embed="rId6"/>
          <a:stretch>
            <a:fillRect/>
          </a:stretch>
        </p:blipFill>
        <p:spPr>
          <a:xfrm>
            <a:off x="658368" y="4288536"/>
            <a:ext cx="365760" cy="365760"/>
          </a:xfrm>
          <a:prstGeom prst="rect">
            <a:avLst/>
          </a:prstGeom>
        </p:spPr>
      </p:pic>
      <p:sp>
        <p:nvSpPr>
          <p:cNvPr id="20" name="Objective text 5"/>
          <p:cNvSpPr txBox="1"/>
          <p:nvPr/>
        </p:nvSpPr>
        <p:spPr>
          <a:xfrm>
            <a:off x="1234440" y="4160520"/>
            <a:ext cx="7315200" cy="621792"/>
          </a:xfrm>
          <a:prstGeom prst="rect">
            <a:avLst/>
          </a:prstGeom>
          <a:noFill/>
        </p:spPr>
        <p:txBody>
          <a:bodyPr wrap="square" lIns="36576" rIns="36576" tIns="18288" bIns="18288" anchor="ctr">
            <a:spAutoFit/>
          </a:bodyPr>
          <a:lstStyle/>
          <a:p>
            <a:pPr algn="l">
              <a:spcAft>
                <a:spcPts val="0"/>
              </a:spcAft>
            </a:pPr>
            <a:r>
              <a:rPr lang="de-AT" sz="1400" b="1" i="0">
                <a:solidFill>
                  <a:schemeClr val="tx2"/>
                </a:solidFill>
              </a:rPr>
              <a:t>Bewerten </a:t>
            </a:r>
            <a:r>
              <a:rPr lang="de-AT" sz="1400" b="0" i="0">
                <a:solidFill>
                  <a:schemeClr val="tx1"/>
                </a:solidFill>
              </a:rPr>
              <a:t>wo die Kette bricht: NPS, Bonusprogramme, Double Jeopardy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Teil 1 von 6 · was wir messen</a:t>
            </a:r>
          </a:p>
        </p:txBody>
      </p:sp>
      <p:sp>
        <p:nvSpPr>
          <p:cNvPr id="3" name="Title 2"/>
          <p:cNvSpPr>
            <a:spLocks noGrp="1"/>
          </p:cNvSpPr>
          <p:nvPr>
            <p:ph type="ctrTitle"/>
          </p:nvPr>
        </p:nvSpPr>
        <p:spPr/>
        <p:txBody>
          <a:bodyPr/>
          <a:lstStyle/>
          <a:p>
            <a:r>
              <a:t>Begriffe und Kennzahlen</a:t>
            </a:r>
          </a:p>
        </p:txBody>
      </p:sp>
      <p:sp>
        <p:nvSpPr>
          <p:cNvPr id="4" name="Footer Placeholder 3"/>
          <p:cNvSpPr>
            <a:spLocks noGrp="1"/>
          </p:cNvSpPr>
          <p:nvPr>
            <p:ph type="ftr" idx="14" sz="quarter"/>
          </p:nvPr>
        </p:nvSpPr>
        <p:spPr/>
        <p:txBody>
          <a:bodyPr/>
          <a:p>
            <a:r>
              <a:rPr lang="de-AT"/>
              <a:t>Loyalität, Churn und Share of Wallet</a:t>
            </a:r>
          </a:p>
        </p:txBody>
      </p:sp>
      <p:sp>
        <p:nvSpPr>
          <p:cNvPr id="5" name="Slide Number Placeholder 4"/>
          <p:cNvSpPr>
            <a:spLocks noGrp="1"/>
          </p:cNvSpPr>
          <p:nvPr>
            <p:ph type="sldNum" idx="15" sz="quarter"/>
          </p:nvPr>
        </p:nvSpPr>
        <p:spPr/>
        <p:txBody>
          <a:bodyPr/>
          <a:p>
            <a:r>
              <a:rPr lang="de-AT"/>
              <a:t>SEITE </a:t>
            </a:r>
            <a:fld id="{B6F15528-21DE-4FAA-801E-634DDDAF4B2B}" type="slidenum">
              <a:rPr lang="en-GB"/>
              <a:t>‹#›</a:t>
            </a:fld>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Drei Ergebnisgrößen, drei Fragen</a:t>
            </a:r>
          </a:p>
        </p:txBody>
      </p:sp>
      <p:sp>
        <p:nvSpPr>
          <p:cNvPr id="4" name="Footer Placeholder 3"/>
          <p:cNvSpPr>
            <a:spLocks noGrp="1"/>
          </p:cNvSpPr>
          <p:nvPr>
            <p:ph type="ftr" idx="11" sz="quarter"/>
          </p:nvPr>
        </p:nvSpPr>
        <p:spPr/>
        <p:txBody>
          <a:bodyPr/>
          <a:p>
            <a:r>
              <a:rPr lang="de-AT"/>
              <a:t>Loyalität, Churn und Share of Wallet</a:t>
            </a:r>
          </a:p>
        </p:txBody>
      </p:sp>
      <p:sp>
        <p:nvSpPr>
          <p:cNvPr id="5" name="Slide Number Placeholder 4"/>
          <p:cNvSpPr>
            <a:spLocks noGrp="1"/>
          </p:cNvSpPr>
          <p:nvPr>
            <p:ph type="sldNum" idx="12" sz="quarter"/>
          </p:nvPr>
        </p:nvSpPr>
        <p:spPr/>
        <p:txBody>
          <a:bodyPr/>
          <a:p>
            <a:r>
              <a:rPr lang="de-AT"/>
              <a:t>SEITE </a:t>
            </a:r>
            <a:fld id="{B6F15528-21DE-4FAA-801E-634DDDAF4B2B}" type="slidenum">
              <a:rPr lang="en-GB"/>
              <a:t>‹#›</a:t>
            </a:fld>
          </a:p>
        </p:txBody>
      </p:sp>
      <p:sp>
        <p:nvSpPr>
          <p:cNvPr id="6" name="Outcome Kundenbindung body"/>
          <p:cNvSpPr/>
          <p:nvPr/>
        </p:nvSpPr>
        <p:spPr>
          <a:xfrm>
            <a:off x="457200" y="1280160"/>
            <a:ext cx="2633472" cy="2651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utcome Kundenbindung band"/>
          <p:cNvSpPr/>
          <p:nvPr/>
        </p:nvSpPr>
        <p:spPr>
          <a:xfrm>
            <a:off x="457200" y="1280160"/>
            <a:ext cx="2633472"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utcome Kundenbindung heading"/>
          <p:cNvSpPr txBox="1"/>
          <p:nvPr/>
        </p:nvSpPr>
        <p:spPr>
          <a:xfrm>
            <a:off x="566928" y="1335024"/>
            <a:ext cx="1947672" cy="365760"/>
          </a:xfrm>
          <a:prstGeom prst="rect">
            <a:avLst/>
          </a:prstGeom>
          <a:noFill/>
        </p:spPr>
        <p:txBody>
          <a:bodyPr wrap="square" lIns="36576" rIns="36576" tIns="18288" bIns="18288" anchor="ctr">
            <a:spAutoFit/>
          </a:bodyPr>
          <a:lstStyle/>
          <a:p>
            <a:pPr algn="l">
              <a:spcAft>
                <a:spcPts val="600"/>
              </a:spcAft>
            </a:pPr>
            <a:r>
              <a:rPr lang="de-AT" sz="1500" b="1" i="0">
                <a:solidFill>
                  <a:schemeClr val="bg1"/>
                </a:solidFill>
                <a:latin typeface="+mj-lt"/>
              </a:rPr>
              <a:t>Kundenbindung</a:t>
            </a:r>
          </a:p>
        </p:txBody>
      </p:sp>
      <p:pic>
        <p:nvPicPr>
          <p:cNvPr id="9" name="Icon LuHeartHandshake" descr="LuHeartHandshake-white.png"/>
          <p:cNvPicPr>
            <a:picLocks noChangeAspect="1"/>
          </p:cNvPicPr>
          <p:nvPr/>
        </p:nvPicPr>
        <p:blipFill>
          <a:blip r:embed="rId2"/>
          <a:stretch>
            <a:fillRect/>
          </a:stretch>
        </p:blipFill>
        <p:spPr>
          <a:xfrm>
            <a:off x="2660904" y="1344168"/>
            <a:ext cx="329184" cy="329184"/>
          </a:xfrm>
          <a:prstGeom prst="rect">
            <a:avLst/>
          </a:prstGeom>
        </p:spPr>
      </p:pic>
      <p:sp>
        <p:nvSpPr>
          <p:cNvPr id="10" name="Outcome Kundenbindung text"/>
          <p:cNvSpPr txBox="1"/>
          <p:nvPr/>
        </p:nvSpPr>
        <p:spPr>
          <a:xfrm>
            <a:off x="594360" y="1847088"/>
            <a:ext cx="2359152" cy="1993391"/>
          </a:xfrm>
          <a:prstGeom prst="rect">
            <a:avLst/>
          </a:prstGeom>
          <a:noFill/>
        </p:spPr>
        <p:txBody>
          <a:bodyPr wrap="square" lIns="36576" rIns="36576" tIns="18288" bIns="18288" anchor="t">
            <a:spAutoFit/>
          </a:bodyPr>
          <a:lstStyle/>
          <a:p>
            <a:pPr algn="l">
              <a:spcAft>
                <a:spcPts val="700"/>
              </a:spcAft>
            </a:pPr>
            <a:r>
              <a:rPr lang="de-AT" sz="1200" b="1" i="0">
                <a:solidFill>
                  <a:schemeClr val="tx2"/>
                </a:solidFill>
              </a:rPr>
              <a:t>Bleiben Kunden und bevorzugen sie uns?</a:t>
            </a:r>
          </a:p>
          <a:p>
            <a:pPr algn="l">
              <a:spcAft>
                <a:spcPts val="700"/>
              </a:spcAft>
            </a:pPr>
            <a:r>
              <a:rPr lang="de-AT" sz="1200" b="1" i="0">
                <a:solidFill>
                  <a:schemeClr val="tx1"/>
                </a:solidFill>
              </a:rPr>
              <a:t>Verhalten: </a:t>
            </a:r>
            <a:r>
              <a:rPr lang="de-AT" sz="1200" b="0" i="0">
                <a:solidFill>
                  <a:schemeClr val="tx1"/>
                </a:solidFill>
              </a:rPr>
              <a:t>Wiederkauf</a:t>
            </a:r>
          </a:p>
          <a:p>
            <a:pPr algn="l">
              <a:spcAft>
                <a:spcPts val="700"/>
              </a:spcAft>
            </a:pPr>
            <a:r>
              <a:rPr lang="de-AT" sz="1200" b="1" i="0">
                <a:solidFill>
                  <a:schemeClr val="tx1"/>
                </a:solidFill>
              </a:rPr>
              <a:t>Einstellung: </a:t>
            </a:r>
            <a:r>
              <a:rPr lang="de-AT" sz="1200" b="0" i="0">
                <a:solidFill>
                  <a:schemeClr val="tx1"/>
                </a:solidFill>
              </a:rPr>
              <a:t>relative Präferenz</a:t>
            </a:r>
          </a:p>
          <a:p>
            <a:pPr algn="l">
              <a:spcAft>
                <a:spcPts val="700"/>
              </a:spcAft>
            </a:pPr>
            <a:r>
              <a:rPr lang="de-AT" sz="1200" b="1" i="0">
                <a:solidFill>
                  <a:schemeClr val="tx1"/>
                </a:solidFill>
              </a:rPr>
              <a:t>Echte Loyalität braucht beides </a:t>
            </a:r>
            <a:r>
              <a:rPr lang="de-AT" sz="1200" b="0" i="0">
                <a:solidFill>
                  <a:schemeClr val="tx1"/>
                </a:solidFill>
              </a:rPr>
              <a:t>(Dick &amp; Basu 1994)</a:t>
            </a:r>
          </a:p>
        </p:txBody>
      </p:sp>
      <p:sp>
        <p:nvSpPr>
          <p:cNvPr id="11" name="Outcome Abwanderung body"/>
          <p:cNvSpPr/>
          <p:nvPr/>
        </p:nvSpPr>
        <p:spPr>
          <a:xfrm>
            <a:off x="3255264" y="1280160"/>
            <a:ext cx="2633472" cy="2651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utcome Abwanderung band"/>
          <p:cNvSpPr/>
          <p:nvPr/>
        </p:nvSpPr>
        <p:spPr>
          <a:xfrm>
            <a:off x="3255264" y="1280160"/>
            <a:ext cx="2633472"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utcome Abwanderung heading"/>
          <p:cNvSpPr txBox="1"/>
          <p:nvPr/>
        </p:nvSpPr>
        <p:spPr>
          <a:xfrm>
            <a:off x="3364992" y="1335024"/>
            <a:ext cx="1947672" cy="365760"/>
          </a:xfrm>
          <a:prstGeom prst="rect">
            <a:avLst/>
          </a:prstGeom>
          <a:noFill/>
        </p:spPr>
        <p:txBody>
          <a:bodyPr wrap="square" lIns="36576" rIns="36576" tIns="18288" bIns="18288" anchor="ctr">
            <a:spAutoFit/>
          </a:bodyPr>
          <a:lstStyle/>
          <a:p>
            <a:pPr algn="l">
              <a:spcAft>
                <a:spcPts val="600"/>
              </a:spcAft>
            </a:pPr>
            <a:r>
              <a:rPr lang="de-AT" sz="1500" b="1" i="0">
                <a:solidFill>
                  <a:schemeClr val="bg1"/>
                </a:solidFill>
                <a:latin typeface="+mj-lt"/>
              </a:rPr>
              <a:t>Abwanderung</a:t>
            </a:r>
          </a:p>
        </p:txBody>
      </p:sp>
      <p:pic>
        <p:nvPicPr>
          <p:cNvPr id="14" name="Icon LuUserMinus" descr="LuUserMinus-white.png"/>
          <p:cNvPicPr>
            <a:picLocks noChangeAspect="1"/>
          </p:cNvPicPr>
          <p:nvPr/>
        </p:nvPicPr>
        <p:blipFill>
          <a:blip r:embed="rId3"/>
          <a:stretch>
            <a:fillRect/>
          </a:stretch>
        </p:blipFill>
        <p:spPr>
          <a:xfrm>
            <a:off x="5458968" y="1344168"/>
            <a:ext cx="329184" cy="329184"/>
          </a:xfrm>
          <a:prstGeom prst="rect">
            <a:avLst/>
          </a:prstGeom>
        </p:spPr>
      </p:pic>
      <p:sp>
        <p:nvSpPr>
          <p:cNvPr id="15" name="Outcome Abwanderung text"/>
          <p:cNvSpPr txBox="1"/>
          <p:nvPr/>
        </p:nvSpPr>
        <p:spPr>
          <a:xfrm>
            <a:off x="3392424" y="1847088"/>
            <a:ext cx="2359152" cy="1993391"/>
          </a:xfrm>
          <a:prstGeom prst="rect">
            <a:avLst/>
          </a:prstGeom>
          <a:noFill/>
        </p:spPr>
        <p:txBody>
          <a:bodyPr wrap="square" lIns="36576" rIns="36576" tIns="18288" bIns="18288" anchor="t">
            <a:spAutoFit/>
          </a:bodyPr>
          <a:lstStyle/>
          <a:p>
            <a:pPr algn="l">
              <a:spcAft>
                <a:spcPts val="700"/>
              </a:spcAft>
            </a:pPr>
            <a:r>
              <a:rPr lang="de-AT" sz="1200" b="1" i="0">
                <a:solidFill>
                  <a:schemeClr val="tx2"/>
                </a:solidFill>
              </a:rPr>
              <a:t>Verlassen uns Kunden?</a:t>
            </a:r>
          </a:p>
          <a:p>
            <a:pPr algn="l">
              <a:spcAft>
                <a:spcPts val="700"/>
              </a:spcAft>
            </a:pPr>
            <a:r>
              <a:rPr lang="de-AT" sz="1200" b="1" i="0">
                <a:solidFill>
                  <a:schemeClr val="tx1"/>
                </a:solidFill>
              </a:rPr>
              <a:t>Vertraglich: </a:t>
            </a:r>
            <a:r>
              <a:rPr lang="de-AT" sz="1200" b="0" i="0">
                <a:solidFill>
                  <a:schemeClr val="tx1"/>
                </a:solidFill>
              </a:rPr>
              <a:t>Kündigung ist sichtbar</a:t>
            </a:r>
          </a:p>
          <a:p>
            <a:pPr algn="l">
              <a:spcAft>
                <a:spcPts val="700"/>
              </a:spcAft>
            </a:pPr>
            <a:r>
              <a:rPr lang="de-AT" sz="1200" b="1" i="0">
                <a:solidFill>
                  <a:schemeClr val="tx1"/>
                </a:solidFill>
              </a:rPr>
              <a:t>Nicht vertraglich: </a:t>
            </a:r>
            <a:r>
              <a:rPr lang="de-AT" sz="1200" b="0" i="0">
                <a:solidFill>
                  <a:schemeClr val="tx1"/>
                </a:solidFill>
              </a:rPr>
              <a:t>Kunden werden still, Abwanderung muss geschätzt werden</a:t>
            </a:r>
          </a:p>
          <a:p>
            <a:pPr algn="l">
              <a:spcAft>
                <a:spcPts val="700"/>
              </a:spcAft>
            </a:pPr>
            <a:r>
              <a:rPr lang="de-AT" sz="1200" b="1" i="0">
                <a:solidFill>
                  <a:schemeClr val="tx1"/>
                </a:solidFill>
              </a:rPr>
              <a:t>Bindungsrate </a:t>
            </a:r>
            <a:r>
              <a:rPr lang="de-AT" sz="1200" b="0" i="0">
                <a:solidFill>
                  <a:schemeClr val="tx1"/>
                </a:solidFill>
              </a:rPr>
              <a:t>r = 1 − Churn</a:t>
            </a:r>
          </a:p>
        </p:txBody>
      </p:sp>
      <p:sp>
        <p:nvSpPr>
          <p:cNvPr id="16" name="Outcome Share of Wallet body"/>
          <p:cNvSpPr/>
          <p:nvPr/>
        </p:nvSpPr>
        <p:spPr>
          <a:xfrm>
            <a:off x="6053328" y="1280160"/>
            <a:ext cx="2633472" cy="2651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utcome Share of Wallet band"/>
          <p:cNvSpPr/>
          <p:nvPr/>
        </p:nvSpPr>
        <p:spPr>
          <a:xfrm>
            <a:off x="6053328" y="1280160"/>
            <a:ext cx="2633472"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utcome Share of Wallet heading"/>
          <p:cNvSpPr txBox="1"/>
          <p:nvPr/>
        </p:nvSpPr>
        <p:spPr>
          <a:xfrm>
            <a:off x="6163056" y="1335024"/>
            <a:ext cx="1947672" cy="365760"/>
          </a:xfrm>
          <a:prstGeom prst="rect">
            <a:avLst/>
          </a:prstGeom>
          <a:noFill/>
        </p:spPr>
        <p:txBody>
          <a:bodyPr wrap="square" lIns="36576" rIns="36576" tIns="18288" bIns="18288" anchor="ctr">
            <a:spAutoFit/>
          </a:bodyPr>
          <a:lstStyle/>
          <a:p>
            <a:pPr algn="l">
              <a:spcAft>
                <a:spcPts val="600"/>
              </a:spcAft>
            </a:pPr>
            <a:r>
              <a:rPr lang="de-AT" sz="1500" b="1" i="0">
                <a:solidFill>
                  <a:schemeClr val="bg1"/>
                </a:solidFill>
                <a:latin typeface="+mj-lt"/>
              </a:rPr>
              <a:t>Share of Wallet</a:t>
            </a:r>
          </a:p>
        </p:txBody>
      </p:sp>
      <p:pic>
        <p:nvPicPr>
          <p:cNvPr id="19" name="Icon LuWallet" descr="LuWallet-white.png"/>
          <p:cNvPicPr>
            <a:picLocks noChangeAspect="1"/>
          </p:cNvPicPr>
          <p:nvPr/>
        </p:nvPicPr>
        <p:blipFill>
          <a:blip r:embed="rId4"/>
          <a:stretch>
            <a:fillRect/>
          </a:stretch>
        </p:blipFill>
        <p:spPr>
          <a:xfrm>
            <a:off x="8257032" y="1344168"/>
            <a:ext cx="329184" cy="329184"/>
          </a:xfrm>
          <a:prstGeom prst="rect">
            <a:avLst/>
          </a:prstGeom>
        </p:spPr>
      </p:pic>
      <p:sp>
        <p:nvSpPr>
          <p:cNvPr id="20" name="Outcome Share of Wallet text"/>
          <p:cNvSpPr txBox="1"/>
          <p:nvPr/>
        </p:nvSpPr>
        <p:spPr>
          <a:xfrm>
            <a:off x="6190488" y="1847088"/>
            <a:ext cx="2359152" cy="1993391"/>
          </a:xfrm>
          <a:prstGeom prst="rect">
            <a:avLst/>
          </a:prstGeom>
          <a:noFill/>
        </p:spPr>
        <p:txBody>
          <a:bodyPr wrap="square" lIns="36576" rIns="36576" tIns="18288" bIns="18288" anchor="t">
            <a:spAutoFit/>
          </a:bodyPr>
          <a:lstStyle/>
          <a:p>
            <a:pPr algn="l">
              <a:spcAft>
                <a:spcPts val="700"/>
              </a:spcAft>
            </a:pPr>
            <a:r>
              <a:rPr lang="de-AT" sz="1200" b="1" i="0">
                <a:solidFill>
                  <a:schemeClr val="tx2"/>
                </a:solidFill>
              </a:rPr>
              <a:t>Welchen Anteil ihrer Ausgaben bekommen wir?</a:t>
            </a:r>
          </a:p>
          <a:p>
            <a:pPr algn="l">
              <a:spcAft>
                <a:spcPts val="700"/>
              </a:spcAft>
            </a:pPr>
            <a:r>
              <a:rPr lang="de-AT" sz="1200" b="1" i="0">
                <a:solidFill>
                  <a:schemeClr val="tx1"/>
                </a:solidFill>
              </a:rPr>
              <a:t>SOW </a:t>
            </a:r>
            <a:r>
              <a:rPr lang="de-AT" sz="1200" b="0" i="0">
                <a:solidFill>
                  <a:schemeClr val="tx1"/>
                </a:solidFill>
              </a:rPr>
              <a:t>= unser Umsatz ÷ Kategorieausgaben</a:t>
            </a:r>
          </a:p>
          <a:p>
            <a:pPr algn="l">
              <a:spcAft>
                <a:spcPts val="700"/>
              </a:spcAft>
            </a:pPr>
            <a:r>
              <a:rPr lang="de-AT" sz="1200" b="1" i="0">
                <a:solidFill>
                  <a:schemeClr val="tx1"/>
                </a:solidFill>
              </a:rPr>
              <a:t>Braucht </a:t>
            </a:r>
            <a:r>
              <a:rPr lang="de-AT" sz="1200" b="0" i="0">
                <a:solidFill>
                  <a:schemeClr val="tx1"/>
                </a:solidFill>
              </a:rPr>
              <a:t>Ausgaben bei Mitbewerbern, meist aus Befragungen</a:t>
            </a:r>
          </a:p>
          <a:p>
            <a:pPr algn="l">
              <a:spcAft>
                <a:spcPts val="700"/>
              </a:spcAft>
            </a:pPr>
            <a:r>
              <a:rPr lang="de-AT" sz="1200" b="1" i="0">
                <a:solidFill>
                  <a:schemeClr val="tx1"/>
                </a:solidFill>
              </a:rPr>
              <a:t>Teilabwanderung </a:t>
            </a:r>
            <a:r>
              <a:rPr lang="de-AT" sz="1200" b="0" i="0">
                <a:solidFill>
                  <a:schemeClr val="tx1"/>
                </a:solidFill>
              </a:rPr>
              <a:t>zeigt sich hier zuerst</a:t>
            </a:r>
          </a:p>
        </p:txBody>
      </p:sp>
      <p:sp>
        <p:nvSpPr>
          <p:cNvPr id="21" name="Outcome callout"/>
          <p:cNvSpPr/>
          <p:nvPr/>
        </p:nvSpPr>
        <p:spPr>
          <a:xfrm>
            <a:off x="457200" y="411480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utcome callout text"/>
          <p:cNvSpPr txBox="1"/>
          <p:nvPr/>
        </p:nvSpPr>
        <p:spPr>
          <a:xfrm>
            <a:off x="640080" y="4114800"/>
            <a:ext cx="7863840" cy="548640"/>
          </a:xfrm>
          <a:prstGeom prst="rect">
            <a:avLst/>
          </a:prstGeom>
          <a:noFill/>
        </p:spPr>
        <p:txBody>
          <a:bodyPr wrap="square" lIns="36576" rIns="36576" tIns="18288" bIns="18288" anchor="ctr">
            <a:spAutoFit/>
          </a:bodyPr>
          <a:lstStyle/>
          <a:p>
            <a:pPr algn="l">
              <a:spcAft>
                <a:spcPts val="0"/>
              </a:spcAft>
            </a:pPr>
            <a:r>
              <a:rPr lang="de-AT" sz="1300" b="1" i="0">
                <a:solidFill>
                  <a:schemeClr val="bg1"/>
                </a:solidFill>
              </a:rPr>
              <a:t>Verbindung zum Firmenwert: </a:t>
            </a:r>
            <a:r>
              <a:rPr lang="de-AT" sz="1300" b="0" i="0">
                <a:solidFill>
                  <a:schemeClr val="bg1"/>
                </a:solidFill>
              </a:rPr>
              <a:t>die Bindungsrate bestimmt, wie lange Kunden zahlen, der SOW wie viel; zusammen treiben sie den CLV.</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Die Ergebnisgrößen messen</a:t>
            </a:r>
          </a:p>
        </p:txBody>
      </p:sp>
      <p:sp>
        <p:nvSpPr>
          <p:cNvPr id="4" name="Footer Placeholder 3"/>
          <p:cNvSpPr>
            <a:spLocks noGrp="1"/>
          </p:cNvSpPr>
          <p:nvPr>
            <p:ph type="ftr" idx="11" sz="quarter"/>
          </p:nvPr>
        </p:nvSpPr>
        <p:spPr/>
        <p:txBody>
          <a:bodyPr/>
          <a:p>
            <a:r>
              <a:rPr lang="de-AT"/>
              <a:t>Loyalität, Churn und Share of Wallet</a:t>
            </a:r>
          </a:p>
        </p:txBody>
      </p:sp>
      <p:sp>
        <p:nvSpPr>
          <p:cNvPr id="5" name="Slide Number Placeholder 4"/>
          <p:cNvSpPr>
            <a:spLocks noGrp="1"/>
          </p:cNvSpPr>
          <p:nvPr>
            <p:ph type="sldNum" idx="12" sz="quarter"/>
          </p:nvPr>
        </p:nvSpPr>
        <p:spPr/>
        <p:txBody>
          <a:bodyPr/>
          <a:p>
            <a:r>
              <a:rPr lang="de-AT"/>
              <a:t>SEITE </a:t>
            </a:r>
            <a:fld id="{B6F15528-21DE-4FAA-801E-634DDDAF4B2B}" type="slidenum">
              <a:rPr lang="en-GB"/>
              <a:t>‹#›</a:t>
            </a:fld>
          </a:p>
        </p:txBody>
      </p:sp>
      <p:graphicFrame>
        <p:nvGraphicFramePr>
          <p:cNvPr id="6" name="Metrics table"/>
          <p:cNvGraphicFramePr>
            <a:graphicFrameLocks noGrp="1"/>
          </p:cNvGraphicFramePr>
          <p:nvPr/>
        </p:nvGraphicFramePr>
        <p:xfrm>
          <a:off x="457200" y="1280160"/>
          <a:ext cx="8229600" cy="2743200"/>
        </p:xfrm>
        <a:graphic>
          <a:graphicData uri="http://schemas.openxmlformats.org/drawingml/2006/table">
            <a:tbl>
              <a:tblPr firstRow="1" bandRow="1">
                <a:tableStyleId>{5C22544A-7EE6-4342-B048-85BDC9FD1C3A}</a:tableStyleId>
              </a:tblPr>
              <a:tblGrid>
                <a:gridCol w="1920240"/>
                <a:gridCol w="3017520"/>
                <a:gridCol w="3291840"/>
              </a:tblGrid>
              <a:tr h="457200">
                <a:tc>
                  <a:txBody>
                    <a:bodyPr/>
                    <a:lstStyle/>
                    <a:p>
                      <a:r>
                        <a:rPr lang="de-AT" sz="1200" b="1">
                          <a:solidFill>
                            <a:schemeClr val="bg1"/>
                          </a:solidFill>
                        </a:rPr>
                        <a:t>Kennzahl</a:t>
                      </a:r>
                    </a:p>
                  </a:txBody>
                  <a:tcPr anchor="ctr">
                    <a:solidFill>
                      <a:schemeClr val="accent1"/>
                    </a:solidFill>
                  </a:tcPr>
                </a:tc>
                <a:tc>
                  <a:txBody>
                    <a:bodyPr/>
                    <a:lstStyle/>
                    <a:p>
                      <a:r>
                        <a:rPr lang="de-AT" sz="1200" b="1">
                          <a:solidFill>
                            <a:schemeClr val="bg1"/>
                          </a:solidFill>
                        </a:rPr>
                        <a:t>Formel</a:t>
                      </a:r>
                    </a:p>
                  </a:txBody>
                  <a:tcPr anchor="ctr">
                    <a:solidFill>
                      <a:schemeClr val="accent1"/>
                    </a:solidFill>
                  </a:tcPr>
                </a:tc>
                <a:tc>
                  <a:txBody>
                    <a:bodyPr/>
                    <a:lstStyle/>
                    <a:p>
                      <a:r>
                        <a:rPr lang="de-AT" sz="1200" b="1">
                          <a:solidFill>
                            <a:schemeClr val="bg1"/>
                          </a:solidFill>
                        </a:rPr>
                        <a:t>Achtung</a:t>
                      </a:r>
                    </a:p>
                  </a:txBody>
                  <a:tcPr anchor="ctr">
                    <a:solidFill>
                      <a:schemeClr val="accent1"/>
                    </a:solidFill>
                  </a:tcPr>
                </a:tc>
              </a:tr>
              <a:tr h="457200">
                <a:tc>
                  <a:txBody>
                    <a:bodyPr/>
                    <a:lstStyle/>
                    <a:p>
                      <a:r>
                        <a:rPr lang="de-AT" sz="1200" b="1">
                          <a:solidFill>
                            <a:schemeClr val="bg1"/>
                          </a:solidFill>
                        </a:rPr>
                        <a:t>Bindungsrate</a:t>
                      </a:r>
                    </a:p>
                  </a:txBody>
                  <a:tcPr anchor="ctr">
                    <a:solidFill>
                      <a:schemeClr val="tx2"/>
                    </a:solidFill>
                  </a:tcPr>
                </a:tc>
                <a:tc>
                  <a:txBody>
                    <a:bodyPr/>
                    <a:lstStyle/>
                    <a:p>
                      <a:r>
                        <a:rPr lang="de-AT" sz="1200">
                          <a:solidFill>
                            <a:schemeClr val="tx1"/>
                          </a:solidFill>
                        </a:rPr>
                        <a:t>gehaltene ÷ anfängliche Kunden</a:t>
                      </a:r>
                    </a:p>
                  </a:txBody>
                  <a:tcPr anchor="ctr">
                    <a:solidFill>
                      <a:schemeClr val="bg2"/>
                    </a:solidFill>
                  </a:tcPr>
                </a:tc>
                <a:tc>
                  <a:txBody>
                    <a:bodyPr/>
                    <a:lstStyle/>
                    <a:p>
                      <a:r>
                        <a:rPr lang="de-AT" sz="1200">
                          <a:solidFill>
                            <a:schemeClr val="tx1"/>
                          </a:solidFill>
                        </a:rPr>
                        <a:t>Steigt mit der Zeit, weil schwache Kunden gehen</a:t>
                      </a:r>
                    </a:p>
                  </a:txBody>
                  <a:tcPr anchor="ctr">
                    <a:solidFill>
                      <a:schemeClr val="bg2"/>
                    </a:solidFill>
                  </a:tcPr>
                </a:tc>
              </a:tr>
              <a:tr h="457200">
                <a:tc>
                  <a:txBody>
                    <a:bodyPr/>
                    <a:lstStyle/>
                    <a:p>
                      <a:r>
                        <a:rPr lang="de-AT" sz="1200" b="1">
                          <a:solidFill>
                            <a:schemeClr val="bg1"/>
                          </a:solidFill>
                        </a:rPr>
                        <a:t>Erwartete Dauer</a:t>
                      </a:r>
                    </a:p>
                  </a:txBody>
                  <a:tcPr anchor="ctr">
                    <a:solidFill>
                      <a:schemeClr val="tx2"/>
                    </a:solidFill>
                  </a:tcPr>
                </a:tc>
                <a:tc>
                  <a:txBody>
                    <a:bodyPr/>
                    <a:lstStyle/>
                    <a:p>
                      <a:r>
                        <a:rPr lang="de-AT" sz="1200">
                          <a:solidFill>
                            <a:schemeClr val="tx1"/>
                          </a:solidFill>
                        </a:rPr>
                        <a:t>1 ÷ Churn (nur wenn alle gleich)</a:t>
                      </a:r>
                    </a:p>
                  </a:txBody>
                  <a:tcPr anchor="ctr">
                    <a:solidFill>
                      <a:schemeClr val="bg2"/>
                    </a:solidFill>
                  </a:tcPr>
                </a:tc>
                <a:tc>
                  <a:txBody>
                    <a:bodyPr/>
                    <a:lstStyle/>
                    <a:p>
                      <a:r>
                        <a:rPr lang="de-AT" sz="1200">
                          <a:solidFill>
                            <a:schemeClr val="tx1"/>
                          </a:solidFill>
                        </a:rPr>
                        <a:t>Unterschätzt die Dauer bei Heterogenität</a:t>
                      </a:r>
                    </a:p>
                  </a:txBody>
                  <a:tcPr anchor="ctr">
                    <a:solidFill>
                      <a:schemeClr val="bg2"/>
                    </a:solidFill>
                  </a:tcPr>
                </a:tc>
              </a:tr>
              <a:tr h="457200">
                <a:tc>
                  <a:txBody>
                    <a:bodyPr/>
                    <a:lstStyle/>
                    <a:p>
                      <a:r>
                        <a:rPr lang="de-AT" sz="1200" b="1">
                          <a:solidFill>
                            <a:schemeClr val="bg1"/>
                          </a:solidFill>
                        </a:rPr>
                        <a:t>CLV</a:t>
                      </a:r>
                    </a:p>
                  </a:txBody>
                  <a:tcPr anchor="ctr">
                    <a:solidFill>
                      <a:schemeClr val="tx2"/>
                    </a:solidFill>
                  </a:tcPr>
                </a:tc>
                <a:tc>
                  <a:txBody>
                    <a:bodyPr/>
                    <a:lstStyle/>
                    <a:p>
                      <a:r>
                        <a:rPr lang="de-AT" sz="1200">
                          <a:solidFill>
                            <a:schemeClr val="tx1"/>
                          </a:solidFill>
                        </a:rPr>
                        <a:t>m · r ÷ (1 + d − r)</a:t>
                      </a:r>
                    </a:p>
                  </a:txBody>
                  <a:tcPr anchor="ctr">
                    <a:solidFill>
                      <a:schemeClr val="bg2"/>
                    </a:solidFill>
                  </a:tcPr>
                </a:tc>
                <a:tc>
                  <a:txBody>
                    <a:bodyPr/>
                    <a:lstStyle/>
                    <a:p>
                      <a:r>
                        <a:rPr lang="de-AT" sz="1200">
                          <a:solidFill>
                            <a:schemeClr val="tx1"/>
                          </a:solidFill>
                        </a:rPr>
                        <a:t>Unterstellt konstante Marge und Bindung</a:t>
                      </a:r>
                    </a:p>
                  </a:txBody>
                  <a:tcPr anchor="ctr">
                    <a:solidFill>
                      <a:schemeClr val="bg2"/>
                    </a:solidFill>
                  </a:tcPr>
                </a:tc>
              </a:tr>
              <a:tr h="457200">
                <a:tc>
                  <a:txBody>
                    <a:bodyPr/>
                    <a:lstStyle/>
                    <a:p>
                      <a:r>
                        <a:rPr lang="de-AT" sz="1200" b="1">
                          <a:solidFill>
                            <a:schemeClr val="bg1"/>
                          </a:solidFill>
                        </a:rPr>
                        <a:t>Share of Wallet</a:t>
                      </a:r>
                    </a:p>
                  </a:txBody>
                  <a:tcPr anchor="ctr">
                    <a:solidFill>
                      <a:schemeClr val="tx2"/>
                    </a:solidFill>
                  </a:tcPr>
                </a:tc>
                <a:tc>
                  <a:txBody>
                    <a:bodyPr/>
                    <a:lstStyle/>
                    <a:p>
                      <a:r>
                        <a:rPr lang="de-AT" sz="1200">
                          <a:solidFill>
                            <a:schemeClr val="tx1"/>
                          </a:solidFill>
                        </a:rPr>
                        <a:t>unser Umsatz ÷ Kategorieausgaben</a:t>
                      </a:r>
                    </a:p>
                  </a:txBody>
                  <a:tcPr anchor="ctr">
                    <a:solidFill>
                      <a:schemeClr val="bg2"/>
                    </a:solidFill>
                  </a:tcPr>
                </a:tc>
                <a:tc>
                  <a:txBody>
                    <a:bodyPr/>
                    <a:lstStyle/>
                    <a:p>
                      <a:r>
                        <a:rPr lang="de-AT" sz="1200">
                          <a:solidFill>
                            <a:schemeClr val="tx1"/>
                          </a:solidFill>
                        </a:rPr>
                        <a:t>Kategorieausgaben nur aus Befragung oder Panel</a:t>
                      </a:r>
                    </a:p>
                  </a:txBody>
                  <a:tcPr anchor="ctr">
                    <a:solidFill>
                      <a:schemeClr val="bg2"/>
                    </a:solidFill>
                  </a:tcPr>
                </a:tc>
              </a:tr>
              <a:tr h="457200">
                <a:tc>
                  <a:txBody>
                    <a:bodyPr/>
                    <a:lstStyle/>
                    <a:p>
                      <a:r>
                        <a:rPr lang="de-AT" sz="1200" b="1">
                          <a:solidFill>
                            <a:schemeClr val="bg1"/>
                          </a:solidFill>
                        </a:rPr>
                        <a:t>Net Promoter Score</a:t>
                      </a:r>
                    </a:p>
                  </a:txBody>
                  <a:tcPr anchor="ctr">
                    <a:solidFill>
                      <a:schemeClr val="tx2"/>
                    </a:solidFill>
                  </a:tcPr>
                </a:tc>
                <a:tc>
                  <a:txBody>
                    <a:bodyPr/>
                    <a:lstStyle/>
                    <a:p>
                      <a:r>
                        <a:rPr lang="de-AT" sz="1200">
                          <a:solidFill>
                            <a:schemeClr val="tx1"/>
                          </a:solidFill>
                        </a:rPr>
                        <a:t>% Promotoren − % Detraktoren</a:t>
                      </a:r>
                    </a:p>
                  </a:txBody>
                  <a:tcPr anchor="ctr">
                    <a:solidFill>
                      <a:schemeClr val="bg2"/>
                    </a:solidFill>
                  </a:tcPr>
                </a:tc>
                <a:tc>
                  <a:txBody>
                    <a:bodyPr/>
                    <a:lstStyle/>
                    <a:p>
                      <a:r>
                        <a:rPr lang="de-AT" sz="1200">
                          <a:solidFill>
                            <a:schemeClr val="tx1"/>
                          </a:solidFill>
                        </a:rPr>
                        <a:t>Kein besserer Wachstumsprädiktor</a:t>
                      </a:r>
                    </a:p>
                  </a:txBody>
                  <a:tcPr anchor="ctr">
                    <a:solidFill>
                      <a:schemeClr val="bg2"/>
                    </a:solidFill>
                  </a:tcPr>
                </a:tc>
              </a:tr>
            </a:tbl>
          </a:graphicData>
        </a:graphic>
      </p:graphicFrame>
      <p:sp>
        <p:nvSpPr>
          <p:cNvPr id="7" name="Source note"/>
          <p:cNvSpPr txBox="1"/>
          <p:nvPr/>
        </p:nvSpPr>
        <p:spPr>
          <a:xfrm>
            <a:off x="457200" y="4206240"/>
            <a:ext cx="8229600" cy="320040"/>
          </a:xfrm>
          <a:prstGeom prst="rect">
            <a:avLst/>
          </a:prstGeom>
          <a:noFill/>
        </p:spPr>
        <p:txBody>
          <a:bodyPr wrap="square" lIns="36576" rIns="36576" tIns="18288" bIns="18288" anchor="t">
            <a:spAutoFit/>
          </a:bodyPr>
          <a:lstStyle/>
          <a:p>
            <a:pPr algn="l">
              <a:spcAft>
                <a:spcPts val="0"/>
              </a:spcAft>
            </a:pPr>
            <a:r>
              <a:rPr lang="de-AT" sz="1050" b="0" i="0">
                <a:solidFill>
                  <a:srgbClr val="595959"/>
                </a:solidFill>
              </a:rPr>
              <a:t>Fader &amp; Hardie (2007, 2010); Hardie Notes 024, 033, 049 (brucehardie.com); Farris et al. (2021) Marketing Metrics, Kap. 2 und 5; Keiningham et al. (2007) Journal of Marketing.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Teil 2 von 6 · von Mitarbeitenden zum Gewinn</a:t>
            </a:r>
          </a:p>
        </p:txBody>
      </p:sp>
      <p:sp>
        <p:nvSpPr>
          <p:cNvPr id="3" name="Title 2"/>
          <p:cNvSpPr>
            <a:spLocks noGrp="1"/>
          </p:cNvSpPr>
          <p:nvPr>
            <p:ph type="ctrTitle"/>
          </p:nvPr>
        </p:nvSpPr>
        <p:spPr/>
        <p:txBody>
          <a:bodyPr/>
          <a:lstStyle/>
          <a:p>
            <a:r>
              <a:t>Die Service-Profit-Chain</a:t>
            </a:r>
          </a:p>
        </p:txBody>
      </p:sp>
      <p:sp>
        <p:nvSpPr>
          <p:cNvPr id="4" name="Footer Placeholder 3"/>
          <p:cNvSpPr>
            <a:spLocks noGrp="1"/>
          </p:cNvSpPr>
          <p:nvPr>
            <p:ph type="ftr" idx="14" sz="quarter"/>
          </p:nvPr>
        </p:nvSpPr>
        <p:spPr/>
        <p:txBody>
          <a:bodyPr/>
          <a:p>
            <a:r>
              <a:rPr lang="de-AT"/>
              <a:t>Loyalität, Churn und Share of Wallet</a:t>
            </a:r>
          </a:p>
        </p:txBody>
      </p:sp>
      <p:sp>
        <p:nvSpPr>
          <p:cNvPr id="5" name="Slide Number Placeholder 4"/>
          <p:cNvSpPr>
            <a:spLocks noGrp="1"/>
          </p:cNvSpPr>
          <p:nvPr>
            <p:ph type="sldNum" idx="15" sz="quarter"/>
          </p:nvPr>
        </p:nvSpPr>
        <p:spPr/>
        <p:txBody>
          <a:bodyPr/>
          <a:p>
            <a:r>
              <a:rPr lang="de-AT"/>
              <a:t>SEITE </a:t>
            </a:r>
            <a:fld id="{B6F15528-21DE-4FAA-801E-634DDDAF4B2B}" type="slidenum">
              <a:rPr lang="en-GB"/>
              <a:t>‹#›</a:t>
            </a:fld>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Die Service-Profit-Chain</a:t>
            </a:r>
          </a:p>
        </p:txBody>
      </p:sp>
      <p:sp>
        <p:nvSpPr>
          <p:cNvPr id="4" name="Footer Placeholder 3"/>
          <p:cNvSpPr>
            <a:spLocks noGrp="1"/>
          </p:cNvSpPr>
          <p:nvPr>
            <p:ph type="ftr" idx="11" sz="quarter"/>
          </p:nvPr>
        </p:nvSpPr>
        <p:spPr/>
        <p:txBody>
          <a:bodyPr/>
          <a:p>
            <a:r>
              <a:rPr lang="de-AT"/>
              <a:t>Loyalität, Churn und Share of Wallet</a:t>
            </a:r>
          </a:p>
        </p:txBody>
      </p:sp>
      <p:sp>
        <p:nvSpPr>
          <p:cNvPr id="5" name="Slide Number Placeholder 4"/>
          <p:cNvSpPr>
            <a:spLocks noGrp="1"/>
          </p:cNvSpPr>
          <p:nvPr>
            <p:ph type="sldNum" idx="12" sz="quarter"/>
          </p:nvPr>
        </p:nvSpPr>
        <p:spPr/>
        <p:txBody>
          <a:bodyPr/>
          <a:p>
            <a:r>
              <a:rPr lang="de-AT"/>
              <a:t>SEITE </a:t>
            </a:r>
            <a:fld id="{B6F15528-21DE-4FAA-801E-634DDDAF4B2B}" type="slidenum">
              <a:rPr lang="en-GB"/>
              <a:t>‹#›</a:t>
            </a:fld>
          </a:p>
        </p:txBody>
      </p:sp>
      <p:sp>
        <p:nvSpPr>
          <p:cNvPr id="6" name="Step 1"/>
          <p:cNvSpPr/>
          <p:nvPr/>
        </p:nvSpPr>
        <p:spPr>
          <a:xfrm>
            <a:off x="457200" y="1280160"/>
            <a:ext cx="1463039" cy="457200"/>
          </a:xfrm>
          <a:prstGeom prst="homePlat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201168" rIns="73152"/>
          <a:lstStyle/>
          <a:p>
            <a:pPr algn="ctr"/>
            <a:r>
              <a:rPr lang="de-AT" sz="1400" b="1">
                <a:solidFill>
                  <a:schemeClr val="bg1"/>
                </a:solidFill>
              </a:rPr>
              <a:t>1</a:t>
            </a:r>
          </a:p>
        </p:txBody>
      </p:sp>
      <p:sp>
        <p:nvSpPr>
          <p:cNvPr id="7" name="Step 2"/>
          <p:cNvSpPr/>
          <p:nvPr/>
        </p:nvSpPr>
        <p:spPr>
          <a:xfrm>
            <a:off x="1810512" y="1280160"/>
            <a:ext cx="1463039" cy="457200"/>
          </a:xfrm>
          <a:prstGeom prst="chevron">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201168" rIns="73152"/>
          <a:lstStyle/>
          <a:p>
            <a:pPr algn="ctr"/>
            <a:r>
              <a:rPr lang="de-AT" sz="1400" b="1">
                <a:solidFill>
                  <a:schemeClr val="bg1"/>
                </a:solidFill>
              </a:rPr>
              <a:t>2</a:t>
            </a:r>
          </a:p>
        </p:txBody>
      </p:sp>
      <p:sp>
        <p:nvSpPr>
          <p:cNvPr id="8" name="Step 3"/>
          <p:cNvSpPr/>
          <p:nvPr/>
        </p:nvSpPr>
        <p:spPr>
          <a:xfrm>
            <a:off x="3163824" y="1280160"/>
            <a:ext cx="1463039" cy="457200"/>
          </a:xfrm>
          <a:prstGeom prst="chevron">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201168" rIns="73152"/>
          <a:lstStyle/>
          <a:p>
            <a:pPr algn="ctr"/>
            <a:r>
              <a:rPr lang="de-AT" sz="1400" b="1">
                <a:solidFill>
                  <a:schemeClr val="bg1"/>
                </a:solidFill>
              </a:rPr>
              <a:t>3</a:t>
            </a:r>
          </a:p>
        </p:txBody>
      </p:sp>
      <p:sp>
        <p:nvSpPr>
          <p:cNvPr id="9" name="Step 4"/>
          <p:cNvSpPr/>
          <p:nvPr/>
        </p:nvSpPr>
        <p:spPr>
          <a:xfrm>
            <a:off x="4517136" y="1280160"/>
            <a:ext cx="1463039" cy="457200"/>
          </a:xfrm>
          <a:prstGeom prst="chevron">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201168" rIns="73152"/>
          <a:lstStyle/>
          <a:p>
            <a:pPr algn="ctr"/>
            <a:r>
              <a:rPr lang="de-AT" sz="1400" b="1">
                <a:solidFill>
                  <a:schemeClr val="bg1"/>
                </a:solidFill>
              </a:rPr>
              <a:t>4</a:t>
            </a:r>
          </a:p>
        </p:txBody>
      </p:sp>
      <p:sp>
        <p:nvSpPr>
          <p:cNvPr id="10" name="Step 5"/>
          <p:cNvSpPr/>
          <p:nvPr/>
        </p:nvSpPr>
        <p:spPr>
          <a:xfrm>
            <a:off x="5870448" y="1280160"/>
            <a:ext cx="1463039" cy="457200"/>
          </a:xfrm>
          <a:prstGeom prst="chevron">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201168" rIns="73152"/>
          <a:lstStyle/>
          <a:p>
            <a:pPr algn="ctr"/>
            <a:r>
              <a:rPr lang="de-AT" sz="1400" b="1">
                <a:solidFill>
                  <a:schemeClr val="bg1"/>
                </a:solidFill>
              </a:rPr>
              <a:t>5</a:t>
            </a:r>
          </a:p>
        </p:txBody>
      </p:sp>
      <p:sp>
        <p:nvSpPr>
          <p:cNvPr id="11" name="Step 6"/>
          <p:cNvSpPr/>
          <p:nvPr/>
        </p:nvSpPr>
        <p:spPr>
          <a:xfrm>
            <a:off x="7223760" y="1280160"/>
            <a:ext cx="1463039" cy="457200"/>
          </a:xfrm>
          <a:prstGeom prst="chevron">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201168" rIns="73152"/>
          <a:lstStyle/>
          <a:p>
            <a:pPr algn="ctr"/>
            <a:r>
              <a:rPr lang="de-AT" sz="1400" b="1">
                <a:solidFill>
                  <a:schemeClr val="bg1"/>
                </a:solidFill>
              </a:rPr>
              <a:t>6</a:t>
            </a:r>
          </a:p>
        </p:txBody>
      </p:sp>
      <p:sp>
        <p:nvSpPr>
          <p:cNvPr id="12" name="Chain box 1"/>
          <p:cNvSpPr/>
          <p:nvPr/>
        </p:nvSpPr>
        <p:spPr>
          <a:xfrm>
            <a:off x="502920" y="1874519"/>
            <a:ext cx="1261872" cy="1600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hain text 1"/>
          <p:cNvSpPr txBox="1"/>
          <p:nvPr/>
        </p:nvSpPr>
        <p:spPr>
          <a:xfrm>
            <a:off x="548640" y="2011680"/>
            <a:ext cx="1170431" cy="1097280"/>
          </a:xfrm>
          <a:prstGeom prst="rect">
            <a:avLst/>
          </a:prstGeom>
          <a:noFill/>
        </p:spPr>
        <p:txBody>
          <a:bodyPr wrap="square" lIns="36576" rIns="36576" tIns="18288" bIns="18288" anchor="t">
            <a:spAutoFit/>
          </a:bodyPr>
          <a:lstStyle/>
          <a:p>
            <a:pPr algn="l">
              <a:spcAft>
                <a:spcPts val="300"/>
              </a:spcAft>
            </a:pPr>
            <a:r>
              <a:rPr lang="de-AT" sz="1100" b="1" i="0">
                <a:solidFill>
                  <a:schemeClr val="tx2"/>
                </a:solidFill>
              </a:rPr>
              <a:t>Interne Qualität</a:t>
            </a:r>
          </a:p>
          <a:p>
            <a:pPr algn="l">
              <a:spcAft>
                <a:spcPts val="300"/>
              </a:spcAft>
            </a:pPr>
            <a:r>
              <a:rPr lang="de-AT" sz="1200" b="0" i="0">
                <a:solidFill>
                  <a:schemeClr val="tx1"/>
                </a:solidFill>
              </a:rPr>
              <a:t>Werkzeuge, Schulung, Arbeitsplatz</a:t>
            </a:r>
          </a:p>
        </p:txBody>
      </p:sp>
      <p:sp>
        <p:nvSpPr>
          <p:cNvPr id="14" name="Chain box 2"/>
          <p:cNvSpPr/>
          <p:nvPr/>
        </p:nvSpPr>
        <p:spPr>
          <a:xfrm>
            <a:off x="1856231" y="1874519"/>
            <a:ext cx="1261872" cy="1600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hain text 2"/>
          <p:cNvSpPr txBox="1"/>
          <p:nvPr/>
        </p:nvSpPr>
        <p:spPr>
          <a:xfrm>
            <a:off x="1901952" y="2011680"/>
            <a:ext cx="1170431" cy="1097280"/>
          </a:xfrm>
          <a:prstGeom prst="rect">
            <a:avLst/>
          </a:prstGeom>
          <a:noFill/>
        </p:spPr>
        <p:txBody>
          <a:bodyPr wrap="square" lIns="36576" rIns="36576" tIns="18288" bIns="18288" anchor="t">
            <a:spAutoFit/>
          </a:bodyPr>
          <a:lstStyle/>
          <a:p>
            <a:pPr algn="l">
              <a:spcAft>
                <a:spcPts val="300"/>
              </a:spcAft>
            </a:pPr>
            <a:r>
              <a:rPr lang="de-AT" sz="1100" b="1" i="0">
                <a:solidFill>
                  <a:schemeClr val="tx2"/>
                </a:solidFill>
              </a:rPr>
              <a:t>Mitarbeitende</a:t>
            </a:r>
          </a:p>
          <a:p>
            <a:pPr algn="l">
              <a:spcAft>
                <a:spcPts val="300"/>
              </a:spcAft>
            </a:pPr>
            <a:r>
              <a:rPr lang="de-AT" sz="1200" b="0" i="0">
                <a:solidFill>
                  <a:schemeClr val="tx1"/>
                </a:solidFill>
              </a:rPr>
              <a:t>Zufriedenheit, Verbleib, Produktivität</a:t>
            </a:r>
          </a:p>
        </p:txBody>
      </p:sp>
      <p:sp>
        <p:nvSpPr>
          <p:cNvPr id="16" name="Chain box 3"/>
          <p:cNvSpPr/>
          <p:nvPr/>
        </p:nvSpPr>
        <p:spPr>
          <a:xfrm>
            <a:off x="3209544" y="1874519"/>
            <a:ext cx="1261872" cy="1600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hain text 3"/>
          <p:cNvSpPr txBox="1"/>
          <p:nvPr/>
        </p:nvSpPr>
        <p:spPr>
          <a:xfrm>
            <a:off x="3255264" y="2011680"/>
            <a:ext cx="1170431" cy="1097280"/>
          </a:xfrm>
          <a:prstGeom prst="rect">
            <a:avLst/>
          </a:prstGeom>
          <a:noFill/>
        </p:spPr>
        <p:txBody>
          <a:bodyPr wrap="square" lIns="36576" rIns="36576" tIns="18288" bIns="18288" anchor="t">
            <a:spAutoFit/>
          </a:bodyPr>
          <a:lstStyle/>
          <a:p>
            <a:pPr algn="l">
              <a:spcAft>
                <a:spcPts val="300"/>
              </a:spcAft>
            </a:pPr>
            <a:r>
              <a:rPr lang="de-AT" sz="1100" b="1" i="0">
                <a:solidFill>
                  <a:schemeClr val="tx2"/>
                </a:solidFill>
              </a:rPr>
              <a:t>Servicewert</a:t>
            </a:r>
          </a:p>
          <a:p>
            <a:pPr algn="l">
              <a:spcAft>
                <a:spcPts val="300"/>
              </a:spcAft>
            </a:pPr>
            <a:r>
              <a:rPr lang="de-AT" sz="1200" b="0" i="0">
                <a:solidFill>
                  <a:schemeClr val="tx1"/>
                </a:solidFill>
              </a:rPr>
              <a:t>Nutzen für Kunden im Verhältnis zu Kosten</a:t>
            </a:r>
          </a:p>
        </p:txBody>
      </p:sp>
      <p:sp>
        <p:nvSpPr>
          <p:cNvPr id="18" name="Chain box 4"/>
          <p:cNvSpPr/>
          <p:nvPr/>
        </p:nvSpPr>
        <p:spPr>
          <a:xfrm>
            <a:off x="4562855" y="1874519"/>
            <a:ext cx="1261872" cy="1600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Chain text 4"/>
          <p:cNvSpPr txBox="1"/>
          <p:nvPr/>
        </p:nvSpPr>
        <p:spPr>
          <a:xfrm>
            <a:off x="4608575" y="2011680"/>
            <a:ext cx="1170431" cy="1097280"/>
          </a:xfrm>
          <a:prstGeom prst="rect">
            <a:avLst/>
          </a:prstGeom>
          <a:noFill/>
        </p:spPr>
        <p:txBody>
          <a:bodyPr wrap="square" lIns="36576" rIns="36576" tIns="18288" bIns="18288" anchor="t">
            <a:spAutoFit/>
          </a:bodyPr>
          <a:lstStyle/>
          <a:p>
            <a:pPr algn="l">
              <a:spcAft>
                <a:spcPts val="300"/>
              </a:spcAft>
            </a:pPr>
            <a:r>
              <a:rPr lang="de-AT" sz="1100" b="1" i="0">
                <a:solidFill>
                  <a:schemeClr val="tx2"/>
                </a:solidFill>
              </a:rPr>
              <a:t>Zufriedenheit</a:t>
            </a:r>
          </a:p>
          <a:p>
            <a:pPr algn="l">
              <a:spcAft>
                <a:spcPts val="300"/>
              </a:spcAft>
            </a:pPr>
            <a:r>
              <a:rPr lang="de-AT" sz="1200" b="0" i="0">
                <a:solidFill>
                  <a:schemeClr val="tx1"/>
                </a:solidFill>
              </a:rPr>
              <a:t>Gesamturteil der Kunden</a:t>
            </a:r>
          </a:p>
        </p:txBody>
      </p:sp>
      <p:sp>
        <p:nvSpPr>
          <p:cNvPr id="20" name="Chain box 5"/>
          <p:cNvSpPr/>
          <p:nvPr/>
        </p:nvSpPr>
        <p:spPr>
          <a:xfrm>
            <a:off x="5916168" y="1874519"/>
            <a:ext cx="1261872" cy="1600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hain text 5"/>
          <p:cNvSpPr txBox="1"/>
          <p:nvPr/>
        </p:nvSpPr>
        <p:spPr>
          <a:xfrm>
            <a:off x="5961888" y="2011680"/>
            <a:ext cx="1170431" cy="1097280"/>
          </a:xfrm>
          <a:prstGeom prst="rect">
            <a:avLst/>
          </a:prstGeom>
          <a:noFill/>
        </p:spPr>
        <p:txBody>
          <a:bodyPr wrap="square" lIns="36576" rIns="36576" tIns="18288" bIns="18288" anchor="t">
            <a:spAutoFit/>
          </a:bodyPr>
          <a:lstStyle/>
          <a:p>
            <a:pPr algn="l">
              <a:spcAft>
                <a:spcPts val="300"/>
              </a:spcAft>
            </a:pPr>
            <a:r>
              <a:rPr lang="de-AT" sz="1100" b="1" i="0">
                <a:solidFill>
                  <a:schemeClr val="tx2"/>
                </a:solidFill>
              </a:rPr>
              <a:t>Loyalität</a:t>
            </a:r>
          </a:p>
          <a:p>
            <a:pPr algn="l">
              <a:spcAft>
                <a:spcPts val="300"/>
              </a:spcAft>
            </a:pPr>
            <a:r>
              <a:rPr lang="de-AT" sz="1200" b="0" i="0">
                <a:solidFill>
                  <a:schemeClr val="tx1"/>
                </a:solidFill>
              </a:rPr>
              <a:t>Verbleib, Wiederkauf, Empfehlungen</a:t>
            </a:r>
          </a:p>
        </p:txBody>
      </p:sp>
      <p:sp>
        <p:nvSpPr>
          <p:cNvPr id="22" name="Chain box 6"/>
          <p:cNvSpPr/>
          <p:nvPr/>
        </p:nvSpPr>
        <p:spPr>
          <a:xfrm>
            <a:off x="7269480" y="1874519"/>
            <a:ext cx="1261872" cy="1600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hain text 6"/>
          <p:cNvSpPr txBox="1"/>
          <p:nvPr/>
        </p:nvSpPr>
        <p:spPr>
          <a:xfrm>
            <a:off x="7315200" y="2011680"/>
            <a:ext cx="1170431" cy="1097280"/>
          </a:xfrm>
          <a:prstGeom prst="rect">
            <a:avLst/>
          </a:prstGeom>
          <a:noFill/>
        </p:spPr>
        <p:txBody>
          <a:bodyPr wrap="square" lIns="36576" rIns="36576" tIns="18288" bIns="18288" anchor="t">
            <a:spAutoFit/>
          </a:bodyPr>
          <a:lstStyle/>
          <a:p>
            <a:pPr algn="l">
              <a:spcAft>
                <a:spcPts val="300"/>
              </a:spcAft>
            </a:pPr>
            <a:r>
              <a:rPr lang="de-AT" sz="1100" b="1" i="0">
                <a:solidFill>
                  <a:schemeClr val="tx2"/>
                </a:solidFill>
              </a:rPr>
              <a:t>Gewinn</a:t>
            </a:r>
          </a:p>
          <a:p>
            <a:pPr algn="l">
              <a:spcAft>
                <a:spcPts val="300"/>
              </a:spcAft>
            </a:pPr>
            <a:r>
              <a:rPr lang="de-AT" sz="1200" b="0" i="0">
                <a:solidFill>
                  <a:schemeClr val="tx1"/>
                </a:solidFill>
              </a:rPr>
              <a:t>Wachstum und Rentabilität</a:t>
            </a:r>
          </a:p>
        </p:txBody>
      </p:sp>
      <p:sp>
        <p:nvSpPr>
          <p:cNvPr id="24" name="Chain claim"/>
          <p:cNvSpPr/>
          <p:nvPr/>
        </p:nvSpPr>
        <p:spPr>
          <a:xfrm>
            <a:off x="457200" y="370332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hain claim text"/>
          <p:cNvSpPr txBox="1"/>
          <p:nvPr/>
        </p:nvSpPr>
        <p:spPr>
          <a:xfrm>
            <a:off x="640080" y="3703320"/>
            <a:ext cx="7863840" cy="502920"/>
          </a:xfrm>
          <a:prstGeom prst="rect">
            <a:avLst/>
          </a:prstGeom>
          <a:noFill/>
        </p:spPr>
        <p:txBody>
          <a:bodyPr wrap="square" lIns="36576" rIns="36576" tIns="18288" bIns="18288" anchor="ctr">
            <a:spAutoFit/>
          </a:bodyPr>
          <a:lstStyle/>
          <a:p>
            <a:pPr algn="l">
              <a:spcAft>
                <a:spcPts val="0"/>
              </a:spcAft>
            </a:pPr>
            <a:r>
              <a:rPr lang="de-AT" sz="1300" b="1" i="0">
                <a:solidFill>
                  <a:schemeClr val="bg1"/>
                </a:solidFill>
              </a:rPr>
              <a:t>Die These: </a:t>
            </a:r>
            <a:r>
              <a:rPr lang="de-AT" sz="1300" b="0" i="0">
                <a:solidFill>
                  <a:schemeClr val="bg1"/>
                </a:solidFill>
              </a:rPr>
              <a:t>jedes Glied treibt das nächste; Investitionen in Mitarbeitende und Service zahlen sich im Gewinn aus.</a:t>
            </a:r>
          </a:p>
        </p:txBody>
      </p:sp>
      <p:sp>
        <p:nvSpPr>
          <p:cNvPr id="26" name="Source note"/>
          <p:cNvSpPr txBox="1"/>
          <p:nvPr/>
        </p:nvSpPr>
        <p:spPr>
          <a:xfrm>
            <a:off x="457200" y="4343400"/>
            <a:ext cx="8229600" cy="320040"/>
          </a:xfrm>
          <a:prstGeom prst="rect">
            <a:avLst/>
          </a:prstGeom>
          <a:noFill/>
        </p:spPr>
        <p:txBody>
          <a:bodyPr wrap="square" lIns="36576" rIns="36576" tIns="18288" bIns="18288" anchor="t">
            <a:spAutoFit/>
          </a:bodyPr>
          <a:lstStyle/>
          <a:p>
            <a:pPr algn="l">
              <a:spcAft>
                <a:spcPts val="0"/>
              </a:spcAft>
            </a:pPr>
            <a:r>
              <a:rPr lang="de-AT" sz="1050" b="0" i="0">
                <a:solidFill>
                  <a:srgbClr val="595959"/>
                </a:solidFill>
              </a:rPr>
              <a:t>Heskett, Jones, Loveman, Sasser &amp; Schlesinger (1994) Harvard Business Review 72(2); Heskett, Sasser &amp; Schlesinger (1997) The Service Profit Chain.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Evidenz: Die Kette hält, mit Bedingungen</a:t>
            </a:r>
          </a:p>
        </p:txBody>
      </p:sp>
      <p:sp>
        <p:nvSpPr>
          <p:cNvPr id="4" name="Footer Placeholder 3"/>
          <p:cNvSpPr>
            <a:spLocks noGrp="1"/>
          </p:cNvSpPr>
          <p:nvPr>
            <p:ph type="ftr" idx="11" sz="quarter"/>
          </p:nvPr>
        </p:nvSpPr>
        <p:spPr/>
        <p:txBody>
          <a:bodyPr/>
          <a:p>
            <a:r>
              <a:rPr lang="de-AT"/>
              <a:t>Loyalität, Churn und Share of Wallet</a:t>
            </a:r>
          </a:p>
        </p:txBody>
      </p:sp>
      <p:sp>
        <p:nvSpPr>
          <p:cNvPr id="5" name="Slide Number Placeholder 4"/>
          <p:cNvSpPr>
            <a:spLocks noGrp="1"/>
          </p:cNvSpPr>
          <p:nvPr>
            <p:ph type="sldNum" idx="12" sz="quarter"/>
          </p:nvPr>
        </p:nvSpPr>
        <p:spPr/>
        <p:txBody>
          <a:bodyPr/>
          <a:p>
            <a:r>
              <a:rPr lang="de-AT"/>
              <a:t>SEITE </a:t>
            </a:r>
            <a:fld id="{B6F15528-21DE-4FAA-801E-634DDDAF4B2B}" type="slidenum">
              <a:rPr lang="en-GB"/>
              <a:t>‹#›</a:t>
            </a:fld>
          </a:p>
        </p:txBody>
      </p:sp>
      <p:sp>
        <p:nvSpPr>
          <p:cNvPr id="6" name="SPC bar 1"/>
          <p:cNvSpPr/>
          <p:nvPr/>
        </p:nvSpPr>
        <p:spPr>
          <a:xfrm>
            <a:off x="457200" y="1353312"/>
            <a:ext cx="64008" cy="65836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PC figure 1"/>
          <p:cNvSpPr txBox="1"/>
          <p:nvPr/>
        </p:nvSpPr>
        <p:spPr>
          <a:xfrm>
            <a:off x="640080" y="1280160"/>
            <a:ext cx="1828800" cy="777240"/>
          </a:xfrm>
          <a:prstGeom prst="rect">
            <a:avLst/>
          </a:prstGeom>
          <a:noFill/>
        </p:spPr>
        <p:txBody>
          <a:bodyPr wrap="square" lIns="36576" rIns="36576" tIns="18288" bIns="18288" anchor="ctr">
            <a:spAutoFit/>
          </a:bodyPr>
          <a:lstStyle/>
          <a:p>
            <a:pPr algn="l">
              <a:spcAft>
                <a:spcPts val="0"/>
              </a:spcAft>
            </a:pPr>
            <a:r>
              <a:rPr lang="de-AT" sz="2800" b="1" i="0">
                <a:solidFill>
                  <a:schemeClr val="tx2"/>
                </a:solidFill>
                <a:latin typeface="+mj-lt"/>
              </a:rPr>
              <a:t>Alle</a:t>
            </a:r>
          </a:p>
        </p:txBody>
      </p:sp>
      <p:sp>
        <p:nvSpPr>
          <p:cNvPr id="8" name="SPC text 1"/>
          <p:cNvSpPr txBox="1"/>
          <p:nvPr/>
        </p:nvSpPr>
        <p:spPr>
          <a:xfrm>
            <a:off x="2560320" y="1325880"/>
            <a:ext cx="6126480" cy="731520"/>
          </a:xfrm>
          <a:prstGeom prst="rect">
            <a:avLst/>
          </a:prstGeom>
          <a:noFill/>
        </p:spPr>
        <p:txBody>
          <a:bodyPr wrap="square" lIns="36576" rIns="36576" tIns="18288" bIns="18288" anchor="t">
            <a:spAutoFit/>
          </a:bodyPr>
          <a:lstStyle/>
          <a:p>
            <a:pPr algn="l">
              <a:spcAft>
                <a:spcPts val="200"/>
              </a:spcAft>
            </a:pPr>
            <a:r>
              <a:rPr lang="de-AT" sz="1300" b="0" i="0">
                <a:solidFill>
                  <a:schemeClr val="tx1"/>
                </a:solidFill>
              </a:rPr>
              <a:t>Glieder sind signifikant in einer Metaanalyse der ganzen Kette, aber die Effekte schwanken stark nach Dienstleistungsart.</a:t>
            </a:r>
          </a:p>
          <a:p>
            <a:pPr algn="l">
              <a:spcAft>
                <a:spcPts val="200"/>
              </a:spcAft>
            </a:pPr>
            <a:r>
              <a:rPr lang="de-AT" sz="1050" b="0" i="0">
                <a:solidFill>
                  <a:srgbClr val="595959"/>
                </a:solidFill>
              </a:rPr>
              <a:t>Hogreve, Iseke, Derfuss &amp; Eller (2017) Journal of Marketing 81(3)</a:t>
            </a:r>
          </a:p>
        </p:txBody>
      </p:sp>
      <p:sp>
        <p:nvSpPr>
          <p:cNvPr id="9" name="SPC bar 2"/>
          <p:cNvSpPr/>
          <p:nvPr/>
        </p:nvSpPr>
        <p:spPr>
          <a:xfrm>
            <a:off x="457200" y="2267712"/>
            <a:ext cx="64008" cy="65836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PC figure 2"/>
          <p:cNvSpPr txBox="1"/>
          <p:nvPr/>
        </p:nvSpPr>
        <p:spPr>
          <a:xfrm>
            <a:off x="640080" y="2194560"/>
            <a:ext cx="1828800" cy="777240"/>
          </a:xfrm>
          <a:prstGeom prst="rect">
            <a:avLst/>
          </a:prstGeom>
          <a:noFill/>
        </p:spPr>
        <p:txBody>
          <a:bodyPr wrap="square" lIns="36576" rIns="36576" tIns="18288" bIns="18288" anchor="ctr">
            <a:spAutoFit/>
          </a:bodyPr>
          <a:lstStyle/>
          <a:p>
            <a:pPr algn="l">
              <a:spcAft>
                <a:spcPts val="0"/>
              </a:spcAft>
            </a:pPr>
            <a:r>
              <a:rPr lang="de-AT" sz="2800" b="1" i="0">
                <a:solidFill>
                  <a:schemeClr val="tx2"/>
                </a:solidFill>
                <a:latin typeface="+mj-lt"/>
              </a:rPr>
              <a:t>+0,5 Pkt.</a:t>
            </a:r>
          </a:p>
        </p:txBody>
      </p:sp>
      <p:sp>
        <p:nvSpPr>
          <p:cNvPr id="11" name="SPC text 2"/>
          <p:cNvSpPr txBox="1"/>
          <p:nvPr/>
        </p:nvSpPr>
        <p:spPr>
          <a:xfrm>
            <a:off x="2560320" y="2240279"/>
            <a:ext cx="6126480" cy="731520"/>
          </a:xfrm>
          <a:prstGeom prst="rect">
            <a:avLst/>
          </a:prstGeom>
          <a:noFill/>
        </p:spPr>
        <p:txBody>
          <a:bodyPr wrap="square" lIns="36576" rIns="36576" tIns="18288" bIns="18288" anchor="t">
            <a:spAutoFit/>
          </a:bodyPr>
          <a:lstStyle/>
          <a:p>
            <a:pPr algn="l">
              <a:spcAft>
                <a:spcPts val="200"/>
              </a:spcAft>
            </a:pPr>
            <a:r>
              <a:rPr lang="de-AT" sz="1300" b="0" i="0">
                <a:solidFill>
                  <a:schemeClr val="tx1"/>
                </a:solidFill>
              </a:rPr>
              <a:t>Umsatzwachstum bei Sears aus +5 Einheiten Mitarbeitereinstellung, über +1,3 Einheiten Kundeneindruck.</a:t>
            </a:r>
          </a:p>
          <a:p>
            <a:pPr algn="l">
              <a:spcAft>
                <a:spcPts val="200"/>
              </a:spcAft>
            </a:pPr>
            <a:r>
              <a:rPr lang="de-AT" sz="1050" b="0" i="0">
                <a:solidFill>
                  <a:srgbClr val="595959"/>
                </a:solidFill>
              </a:rPr>
              <a:t>Rucci, Kirn &amp; Quinn (1998) Harvard Business Review</a:t>
            </a:r>
          </a:p>
        </p:txBody>
      </p:sp>
      <p:sp>
        <p:nvSpPr>
          <p:cNvPr id="12" name="SPC bar 3"/>
          <p:cNvSpPr/>
          <p:nvPr/>
        </p:nvSpPr>
        <p:spPr>
          <a:xfrm>
            <a:off x="457200" y="3182112"/>
            <a:ext cx="64008" cy="65836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PC figure 3"/>
          <p:cNvSpPr txBox="1"/>
          <p:nvPr/>
        </p:nvSpPr>
        <p:spPr>
          <a:xfrm>
            <a:off x="640080" y="3108960"/>
            <a:ext cx="1828800" cy="777240"/>
          </a:xfrm>
          <a:prstGeom prst="rect">
            <a:avLst/>
          </a:prstGeom>
          <a:noFill/>
        </p:spPr>
        <p:txBody>
          <a:bodyPr wrap="square" lIns="36576" rIns="36576" tIns="18288" bIns="18288" anchor="ctr">
            <a:spAutoFit/>
          </a:bodyPr>
          <a:lstStyle/>
          <a:p>
            <a:pPr algn="l">
              <a:spcAft>
                <a:spcPts val="0"/>
              </a:spcAft>
            </a:pPr>
            <a:r>
              <a:rPr lang="de-AT" sz="2800" b="1" i="0">
                <a:solidFill>
                  <a:schemeClr val="tx2"/>
                </a:solidFill>
                <a:latin typeface="+mj-lt"/>
              </a:rPr>
              <a:t>Verzug</a:t>
            </a:r>
          </a:p>
        </p:txBody>
      </p:sp>
      <p:sp>
        <p:nvSpPr>
          <p:cNvPr id="14" name="SPC text 3"/>
          <p:cNvSpPr txBox="1"/>
          <p:nvPr/>
        </p:nvSpPr>
        <p:spPr>
          <a:xfrm>
            <a:off x="2560320" y="3154679"/>
            <a:ext cx="6126480" cy="731520"/>
          </a:xfrm>
          <a:prstGeom prst="rect">
            <a:avLst/>
          </a:prstGeom>
          <a:noFill/>
        </p:spPr>
        <p:txBody>
          <a:bodyPr wrap="square" lIns="36576" rIns="36576" tIns="18288" bIns="18288" anchor="t">
            <a:spAutoFit/>
          </a:bodyPr>
          <a:lstStyle/>
          <a:p>
            <a:pPr algn="l">
              <a:spcAft>
                <a:spcPts val="200"/>
              </a:spcAft>
            </a:pPr>
            <a:r>
              <a:rPr lang="de-AT" sz="1300" b="0" i="0">
                <a:solidFill>
                  <a:schemeClr val="tx1"/>
                </a:solidFill>
              </a:rPr>
              <a:t>zwischen Investition, Zufriedenheit und Erfolg kann Manager zu kurzsichtigen Kürzungen verleiten.</a:t>
            </a:r>
          </a:p>
          <a:p>
            <a:pPr algn="l">
              <a:spcAft>
                <a:spcPts val="200"/>
              </a:spcAft>
            </a:pPr>
            <a:r>
              <a:rPr lang="de-AT" sz="1050" b="0" i="0">
                <a:solidFill>
                  <a:srgbClr val="595959"/>
                </a:solidFill>
              </a:rPr>
              <a:t>Evanschitzky, von Wangenheim &amp; Wünderlich (2012) Journal of Retailing</a:t>
            </a:r>
          </a:p>
        </p:txBody>
      </p:sp>
      <p:sp>
        <p:nvSpPr>
          <p:cNvPr id="15" name="SPC caveat"/>
          <p:cNvSpPr/>
          <p:nvPr/>
        </p:nvSpPr>
        <p:spPr>
          <a:xfrm>
            <a:off x="457200" y="4069080"/>
            <a:ext cx="8229600" cy="5943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PC caveat text"/>
          <p:cNvSpPr txBox="1"/>
          <p:nvPr/>
        </p:nvSpPr>
        <p:spPr>
          <a:xfrm>
            <a:off x="640080" y="4069080"/>
            <a:ext cx="7863840" cy="594360"/>
          </a:xfrm>
          <a:prstGeom prst="rect">
            <a:avLst/>
          </a:prstGeom>
          <a:noFill/>
        </p:spPr>
        <p:txBody>
          <a:bodyPr wrap="square" lIns="36576" rIns="36576" tIns="18288" bIns="18288" anchor="ctr">
            <a:spAutoFit/>
          </a:bodyPr>
          <a:lstStyle/>
          <a:p>
            <a:pPr algn="l">
              <a:spcAft>
                <a:spcPts val="0"/>
              </a:spcAft>
            </a:pPr>
            <a:r>
              <a:rPr lang="de-AT" sz="1300" b="1" i="0">
                <a:solidFill>
                  <a:schemeClr val="tx1"/>
                </a:solidFill>
              </a:rPr>
              <a:t>Aber: </a:t>
            </a:r>
            <a:r>
              <a:rPr lang="de-AT" sz="1300" b="0" i="0">
                <a:solidFill>
                  <a:schemeClr val="tx1"/>
                </a:solidFill>
              </a:rPr>
              <a:t>in britischen Supermärkten trieb Mitarbeiterzufriedenheit den Gewinn nicht (Silvestro 2002); das Mitarbeiterglied ist bedingt.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Zufriedenheit zahlt sich aus, aber mäßig</a:t>
            </a:r>
          </a:p>
        </p:txBody>
      </p:sp>
      <p:sp>
        <p:nvSpPr>
          <p:cNvPr id="4" name="Footer Placeholder 3"/>
          <p:cNvSpPr>
            <a:spLocks noGrp="1"/>
          </p:cNvSpPr>
          <p:nvPr>
            <p:ph type="ftr" idx="11" sz="quarter"/>
          </p:nvPr>
        </p:nvSpPr>
        <p:spPr/>
        <p:txBody>
          <a:bodyPr/>
          <a:p>
            <a:r>
              <a:rPr lang="de-AT"/>
              <a:t>Loyalität, Churn und Share of Wallet</a:t>
            </a:r>
          </a:p>
        </p:txBody>
      </p:sp>
      <p:sp>
        <p:nvSpPr>
          <p:cNvPr id="5" name="Slide Number Placeholder 4"/>
          <p:cNvSpPr>
            <a:spLocks noGrp="1"/>
          </p:cNvSpPr>
          <p:nvPr>
            <p:ph type="sldNum" idx="12" sz="quarter"/>
          </p:nvPr>
        </p:nvSpPr>
        <p:spPr/>
        <p:txBody>
          <a:bodyPr/>
          <a:p>
            <a:r>
              <a:rPr lang="de-AT"/>
              <a:t>SEITE </a:t>
            </a:r>
            <a:fld id="{B6F15528-21DE-4FAA-801E-634DDDAF4B2B}" type="slidenum">
              <a:rPr lang="en-GB"/>
              <a:t>‹#›</a:t>
            </a:fld>
          </a:p>
        </p:txBody>
      </p:sp>
      <p:graphicFrame>
        <p:nvGraphicFramePr>
          <p:cNvPr id="6" name="Chart satisfaction correlation"/>
          <p:cNvGraphicFramePr>
            <a:graphicFrameLocks noGrp="1"/>
          </p:cNvGraphicFramePr>
          <p:nvPr/>
        </p:nvGraphicFramePr>
        <p:xfrm>
          <a:off x="457200" y="1234440"/>
          <a:ext cx="4023360" cy="3108960"/>
        </p:xfrm>
        <a:graphic>
          <a:graphicData uri="http://schemas.openxmlformats.org/drawingml/2006/chart">
            <c:chart xmlns:c="http://schemas.openxmlformats.org/drawingml/2006/chart" r:id="rId2"/>
          </a:graphicData>
        </a:graphic>
      </p:graphicFrame>
      <p:sp>
        <p:nvSpPr>
          <p:cNvPr id="7" name="Satisfaction chain body"/>
          <p:cNvSpPr/>
          <p:nvPr/>
        </p:nvSpPr>
        <p:spPr>
          <a:xfrm>
            <a:off x="4663440" y="1280160"/>
            <a:ext cx="4023360" cy="3017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atisfaction chain band"/>
          <p:cNvSpPr/>
          <p:nvPr/>
        </p:nvSpPr>
        <p:spPr>
          <a:xfrm>
            <a:off x="4663440" y="1280160"/>
            <a:ext cx="4023360"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atisfaction chain heading"/>
          <p:cNvSpPr txBox="1"/>
          <p:nvPr/>
        </p:nvSpPr>
        <p:spPr>
          <a:xfrm>
            <a:off x="4773168" y="1335024"/>
            <a:ext cx="3337560" cy="365760"/>
          </a:xfrm>
          <a:prstGeom prst="rect">
            <a:avLst/>
          </a:prstGeom>
          <a:noFill/>
        </p:spPr>
        <p:txBody>
          <a:bodyPr wrap="square" lIns="36576" rIns="36576" tIns="18288" bIns="18288" anchor="ctr">
            <a:spAutoFit/>
          </a:bodyPr>
          <a:lstStyle/>
          <a:p>
            <a:pPr algn="l">
              <a:spcAft>
                <a:spcPts val="600"/>
              </a:spcAft>
            </a:pPr>
            <a:r>
              <a:rPr lang="de-AT" sz="1500" b="1" i="0">
                <a:solidFill>
                  <a:schemeClr val="bg1"/>
                </a:solidFill>
                <a:latin typeface="+mj-lt"/>
              </a:rPr>
              <a:t>Satisfaction-Profit-Chain</a:t>
            </a:r>
          </a:p>
        </p:txBody>
      </p:sp>
      <p:pic>
        <p:nvPicPr>
          <p:cNvPr id="10" name="Icon LuGauge" descr="LuGauge-white.png"/>
          <p:cNvPicPr>
            <a:picLocks noChangeAspect="1"/>
          </p:cNvPicPr>
          <p:nvPr/>
        </p:nvPicPr>
        <p:blipFill>
          <a:blip r:embed="rId3"/>
          <a:stretch>
            <a:fillRect/>
          </a:stretch>
        </p:blipFill>
        <p:spPr>
          <a:xfrm>
            <a:off x="8257031" y="1344168"/>
            <a:ext cx="329184" cy="329184"/>
          </a:xfrm>
          <a:prstGeom prst="rect">
            <a:avLst/>
          </a:prstGeom>
        </p:spPr>
      </p:pic>
      <p:sp>
        <p:nvSpPr>
          <p:cNvPr id="11" name="Satisfaction chain text"/>
          <p:cNvSpPr txBox="1"/>
          <p:nvPr/>
        </p:nvSpPr>
        <p:spPr>
          <a:xfrm>
            <a:off x="4800600" y="1847088"/>
            <a:ext cx="3749040" cy="2359152"/>
          </a:xfrm>
          <a:prstGeom prst="rect">
            <a:avLst/>
          </a:prstGeom>
          <a:noFill/>
        </p:spPr>
        <p:txBody>
          <a:bodyPr wrap="square" lIns="36576" rIns="36576" tIns="18288" bIns="18288" anchor="t">
            <a:spAutoFit/>
          </a:bodyPr>
          <a:lstStyle/>
          <a:p>
            <a:pPr algn="l">
              <a:spcAft>
                <a:spcPts val="700"/>
              </a:spcAft>
            </a:pPr>
            <a:r>
              <a:rPr lang="de-AT" sz="1200" b="1" i="0">
                <a:solidFill>
                  <a:schemeClr val="tx1"/>
                </a:solidFill>
              </a:rPr>
              <a:t>Asymmetrisch: </a:t>
            </a:r>
            <a:r>
              <a:rPr lang="de-AT" sz="1200" b="0" i="0">
                <a:solidFill>
                  <a:schemeClr val="tx1"/>
                </a:solidFill>
              </a:rPr>
              <a:t>ein schlechtes Erlebnis schadet mehr, als ein gutes nützt</a:t>
            </a:r>
          </a:p>
          <a:p>
            <a:pPr algn="l">
              <a:spcAft>
                <a:spcPts val="700"/>
              </a:spcAft>
            </a:pPr>
            <a:r>
              <a:rPr lang="de-AT" sz="1200" b="1" i="0">
                <a:solidFill>
                  <a:schemeClr val="tx1"/>
                </a:solidFill>
              </a:rPr>
              <a:t>Nicht linear: </a:t>
            </a:r>
            <a:r>
              <a:rPr lang="de-AT" sz="1200" b="0" i="0">
                <a:solidFill>
                  <a:schemeClr val="tx1"/>
                </a:solidFill>
              </a:rPr>
              <a:t>Schwellen und abnehmende Erträge</a:t>
            </a:r>
          </a:p>
          <a:p>
            <a:pPr algn="l">
              <a:spcAft>
                <a:spcPts val="700"/>
              </a:spcAft>
            </a:pPr>
            <a:r>
              <a:rPr lang="de-AT" sz="1200" b="1" i="0">
                <a:solidFill>
                  <a:schemeClr val="tx1"/>
                </a:solidFill>
              </a:rPr>
              <a:t>Absicht ≠ Verhalten: </a:t>
            </a:r>
            <a:r>
              <a:rPr lang="de-AT" sz="1200" b="0" i="0">
                <a:solidFill>
                  <a:schemeClr val="tx1"/>
                </a:solidFill>
              </a:rPr>
              <a:t>gleiche Bewertung, andere Wiederkaufraten</a:t>
            </a:r>
          </a:p>
          <a:p>
            <a:pPr algn="l">
              <a:spcAft>
                <a:spcPts val="700"/>
              </a:spcAft>
            </a:pPr>
            <a:r>
              <a:rPr lang="de-AT" sz="1200" b="1" i="0">
                <a:solidFill>
                  <a:schemeClr val="tx1"/>
                </a:solidFill>
              </a:rPr>
              <a:t>Kostenseite: </a:t>
            </a:r>
            <a:r>
              <a:rPr lang="de-AT" sz="1200" b="0" i="0">
                <a:solidFill>
                  <a:schemeClr val="tx1"/>
                </a:solidFill>
              </a:rPr>
              <a:t>sehr hohe Zufriedenheit kann mehr kosten, als sie bringt</a:t>
            </a:r>
          </a:p>
        </p:txBody>
      </p:sp>
      <p:sp>
        <p:nvSpPr>
          <p:cNvPr id="12" name="Source note"/>
          <p:cNvSpPr txBox="1"/>
          <p:nvPr/>
        </p:nvSpPr>
        <p:spPr>
          <a:xfrm>
            <a:off x="457200" y="4526280"/>
            <a:ext cx="8229600" cy="320040"/>
          </a:xfrm>
          <a:prstGeom prst="rect">
            <a:avLst/>
          </a:prstGeom>
          <a:noFill/>
        </p:spPr>
        <p:txBody>
          <a:bodyPr wrap="square" lIns="36576" rIns="36576" tIns="18288" bIns="18288" anchor="t">
            <a:spAutoFit/>
          </a:bodyPr>
          <a:lstStyle/>
          <a:p>
            <a:pPr algn="l">
              <a:spcAft>
                <a:spcPts val="0"/>
              </a:spcAft>
            </a:pPr>
            <a:r>
              <a:rPr lang="de-AT" sz="1050" b="0" i="0">
                <a:solidFill>
                  <a:srgbClr val="595959"/>
                </a:solidFill>
              </a:rPr>
              <a:t>Otto, Szymanski &amp; Varadarajan (2020) JAMS, 251 Korrelationen; Anderson &amp; Mittal (2000) JSR; Mittal &amp; Kamakura (2001) JMR; Guenther &amp; Guenther (2021) IJRM; Mittal et al. (2023) Marketing Letters.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Teil 3 von 6 · alternative Ansätze</a:t>
            </a:r>
          </a:p>
        </p:txBody>
      </p:sp>
      <p:sp>
        <p:nvSpPr>
          <p:cNvPr id="3" name="Title 2"/>
          <p:cNvSpPr>
            <a:spLocks noGrp="1"/>
          </p:cNvSpPr>
          <p:nvPr>
            <p:ph type="ctrTitle"/>
          </p:nvPr>
        </p:nvSpPr>
        <p:spPr/>
        <p:txBody>
          <a:bodyPr/>
          <a:lstStyle/>
          <a:p>
            <a:r>
              <a:t>Vom Kunden zum Firmenwert</a:t>
            </a:r>
          </a:p>
        </p:txBody>
      </p:sp>
      <p:sp>
        <p:nvSpPr>
          <p:cNvPr id="4" name="Footer Placeholder 3"/>
          <p:cNvSpPr>
            <a:spLocks noGrp="1"/>
          </p:cNvSpPr>
          <p:nvPr>
            <p:ph type="ftr" idx="14" sz="quarter"/>
          </p:nvPr>
        </p:nvSpPr>
        <p:spPr/>
        <p:txBody>
          <a:bodyPr/>
          <a:p>
            <a:r>
              <a:rPr lang="de-AT"/>
              <a:t>Loyalität, Churn und Share of Wallet</a:t>
            </a:r>
          </a:p>
        </p:txBody>
      </p:sp>
      <p:sp>
        <p:nvSpPr>
          <p:cNvPr id="5" name="Slide Number Placeholder 4"/>
          <p:cNvSpPr>
            <a:spLocks noGrp="1"/>
          </p:cNvSpPr>
          <p:nvPr>
            <p:ph type="sldNum" idx="15" sz="quarter"/>
          </p:nvPr>
        </p:nvSpPr>
        <p:spPr/>
        <p:txBody>
          <a:bodyPr/>
          <a:p>
            <a:r>
              <a:rPr lang="de-AT"/>
              <a:t>SEITE </a:t>
            </a:r>
            <a:fld id="{B6F15528-21DE-4FAA-801E-634DDDAF4B2B}" type="slidenum">
              <a:rPr lang="en-GB"/>
              <a:t>‹#›</a:t>
            </a:fld>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Sechs Ansätze über die Kette hinaus</a:t>
            </a:r>
          </a:p>
        </p:txBody>
      </p:sp>
      <p:sp>
        <p:nvSpPr>
          <p:cNvPr id="4" name="Footer Placeholder 3"/>
          <p:cNvSpPr>
            <a:spLocks noGrp="1"/>
          </p:cNvSpPr>
          <p:nvPr>
            <p:ph type="ftr" idx="11" sz="quarter"/>
          </p:nvPr>
        </p:nvSpPr>
        <p:spPr/>
        <p:txBody>
          <a:bodyPr/>
          <a:p>
            <a:r>
              <a:rPr lang="de-AT"/>
              <a:t>Loyalität, Churn und Share of Wallet</a:t>
            </a:r>
          </a:p>
        </p:txBody>
      </p:sp>
      <p:sp>
        <p:nvSpPr>
          <p:cNvPr id="5" name="Slide Number Placeholder 4"/>
          <p:cNvSpPr>
            <a:spLocks noGrp="1"/>
          </p:cNvSpPr>
          <p:nvPr>
            <p:ph type="sldNum" idx="12" sz="quarter"/>
          </p:nvPr>
        </p:nvSpPr>
        <p:spPr/>
        <p:txBody>
          <a:bodyPr/>
          <a:p>
            <a:r>
              <a:rPr lang="de-AT"/>
              <a:t>SEITE </a:t>
            </a:r>
            <a:fld id="{B6F15528-21DE-4FAA-801E-634DDDAF4B2B}" type="slidenum">
              <a:rPr lang="en-GB"/>
              <a:t>‹#›</a:t>
            </a:fld>
          </a:p>
        </p:txBody>
      </p:sp>
      <p:sp>
        <p:nvSpPr>
          <p:cNvPr id="6" name="Framework 1 body"/>
          <p:cNvSpPr/>
          <p:nvPr/>
        </p:nvSpPr>
        <p:spPr>
          <a:xfrm>
            <a:off x="457200" y="1234440"/>
            <a:ext cx="2633472" cy="1554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amework 1 band"/>
          <p:cNvSpPr/>
          <p:nvPr/>
        </p:nvSpPr>
        <p:spPr>
          <a:xfrm>
            <a:off x="457200" y="1234440"/>
            <a:ext cx="2633472"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amework 1 heading"/>
          <p:cNvSpPr txBox="1"/>
          <p:nvPr/>
        </p:nvSpPr>
        <p:spPr>
          <a:xfrm>
            <a:off x="566928" y="1289304"/>
            <a:ext cx="1947672" cy="365760"/>
          </a:xfrm>
          <a:prstGeom prst="rect">
            <a:avLst/>
          </a:prstGeom>
          <a:noFill/>
        </p:spPr>
        <p:txBody>
          <a:bodyPr wrap="square" lIns="36576" rIns="36576" tIns="18288" bIns="18288" anchor="ctr">
            <a:spAutoFit/>
          </a:bodyPr>
          <a:lstStyle/>
          <a:p>
            <a:pPr algn="l">
              <a:spcAft>
                <a:spcPts val="600"/>
              </a:spcAft>
            </a:pPr>
            <a:r>
              <a:rPr lang="de-AT" sz="1500" b="1" i="0">
                <a:solidFill>
                  <a:schemeClr val="bg1"/>
                </a:solidFill>
                <a:latin typeface="+mj-lt"/>
              </a:rPr>
              <a:t>Return on Quality</a:t>
            </a:r>
          </a:p>
        </p:txBody>
      </p:sp>
      <p:pic>
        <p:nvPicPr>
          <p:cNvPr id="9" name="Icon LuCircleCheck" descr="LuCircleCheck-white.png"/>
          <p:cNvPicPr>
            <a:picLocks noChangeAspect="1"/>
          </p:cNvPicPr>
          <p:nvPr/>
        </p:nvPicPr>
        <p:blipFill>
          <a:blip r:embed="rId2"/>
          <a:stretch>
            <a:fillRect/>
          </a:stretch>
        </p:blipFill>
        <p:spPr>
          <a:xfrm>
            <a:off x="2660904" y="1298448"/>
            <a:ext cx="329184" cy="329184"/>
          </a:xfrm>
          <a:prstGeom prst="rect">
            <a:avLst/>
          </a:prstGeom>
        </p:spPr>
      </p:pic>
      <p:sp>
        <p:nvSpPr>
          <p:cNvPr id="10" name="Framework 1 text"/>
          <p:cNvSpPr txBox="1"/>
          <p:nvPr/>
        </p:nvSpPr>
        <p:spPr>
          <a:xfrm>
            <a:off x="594360" y="1801368"/>
            <a:ext cx="2359152" cy="896112"/>
          </a:xfrm>
          <a:prstGeom prst="rect">
            <a:avLst/>
          </a:prstGeom>
          <a:noFill/>
        </p:spPr>
        <p:txBody>
          <a:bodyPr wrap="square" lIns="36576" rIns="36576" tIns="18288" bIns="18288" anchor="t">
            <a:spAutoFit/>
          </a:bodyPr>
          <a:lstStyle/>
          <a:p>
            <a:pPr algn="l">
              <a:spcAft>
                <a:spcPts val="700"/>
              </a:spcAft>
            </a:pPr>
            <a:r>
              <a:rPr lang="de-AT" sz="1150" b="0" i="0">
                <a:solidFill>
                  <a:schemeClr val="tx1"/>
                </a:solidFill>
              </a:rPr>
              <a:t>Qualität ist eine Investition, die sich rechnen muss; man kann zu viel ausgeben.</a:t>
            </a:r>
          </a:p>
          <a:p>
            <a:pPr algn="l">
              <a:spcAft>
                <a:spcPts val="700"/>
              </a:spcAft>
            </a:pPr>
            <a:r>
              <a:rPr lang="de-AT" sz="1050" b="0" i="0">
                <a:solidFill>
                  <a:srgbClr val="595959"/>
                </a:solidFill>
              </a:rPr>
              <a:t>Rust, Zahorik &amp; Keiningham (1995)</a:t>
            </a:r>
          </a:p>
        </p:txBody>
      </p:sp>
      <p:sp>
        <p:nvSpPr>
          <p:cNvPr id="11" name="Framework 2 body"/>
          <p:cNvSpPr/>
          <p:nvPr/>
        </p:nvSpPr>
        <p:spPr>
          <a:xfrm>
            <a:off x="3255264" y="1234440"/>
            <a:ext cx="2633472" cy="1554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amework 2 band"/>
          <p:cNvSpPr/>
          <p:nvPr/>
        </p:nvSpPr>
        <p:spPr>
          <a:xfrm>
            <a:off x="3255264" y="1234440"/>
            <a:ext cx="2633472"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amework 2 heading"/>
          <p:cNvSpPr txBox="1"/>
          <p:nvPr/>
        </p:nvSpPr>
        <p:spPr>
          <a:xfrm>
            <a:off x="3364992" y="1289304"/>
            <a:ext cx="1947672" cy="365760"/>
          </a:xfrm>
          <a:prstGeom prst="rect">
            <a:avLst/>
          </a:prstGeom>
          <a:noFill/>
        </p:spPr>
        <p:txBody>
          <a:bodyPr wrap="square" lIns="36576" rIns="36576" tIns="18288" bIns="18288" anchor="ctr">
            <a:spAutoFit/>
          </a:bodyPr>
          <a:lstStyle/>
          <a:p>
            <a:pPr algn="l">
              <a:spcAft>
                <a:spcPts val="600"/>
              </a:spcAft>
            </a:pPr>
            <a:r>
              <a:rPr lang="de-AT" sz="1500" b="1" i="0">
                <a:solidFill>
                  <a:schemeClr val="bg1"/>
                </a:solidFill>
                <a:latin typeface="+mj-lt"/>
              </a:rPr>
              <a:t>Customer Equity</a:t>
            </a:r>
          </a:p>
        </p:txBody>
      </p:sp>
      <p:pic>
        <p:nvPicPr>
          <p:cNvPr id="14" name="Icon LuCoins" descr="LuCoins-white.png"/>
          <p:cNvPicPr>
            <a:picLocks noChangeAspect="1"/>
          </p:cNvPicPr>
          <p:nvPr/>
        </p:nvPicPr>
        <p:blipFill>
          <a:blip r:embed="rId3"/>
          <a:stretch>
            <a:fillRect/>
          </a:stretch>
        </p:blipFill>
        <p:spPr>
          <a:xfrm>
            <a:off x="5458968" y="1298448"/>
            <a:ext cx="329184" cy="329184"/>
          </a:xfrm>
          <a:prstGeom prst="rect">
            <a:avLst/>
          </a:prstGeom>
        </p:spPr>
      </p:pic>
      <p:sp>
        <p:nvSpPr>
          <p:cNvPr id="15" name="Framework 2 text"/>
          <p:cNvSpPr txBox="1"/>
          <p:nvPr/>
        </p:nvSpPr>
        <p:spPr>
          <a:xfrm>
            <a:off x="3392424" y="1801368"/>
            <a:ext cx="2359152" cy="896112"/>
          </a:xfrm>
          <a:prstGeom prst="rect">
            <a:avLst/>
          </a:prstGeom>
          <a:noFill/>
        </p:spPr>
        <p:txBody>
          <a:bodyPr wrap="square" lIns="36576" rIns="36576" tIns="18288" bIns="18288" anchor="t">
            <a:spAutoFit/>
          </a:bodyPr>
          <a:lstStyle/>
          <a:p>
            <a:pPr algn="l">
              <a:spcAft>
                <a:spcPts val="700"/>
              </a:spcAft>
            </a:pPr>
            <a:r>
              <a:rPr lang="de-AT" sz="1150" b="0" i="0">
                <a:solidFill>
                  <a:schemeClr val="tx1"/>
                </a:solidFill>
              </a:rPr>
              <a:t>Firmenwert = Summe der Kundenwerte; Treiber sind Wert, Marke und Bindung.</a:t>
            </a:r>
          </a:p>
          <a:p>
            <a:pPr algn="l">
              <a:spcAft>
                <a:spcPts val="700"/>
              </a:spcAft>
            </a:pPr>
            <a:r>
              <a:rPr lang="de-AT" sz="1050" b="0" i="0">
                <a:solidFill>
                  <a:srgbClr val="595959"/>
                </a:solidFill>
              </a:rPr>
              <a:t>Rust, Lemon &amp; Zeithaml (2004); Gupta et al. (2004)</a:t>
            </a:r>
          </a:p>
        </p:txBody>
      </p:sp>
      <p:sp>
        <p:nvSpPr>
          <p:cNvPr id="16" name="Framework 3 body"/>
          <p:cNvSpPr/>
          <p:nvPr/>
        </p:nvSpPr>
        <p:spPr>
          <a:xfrm>
            <a:off x="6053328" y="1234440"/>
            <a:ext cx="2633472" cy="1554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amework 3 band"/>
          <p:cNvSpPr/>
          <p:nvPr/>
        </p:nvSpPr>
        <p:spPr>
          <a:xfrm>
            <a:off x="6053328" y="1234440"/>
            <a:ext cx="2633472"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amework 3 heading"/>
          <p:cNvSpPr txBox="1"/>
          <p:nvPr/>
        </p:nvSpPr>
        <p:spPr>
          <a:xfrm>
            <a:off x="6163056" y="1289304"/>
            <a:ext cx="1947672" cy="365760"/>
          </a:xfrm>
          <a:prstGeom prst="rect">
            <a:avLst/>
          </a:prstGeom>
          <a:noFill/>
        </p:spPr>
        <p:txBody>
          <a:bodyPr wrap="square" lIns="36576" rIns="36576" tIns="18288" bIns="18288" anchor="ctr">
            <a:spAutoFit/>
          </a:bodyPr>
          <a:lstStyle/>
          <a:p>
            <a:pPr algn="l">
              <a:spcAft>
                <a:spcPts val="600"/>
              </a:spcAft>
            </a:pPr>
            <a:r>
              <a:rPr lang="de-AT" sz="1500" b="1" i="0">
                <a:solidFill>
                  <a:schemeClr val="bg1"/>
                </a:solidFill>
                <a:latin typeface="+mj-lt"/>
              </a:rPr>
              <a:t>Markt-Assets</a:t>
            </a:r>
          </a:p>
        </p:txBody>
      </p:sp>
      <p:pic>
        <p:nvPicPr>
          <p:cNvPr id="19" name="Icon LuBuilding2" descr="LuBuilding2-white.png"/>
          <p:cNvPicPr>
            <a:picLocks noChangeAspect="1"/>
          </p:cNvPicPr>
          <p:nvPr/>
        </p:nvPicPr>
        <p:blipFill>
          <a:blip r:embed="rId4"/>
          <a:stretch>
            <a:fillRect/>
          </a:stretch>
        </p:blipFill>
        <p:spPr>
          <a:xfrm>
            <a:off x="8257032" y="1298448"/>
            <a:ext cx="329184" cy="329184"/>
          </a:xfrm>
          <a:prstGeom prst="rect">
            <a:avLst/>
          </a:prstGeom>
        </p:spPr>
      </p:pic>
      <p:sp>
        <p:nvSpPr>
          <p:cNvPr id="20" name="Framework 3 text"/>
          <p:cNvSpPr txBox="1"/>
          <p:nvPr/>
        </p:nvSpPr>
        <p:spPr>
          <a:xfrm>
            <a:off x="6190488" y="1801368"/>
            <a:ext cx="2359152" cy="896112"/>
          </a:xfrm>
          <a:prstGeom prst="rect">
            <a:avLst/>
          </a:prstGeom>
          <a:noFill/>
        </p:spPr>
        <p:txBody>
          <a:bodyPr wrap="square" lIns="36576" rIns="36576" tIns="18288" bIns="18288" anchor="t">
            <a:spAutoFit/>
          </a:bodyPr>
          <a:lstStyle/>
          <a:p>
            <a:pPr algn="l">
              <a:spcAft>
                <a:spcPts val="700"/>
              </a:spcAft>
            </a:pPr>
            <a:r>
              <a:rPr lang="de-AT" sz="1150" b="0" i="0">
                <a:solidFill>
                  <a:schemeClr val="tx1"/>
                </a:solidFill>
              </a:rPr>
              <a:t>Kundenbeziehungen beschleunigen, erhöhen und stabilisieren Cashflows.</a:t>
            </a:r>
          </a:p>
          <a:p>
            <a:pPr algn="l">
              <a:spcAft>
                <a:spcPts val="700"/>
              </a:spcAft>
            </a:pPr>
            <a:r>
              <a:rPr lang="de-AT" sz="1050" b="0" i="0">
                <a:solidFill>
                  <a:srgbClr val="595959"/>
                </a:solidFill>
              </a:rPr>
              <a:t>Srivastava, Shervani &amp; Fahey (1998)</a:t>
            </a:r>
          </a:p>
        </p:txBody>
      </p:sp>
      <p:sp>
        <p:nvSpPr>
          <p:cNvPr id="21" name="Framework 4 body"/>
          <p:cNvSpPr/>
          <p:nvPr/>
        </p:nvSpPr>
        <p:spPr>
          <a:xfrm>
            <a:off x="457200" y="2926080"/>
            <a:ext cx="2633472" cy="1554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amework 4 band"/>
          <p:cNvSpPr/>
          <p:nvPr/>
        </p:nvSpPr>
        <p:spPr>
          <a:xfrm>
            <a:off x="457200" y="2926080"/>
            <a:ext cx="2633472"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amework 4 heading"/>
          <p:cNvSpPr txBox="1"/>
          <p:nvPr/>
        </p:nvSpPr>
        <p:spPr>
          <a:xfrm>
            <a:off x="566928" y="2980944"/>
            <a:ext cx="1947672" cy="365760"/>
          </a:xfrm>
          <a:prstGeom prst="rect">
            <a:avLst/>
          </a:prstGeom>
          <a:noFill/>
        </p:spPr>
        <p:txBody>
          <a:bodyPr wrap="square" lIns="36576" rIns="36576" tIns="18288" bIns="18288" anchor="ctr">
            <a:spAutoFit/>
          </a:bodyPr>
          <a:lstStyle/>
          <a:p>
            <a:pPr algn="l">
              <a:spcAft>
                <a:spcPts val="600"/>
              </a:spcAft>
            </a:pPr>
            <a:r>
              <a:rPr lang="de-AT" sz="1500" b="1" i="0">
                <a:solidFill>
                  <a:schemeClr val="bg1"/>
                </a:solidFill>
                <a:latin typeface="+mj-lt"/>
              </a:rPr>
              <a:t>Wirkungskette</a:t>
            </a:r>
          </a:p>
        </p:txBody>
      </p:sp>
      <p:pic>
        <p:nvPicPr>
          <p:cNvPr id="24" name="Icon LuTrendingUp" descr="LuTrendingUp-white.png"/>
          <p:cNvPicPr>
            <a:picLocks noChangeAspect="1"/>
          </p:cNvPicPr>
          <p:nvPr/>
        </p:nvPicPr>
        <p:blipFill>
          <a:blip r:embed="rId5"/>
          <a:stretch>
            <a:fillRect/>
          </a:stretch>
        </p:blipFill>
        <p:spPr>
          <a:xfrm>
            <a:off x="2660904" y="2990088"/>
            <a:ext cx="329184" cy="329184"/>
          </a:xfrm>
          <a:prstGeom prst="rect">
            <a:avLst/>
          </a:prstGeom>
        </p:spPr>
      </p:pic>
      <p:sp>
        <p:nvSpPr>
          <p:cNvPr id="25" name="Framework 4 text"/>
          <p:cNvSpPr txBox="1"/>
          <p:nvPr/>
        </p:nvSpPr>
        <p:spPr>
          <a:xfrm>
            <a:off x="594360" y="3493008"/>
            <a:ext cx="2359152" cy="896112"/>
          </a:xfrm>
          <a:prstGeom prst="rect">
            <a:avLst/>
          </a:prstGeom>
          <a:noFill/>
        </p:spPr>
        <p:txBody>
          <a:bodyPr wrap="square" lIns="36576" rIns="36576" tIns="18288" bIns="18288" anchor="t">
            <a:spAutoFit/>
          </a:bodyPr>
          <a:lstStyle/>
          <a:p>
            <a:pPr algn="l">
              <a:spcAft>
                <a:spcPts val="700"/>
              </a:spcAft>
            </a:pPr>
            <a:r>
              <a:rPr lang="de-AT" sz="1150" b="0" i="0">
                <a:solidFill>
                  <a:schemeClr val="tx1"/>
                </a:solidFill>
              </a:rPr>
              <a:t>Maßnahmen → Kundenwirkung → Marktwirkung → Finanzwirkung → Firmenwert.</a:t>
            </a:r>
          </a:p>
          <a:p>
            <a:pPr algn="l">
              <a:spcAft>
                <a:spcPts val="700"/>
              </a:spcAft>
            </a:pPr>
            <a:r>
              <a:rPr lang="de-AT" sz="1050" b="0" i="0">
                <a:solidFill>
                  <a:srgbClr val="595959"/>
                </a:solidFill>
              </a:rPr>
              <a:t>Rust et al. (2004)</a:t>
            </a:r>
          </a:p>
        </p:txBody>
      </p:sp>
      <p:sp>
        <p:nvSpPr>
          <p:cNvPr id="26" name="Framework 5 body"/>
          <p:cNvSpPr/>
          <p:nvPr/>
        </p:nvSpPr>
        <p:spPr>
          <a:xfrm>
            <a:off x="3255264" y="2926080"/>
            <a:ext cx="2633472" cy="1554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amework 5 band"/>
          <p:cNvSpPr/>
          <p:nvPr/>
        </p:nvSpPr>
        <p:spPr>
          <a:xfrm>
            <a:off x="3255264" y="2926080"/>
            <a:ext cx="2633472"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amework 5 heading"/>
          <p:cNvSpPr txBox="1"/>
          <p:nvPr/>
        </p:nvSpPr>
        <p:spPr>
          <a:xfrm>
            <a:off x="3364992" y="2980944"/>
            <a:ext cx="1947672" cy="365760"/>
          </a:xfrm>
          <a:prstGeom prst="rect">
            <a:avLst/>
          </a:prstGeom>
          <a:noFill/>
        </p:spPr>
        <p:txBody>
          <a:bodyPr wrap="square" lIns="36576" rIns="36576" tIns="18288" bIns="18288" anchor="ctr">
            <a:spAutoFit/>
          </a:bodyPr>
          <a:lstStyle/>
          <a:p>
            <a:pPr algn="l">
              <a:spcAft>
                <a:spcPts val="600"/>
              </a:spcAft>
            </a:pPr>
            <a:r>
              <a:rPr lang="de-AT" sz="1500" b="1" i="0">
                <a:solidFill>
                  <a:schemeClr val="bg1"/>
                </a:solidFill>
                <a:latin typeface="+mj-lt"/>
              </a:rPr>
              <a:t>Beziehungen</a:t>
            </a:r>
          </a:p>
        </p:txBody>
      </p:sp>
      <p:pic>
        <p:nvPicPr>
          <p:cNvPr id="29" name="Icon LuHeartHandshake" descr="LuHeartHandshake-white.png"/>
          <p:cNvPicPr>
            <a:picLocks noChangeAspect="1"/>
          </p:cNvPicPr>
          <p:nvPr/>
        </p:nvPicPr>
        <p:blipFill>
          <a:blip r:embed="rId6"/>
          <a:stretch>
            <a:fillRect/>
          </a:stretch>
        </p:blipFill>
        <p:spPr>
          <a:xfrm>
            <a:off x="5458968" y="2990088"/>
            <a:ext cx="329184" cy="329184"/>
          </a:xfrm>
          <a:prstGeom prst="rect">
            <a:avLst/>
          </a:prstGeom>
        </p:spPr>
      </p:pic>
      <p:sp>
        <p:nvSpPr>
          <p:cNvPr id="30" name="Framework 5 text"/>
          <p:cNvSpPr txBox="1"/>
          <p:nvPr/>
        </p:nvSpPr>
        <p:spPr>
          <a:xfrm>
            <a:off x="3392424" y="3493008"/>
            <a:ext cx="2359152" cy="896112"/>
          </a:xfrm>
          <a:prstGeom prst="rect">
            <a:avLst/>
          </a:prstGeom>
          <a:noFill/>
        </p:spPr>
        <p:txBody>
          <a:bodyPr wrap="square" lIns="36576" rIns="36576" tIns="18288" bIns="18288" anchor="t">
            <a:spAutoFit/>
          </a:bodyPr>
          <a:lstStyle/>
          <a:p>
            <a:pPr algn="l">
              <a:spcAft>
                <a:spcPts val="700"/>
              </a:spcAft>
            </a:pPr>
            <a:r>
              <a:rPr lang="de-AT" sz="1150" b="0" i="0">
                <a:solidFill>
                  <a:schemeClr val="tx1"/>
                </a:solidFill>
              </a:rPr>
              <a:t>Vertrauen und Commitment binden Kunden; Beziehungsqualität treibt Erfolg.</a:t>
            </a:r>
          </a:p>
          <a:p>
            <a:pPr algn="l">
              <a:spcAft>
                <a:spcPts val="700"/>
              </a:spcAft>
            </a:pPr>
            <a:r>
              <a:rPr lang="de-AT" sz="1050" b="0" i="0">
                <a:solidFill>
                  <a:srgbClr val="595959"/>
                </a:solidFill>
              </a:rPr>
              <a:t>Morgan &amp; Hunt (1994)</a:t>
            </a:r>
          </a:p>
        </p:txBody>
      </p:sp>
      <p:sp>
        <p:nvSpPr>
          <p:cNvPr id="31" name="Framework 6 body"/>
          <p:cNvSpPr/>
          <p:nvPr/>
        </p:nvSpPr>
        <p:spPr>
          <a:xfrm>
            <a:off x="6053328" y="2926080"/>
            <a:ext cx="2633472" cy="1554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amework 6 band"/>
          <p:cNvSpPr/>
          <p:nvPr/>
        </p:nvSpPr>
        <p:spPr>
          <a:xfrm>
            <a:off x="6053328" y="2926080"/>
            <a:ext cx="2633472"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amework 6 heading"/>
          <p:cNvSpPr txBox="1"/>
          <p:nvPr/>
        </p:nvSpPr>
        <p:spPr>
          <a:xfrm>
            <a:off x="6163056" y="2980944"/>
            <a:ext cx="1947672" cy="365760"/>
          </a:xfrm>
          <a:prstGeom prst="rect">
            <a:avLst/>
          </a:prstGeom>
          <a:noFill/>
        </p:spPr>
        <p:txBody>
          <a:bodyPr wrap="square" lIns="36576" rIns="36576" tIns="18288" bIns="18288" anchor="ctr">
            <a:spAutoFit/>
          </a:bodyPr>
          <a:lstStyle/>
          <a:p>
            <a:pPr algn="l">
              <a:spcAft>
                <a:spcPts val="600"/>
              </a:spcAft>
            </a:pPr>
            <a:r>
              <a:rPr lang="de-AT" sz="1500" b="1" i="0">
                <a:solidFill>
                  <a:schemeClr val="bg1"/>
                </a:solidFill>
                <a:latin typeface="+mj-lt"/>
              </a:rPr>
              <a:t>Engagement-Wert</a:t>
            </a:r>
          </a:p>
        </p:txBody>
      </p:sp>
      <p:pic>
        <p:nvPicPr>
          <p:cNvPr id="34" name="Icon LuUsers" descr="LuUsers-white.png"/>
          <p:cNvPicPr>
            <a:picLocks noChangeAspect="1"/>
          </p:cNvPicPr>
          <p:nvPr/>
        </p:nvPicPr>
        <p:blipFill>
          <a:blip r:embed="rId7"/>
          <a:stretch>
            <a:fillRect/>
          </a:stretch>
        </p:blipFill>
        <p:spPr>
          <a:xfrm>
            <a:off x="8257032" y="2990088"/>
            <a:ext cx="329184" cy="329184"/>
          </a:xfrm>
          <a:prstGeom prst="rect">
            <a:avLst/>
          </a:prstGeom>
        </p:spPr>
      </p:pic>
      <p:sp>
        <p:nvSpPr>
          <p:cNvPr id="35" name="Framework 6 text"/>
          <p:cNvSpPr txBox="1"/>
          <p:nvPr/>
        </p:nvSpPr>
        <p:spPr>
          <a:xfrm>
            <a:off x="6190488" y="3493008"/>
            <a:ext cx="2359152" cy="896112"/>
          </a:xfrm>
          <a:prstGeom prst="rect">
            <a:avLst/>
          </a:prstGeom>
          <a:noFill/>
        </p:spPr>
        <p:txBody>
          <a:bodyPr wrap="square" lIns="36576" rIns="36576" tIns="18288" bIns="18288" anchor="t">
            <a:spAutoFit/>
          </a:bodyPr>
          <a:lstStyle/>
          <a:p>
            <a:pPr algn="l">
              <a:spcAft>
                <a:spcPts val="700"/>
              </a:spcAft>
            </a:pPr>
            <a:r>
              <a:rPr lang="de-AT" sz="1150" b="0" i="0">
                <a:solidFill>
                  <a:schemeClr val="tx1"/>
                </a:solidFill>
              </a:rPr>
              <a:t>CLV plus Empfehlungs-, Einfluss- und Wissenswert eines Kunden.</a:t>
            </a:r>
          </a:p>
          <a:p>
            <a:pPr algn="l">
              <a:spcAft>
                <a:spcPts val="700"/>
              </a:spcAft>
            </a:pPr>
            <a:r>
              <a:rPr lang="de-AT" sz="1050" b="0" i="0">
                <a:solidFill>
                  <a:srgbClr val="595959"/>
                </a:solidFill>
              </a:rPr>
              <a:t>Kumar et al. (2010)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Bindung: der stärkste Werthebel</a:t>
            </a:r>
          </a:p>
        </p:txBody>
      </p:sp>
      <p:sp>
        <p:nvSpPr>
          <p:cNvPr id="4" name="Footer Placeholder 3"/>
          <p:cNvSpPr>
            <a:spLocks noGrp="1"/>
          </p:cNvSpPr>
          <p:nvPr>
            <p:ph type="ftr" idx="11" sz="quarter"/>
          </p:nvPr>
        </p:nvSpPr>
        <p:spPr/>
        <p:txBody>
          <a:bodyPr/>
          <a:p>
            <a:r>
              <a:rPr lang="de-AT"/>
              <a:t>Loyalität, Churn und Share of Wallet</a:t>
            </a:r>
          </a:p>
        </p:txBody>
      </p:sp>
      <p:sp>
        <p:nvSpPr>
          <p:cNvPr id="5" name="Slide Number Placeholder 4"/>
          <p:cNvSpPr>
            <a:spLocks noGrp="1"/>
          </p:cNvSpPr>
          <p:nvPr>
            <p:ph type="sldNum" idx="12" sz="quarter"/>
          </p:nvPr>
        </p:nvSpPr>
        <p:spPr/>
        <p:txBody>
          <a:bodyPr/>
          <a:p>
            <a:r>
              <a:rPr lang="de-AT"/>
              <a:t>SEITE </a:t>
            </a:r>
            <a:fld id="{B6F15528-21DE-4FAA-801E-634DDDAF4B2B}" type="slidenum">
              <a:rPr lang="en-GB"/>
              <a:t>‹#›</a:t>
            </a:fld>
          </a:p>
        </p:txBody>
      </p:sp>
      <p:graphicFrame>
        <p:nvGraphicFramePr>
          <p:cNvPr id="6" name="Chart value levers"/>
          <p:cNvGraphicFramePr>
            <a:graphicFrameLocks noGrp="1"/>
          </p:cNvGraphicFramePr>
          <p:nvPr/>
        </p:nvGraphicFramePr>
        <p:xfrm>
          <a:off x="457200" y="1234440"/>
          <a:ext cx="4572000" cy="3017520"/>
        </p:xfrm>
        <a:graphic>
          <a:graphicData uri="http://schemas.openxmlformats.org/drawingml/2006/chart">
            <c:chart xmlns:c="http://schemas.openxmlformats.org/drawingml/2006/chart" r:id="rId2"/>
          </a:graphicData>
        </a:graphic>
      </p:graphicFrame>
      <p:sp>
        <p:nvSpPr>
          <p:cNvPr id="7" name="Value caveats body"/>
          <p:cNvSpPr/>
          <p:nvPr/>
        </p:nvSpPr>
        <p:spPr>
          <a:xfrm>
            <a:off x="5212080" y="1280160"/>
            <a:ext cx="3474720" cy="29260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Value caveats band"/>
          <p:cNvSpPr/>
          <p:nvPr/>
        </p:nvSpPr>
        <p:spPr>
          <a:xfrm>
            <a:off x="5212080" y="1280160"/>
            <a:ext cx="3474720"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Value caveats heading"/>
          <p:cNvSpPr txBox="1"/>
          <p:nvPr/>
        </p:nvSpPr>
        <p:spPr>
          <a:xfrm>
            <a:off x="5321808" y="1335024"/>
            <a:ext cx="2788920" cy="365760"/>
          </a:xfrm>
          <a:prstGeom prst="rect">
            <a:avLst/>
          </a:prstGeom>
          <a:noFill/>
        </p:spPr>
        <p:txBody>
          <a:bodyPr wrap="square" lIns="36576" rIns="36576" tIns="18288" bIns="18288" anchor="ctr">
            <a:spAutoFit/>
          </a:bodyPr>
          <a:lstStyle/>
          <a:p>
            <a:pPr algn="l">
              <a:spcAft>
                <a:spcPts val="600"/>
              </a:spcAft>
            </a:pPr>
            <a:r>
              <a:rPr lang="de-AT" sz="1500" b="1" i="0">
                <a:solidFill>
                  <a:schemeClr val="bg1"/>
                </a:solidFill>
                <a:latin typeface="+mj-lt"/>
              </a:rPr>
              <a:t>Mit Vorsicht lesen</a:t>
            </a:r>
          </a:p>
        </p:txBody>
      </p:sp>
      <p:pic>
        <p:nvPicPr>
          <p:cNvPr id="10" name="Icon LuCoins" descr="LuCoins-white.png"/>
          <p:cNvPicPr>
            <a:picLocks noChangeAspect="1"/>
          </p:cNvPicPr>
          <p:nvPr/>
        </p:nvPicPr>
        <p:blipFill>
          <a:blip r:embed="rId3"/>
          <a:stretch>
            <a:fillRect/>
          </a:stretch>
        </p:blipFill>
        <p:spPr>
          <a:xfrm>
            <a:off x="8257031" y="1344168"/>
            <a:ext cx="329184" cy="329184"/>
          </a:xfrm>
          <a:prstGeom prst="rect">
            <a:avLst/>
          </a:prstGeom>
        </p:spPr>
      </p:pic>
      <p:sp>
        <p:nvSpPr>
          <p:cNvPr id="11" name="Value caveats text"/>
          <p:cNvSpPr txBox="1"/>
          <p:nvPr/>
        </p:nvSpPr>
        <p:spPr>
          <a:xfrm>
            <a:off x="5349240" y="1847088"/>
            <a:ext cx="3200400" cy="2267712"/>
          </a:xfrm>
          <a:prstGeom prst="rect">
            <a:avLst/>
          </a:prstGeom>
          <a:noFill/>
        </p:spPr>
        <p:txBody>
          <a:bodyPr wrap="square" lIns="36576" rIns="36576" tIns="18288" bIns="18288" anchor="t">
            <a:spAutoFit/>
          </a:bodyPr>
          <a:lstStyle/>
          <a:p>
            <a:pPr algn="l">
              <a:spcAft>
                <a:spcPts val="700"/>
              </a:spcAft>
            </a:pPr>
            <a:r>
              <a:rPr lang="de-AT" sz="1200" b="1" i="0">
                <a:solidFill>
                  <a:schemeClr val="tx1"/>
                </a:solidFill>
              </a:rPr>
              <a:t>Heterogenität: </a:t>
            </a:r>
            <a:r>
              <a:rPr lang="de-AT" sz="1200" b="0" i="0">
                <a:solidFill>
                  <a:schemeClr val="tx1"/>
                </a:solidFill>
              </a:rPr>
              <a:t>eine einzige Bindungsrate unterschätzt den Effekt (Fader &amp; Hardie 2010)</a:t>
            </a:r>
          </a:p>
          <a:p>
            <a:pPr algn="l">
              <a:spcAft>
                <a:spcPts val="700"/>
              </a:spcAft>
            </a:pPr>
            <a:r>
              <a:rPr lang="de-AT" sz="1200" b="1" i="0">
                <a:solidFill>
                  <a:schemeClr val="tx1"/>
                </a:solidFill>
              </a:rPr>
              <a:t>Akquisition: </a:t>
            </a:r>
            <a:r>
              <a:rPr lang="de-AT" sz="1200" b="0" i="0">
                <a:solidFill>
                  <a:schemeClr val="tx1"/>
                </a:solidFill>
              </a:rPr>
              <a:t>künftige Neukunden zählen auch; Hebel 1,55 (Schulze et al. 2012)</a:t>
            </a:r>
          </a:p>
          <a:p>
            <a:pPr algn="l">
              <a:spcAft>
                <a:spcPts val="700"/>
              </a:spcAft>
            </a:pPr>
            <a:r>
              <a:rPr lang="de-AT" sz="1200" b="1" i="0">
                <a:solidFill>
                  <a:schemeClr val="tx1"/>
                </a:solidFill>
              </a:rPr>
              <a:t>Börsenwert: </a:t>
            </a:r>
            <a:r>
              <a:rPr lang="de-AT" sz="1200" b="0" i="0">
                <a:solidFill>
                  <a:schemeClr val="tx1"/>
                </a:solidFill>
              </a:rPr>
              <a:t>Customer Equity sagt ihn voraus (Kumar &amp; Shah 2009)</a:t>
            </a:r>
          </a:p>
        </p:txBody>
      </p:sp>
      <p:sp>
        <p:nvSpPr>
          <p:cNvPr id="12" name="Source note"/>
          <p:cNvSpPr txBox="1"/>
          <p:nvPr/>
        </p:nvSpPr>
        <p:spPr>
          <a:xfrm>
            <a:off x="457200" y="4434840"/>
            <a:ext cx="8229600" cy="320040"/>
          </a:xfrm>
          <a:prstGeom prst="rect">
            <a:avLst/>
          </a:prstGeom>
          <a:noFill/>
        </p:spPr>
        <p:txBody>
          <a:bodyPr wrap="square" lIns="36576" rIns="36576" tIns="18288" bIns="18288" anchor="t">
            <a:spAutoFit/>
          </a:bodyPr>
          <a:lstStyle/>
          <a:p>
            <a:pPr algn="l">
              <a:spcAft>
                <a:spcPts val="0"/>
              </a:spcAft>
            </a:pPr>
            <a:r>
              <a:rPr lang="de-AT" sz="1050" b="0" i="0">
                <a:solidFill>
                  <a:srgbClr val="595959"/>
                </a:solidFill>
              </a:rPr>
              <a:t>Effekt einer Verbesserung um 1 % je Hebel. Gupta, Lehmann &amp; Stuart (2004) Journal of Marketing Research 41(1): fünf Firmen aus öffentlichen Daten bewertet.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Kundenwerte und der Kapitalmarkt</a:t>
            </a:r>
          </a:p>
        </p:txBody>
      </p:sp>
      <p:sp>
        <p:nvSpPr>
          <p:cNvPr id="4" name="Footer Placeholder 3"/>
          <p:cNvSpPr>
            <a:spLocks noGrp="1"/>
          </p:cNvSpPr>
          <p:nvPr>
            <p:ph type="ftr" idx="11" sz="quarter"/>
          </p:nvPr>
        </p:nvSpPr>
        <p:spPr/>
        <p:txBody>
          <a:bodyPr/>
          <a:p>
            <a:r>
              <a:rPr lang="de-AT"/>
              <a:t>Loyalität, Churn und Share of Wallet</a:t>
            </a:r>
          </a:p>
        </p:txBody>
      </p:sp>
      <p:sp>
        <p:nvSpPr>
          <p:cNvPr id="5" name="Slide Number Placeholder 4"/>
          <p:cNvSpPr>
            <a:spLocks noGrp="1"/>
          </p:cNvSpPr>
          <p:nvPr>
            <p:ph type="sldNum" idx="12" sz="quarter"/>
          </p:nvPr>
        </p:nvSpPr>
        <p:spPr/>
        <p:txBody>
          <a:bodyPr/>
          <a:p>
            <a:r>
              <a:rPr lang="de-AT"/>
              <a:t>SEITE </a:t>
            </a:r>
            <a:fld id="{B6F15528-21DE-4FAA-801E-634DDDAF4B2B}" type="slidenum">
              <a:rPr lang="en-GB"/>
              <a:t>‹#›</a:t>
            </a:fld>
          </a:p>
        </p:txBody>
      </p:sp>
      <p:graphicFrame>
        <p:nvGraphicFramePr>
          <p:cNvPr id="6" name="Chart elasticities"/>
          <p:cNvGraphicFramePr>
            <a:graphicFrameLocks noGrp="1"/>
          </p:cNvGraphicFramePr>
          <p:nvPr/>
        </p:nvGraphicFramePr>
        <p:xfrm>
          <a:off x="457200" y="1234440"/>
          <a:ext cx="4206240" cy="3017520"/>
        </p:xfrm>
        <a:graphic>
          <a:graphicData uri="http://schemas.openxmlformats.org/drawingml/2006/chart">
            <c:chart xmlns:c="http://schemas.openxmlformats.org/drawingml/2006/chart" r:id="rId2"/>
          </a:graphicData>
        </a:graphic>
      </p:graphicFrame>
      <p:sp>
        <p:nvSpPr>
          <p:cNvPr id="7" name="Satisfaction returns body"/>
          <p:cNvSpPr/>
          <p:nvPr/>
        </p:nvSpPr>
        <p:spPr>
          <a:xfrm>
            <a:off x="4846320" y="1280160"/>
            <a:ext cx="3840480" cy="3017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atisfaction returns band"/>
          <p:cNvSpPr/>
          <p:nvPr/>
        </p:nvSpPr>
        <p:spPr>
          <a:xfrm>
            <a:off x="4846320" y="1280160"/>
            <a:ext cx="3840480"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atisfaction returns heading"/>
          <p:cNvSpPr txBox="1"/>
          <p:nvPr/>
        </p:nvSpPr>
        <p:spPr>
          <a:xfrm>
            <a:off x="4956048" y="1335024"/>
            <a:ext cx="3154680" cy="365760"/>
          </a:xfrm>
          <a:prstGeom prst="rect">
            <a:avLst/>
          </a:prstGeom>
          <a:noFill/>
        </p:spPr>
        <p:txBody>
          <a:bodyPr wrap="square" lIns="36576" rIns="36576" tIns="18288" bIns="18288" anchor="ctr">
            <a:spAutoFit/>
          </a:bodyPr>
          <a:lstStyle/>
          <a:p>
            <a:pPr algn="l">
              <a:spcAft>
                <a:spcPts val="600"/>
              </a:spcAft>
            </a:pPr>
            <a:r>
              <a:rPr lang="de-AT" sz="1500" b="1" i="0">
                <a:solidFill>
                  <a:schemeClr val="bg1"/>
                </a:solidFill>
                <a:latin typeface="+mj-lt"/>
              </a:rPr>
              <a:t>Zufriedenheit und Rendite</a:t>
            </a:r>
          </a:p>
        </p:txBody>
      </p:sp>
      <p:pic>
        <p:nvPicPr>
          <p:cNvPr id="10" name="Icon LuTrendingUp" descr="LuTrendingUp-white.png"/>
          <p:cNvPicPr>
            <a:picLocks noChangeAspect="1"/>
          </p:cNvPicPr>
          <p:nvPr/>
        </p:nvPicPr>
        <p:blipFill>
          <a:blip r:embed="rId3"/>
          <a:stretch>
            <a:fillRect/>
          </a:stretch>
        </p:blipFill>
        <p:spPr>
          <a:xfrm>
            <a:off x="8257031" y="1344168"/>
            <a:ext cx="329184" cy="329184"/>
          </a:xfrm>
          <a:prstGeom prst="rect">
            <a:avLst/>
          </a:prstGeom>
        </p:spPr>
      </p:pic>
      <p:sp>
        <p:nvSpPr>
          <p:cNvPr id="11" name="Satisfaction returns text"/>
          <p:cNvSpPr txBox="1"/>
          <p:nvPr/>
        </p:nvSpPr>
        <p:spPr>
          <a:xfrm>
            <a:off x="4983480" y="1847088"/>
            <a:ext cx="3566160" cy="2359152"/>
          </a:xfrm>
          <a:prstGeom prst="rect">
            <a:avLst/>
          </a:prstGeom>
          <a:noFill/>
        </p:spPr>
        <p:txBody>
          <a:bodyPr wrap="square" lIns="36576" rIns="36576" tIns="18288" bIns="18288" anchor="t">
            <a:spAutoFit/>
          </a:bodyPr>
          <a:lstStyle/>
          <a:p>
            <a:pPr algn="l">
              <a:spcAft>
                <a:spcPts val="700"/>
              </a:spcAft>
            </a:pPr>
            <a:r>
              <a:rPr lang="de-AT" sz="1200" b="1" i="0">
                <a:solidFill>
                  <a:schemeClr val="tx1"/>
                </a:solidFill>
              </a:rPr>
              <a:t>Cashflows: </a:t>
            </a:r>
            <a:r>
              <a:rPr lang="de-AT" sz="1200" b="0" i="0">
                <a:solidFill>
                  <a:schemeClr val="tx1"/>
                </a:solidFill>
              </a:rPr>
              <a:t>mehr Wachstum, weniger Schwankung (Gruca &amp; Rego 2005)</a:t>
            </a:r>
          </a:p>
          <a:p>
            <a:pPr algn="l">
              <a:spcAft>
                <a:spcPts val="700"/>
              </a:spcAft>
            </a:pPr>
            <a:r>
              <a:rPr lang="de-AT" sz="1200" b="1" i="0">
                <a:solidFill>
                  <a:schemeClr val="tx1"/>
                </a:solidFill>
              </a:rPr>
              <a:t>Risiko: </a:t>
            </a:r>
            <a:r>
              <a:rPr lang="de-AT" sz="1200" b="0" i="0">
                <a:solidFill>
                  <a:schemeClr val="tx1"/>
                </a:solidFill>
              </a:rPr>
              <a:t>geringeres systematisches Risiko (Tuli &amp; Bharadwaj 2009)</a:t>
            </a:r>
          </a:p>
          <a:p>
            <a:pPr algn="l">
              <a:spcAft>
                <a:spcPts val="700"/>
              </a:spcAft>
            </a:pPr>
            <a:r>
              <a:rPr lang="de-AT" sz="1200" b="1" i="0">
                <a:solidFill>
                  <a:schemeClr val="tx1"/>
                </a:solidFill>
              </a:rPr>
              <a:t>Rendite: </a:t>
            </a:r>
            <a:r>
              <a:rPr lang="de-AT" sz="1200" b="0" i="0">
                <a:solidFill>
                  <a:schemeClr val="tx1"/>
                </a:solidFill>
              </a:rPr>
              <a:t>ACSI-Portfolio 518 % vs. S&amp;P 31 %, 2000-2014 (Fornell et al. 2016)</a:t>
            </a:r>
          </a:p>
          <a:p>
            <a:pPr algn="l">
              <a:spcAft>
                <a:spcPts val="700"/>
              </a:spcAft>
            </a:pPr>
            <a:r>
              <a:rPr lang="de-AT" sz="1200" b="1" i="0">
                <a:solidFill>
                  <a:schemeClr val="tx1"/>
                </a:solidFill>
              </a:rPr>
              <a:t>Umstritten: </a:t>
            </a:r>
            <a:r>
              <a:rPr lang="de-AT" sz="1200" b="0" i="0">
                <a:solidFill>
                  <a:schemeClr val="tx1"/>
                </a:solidFill>
              </a:rPr>
              <a:t>Fehlbewertung nur bei wenigen Firmen (Jacobson &amp; Mizik 2009)</a:t>
            </a:r>
          </a:p>
        </p:txBody>
      </p:sp>
      <p:sp>
        <p:nvSpPr>
          <p:cNvPr id="12" name="Source note"/>
          <p:cNvSpPr txBox="1"/>
          <p:nvPr/>
        </p:nvSpPr>
        <p:spPr>
          <a:xfrm>
            <a:off x="457200" y="4434840"/>
            <a:ext cx="8229600" cy="320040"/>
          </a:xfrm>
          <a:prstGeom prst="rect">
            <a:avLst/>
          </a:prstGeom>
          <a:noFill/>
        </p:spPr>
        <p:txBody>
          <a:bodyPr wrap="square" lIns="36576" rIns="36576" tIns="18288" bIns="18288" anchor="t">
            <a:spAutoFit/>
          </a:bodyPr>
          <a:lstStyle/>
          <a:p>
            <a:pPr algn="l">
              <a:spcAft>
                <a:spcPts val="0"/>
              </a:spcAft>
            </a:pPr>
            <a:r>
              <a:rPr lang="de-AT" sz="1050" b="0" i="0">
                <a:solidFill>
                  <a:srgbClr val="595959"/>
                </a:solidFill>
              </a:rPr>
              <a:t>Edeling &amp; Fischer (2016) Journal of Marketing Research: 488 Elastizitäten aus 83 Studien.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Teil 4 von 6 · vorhersagen, dann steuern</a:t>
            </a:r>
          </a:p>
        </p:txBody>
      </p:sp>
      <p:sp>
        <p:nvSpPr>
          <p:cNvPr id="3" name="Title 2"/>
          <p:cNvSpPr>
            <a:spLocks noGrp="1"/>
          </p:cNvSpPr>
          <p:nvPr>
            <p:ph type="ctrTitle"/>
          </p:nvPr>
        </p:nvSpPr>
        <p:spPr/>
        <p:txBody>
          <a:bodyPr/>
          <a:lstStyle/>
          <a:p>
            <a:r>
              <a:t>Abwanderung (Churn)</a:t>
            </a:r>
          </a:p>
        </p:txBody>
      </p:sp>
      <p:sp>
        <p:nvSpPr>
          <p:cNvPr id="4" name="Footer Placeholder 3"/>
          <p:cNvSpPr>
            <a:spLocks noGrp="1"/>
          </p:cNvSpPr>
          <p:nvPr>
            <p:ph type="ftr" idx="14" sz="quarter"/>
          </p:nvPr>
        </p:nvSpPr>
        <p:spPr/>
        <p:txBody>
          <a:bodyPr/>
          <a:p>
            <a:r>
              <a:rPr lang="de-AT"/>
              <a:t>Loyalität, Churn und Share of Wallet</a:t>
            </a:r>
          </a:p>
        </p:txBody>
      </p:sp>
      <p:sp>
        <p:nvSpPr>
          <p:cNvPr id="5" name="Slide Number Placeholder 4"/>
          <p:cNvSpPr>
            <a:spLocks noGrp="1"/>
          </p:cNvSpPr>
          <p:nvPr>
            <p:ph type="sldNum" idx="15" sz="quarter"/>
          </p:nvPr>
        </p:nvSpPr>
        <p:spPr/>
        <p:txBody>
          <a:bodyPr/>
          <a:p>
            <a:r>
              <a:rPr lang="de-AT"/>
              <a:t>SEITE </a:t>
            </a:r>
            <a:fld id="{B6F15528-21DE-4FAA-801E-634DDDAF4B2B}" type="slidenum">
              <a:rPr lang="en-GB"/>
              <a:t>‹#›</a:t>
            </a:fld>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Kleine Churn-Änderung, große Wirkung</a:t>
            </a:r>
          </a:p>
        </p:txBody>
      </p:sp>
      <p:sp>
        <p:nvSpPr>
          <p:cNvPr id="4" name="Footer Placeholder 3"/>
          <p:cNvSpPr>
            <a:spLocks noGrp="1"/>
          </p:cNvSpPr>
          <p:nvPr>
            <p:ph type="ftr" idx="11" sz="quarter"/>
          </p:nvPr>
        </p:nvSpPr>
        <p:spPr/>
        <p:txBody>
          <a:bodyPr/>
          <a:p>
            <a:r>
              <a:rPr lang="de-AT"/>
              <a:t>Loyalität, Churn und Share of Wallet</a:t>
            </a:r>
          </a:p>
        </p:txBody>
      </p:sp>
      <p:sp>
        <p:nvSpPr>
          <p:cNvPr id="5" name="Slide Number Placeholder 4"/>
          <p:cNvSpPr>
            <a:spLocks noGrp="1"/>
          </p:cNvSpPr>
          <p:nvPr>
            <p:ph type="sldNum" idx="12" sz="quarter"/>
          </p:nvPr>
        </p:nvSpPr>
        <p:spPr/>
        <p:txBody>
          <a:bodyPr/>
          <a:p>
            <a:r>
              <a:rPr lang="de-AT"/>
              <a:t>SEITE </a:t>
            </a:r>
            <a:fld id="{B6F15528-21DE-4FAA-801E-634DDDAF4B2B}" type="slidenum">
              <a:rPr lang="en-GB"/>
              <a:t>‹#›</a:t>
            </a:fld>
          </a:p>
        </p:txBody>
      </p:sp>
      <p:graphicFrame>
        <p:nvGraphicFramePr>
          <p:cNvPr id="6" name="CLV table"/>
          <p:cNvGraphicFramePr>
            <a:graphicFrameLocks noGrp="1"/>
          </p:cNvGraphicFramePr>
          <p:nvPr/>
        </p:nvGraphicFramePr>
        <p:xfrm>
          <a:off x="457200" y="1280160"/>
          <a:ext cx="4937760" cy="2011680"/>
        </p:xfrm>
        <a:graphic>
          <a:graphicData uri="http://schemas.openxmlformats.org/drawingml/2006/table">
            <a:tbl>
              <a:tblPr firstRow="1" bandRow="1">
                <a:tableStyleId>{5C22544A-7EE6-4342-B048-85BDC9FD1C3A}</a:tableStyleId>
              </a:tblPr>
              <a:tblGrid>
                <a:gridCol w="1097280"/>
                <a:gridCol w="914400"/>
                <a:gridCol w="1737360"/>
                <a:gridCol w="1188720"/>
              </a:tblGrid>
              <a:tr h="502920">
                <a:tc>
                  <a:txBody>
                    <a:bodyPr/>
                    <a:lstStyle/>
                    <a:p>
                      <a:r>
                        <a:rPr lang="de-AT" sz="1300" b="1">
                          <a:solidFill>
                            <a:schemeClr val="bg1"/>
                          </a:solidFill>
                        </a:rPr>
                        <a:t>Bindung</a:t>
                      </a:r>
                    </a:p>
                  </a:txBody>
                  <a:tcPr anchor="ctr">
                    <a:solidFill>
                      <a:schemeClr val="accent1"/>
                    </a:solidFill>
                  </a:tcPr>
                </a:tc>
                <a:tc>
                  <a:txBody>
                    <a:bodyPr/>
                    <a:lstStyle/>
                    <a:p>
                      <a:r>
                        <a:rPr lang="de-AT" sz="1300" b="1">
                          <a:solidFill>
                            <a:schemeClr val="bg1"/>
                          </a:solidFill>
                        </a:rPr>
                        <a:t>Churn</a:t>
                      </a:r>
                    </a:p>
                  </a:txBody>
                  <a:tcPr anchor="ctr">
                    <a:solidFill>
                      <a:schemeClr val="accent1"/>
                    </a:solidFill>
                  </a:tcPr>
                </a:tc>
                <a:tc>
                  <a:txBody>
                    <a:bodyPr/>
                    <a:lstStyle/>
                    <a:p>
                      <a:r>
                        <a:rPr lang="de-AT" sz="1300" b="1">
                          <a:solidFill>
                            <a:schemeClr val="bg1"/>
                          </a:solidFill>
                        </a:rPr>
                        <a:t>CLV</a:t>
                      </a:r>
                    </a:p>
                  </a:txBody>
                  <a:tcPr anchor="ctr">
                    <a:solidFill>
                      <a:schemeClr val="accent1"/>
                    </a:solidFill>
                  </a:tcPr>
                </a:tc>
                <a:tc>
                  <a:txBody>
                    <a:bodyPr/>
                    <a:lstStyle/>
                    <a:p>
                      <a:r>
                        <a:rPr lang="de-AT" sz="1300" b="1">
                          <a:solidFill>
                            <a:schemeClr val="bg1"/>
                          </a:solidFill>
                        </a:rPr>
                        <a:t>Änderung</a:t>
                      </a:r>
                    </a:p>
                  </a:txBody>
                  <a:tcPr anchor="ctr">
                    <a:solidFill>
                      <a:schemeClr val="accent1"/>
                    </a:solidFill>
                  </a:tcPr>
                </a:tc>
              </a:tr>
              <a:tr h="502920">
                <a:tc>
                  <a:txBody>
                    <a:bodyPr/>
                    <a:lstStyle/>
                    <a:p>
                      <a:r>
                        <a:rPr lang="de-AT" sz="1300">
                          <a:solidFill>
                            <a:schemeClr val="tx1"/>
                          </a:solidFill>
                        </a:rPr>
                        <a:t>70 %</a:t>
                      </a:r>
                    </a:p>
                  </a:txBody>
                  <a:tcPr anchor="ctr">
                    <a:solidFill>
                      <a:schemeClr val="bg2"/>
                    </a:solidFill>
                  </a:tcPr>
                </a:tc>
                <a:tc>
                  <a:txBody>
                    <a:bodyPr/>
                    <a:lstStyle/>
                    <a:p>
                      <a:r>
                        <a:rPr lang="de-AT" sz="1300">
                          <a:solidFill>
                            <a:schemeClr val="tx1"/>
                          </a:solidFill>
                        </a:rPr>
                        <a:t>30 %</a:t>
                      </a:r>
                    </a:p>
                  </a:txBody>
                  <a:tcPr anchor="ctr">
                    <a:solidFill>
                      <a:schemeClr val="bg2"/>
                    </a:solidFill>
                  </a:tcPr>
                </a:tc>
                <a:tc>
                  <a:txBody>
                    <a:bodyPr/>
                    <a:lstStyle/>
                    <a:p>
                      <a:r>
                        <a:rPr lang="de-AT" sz="1300">
                          <a:solidFill>
                            <a:schemeClr val="tx1"/>
                          </a:solidFill>
                        </a:rPr>
                        <a:t>175</a:t>
                      </a:r>
                    </a:p>
                  </a:txBody>
                  <a:tcPr anchor="ctr">
                    <a:solidFill>
                      <a:schemeClr val="bg2"/>
                    </a:solidFill>
                  </a:tcPr>
                </a:tc>
                <a:tc>
                  <a:txBody>
                    <a:bodyPr/>
                    <a:lstStyle/>
                    <a:p>
                      <a:r>
                        <a:rPr lang="de-AT" sz="1300">
                          <a:solidFill>
                            <a:schemeClr val="tx1"/>
                          </a:solidFill>
                        </a:rPr>
                        <a:t>Basis</a:t>
                      </a:r>
                    </a:p>
                  </a:txBody>
                  <a:tcPr anchor="ctr">
                    <a:solidFill>
                      <a:schemeClr val="bg2"/>
                    </a:solidFill>
                  </a:tcPr>
                </a:tc>
              </a:tr>
              <a:tr h="502920">
                <a:tc>
                  <a:txBody>
                    <a:bodyPr/>
                    <a:lstStyle/>
                    <a:p>
                      <a:r>
                        <a:rPr lang="de-AT" sz="1300">
                          <a:solidFill>
                            <a:schemeClr val="tx1"/>
                          </a:solidFill>
                        </a:rPr>
                        <a:t>80 %</a:t>
                      </a:r>
                    </a:p>
                  </a:txBody>
                  <a:tcPr anchor="ctr">
                    <a:solidFill>
                      <a:schemeClr val="bg2"/>
                    </a:solidFill>
                  </a:tcPr>
                </a:tc>
                <a:tc>
                  <a:txBody>
                    <a:bodyPr/>
                    <a:lstStyle/>
                    <a:p>
                      <a:r>
                        <a:rPr lang="de-AT" sz="1300">
                          <a:solidFill>
                            <a:schemeClr val="tx1"/>
                          </a:solidFill>
                        </a:rPr>
                        <a:t>20 %</a:t>
                      </a:r>
                    </a:p>
                  </a:txBody>
                  <a:tcPr anchor="ctr">
                    <a:solidFill>
                      <a:schemeClr val="bg2"/>
                    </a:solidFill>
                  </a:tcPr>
                </a:tc>
                <a:tc>
                  <a:txBody>
                    <a:bodyPr/>
                    <a:lstStyle/>
                    <a:p>
                      <a:r>
                        <a:rPr lang="de-AT" sz="1300">
                          <a:solidFill>
                            <a:schemeClr val="tx1"/>
                          </a:solidFill>
                        </a:rPr>
                        <a:t>267</a:t>
                      </a:r>
                    </a:p>
                  </a:txBody>
                  <a:tcPr anchor="ctr">
                    <a:solidFill>
                      <a:schemeClr val="bg2"/>
                    </a:solidFill>
                  </a:tcPr>
                </a:tc>
                <a:tc>
                  <a:txBody>
                    <a:bodyPr/>
                    <a:lstStyle/>
                    <a:p>
                      <a:r>
                        <a:rPr lang="de-AT" sz="1300">
                          <a:solidFill>
                            <a:schemeClr val="tx1"/>
                          </a:solidFill>
                        </a:rPr>
                        <a:t>+52 %</a:t>
                      </a:r>
                    </a:p>
                  </a:txBody>
                  <a:tcPr anchor="ctr">
                    <a:solidFill>
                      <a:schemeClr val="bg2"/>
                    </a:solidFill>
                  </a:tcPr>
                </a:tc>
              </a:tr>
              <a:tr h="502920">
                <a:tc>
                  <a:txBody>
                    <a:bodyPr/>
                    <a:lstStyle/>
                    <a:p>
                      <a:r>
                        <a:rPr lang="de-AT" sz="1300">
                          <a:solidFill>
                            <a:schemeClr val="tx1"/>
                          </a:solidFill>
                        </a:rPr>
                        <a:t>90 %</a:t>
                      </a:r>
                    </a:p>
                  </a:txBody>
                  <a:tcPr anchor="ctr">
                    <a:solidFill>
                      <a:schemeClr val="bg2"/>
                    </a:solidFill>
                  </a:tcPr>
                </a:tc>
                <a:tc>
                  <a:txBody>
                    <a:bodyPr/>
                    <a:lstStyle/>
                    <a:p>
                      <a:r>
                        <a:rPr lang="de-AT" sz="1300">
                          <a:solidFill>
                            <a:schemeClr val="tx1"/>
                          </a:solidFill>
                        </a:rPr>
                        <a:t>10 %</a:t>
                      </a:r>
                    </a:p>
                  </a:txBody>
                  <a:tcPr anchor="ctr">
                    <a:solidFill>
                      <a:schemeClr val="bg2"/>
                    </a:solidFill>
                  </a:tcPr>
                </a:tc>
                <a:tc>
                  <a:txBody>
                    <a:bodyPr/>
                    <a:lstStyle/>
                    <a:p>
                      <a:r>
                        <a:rPr lang="de-AT" sz="1300" b="1">
                          <a:solidFill>
                            <a:schemeClr val="tx1"/>
                          </a:solidFill>
                        </a:rPr>
                        <a:t>450</a:t>
                      </a:r>
                    </a:p>
                  </a:txBody>
                  <a:tcPr anchor="ctr">
                    <a:solidFill>
                      <a:schemeClr val="accent6"/>
                    </a:solidFill>
                  </a:tcPr>
                </a:tc>
                <a:tc>
                  <a:txBody>
                    <a:bodyPr/>
                    <a:lstStyle/>
                    <a:p>
                      <a:r>
                        <a:rPr lang="de-AT" sz="1300" b="1">
                          <a:solidFill>
                            <a:schemeClr val="tx1"/>
                          </a:solidFill>
                        </a:rPr>
                        <a:t>+157 %</a:t>
                      </a:r>
                    </a:p>
                  </a:txBody>
                  <a:tcPr anchor="ctr">
                    <a:solidFill>
                      <a:schemeClr val="accent6"/>
                    </a:solidFill>
                  </a:tcPr>
                </a:tc>
              </a:tr>
            </a:tbl>
          </a:graphicData>
        </a:graphic>
      </p:graphicFrame>
      <p:sp>
        <p:nvSpPr>
          <p:cNvPr id="7" name="Churn why body"/>
          <p:cNvSpPr/>
          <p:nvPr/>
        </p:nvSpPr>
        <p:spPr>
          <a:xfrm>
            <a:off x="5577840" y="1280160"/>
            <a:ext cx="3108960" cy="20116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hurn why band"/>
          <p:cNvSpPr/>
          <p:nvPr/>
        </p:nvSpPr>
        <p:spPr>
          <a:xfrm>
            <a:off x="5577840" y="1280160"/>
            <a:ext cx="3108960"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hurn why heading"/>
          <p:cNvSpPr txBox="1"/>
          <p:nvPr/>
        </p:nvSpPr>
        <p:spPr>
          <a:xfrm>
            <a:off x="5687568" y="1335024"/>
            <a:ext cx="2423160" cy="365760"/>
          </a:xfrm>
          <a:prstGeom prst="rect">
            <a:avLst/>
          </a:prstGeom>
          <a:noFill/>
        </p:spPr>
        <p:txBody>
          <a:bodyPr wrap="square" lIns="36576" rIns="36576" tIns="18288" bIns="18288" anchor="ctr">
            <a:spAutoFit/>
          </a:bodyPr>
          <a:lstStyle/>
          <a:p>
            <a:pPr algn="l">
              <a:spcAft>
                <a:spcPts val="600"/>
              </a:spcAft>
            </a:pPr>
            <a:r>
              <a:rPr lang="de-AT" sz="1500" b="1" i="0">
                <a:solidFill>
                  <a:schemeClr val="bg1"/>
                </a:solidFill>
                <a:latin typeface="+mj-lt"/>
              </a:rPr>
              <a:t>Warum so steil?</a:t>
            </a:r>
          </a:p>
        </p:txBody>
      </p:sp>
      <p:pic>
        <p:nvPicPr>
          <p:cNvPr id="10" name="Icon LuCalculator" descr="LuCalculator-white.png"/>
          <p:cNvPicPr>
            <a:picLocks noChangeAspect="1"/>
          </p:cNvPicPr>
          <p:nvPr/>
        </p:nvPicPr>
        <p:blipFill>
          <a:blip r:embed="rId2"/>
          <a:stretch>
            <a:fillRect/>
          </a:stretch>
        </p:blipFill>
        <p:spPr>
          <a:xfrm>
            <a:off x="8257031" y="1344168"/>
            <a:ext cx="329184" cy="329184"/>
          </a:xfrm>
          <a:prstGeom prst="rect">
            <a:avLst/>
          </a:prstGeom>
        </p:spPr>
      </p:pic>
      <p:sp>
        <p:nvSpPr>
          <p:cNvPr id="11" name="Churn why text"/>
          <p:cNvSpPr txBox="1"/>
          <p:nvPr/>
        </p:nvSpPr>
        <p:spPr>
          <a:xfrm>
            <a:off x="5715000" y="1847088"/>
            <a:ext cx="2834640" cy="1353312"/>
          </a:xfrm>
          <a:prstGeom prst="rect">
            <a:avLst/>
          </a:prstGeom>
          <a:noFill/>
        </p:spPr>
        <p:txBody>
          <a:bodyPr wrap="square" lIns="36576" rIns="36576" tIns="18288" bIns="18288" anchor="t">
            <a:spAutoFit/>
          </a:bodyPr>
          <a:lstStyle/>
          <a:p>
            <a:pPr algn="l">
              <a:spcAft>
                <a:spcPts val="700"/>
              </a:spcAft>
            </a:pPr>
            <a:r>
              <a:rPr lang="de-AT" sz="1300" b="1" i="0">
                <a:solidFill>
                  <a:schemeClr val="tx1"/>
                </a:solidFill>
              </a:rPr>
              <a:t>Jeder Churn-Punkt </a:t>
            </a:r>
            <a:r>
              <a:rPr lang="de-AT" sz="1300" b="0" i="0">
                <a:solidFill>
                  <a:schemeClr val="tx1"/>
                </a:solidFill>
              </a:rPr>
              <a:t>nimmt einen Teil der Marge jedes künftigen Jahres weg</a:t>
            </a:r>
          </a:p>
          <a:p>
            <a:pPr algn="l">
              <a:spcAft>
                <a:spcPts val="700"/>
              </a:spcAft>
            </a:pPr>
            <a:r>
              <a:rPr lang="de-AT" sz="1300" b="1" i="0">
                <a:solidFill>
                  <a:schemeClr val="tx1"/>
                </a:solidFill>
              </a:rPr>
              <a:t>Die Kundendauer </a:t>
            </a:r>
            <a:r>
              <a:rPr lang="de-AT" sz="1300" b="0" i="0">
                <a:solidFill>
                  <a:schemeClr val="tx1"/>
                </a:solidFill>
              </a:rPr>
              <a:t>steigt stark, wenn Churn sinkt</a:t>
            </a:r>
          </a:p>
        </p:txBody>
      </p:sp>
      <p:sp>
        <p:nvSpPr>
          <p:cNvPr id="12" name="CLV formula"/>
          <p:cNvSpPr/>
          <p:nvPr/>
        </p:nvSpPr>
        <p:spPr>
          <a:xfrm>
            <a:off x="457200" y="3520440"/>
            <a:ext cx="8229600" cy="502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LV formula text"/>
          <p:cNvSpPr txBox="1"/>
          <p:nvPr/>
        </p:nvSpPr>
        <p:spPr>
          <a:xfrm>
            <a:off x="640080" y="3520440"/>
            <a:ext cx="7863840" cy="502920"/>
          </a:xfrm>
          <a:prstGeom prst="rect">
            <a:avLst/>
          </a:prstGeom>
          <a:noFill/>
        </p:spPr>
        <p:txBody>
          <a:bodyPr wrap="square" lIns="36576" rIns="36576" tIns="18288" bIns="18288" anchor="ctr">
            <a:spAutoFit/>
          </a:bodyPr>
          <a:lstStyle/>
          <a:p>
            <a:pPr algn="l">
              <a:spcAft>
                <a:spcPts val="0"/>
              </a:spcAft>
            </a:pPr>
            <a:r>
              <a:rPr lang="de-AT" sz="1300" b="1" i="0">
                <a:solidFill>
                  <a:schemeClr val="tx1"/>
                </a:solidFill>
              </a:rPr>
              <a:t>Formel: </a:t>
            </a:r>
            <a:r>
              <a:rPr lang="de-AT" sz="1300" b="0" i="0">
                <a:solidFill>
                  <a:schemeClr val="tx1"/>
                </a:solidFill>
              </a:rPr>
              <a:t>CLV = m · r ÷ (1 + d − r), mit Marge m = 100 und Diskontsatz d = 10 %.</a:t>
            </a:r>
          </a:p>
        </p:txBody>
      </p:sp>
      <p:sp>
        <p:nvSpPr>
          <p:cNvPr id="14" name="Source note"/>
          <p:cNvSpPr txBox="1"/>
          <p:nvPr/>
        </p:nvSpPr>
        <p:spPr>
          <a:xfrm>
            <a:off x="457200" y="4160520"/>
            <a:ext cx="8229600" cy="320040"/>
          </a:xfrm>
          <a:prstGeom prst="rect">
            <a:avLst/>
          </a:prstGeom>
          <a:noFill/>
        </p:spPr>
        <p:txBody>
          <a:bodyPr wrap="square" lIns="36576" rIns="36576" tIns="18288" bIns="18288" anchor="t">
            <a:spAutoFit/>
          </a:bodyPr>
          <a:lstStyle/>
          <a:p>
            <a:pPr algn="l">
              <a:spcAft>
                <a:spcPts val="0"/>
              </a:spcAft>
            </a:pPr>
            <a:r>
              <a:rPr lang="de-AT" sz="1050" b="0" i="0">
                <a:solidFill>
                  <a:srgbClr val="595959"/>
                </a:solidFill>
              </a:rPr>
              <a:t>Gupta &amp; Lehmann (2005) Managing Customers as Investments; Hardie Note 024 zu CLV-Formeln.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Vorhersagen ist nicht Steuern</a:t>
            </a:r>
          </a:p>
        </p:txBody>
      </p:sp>
      <p:sp>
        <p:nvSpPr>
          <p:cNvPr id="4" name="Footer Placeholder 3"/>
          <p:cNvSpPr>
            <a:spLocks noGrp="1"/>
          </p:cNvSpPr>
          <p:nvPr>
            <p:ph type="ftr" idx="11" sz="quarter"/>
          </p:nvPr>
        </p:nvSpPr>
        <p:spPr/>
        <p:txBody>
          <a:bodyPr/>
          <a:p>
            <a:r>
              <a:rPr lang="de-AT"/>
              <a:t>Loyalität, Churn und Share of Wallet</a:t>
            </a:r>
          </a:p>
        </p:txBody>
      </p:sp>
      <p:sp>
        <p:nvSpPr>
          <p:cNvPr id="5" name="Slide Number Placeholder 4"/>
          <p:cNvSpPr>
            <a:spLocks noGrp="1"/>
          </p:cNvSpPr>
          <p:nvPr>
            <p:ph type="sldNum" idx="12" sz="quarter"/>
          </p:nvPr>
        </p:nvSpPr>
        <p:spPr/>
        <p:txBody>
          <a:bodyPr/>
          <a:p>
            <a:r>
              <a:rPr lang="de-AT"/>
              <a:t>SEITE </a:t>
            </a:r>
            <a:fld id="{B6F15528-21DE-4FAA-801E-634DDDAF4B2B}" type="slidenum">
              <a:rPr lang="en-GB"/>
              <a:t>‹#›</a:t>
            </a:fld>
          </a:p>
        </p:txBody>
      </p:sp>
      <p:sp>
        <p:nvSpPr>
          <p:cNvPr id="6" name="Predict churn body"/>
          <p:cNvSpPr/>
          <p:nvPr/>
        </p:nvSpPr>
        <p:spPr>
          <a:xfrm>
            <a:off x="457200" y="1280160"/>
            <a:ext cx="4032504" cy="2514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edict churn band"/>
          <p:cNvSpPr/>
          <p:nvPr/>
        </p:nvSpPr>
        <p:spPr>
          <a:xfrm>
            <a:off x="457200" y="1280160"/>
            <a:ext cx="4032504"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redict churn heading"/>
          <p:cNvSpPr txBox="1"/>
          <p:nvPr/>
        </p:nvSpPr>
        <p:spPr>
          <a:xfrm>
            <a:off x="566928" y="1335024"/>
            <a:ext cx="3346704" cy="365760"/>
          </a:xfrm>
          <a:prstGeom prst="rect">
            <a:avLst/>
          </a:prstGeom>
          <a:noFill/>
        </p:spPr>
        <p:txBody>
          <a:bodyPr wrap="square" lIns="36576" rIns="36576" tIns="18288" bIns="18288" anchor="ctr">
            <a:spAutoFit/>
          </a:bodyPr>
          <a:lstStyle/>
          <a:p>
            <a:pPr algn="l">
              <a:spcAft>
                <a:spcPts val="600"/>
              </a:spcAft>
            </a:pPr>
            <a:r>
              <a:rPr lang="de-AT" sz="1500" b="1" i="0">
                <a:solidFill>
                  <a:schemeClr val="bg1"/>
                </a:solidFill>
                <a:latin typeface="+mj-lt"/>
              </a:rPr>
              <a:t>Vorhersagen: Wer geht?</a:t>
            </a:r>
          </a:p>
        </p:txBody>
      </p:sp>
      <p:pic>
        <p:nvPicPr>
          <p:cNvPr id="9" name="Icon LuSearch" descr="LuSearch-white.png"/>
          <p:cNvPicPr>
            <a:picLocks noChangeAspect="1"/>
          </p:cNvPicPr>
          <p:nvPr/>
        </p:nvPicPr>
        <p:blipFill>
          <a:blip r:embed="rId2"/>
          <a:stretch>
            <a:fillRect/>
          </a:stretch>
        </p:blipFill>
        <p:spPr>
          <a:xfrm>
            <a:off x="4059936" y="1344168"/>
            <a:ext cx="329184" cy="329184"/>
          </a:xfrm>
          <a:prstGeom prst="rect">
            <a:avLst/>
          </a:prstGeom>
        </p:spPr>
      </p:pic>
      <p:sp>
        <p:nvSpPr>
          <p:cNvPr id="10" name="Predict churn text"/>
          <p:cNvSpPr txBox="1"/>
          <p:nvPr/>
        </p:nvSpPr>
        <p:spPr>
          <a:xfrm>
            <a:off x="594360" y="1847088"/>
            <a:ext cx="3758184" cy="1856232"/>
          </a:xfrm>
          <a:prstGeom prst="rect">
            <a:avLst/>
          </a:prstGeom>
          <a:noFill/>
        </p:spPr>
        <p:txBody>
          <a:bodyPr wrap="square" lIns="36576" rIns="36576" tIns="18288" bIns="18288" anchor="t">
            <a:spAutoFit/>
          </a:bodyPr>
          <a:lstStyle/>
          <a:p>
            <a:pPr algn="l">
              <a:spcAft>
                <a:spcPts val="700"/>
              </a:spcAft>
            </a:pPr>
            <a:r>
              <a:rPr lang="de-AT" sz="1300" b="1" i="0">
                <a:solidFill>
                  <a:schemeClr val="tx1"/>
                </a:solidFill>
              </a:rPr>
              <a:t>Methoden zählen: </a:t>
            </a:r>
            <a:r>
              <a:rPr lang="de-AT" sz="1300" b="0" i="0">
                <a:solidFill>
                  <a:schemeClr val="tx1"/>
                </a:solidFill>
              </a:rPr>
              <a:t>im Churn-Turnier lagen Hunderttausende Dollar pro Kampagne zwischen den Modellen</a:t>
            </a:r>
          </a:p>
          <a:p>
            <a:pPr algn="l">
              <a:spcAft>
                <a:spcPts val="700"/>
              </a:spcAft>
            </a:pPr>
            <a:r>
              <a:rPr lang="de-AT" sz="1300" b="1" i="0">
                <a:solidFill>
                  <a:schemeClr val="tx1"/>
                </a:solidFill>
              </a:rPr>
              <a:t>Bäume und Boosting </a:t>
            </a:r>
            <a:r>
              <a:rPr lang="de-AT" sz="1300" b="0" i="0">
                <a:solidFill>
                  <a:schemeClr val="tx1"/>
                </a:solidFill>
              </a:rPr>
              <a:t>schlagen einfache Logit-Modelle</a:t>
            </a:r>
          </a:p>
          <a:p>
            <a:pPr algn="l">
              <a:spcAft>
                <a:spcPts val="700"/>
              </a:spcAft>
            </a:pPr>
            <a:r>
              <a:rPr lang="de-AT" sz="1300" b="1" i="0">
                <a:solidFill>
                  <a:schemeClr val="tx1"/>
                </a:solidFill>
              </a:rPr>
              <a:t>Nach Gewinn beurteilen, </a:t>
            </a:r>
            <a:r>
              <a:rPr lang="de-AT" sz="1300" b="0" i="0">
                <a:solidFill>
                  <a:schemeClr val="tx1"/>
                </a:solidFill>
              </a:rPr>
              <a:t>nicht nur nach AUC</a:t>
            </a:r>
          </a:p>
        </p:txBody>
      </p:sp>
      <p:sp>
        <p:nvSpPr>
          <p:cNvPr id="11" name="Manage churn body"/>
          <p:cNvSpPr/>
          <p:nvPr/>
        </p:nvSpPr>
        <p:spPr>
          <a:xfrm>
            <a:off x="4654296" y="1280160"/>
            <a:ext cx="4032504" cy="2514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Manage churn band"/>
          <p:cNvSpPr/>
          <p:nvPr/>
        </p:nvSpPr>
        <p:spPr>
          <a:xfrm>
            <a:off x="4654296" y="1280160"/>
            <a:ext cx="4032504"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Manage churn heading"/>
          <p:cNvSpPr txBox="1"/>
          <p:nvPr/>
        </p:nvSpPr>
        <p:spPr>
          <a:xfrm>
            <a:off x="4764024" y="1335024"/>
            <a:ext cx="3346704" cy="365760"/>
          </a:xfrm>
          <a:prstGeom prst="rect">
            <a:avLst/>
          </a:prstGeom>
          <a:noFill/>
        </p:spPr>
        <p:txBody>
          <a:bodyPr wrap="square" lIns="36576" rIns="36576" tIns="18288" bIns="18288" anchor="ctr">
            <a:spAutoFit/>
          </a:bodyPr>
          <a:lstStyle/>
          <a:p>
            <a:pPr algn="l">
              <a:spcAft>
                <a:spcPts val="600"/>
              </a:spcAft>
            </a:pPr>
            <a:r>
              <a:rPr lang="de-AT" sz="1500" b="1" i="0">
                <a:solidFill>
                  <a:schemeClr val="bg1"/>
                </a:solidFill>
                <a:latin typeface="+mj-lt"/>
              </a:rPr>
              <a:t>Steuern: Wen ansprechen?</a:t>
            </a:r>
          </a:p>
        </p:txBody>
      </p:sp>
      <p:pic>
        <p:nvPicPr>
          <p:cNvPr id="14" name="Icon LuTarget" descr="LuTarget-white.png"/>
          <p:cNvPicPr>
            <a:picLocks noChangeAspect="1"/>
          </p:cNvPicPr>
          <p:nvPr/>
        </p:nvPicPr>
        <p:blipFill>
          <a:blip r:embed="rId3"/>
          <a:stretch>
            <a:fillRect/>
          </a:stretch>
        </p:blipFill>
        <p:spPr>
          <a:xfrm>
            <a:off x="8257031" y="1344168"/>
            <a:ext cx="329184" cy="329184"/>
          </a:xfrm>
          <a:prstGeom prst="rect">
            <a:avLst/>
          </a:prstGeom>
        </p:spPr>
      </p:pic>
      <p:sp>
        <p:nvSpPr>
          <p:cNvPr id="15" name="Manage churn text"/>
          <p:cNvSpPr txBox="1"/>
          <p:nvPr/>
        </p:nvSpPr>
        <p:spPr>
          <a:xfrm>
            <a:off x="4791456" y="1847088"/>
            <a:ext cx="3758184" cy="1856232"/>
          </a:xfrm>
          <a:prstGeom prst="rect">
            <a:avLst/>
          </a:prstGeom>
          <a:noFill/>
        </p:spPr>
        <p:txBody>
          <a:bodyPr wrap="square" lIns="36576" rIns="36576" tIns="18288" bIns="18288" anchor="t">
            <a:spAutoFit/>
          </a:bodyPr>
          <a:lstStyle/>
          <a:p>
            <a:pPr algn="l">
              <a:spcAft>
                <a:spcPts val="700"/>
              </a:spcAft>
            </a:pPr>
            <a:r>
              <a:rPr lang="de-AT" sz="1300" b="1" i="0">
                <a:solidFill>
                  <a:schemeClr val="tx1"/>
                </a:solidFill>
              </a:rPr>
              <a:t>Retention Futility: </a:t>
            </a:r>
            <a:r>
              <a:rPr lang="de-AT" sz="1300" b="0" i="0">
                <a:solidFill>
                  <a:schemeClr val="tx1"/>
                </a:solidFill>
              </a:rPr>
              <a:t>die riskantesten Kunden reagieren nicht am stärksten</a:t>
            </a:r>
          </a:p>
          <a:p>
            <a:pPr algn="l">
              <a:spcAft>
                <a:spcPts val="700"/>
              </a:spcAft>
            </a:pPr>
            <a:r>
              <a:rPr lang="de-AT" sz="1300" b="1" i="0">
                <a:solidFill>
                  <a:schemeClr val="tx1"/>
                </a:solidFill>
              </a:rPr>
              <a:t>Nach Uplift zielen, </a:t>
            </a:r>
            <a:r>
              <a:rPr lang="de-AT" sz="1300" b="0" i="0">
                <a:solidFill>
                  <a:schemeClr val="tx1"/>
                </a:solidFill>
              </a:rPr>
              <a:t>also nach der Wirkung des Angebots je Kunde</a:t>
            </a:r>
          </a:p>
          <a:p>
            <a:pPr algn="l">
              <a:spcAft>
                <a:spcPts val="700"/>
              </a:spcAft>
            </a:pPr>
            <a:r>
              <a:rPr lang="de-AT" sz="1300" b="1" i="0">
                <a:solidFill>
                  <a:schemeClr val="tx1"/>
                </a:solidFill>
              </a:rPr>
              <a:t>Angebote können schaden: </a:t>
            </a:r>
            <a:r>
              <a:rPr lang="de-AT" sz="1300" b="0" i="0">
                <a:solidFill>
                  <a:schemeClr val="tx1"/>
                </a:solidFill>
              </a:rPr>
              <a:t>Churn stieg von 6 % auf 10 % nach Tarifempfehlungen</a:t>
            </a:r>
          </a:p>
        </p:txBody>
      </p:sp>
      <p:sp>
        <p:nvSpPr>
          <p:cNvPr id="16" name="Churn rule"/>
          <p:cNvSpPr/>
          <p:nvPr/>
        </p:nvSpPr>
        <p:spPr>
          <a:xfrm>
            <a:off x="457200" y="3977639"/>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hurn rule text"/>
          <p:cNvSpPr txBox="1"/>
          <p:nvPr/>
        </p:nvSpPr>
        <p:spPr>
          <a:xfrm>
            <a:off x="640080" y="3977639"/>
            <a:ext cx="7863840" cy="502920"/>
          </a:xfrm>
          <a:prstGeom prst="rect">
            <a:avLst/>
          </a:prstGeom>
          <a:noFill/>
        </p:spPr>
        <p:txBody>
          <a:bodyPr wrap="square" lIns="36576" rIns="36576" tIns="18288" bIns="18288" anchor="ctr">
            <a:spAutoFit/>
          </a:bodyPr>
          <a:lstStyle/>
          <a:p>
            <a:pPr algn="l">
              <a:spcAft>
                <a:spcPts val="0"/>
              </a:spcAft>
            </a:pPr>
            <a:r>
              <a:rPr lang="de-AT" sz="1300" b="1" i="0">
                <a:solidFill>
                  <a:schemeClr val="bg1"/>
                </a:solidFill>
              </a:rPr>
              <a:t>Regel: </a:t>
            </a:r>
            <a:r>
              <a:rPr lang="de-AT" sz="1300" b="0" i="0">
                <a:solidFill>
                  <a:schemeClr val="bg1"/>
                </a:solidFill>
              </a:rPr>
              <a:t>Kunden ansprechen, deren Verhalten das Angebot ändert, gewichtet mit ihrem CLV.</a:t>
            </a:r>
          </a:p>
        </p:txBody>
      </p:sp>
      <p:sp>
        <p:nvSpPr>
          <p:cNvPr id="18" name="Source note"/>
          <p:cNvSpPr txBox="1"/>
          <p:nvPr/>
        </p:nvSpPr>
        <p:spPr>
          <a:xfrm>
            <a:off x="457200" y="4572000"/>
            <a:ext cx="8229600" cy="320040"/>
          </a:xfrm>
          <a:prstGeom prst="rect">
            <a:avLst/>
          </a:prstGeom>
          <a:noFill/>
        </p:spPr>
        <p:txBody>
          <a:bodyPr wrap="square" lIns="36576" rIns="36576" tIns="18288" bIns="18288" anchor="t">
            <a:spAutoFit/>
          </a:bodyPr>
          <a:lstStyle/>
          <a:p>
            <a:pPr algn="l">
              <a:spcAft>
                <a:spcPts val="0"/>
              </a:spcAft>
            </a:pPr>
            <a:r>
              <a:rPr lang="de-AT" sz="1050" b="0" i="0">
                <a:solidFill>
                  <a:srgbClr val="595959"/>
                </a:solidFill>
              </a:rPr>
              <a:t>Neslin et al. (2006) JMR; Lemmens &amp; Croux (2006) JMR; Verbeke et al. (2012) EJOR; Ascarza (2018) JMR; Ascarza, Iyengar &amp; Schleicher (2016) JMR; Lemmens &amp; Gupta (2020) Marketing Science.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Teil 5 von 6 · Rang schlägt Bewertung</a:t>
            </a:r>
          </a:p>
        </p:txBody>
      </p:sp>
      <p:sp>
        <p:nvSpPr>
          <p:cNvPr id="3" name="Title 2"/>
          <p:cNvSpPr>
            <a:spLocks noGrp="1"/>
          </p:cNvSpPr>
          <p:nvPr>
            <p:ph type="ctrTitle"/>
          </p:nvPr>
        </p:nvSpPr>
        <p:spPr/>
        <p:txBody>
          <a:bodyPr/>
          <a:lstStyle/>
          <a:p>
            <a:r>
              <a:t>Share of Wallet</a:t>
            </a:r>
          </a:p>
        </p:txBody>
      </p:sp>
      <p:sp>
        <p:nvSpPr>
          <p:cNvPr id="4" name="Footer Placeholder 3"/>
          <p:cNvSpPr>
            <a:spLocks noGrp="1"/>
          </p:cNvSpPr>
          <p:nvPr>
            <p:ph type="ftr" idx="14" sz="quarter"/>
          </p:nvPr>
        </p:nvSpPr>
        <p:spPr/>
        <p:txBody>
          <a:bodyPr/>
          <a:p>
            <a:r>
              <a:rPr lang="de-AT"/>
              <a:t>Loyalität, Churn und Share of Wallet</a:t>
            </a:r>
          </a:p>
        </p:txBody>
      </p:sp>
      <p:sp>
        <p:nvSpPr>
          <p:cNvPr id="5" name="Slide Number Placeholder 4"/>
          <p:cNvSpPr>
            <a:spLocks noGrp="1"/>
          </p:cNvSpPr>
          <p:nvPr>
            <p:ph type="sldNum" idx="15" sz="quarter"/>
          </p:nvPr>
        </p:nvSpPr>
        <p:spPr/>
        <p:txBody>
          <a:bodyPr/>
          <a:p>
            <a:r>
              <a:rPr lang="de-AT"/>
              <a:t>SEITE </a:t>
            </a:r>
            <a:fld id="{B6F15528-21DE-4FAA-801E-634DDDAF4B2B}" type="slidenum">
              <a:rPr lang="en-GB"/>
              <a:t>‹#›</a:t>
            </a:fld>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Der Share of Wallet folgt dem Rang</a:t>
            </a:r>
          </a:p>
        </p:txBody>
      </p:sp>
      <p:sp>
        <p:nvSpPr>
          <p:cNvPr id="4" name="Footer Placeholder 3"/>
          <p:cNvSpPr>
            <a:spLocks noGrp="1"/>
          </p:cNvSpPr>
          <p:nvPr>
            <p:ph type="ftr" idx="11" sz="quarter"/>
          </p:nvPr>
        </p:nvSpPr>
        <p:spPr/>
        <p:txBody>
          <a:bodyPr/>
          <a:p>
            <a:r>
              <a:rPr lang="de-AT"/>
              <a:t>Loyalität, Churn und Share of Wallet</a:t>
            </a:r>
          </a:p>
        </p:txBody>
      </p:sp>
      <p:sp>
        <p:nvSpPr>
          <p:cNvPr id="5" name="Slide Number Placeholder 4"/>
          <p:cNvSpPr>
            <a:spLocks noGrp="1"/>
          </p:cNvSpPr>
          <p:nvPr>
            <p:ph type="sldNum" idx="12" sz="quarter"/>
          </p:nvPr>
        </p:nvSpPr>
        <p:spPr/>
        <p:txBody>
          <a:bodyPr/>
          <a:p>
            <a:r>
              <a:rPr lang="de-AT"/>
              <a:t>SEITE </a:t>
            </a:r>
            <a:fld id="{B6F15528-21DE-4FAA-801E-634DDDAF4B2B}" type="slidenum">
              <a:rPr lang="en-GB"/>
              <a:t>‹#›</a:t>
            </a:fld>
          </a:p>
        </p:txBody>
      </p:sp>
      <p:graphicFrame>
        <p:nvGraphicFramePr>
          <p:cNvPr id="6" name="Chart SOW variance"/>
          <p:cNvGraphicFramePr>
            <a:graphicFrameLocks noGrp="1"/>
          </p:cNvGraphicFramePr>
          <p:nvPr/>
        </p:nvGraphicFramePr>
        <p:xfrm>
          <a:off x="457200" y="1234440"/>
          <a:ext cx="4023360" cy="3017520"/>
        </p:xfrm>
        <a:graphic>
          <a:graphicData uri="http://schemas.openxmlformats.org/drawingml/2006/chart">
            <c:chart xmlns:c="http://schemas.openxmlformats.org/drawingml/2006/chart" r:id="rId2"/>
          </a:graphicData>
        </a:graphic>
      </p:graphicFrame>
      <p:sp>
        <p:nvSpPr>
          <p:cNvPr id="7" name="SOW stat box 1"/>
          <p:cNvSpPr/>
          <p:nvPr/>
        </p:nvSpPr>
        <p:spPr>
          <a:xfrm>
            <a:off x="4663440" y="1325880"/>
            <a:ext cx="4023360" cy="12801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OW figure 1"/>
          <p:cNvSpPr txBox="1"/>
          <p:nvPr/>
        </p:nvSpPr>
        <p:spPr>
          <a:xfrm>
            <a:off x="4800600" y="1399032"/>
            <a:ext cx="1280160" cy="1097280"/>
          </a:xfrm>
          <a:prstGeom prst="rect">
            <a:avLst/>
          </a:prstGeom>
          <a:noFill/>
        </p:spPr>
        <p:txBody>
          <a:bodyPr wrap="square" lIns="36576" rIns="36576" tIns="18288" bIns="18288" anchor="ctr">
            <a:spAutoFit/>
          </a:bodyPr>
          <a:lstStyle/>
          <a:p>
            <a:pPr algn="l">
              <a:spcAft>
                <a:spcPts val="0"/>
              </a:spcAft>
            </a:pPr>
            <a:r>
              <a:rPr lang="de-AT" sz="2600" b="1" i="0">
                <a:solidFill>
                  <a:schemeClr val="tx2"/>
                </a:solidFill>
                <a:latin typeface="+mj-lt"/>
              </a:rPr>
              <a:t>≈ 0,1</a:t>
            </a:r>
          </a:p>
        </p:txBody>
      </p:sp>
      <p:sp>
        <p:nvSpPr>
          <p:cNvPr id="9" name="SOW text 1"/>
          <p:cNvSpPr txBox="1"/>
          <p:nvPr/>
        </p:nvSpPr>
        <p:spPr>
          <a:xfrm>
            <a:off x="6080760" y="1417320"/>
            <a:ext cx="2514600" cy="1097280"/>
          </a:xfrm>
          <a:prstGeom prst="rect">
            <a:avLst/>
          </a:prstGeom>
          <a:noFill/>
        </p:spPr>
        <p:txBody>
          <a:bodyPr wrap="square" lIns="36576" rIns="36576" tIns="18288" bIns="18288" anchor="t">
            <a:spAutoFit/>
          </a:bodyPr>
          <a:lstStyle/>
          <a:p>
            <a:pPr algn="l">
              <a:spcAft>
                <a:spcPts val="200"/>
              </a:spcAft>
            </a:pPr>
            <a:r>
              <a:rPr lang="de-AT" sz="1200" b="0" i="0">
                <a:solidFill>
                  <a:schemeClr val="tx1"/>
                </a:solidFill>
              </a:rPr>
              <a:t>Korrelation der Änderungen von Zufriedenheit oder NPS mit Änderungen im Share of Wallet</a:t>
            </a:r>
          </a:p>
          <a:p>
            <a:pPr algn="l">
              <a:spcAft>
                <a:spcPts val="200"/>
              </a:spcAft>
            </a:pPr>
            <a:r>
              <a:rPr lang="de-AT" sz="1050" b="0" i="0">
                <a:solidFill>
                  <a:srgbClr val="595959"/>
                </a:solidFill>
              </a:rPr>
              <a:t>Keiningham et al. (2011) HBR</a:t>
            </a:r>
          </a:p>
        </p:txBody>
      </p:sp>
      <p:sp>
        <p:nvSpPr>
          <p:cNvPr id="10" name="SOW stat box 2"/>
          <p:cNvSpPr/>
          <p:nvPr/>
        </p:nvSpPr>
        <p:spPr>
          <a:xfrm>
            <a:off x="4663440" y="2788920"/>
            <a:ext cx="4023360" cy="12801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OW figure 2"/>
          <p:cNvSpPr txBox="1"/>
          <p:nvPr/>
        </p:nvSpPr>
        <p:spPr>
          <a:xfrm>
            <a:off x="4800600" y="2862072"/>
            <a:ext cx="1280160" cy="1097280"/>
          </a:xfrm>
          <a:prstGeom prst="rect">
            <a:avLst/>
          </a:prstGeom>
          <a:noFill/>
        </p:spPr>
        <p:txBody>
          <a:bodyPr wrap="square" lIns="36576" rIns="36576" tIns="18288" bIns="18288" anchor="ctr">
            <a:spAutoFit/>
          </a:bodyPr>
          <a:lstStyle/>
          <a:p>
            <a:pPr algn="l">
              <a:spcAft>
                <a:spcPts val="0"/>
              </a:spcAft>
            </a:pPr>
            <a:r>
              <a:rPr lang="de-AT" sz="2600" b="1" i="0">
                <a:solidFill>
                  <a:schemeClr val="tx2"/>
                </a:solidFill>
                <a:latin typeface="+mj-lt"/>
              </a:rPr>
              <a:t>10×</a:t>
            </a:r>
          </a:p>
        </p:txBody>
      </p:sp>
      <p:sp>
        <p:nvSpPr>
          <p:cNvPr id="12" name="SOW text 2"/>
          <p:cNvSpPr txBox="1"/>
          <p:nvPr/>
        </p:nvSpPr>
        <p:spPr>
          <a:xfrm>
            <a:off x="6080760" y="2880360"/>
            <a:ext cx="2514600" cy="1097280"/>
          </a:xfrm>
          <a:prstGeom prst="rect">
            <a:avLst/>
          </a:prstGeom>
          <a:noFill/>
        </p:spPr>
        <p:txBody>
          <a:bodyPr wrap="square" lIns="36576" rIns="36576" tIns="18288" bIns="18288" anchor="t">
            <a:spAutoFit/>
          </a:bodyPr>
          <a:lstStyle/>
          <a:p>
            <a:pPr algn="l">
              <a:spcAft>
                <a:spcPts val="200"/>
              </a:spcAft>
            </a:pPr>
            <a:r>
              <a:rPr lang="de-AT" sz="1200" b="0" i="0">
                <a:solidFill>
                  <a:schemeClr val="tx1"/>
                </a:solidFill>
              </a:rPr>
              <a:t>Verschiebungen der Ausgaben können bis zu zehnmal mehr wert sein als Komplettabwanderung</a:t>
            </a:r>
          </a:p>
          <a:p>
            <a:pPr algn="l">
              <a:spcAft>
                <a:spcPts val="200"/>
              </a:spcAft>
            </a:pPr>
            <a:r>
              <a:rPr lang="de-AT" sz="1050" b="0" i="0">
                <a:solidFill>
                  <a:srgbClr val="595959"/>
                </a:solidFill>
              </a:rPr>
              <a:t>Coyles &amp; Gokey (2005)</a:t>
            </a:r>
          </a:p>
        </p:txBody>
      </p:sp>
      <p:sp>
        <p:nvSpPr>
          <p:cNvPr id="13" name="Source note"/>
          <p:cNvSpPr txBox="1"/>
          <p:nvPr/>
        </p:nvSpPr>
        <p:spPr>
          <a:xfrm>
            <a:off x="457200" y="4434840"/>
            <a:ext cx="8229600" cy="320040"/>
          </a:xfrm>
          <a:prstGeom prst="rect">
            <a:avLst/>
          </a:prstGeom>
          <a:noFill/>
        </p:spPr>
        <p:txBody>
          <a:bodyPr wrap="square" lIns="36576" rIns="36576" tIns="18288" bIns="18288" anchor="t">
            <a:spAutoFit/>
          </a:bodyPr>
          <a:lstStyle/>
          <a:p>
            <a:pPr algn="l">
              <a:spcAft>
                <a:spcPts val="0"/>
              </a:spcAft>
            </a:pPr>
            <a:r>
              <a:rPr lang="de-AT" sz="1050" b="0" i="0">
                <a:solidFill>
                  <a:srgbClr val="595959"/>
                </a:solidFill>
              </a:rPr>
              <a:t>Anteil an den Einlagen. Aksoy (2014) International Journal of Bank Marketing, 4.712 Bankkunden; Cooil et al. (2007) Journal of Marketing; Keiningham et al. (2015) Journal of Service Management.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Die Wallet Allocation Rule im Hörsaal</a:t>
            </a:r>
          </a:p>
        </p:txBody>
      </p:sp>
      <p:sp>
        <p:nvSpPr>
          <p:cNvPr id="4" name="Footer Placeholder 3"/>
          <p:cNvSpPr>
            <a:spLocks noGrp="1"/>
          </p:cNvSpPr>
          <p:nvPr>
            <p:ph type="ftr" idx="11" sz="quarter"/>
          </p:nvPr>
        </p:nvSpPr>
        <p:spPr/>
        <p:txBody>
          <a:bodyPr/>
          <a:p>
            <a:r>
              <a:rPr lang="de-AT"/>
              <a:t>Loyalität, Churn und Share of Wallet</a:t>
            </a:r>
          </a:p>
        </p:txBody>
      </p:sp>
      <p:sp>
        <p:nvSpPr>
          <p:cNvPr id="5" name="Slide Number Placeholder 4"/>
          <p:cNvSpPr>
            <a:spLocks noGrp="1"/>
          </p:cNvSpPr>
          <p:nvPr>
            <p:ph type="sldNum" idx="12" sz="quarter"/>
          </p:nvPr>
        </p:nvSpPr>
        <p:spPr/>
        <p:txBody>
          <a:bodyPr/>
          <a:p>
            <a:r>
              <a:rPr lang="de-AT"/>
              <a:t>SEITE </a:t>
            </a:r>
            <a:fld id="{B6F15528-21DE-4FAA-801E-634DDDAF4B2B}" type="slidenum">
              <a:rPr lang="en-GB"/>
              <a:t>‹#›</a:t>
            </a:fld>
          </a:p>
        </p:txBody>
      </p:sp>
      <p:sp>
        <p:nvSpPr>
          <p:cNvPr id="6" name="WAR formula box"/>
          <p:cNvSpPr/>
          <p:nvPr/>
        </p:nvSpPr>
        <p:spPr>
          <a:xfrm>
            <a:off x="457200" y="1280160"/>
            <a:ext cx="3931920" cy="11887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AR label"/>
          <p:cNvSpPr txBox="1"/>
          <p:nvPr/>
        </p:nvSpPr>
        <p:spPr>
          <a:xfrm>
            <a:off x="640080" y="1353312"/>
            <a:ext cx="3566160" cy="365760"/>
          </a:xfrm>
          <a:prstGeom prst="rect">
            <a:avLst/>
          </a:prstGeom>
          <a:noFill/>
        </p:spPr>
        <p:txBody>
          <a:bodyPr wrap="square" lIns="36576" rIns="36576" tIns="18288" bIns="18288" anchor="t">
            <a:spAutoFit/>
          </a:bodyPr>
          <a:lstStyle/>
          <a:p>
            <a:pPr algn="l">
              <a:spcAft>
                <a:spcPts val="600"/>
              </a:spcAft>
            </a:pPr>
            <a:r>
              <a:rPr lang="de-AT" sz="1300" b="1" i="0">
                <a:solidFill>
                  <a:schemeClr val="accent6"/>
                </a:solidFill>
              </a:rPr>
              <a:t>Wallet Allocation Rule</a:t>
            </a:r>
          </a:p>
        </p:txBody>
      </p:sp>
      <p:sp>
        <p:nvSpPr>
          <p:cNvPr id="8" name="WAR formula"/>
          <p:cNvSpPr txBox="1"/>
          <p:nvPr/>
        </p:nvSpPr>
        <p:spPr>
          <a:xfrm>
            <a:off x="640080" y="1719072"/>
            <a:ext cx="3566160" cy="640080"/>
          </a:xfrm>
          <a:prstGeom prst="rect">
            <a:avLst/>
          </a:prstGeom>
          <a:noFill/>
        </p:spPr>
        <p:txBody>
          <a:bodyPr wrap="square" lIns="36576" rIns="36576" tIns="18288" bIns="18288" anchor="t">
            <a:spAutoFit/>
          </a:bodyPr>
          <a:lstStyle/>
          <a:p>
            <a:pPr algn="l">
              <a:spcAft>
                <a:spcPts val="600"/>
              </a:spcAft>
            </a:pPr>
            <a:r>
              <a:rPr lang="de-AT" sz="1900" b="1" i="0">
                <a:solidFill>
                  <a:schemeClr val="bg1"/>
                </a:solidFill>
                <a:latin typeface="+mj-lt"/>
              </a:rPr>
              <a:t>SOW = (1 − Rang ÷ (n + 1)) × 2 ÷ n</a:t>
            </a:r>
          </a:p>
        </p:txBody>
      </p:sp>
      <p:graphicFrame>
        <p:nvGraphicFramePr>
          <p:cNvPr id="9" name="WAR table"/>
          <p:cNvGraphicFramePr>
            <a:graphicFrameLocks noGrp="1"/>
          </p:cNvGraphicFramePr>
          <p:nvPr/>
        </p:nvGraphicFramePr>
        <p:xfrm>
          <a:off x="457200" y="2651760"/>
          <a:ext cx="3931920" cy="1463040"/>
        </p:xfrm>
        <a:graphic>
          <a:graphicData uri="http://schemas.openxmlformats.org/drawingml/2006/table">
            <a:tbl>
              <a:tblPr firstRow="1" bandRow="1">
                <a:tableStyleId>{5C22544A-7EE6-4342-B048-85BDC9FD1C3A}</a:tableStyleId>
              </a:tblPr>
              <a:tblGrid>
                <a:gridCol w="2194560"/>
                <a:gridCol w="1737360"/>
              </a:tblGrid>
              <a:tr h="365760">
                <a:tc>
                  <a:txBody>
                    <a:bodyPr/>
                    <a:lstStyle/>
                    <a:p>
                      <a:r>
                        <a:rPr lang="de-AT" sz="1300" b="1">
                          <a:solidFill>
                            <a:schemeClr val="bg1"/>
                          </a:solidFill>
                        </a:rPr>
                        <a:t>Rang unter 3 Marken</a:t>
                      </a:r>
                    </a:p>
                  </a:txBody>
                  <a:tcPr anchor="ctr">
                    <a:solidFill>
                      <a:schemeClr val="accent1"/>
                    </a:solidFill>
                  </a:tcPr>
                </a:tc>
                <a:tc>
                  <a:txBody>
                    <a:bodyPr/>
                    <a:lstStyle/>
                    <a:p>
                      <a:r>
                        <a:rPr lang="de-AT" sz="1300" b="1">
                          <a:solidFill>
                            <a:schemeClr val="bg1"/>
                          </a:solidFill>
                        </a:rPr>
                        <a:t>Erwarteter Anteil</a:t>
                      </a:r>
                    </a:p>
                  </a:txBody>
                  <a:tcPr anchor="ctr">
                    <a:solidFill>
                      <a:schemeClr val="accent1"/>
                    </a:solidFill>
                  </a:tcPr>
                </a:tc>
              </a:tr>
              <a:tr h="365760">
                <a:tc>
                  <a:txBody>
                    <a:bodyPr/>
                    <a:lstStyle/>
                    <a:p>
                      <a:r>
                        <a:rPr lang="de-AT" sz="1300">
                          <a:solidFill>
                            <a:schemeClr val="tx1"/>
                          </a:solidFill>
                        </a:rPr>
                        <a:t>1.</a:t>
                      </a:r>
                    </a:p>
                  </a:txBody>
                  <a:tcPr anchor="ctr">
                    <a:solidFill>
                      <a:schemeClr val="bg2"/>
                    </a:solidFill>
                  </a:tcPr>
                </a:tc>
                <a:tc>
                  <a:txBody>
                    <a:bodyPr/>
                    <a:lstStyle/>
                    <a:p>
                      <a:r>
                        <a:rPr lang="de-AT" sz="1300" b="1">
                          <a:solidFill>
                            <a:schemeClr val="tx1"/>
                          </a:solidFill>
                        </a:rPr>
                        <a:t>50 %</a:t>
                      </a:r>
                    </a:p>
                  </a:txBody>
                  <a:tcPr anchor="ctr">
                    <a:solidFill>
                      <a:schemeClr val="accent6"/>
                    </a:solidFill>
                  </a:tcPr>
                </a:tc>
              </a:tr>
              <a:tr h="365760">
                <a:tc>
                  <a:txBody>
                    <a:bodyPr/>
                    <a:lstStyle/>
                    <a:p>
                      <a:r>
                        <a:rPr lang="de-AT" sz="1300">
                          <a:solidFill>
                            <a:schemeClr val="tx1"/>
                          </a:solidFill>
                        </a:rPr>
                        <a:t>2.</a:t>
                      </a:r>
                    </a:p>
                  </a:txBody>
                  <a:tcPr anchor="ctr">
                    <a:solidFill>
                      <a:schemeClr val="bg2"/>
                    </a:solidFill>
                  </a:tcPr>
                </a:tc>
                <a:tc>
                  <a:txBody>
                    <a:bodyPr/>
                    <a:lstStyle/>
                    <a:p>
                      <a:r>
                        <a:rPr lang="de-AT" sz="1300">
                          <a:solidFill>
                            <a:schemeClr val="tx1"/>
                          </a:solidFill>
                        </a:rPr>
                        <a:t>33 %</a:t>
                      </a:r>
                    </a:p>
                  </a:txBody>
                  <a:tcPr anchor="ctr">
                    <a:solidFill>
                      <a:schemeClr val="bg2"/>
                    </a:solidFill>
                  </a:tcPr>
                </a:tc>
              </a:tr>
              <a:tr h="365760">
                <a:tc>
                  <a:txBody>
                    <a:bodyPr/>
                    <a:lstStyle/>
                    <a:p>
                      <a:r>
                        <a:rPr lang="de-AT" sz="1300">
                          <a:solidFill>
                            <a:schemeClr val="tx1"/>
                          </a:solidFill>
                        </a:rPr>
                        <a:t>3.</a:t>
                      </a:r>
                    </a:p>
                  </a:txBody>
                  <a:tcPr anchor="ctr">
                    <a:solidFill>
                      <a:schemeClr val="bg2"/>
                    </a:solidFill>
                  </a:tcPr>
                </a:tc>
                <a:tc>
                  <a:txBody>
                    <a:bodyPr/>
                    <a:lstStyle/>
                    <a:p>
                      <a:r>
                        <a:rPr lang="de-AT" sz="1300">
                          <a:solidFill>
                            <a:schemeClr val="tx1"/>
                          </a:solidFill>
                        </a:rPr>
                        <a:t>17 %</a:t>
                      </a:r>
                    </a:p>
                  </a:txBody>
                  <a:tcPr anchor="ctr">
                    <a:solidFill>
                      <a:schemeClr val="bg2"/>
                    </a:solidFill>
                  </a:tcPr>
                </a:tc>
              </a:tr>
            </a:tbl>
          </a:graphicData>
        </a:graphic>
      </p:graphicFrame>
      <p:sp>
        <p:nvSpPr>
          <p:cNvPr id="10" name="WAR step number 1"/>
          <p:cNvSpPr/>
          <p:nvPr/>
        </p:nvSpPr>
        <p:spPr>
          <a:xfrm>
            <a:off x="4663440" y="1389888"/>
            <a:ext cx="365760" cy="36576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de-AT" sz="1200" b="1">
                <a:solidFill>
                  <a:schemeClr val="bg1"/>
                </a:solidFill>
                <a:latin typeface="+mj-lt"/>
              </a:rPr>
              <a:t>1</a:t>
            </a:r>
          </a:p>
        </p:txBody>
      </p:sp>
      <p:sp>
        <p:nvSpPr>
          <p:cNvPr id="11" name="WAR step 1"/>
          <p:cNvSpPr txBox="1"/>
          <p:nvPr/>
        </p:nvSpPr>
        <p:spPr>
          <a:xfrm>
            <a:off x="5166360" y="1280160"/>
            <a:ext cx="3520440" cy="594360"/>
          </a:xfrm>
          <a:prstGeom prst="rect">
            <a:avLst/>
          </a:prstGeom>
          <a:noFill/>
        </p:spPr>
        <p:txBody>
          <a:bodyPr wrap="square" lIns="36576" rIns="36576" tIns="18288" bIns="18288" anchor="ctr">
            <a:spAutoFit/>
          </a:bodyPr>
          <a:lstStyle/>
          <a:p>
            <a:pPr algn="l">
              <a:spcAft>
                <a:spcPts val="0"/>
              </a:spcAft>
            </a:pPr>
            <a:r>
              <a:rPr lang="de-AT" sz="1250" b="0" i="0">
                <a:solidFill>
                  <a:schemeClr val="tx1"/>
                </a:solidFill>
              </a:rPr>
              <a:t>Alle notieren die Supermärkte, in denen sie letzten Monat eingekauft haben</a:t>
            </a:r>
          </a:p>
        </p:txBody>
      </p:sp>
      <p:sp>
        <p:nvSpPr>
          <p:cNvPr id="12" name="WAR step number 2"/>
          <p:cNvSpPr/>
          <p:nvPr/>
        </p:nvSpPr>
        <p:spPr>
          <a:xfrm>
            <a:off x="4663440" y="2103120"/>
            <a:ext cx="365760" cy="36576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de-AT" sz="1200" b="1">
                <a:solidFill>
                  <a:schemeClr val="bg1"/>
                </a:solidFill>
                <a:latin typeface="+mj-lt"/>
              </a:rPr>
              <a:t>2</a:t>
            </a:r>
          </a:p>
        </p:txBody>
      </p:sp>
      <p:sp>
        <p:nvSpPr>
          <p:cNvPr id="13" name="WAR step 2"/>
          <p:cNvSpPr txBox="1"/>
          <p:nvPr/>
        </p:nvSpPr>
        <p:spPr>
          <a:xfrm>
            <a:off x="5166360" y="1993391"/>
            <a:ext cx="3520440" cy="594360"/>
          </a:xfrm>
          <a:prstGeom prst="rect">
            <a:avLst/>
          </a:prstGeom>
          <a:noFill/>
        </p:spPr>
        <p:txBody>
          <a:bodyPr wrap="square" lIns="36576" rIns="36576" tIns="18288" bIns="18288" anchor="ctr">
            <a:spAutoFit/>
          </a:bodyPr>
          <a:lstStyle/>
          <a:p>
            <a:pPr algn="l">
              <a:spcAft>
                <a:spcPts val="0"/>
              </a:spcAft>
            </a:pPr>
            <a:r>
              <a:rPr lang="de-AT" sz="1250" b="0" i="0">
                <a:solidFill>
                  <a:schemeClr val="tx1"/>
                </a:solidFill>
              </a:rPr>
              <a:t>Diese nach Präferenz reihen</a:t>
            </a:r>
          </a:p>
        </p:txBody>
      </p:sp>
      <p:sp>
        <p:nvSpPr>
          <p:cNvPr id="14" name="WAR step number 3"/>
          <p:cNvSpPr/>
          <p:nvPr/>
        </p:nvSpPr>
        <p:spPr>
          <a:xfrm>
            <a:off x="4663440" y="2816352"/>
            <a:ext cx="365760" cy="36576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de-AT" sz="1200" b="1">
                <a:solidFill>
                  <a:schemeClr val="bg1"/>
                </a:solidFill>
                <a:latin typeface="+mj-lt"/>
              </a:rPr>
              <a:t>3</a:t>
            </a:r>
          </a:p>
        </p:txBody>
      </p:sp>
      <p:sp>
        <p:nvSpPr>
          <p:cNvPr id="15" name="WAR step 3"/>
          <p:cNvSpPr txBox="1"/>
          <p:nvPr/>
        </p:nvSpPr>
        <p:spPr>
          <a:xfrm>
            <a:off x="5166360" y="2706624"/>
            <a:ext cx="3520440" cy="594360"/>
          </a:xfrm>
          <a:prstGeom prst="rect">
            <a:avLst/>
          </a:prstGeom>
          <a:noFill/>
        </p:spPr>
        <p:txBody>
          <a:bodyPr wrap="square" lIns="36576" rIns="36576" tIns="18288" bIns="18288" anchor="ctr">
            <a:spAutoFit/>
          </a:bodyPr>
          <a:lstStyle/>
          <a:p>
            <a:pPr algn="l">
              <a:spcAft>
                <a:spcPts val="0"/>
              </a:spcAft>
            </a:pPr>
            <a:r>
              <a:rPr lang="de-AT" sz="1250" b="0" i="0">
                <a:solidFill>
                  <a:schemeClr val="tx1"/>
                </a:solidFill>
              </a:rPr>
              <a:t>Die tatsächliche Aufteilung der Ausgaben schätzen</a:t>
            </a:r>
          </a:p>
        </p:txBody>
      </p:sp>
      <p:sp>
        <p:nvSpPr>
          <p:cNvPr id="16" name="WAR step number 4"/>
          <p:cNvSpPr/>
          <p:nvPr/>
        </p:nvSpPr>
        <p:spPr>
          <a:xfrm>
            <a:off x="4663440" y="3529584"/>
            <a:ext cx="365760" cy="36576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de-AT" sz="1200" b="1">
                <a:solidFill>
                  <a:schemeClr val="bg1"/>
                </a:solidFill>
                <a:latin typeface="+mj-lt"/>
              </a:rPr>
              <a:t>4</a:t>
            </a:r>
          </a:p>
        </p:txBody>
      </p:sp>
      <p:sp>
        <p:nvSpPr>
          <p:cNvPr id="17" name="WAR step 4"/>
          <p:cNvSpPr txBox="1"/>
          <p:nvPr/>
        </p:nvSpPr>
        <p:spPr>
          <a:xfrm>
            <a:off x="5166360" y="3419856"/>
            <a:ext cx="3520440" cy="594360"/>
          </a:xfrm>
          <a:prstGeom prst="rect">
            <a:avLst/>
          </a:prstGeom>
          <a:noFill/>
        </p:spPr>
        <p:txBody>
          <a:bodyPr wrap="square" lIns="36576" rIns="36576" tIns="18288" bIns="18288" anchor="ctr">
            <a:spAutoFit/>
          </a:bodyPr>
          <a:lstStyle/>
          <a:p>
            <a:pPr algn="l">
              <a:spcAft>
                <a:spcPts val="0"/>
              </a:spcAft>
            </a:pPr>
            <a:r>
              <a:rPr lang="de-AT" sz="1250" b="0" i="0">
                <a:solidFill>
                  <a:schemeClr val="tx1"/>
                </a:solidFill>
              </a:rPr>
              <a:t>Erwartete und tatsächliche Anteile im Streudiagramm vergleichen</a:t>
            </a:r>
          </a:p>
        </p:txBody>
      </p:sp>
      <p:sp>
        <p:nvSpPr>
          <p:cNvPr id="18" name="WAR callout"/>
          <p:cNvSpPr/>
          <p:nvPr/>
        </p:nvSpPr>
        <p:spPr>
          <a:xfrm>
            <a:off x="457200" y="4297680"/>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WAR callout text"/>
          <p:cNvSpPr txBox="1"/>
          <p:nvPr/>
        </p:nvSpPr>
        <p:spPr>
          <a:xfrm>
            <a:off x="640080" y="4297680"/>
            <a:ext cx="7863840" cy="457200"/>
          </a:xfrm>
          <a:prstGeom prst="rect">
            <a:avLst/>
          </a:prstGeom>
          <a:noFill/>
        </p:spPr>
        <p:txBody>
          <a:bodyPr wrap="square" lIns="36576" rIns="36576" tIns="18288" bIns="18288" anchor="ctr">
            <a:spAutoFit/>
          </a:bodyPr>
          <a:lstStyle/>
          <a:p>
            <a:pPr algn="l">
              <a:spcAft>
                <a:spcPts val="0"/>
              </a:spcAft>
            </a:pPr>
            <a:r>
              <a:rPr lang="de-AT" sz="1300" b="0" i="0">
                <a:solidFill>
                  <a:schemeClr val="bg1"/>
                </a:solidFill>
              </a:rPr>
              <a:t>Mehr Anteil gewinnt, wer seinen Rang gegenüber den anderen genutzten Marken verbessert.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Bonusprogramme: kleinere Effekte</a:t>
            </a:r>
          </a:p>
        </p:txBody>
      </p:sp>
      <p:sp>
        <p:nvSpPr>
          <p:cNvPr id="4" name="Footer Placeholder 3"/>
          <p:cNvSpPr>
            <a:spLocks noGrp="1"/>
          </p:cNvSpPr>
          <p:nvPr>
            <p:ph type="ftr" idx="11" sz="quarter"/>
          </p:nvPr>
        </p:nvSpPr>
        <p:spPr/>
        <p:txBody>
          <a:bodyPr/>
          <a:p>
            <a:r>
              <a:rPr lang="de-AT"/>
              <a:t>Loyalität, Churn und Share of Wallet</a:t>
            </a:r>
          </a:p>
        </p:txBody>
      </p:sp>
      <p:sp>
        <p:nvSpPr>
          <p:cNvPr id="5" name="Slide Number Placeholder 4"/>
          <p:cNvSpPr>
            <a:spLocks noGrp="1"/>
          </p:cNvSpPr>
          <p:nvPr>
            <p:ph type="sldNum" idx="12" sz="quarter"/>
          </p:nvPr>
        </p:nvSpPr>
        <p:spPr/>
        <p:txBody>
          <a:bodyPr/>
          <a:p>
            <a:r>
              <a:rPr lang="de-AT"/>
              <a:t>SEITE </a:t>
            </a:r>
            <a:fld id="{B6F15528-21DE-4FAA-801E-634DDDAF4B2B}" type="slidenum">
              <a:rPr lang="en-GB"/>
              <a:t>‹#›</a:t>
            </a:fld>
          </a:p>
        </p:txBody>
      </p:sp>
      <p:sp>
        <p:nvSpPr>
          <p:cNvPr id="6" name="LP bar 1"/>
          <p:cNvSpPr/>
          <p:nvPr/>
        </p:nvSpPr>
        <p:spPr>
          <a:xfrm>
            <a:off x="457200" y="1353312"/>
            <a:ext cx="64008" cy="65836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P figure 1"/>
          <p:cNvSpPr txBox="1"/>
          <p:nvPr/>
        </p:nvSpPr>
        <p:spPr>
          <a:xfrm>
            <a:off x="640080" y="1280160"/>
            <a:ext cx="1828800" cy="777240"/>
          </a:xfrm>
          <a:prstGeom prst="rect">
            <a:avLst/>
          </a:prstGeom>
          <a:noFill/>
        </p:spPr>
        <p:txBody>
          <a:bodyPr wrap="square" lIns="36576" rIns="36576" tIns="18288" bIns="18288" anchor="ctr">
            <a:spAutoFit/>
          </a:bodyPr>
          <a:lstStyle/>
          <a:p>
            <a:pPr algn="l">
              <a:spcAft>
                <a:spcPts val="0"/>
              </a:spcAft>
            </a:pPr>
            <a:r>
              <a:rPr lang="de-AT" sz="2800" b="1" i="0">
                <a:solidFill>
                  <a:schemeClr val="tx2"/>
                </a:solidFill>
                <a:latin typeface="+mj-lt"/>
              </a:rPr>
              <a:t>7×</a:t>
            </a:r>
          </a:p>
        </p:txBody>
      </p:sp>
      <p:sp>
        <p:nvSpPr>
          <p:cNvPr id="8" name="LP text 1"/>
          <p:cNvSpPr txBox="1"/>
          <p:nvPr/>
        </p:nvSpPr>
        <p:spPr>
          <a:xfrm>
            <a:off x="2560320" y="1325880"/>
            <a:ext cx="6126480" cy="731520"/>
          </a:xfrm>
          <a:prstGeom prst="rect">
            <a:avLst/>
          </a:prstGeom>
          <a:noFill/>
        </p:spPr>
        <p:txBody>
          <a:bodyPr wrap="square" lIns="36576" rIns="36576" tIns="18288" bIns="18288" anchor="t">
            <a:spAutoFit/>
          </a:bodyPr>
          <a:lstStyle/>
          <a:p>
            <a:pPr algn="l">
              <a:spcAft>
                <a:spcPts val="200"/>
              </a:spcAft>
            </a:pPr>
            <a:r>
              <a:rPr lang="de-AT" sz="1300" b="0" i="0">
                <a:solidFill>
                  <a:schemeClr val="tx1"/>
                </a:solidFill>
              </a:rPr>
              <a:t>kleinerer Programmeffekt auf den Share of Wallet, wenn die Selbstselektion von Vielkäufern kontrolliert wird.</a:t>
            </a:r>
          </a:p>
          <a:p>
            <a:pPr algn="l">
              <a:spcAft>
                <a:spcPts val="200"/>
              </a:spcAft>
            </a:pPr>
            <a:r>
              <a:rPr lang="de-AT" sz="1050" b="0" i="0">
                <a:solidFill>
                  <a:srgbClr val="595959"/>
                </a:solidFill>
              </a:rPr>
              <a:t>Leenheer, van Heerde, Bijmolt &amp; Smidts (2007) IJRM</a:t>
            </a:r>
          </a:p>
        </p:txBody>
      </p:sp>
      <p:sp>
        <p:nvSpPr>
          <p:cNvPr id="9" name="LP bar 2"/>
          <p:cNvSpPr/>
          <p:nvPr/>
        </p:nvSpPr>
        <p:spPr>
          <a:xfrm>
            <a:off x="457200" y="2267712"/>
            <a:ext cx="64008" cy="65836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P figure 2"/>
          <p:cNvSpPr txBox="1"/>
          <p:nvPr/>
        </p:nvSpPr>
        <p:spPr>
          <a:xfrm>
            <a:off x="640080" y="2194560"/>
            <a:ext cx="1828800" cy="777240"/>
          </a:xfrm>
          <a:prstGeom prst="rect">
            <a:avLst/>
          </a:prstGeom>
          <a:noFill/>
        </p:spPr>
        <p:txBody>
          <a:bodyPr wrap="square" lIns="36576" rIns="36576" tIns="18288" bIns="18288" anchor="ctr">
            <a:spAutoFit/>
          </a:bodyPr>
          <a:lstStyle/>
          <a:p>
            <a:pPr algn="l">
              <a:spcAft>
                <a:spcPts val="0"/>
              </a:spcAft>
            </a:pPr>
            <a:r>
              <a:rPr lang="de-AT" sz="2800" b="1" i="0">
                <a:solidFill>
                  <a:schemeClr val="tx2"/>
                </a:solidFill>
                <a:latin typeface="+mj-lt"/>
              </a:rPr>
              <a:t>6-9</a:t>
            </a:r>
          </a:p>
        </p:txBody>
      </p:sp>
      <p:sp>
        <p:nvSpPr>
          <p:cNvPr id="11" name="LP text 2"/>
          <p:cNvSpPr txBox="1"/>
          <p:nvPr/>
        </p:nvSpPr>
        <p:spPr>
          <a:xfrm>
            <a:off x="2560320" y="2240279"/>
            <a:ext cx="6126480" cy="731520"/>
          </a:xfrm>
          <a:prstGeom prst="rect">
            <a:avLst/>
          </a:prstGeom>
          <a:noFill/>
        </p:spPr>
        <p:txBody>
          <a:bodyPr wrap="square" lIns="36576" rIns="36576" tIns="18288" bIns="18288" anchor="t">
            <a:spAutoFit/>
          </a:bodyPr>
          <a:lstStyle/>
          <a:p>
            <a:pPr algn="l">
              <a:spcAft>
                <a:spcPts val="200"/>
              </a:spcAft>
            </a:pPr>
            <a:r>
              <a:rPr lang="de-AT" sz="1300" b="0" i="0">
                <a:solidFill>
                  <a:schemeClr val="tx1"/>
                </a:solidFill>
              </a:rPr>
              <a:t>Monate, bis die Verhaltensänderung nach dem Beitritt wieder verblasst.</a:t>
            </a:r>
          </a:p>
          <a:p>
            <a:pPr algn="l">
              <a:spcAft>
                <a:spcPts val="200"/>
              </a:spcAft>
            </a:pPr>
            <a:r>
              <a:rPr lang="de-AT" sz="1050" b="0" i="0">
                <a:solidFill>
                  <a:srgbClr val="595959"/>
                </a:solidFill>
              </a:rPr>
              <a:t>Meyer-Waarden &amp; Benavent (2009) JAMS</a:t>
            </a:r>
          </a:p>
        </p:txBody>
      </p:sp>
      <p:sp>
        <p:nvSpPr>
          <p:cNvPr id="12" name="LP bar 3"/>
          <p:cNvSpPr/>
          <p:nvPr/>
        </p:nvSpPr>
        <p:spPr>
          <a:xfrm>
            <a:off x="457200" y="3182112"/>
            <a:ext cx="64008" cy="65836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P figure 3"/>
          <p:cNvSpPr txBox="1"/>
          <p:nvPr/>
        </p:nvSpPr>
        <p:spPr>
          <a:xfrm>
            <a:off x="640080" y="3108960"/>
            <a:ext cx="1828800" cy="777240"/>
          </a:xfrm>
          <a:prstGeom prst="rect">
            <a:avLst/>
          </a:prstGeom>
          <a:noFill/>
        </p:spPr>
        <p:txBody>
          <a:bodyPr wrap="square" lIns="36576" rIns="36576" tIns="18288" bIns="18288" anchor="ctr">
            <a:spAutoFit/>
          </a:bodyPr>
          <a:lstStyle/>
          <a:p>
            <a:pPr algn="l">
              <a:spcAft>
                <a:spcPts val="0"/>
              </a:spcAft>
            </a:pPr>
            <a:r>
              <a:rPr lang="de-AT" sz="2800" b="1" i="0">
                <a:solidFill>
                  <a:schemeClr val="tx2"/>
                </a:solidFill>
                <a:latin typeface="+mj-lt"/>
              </a:rPr>
              <a:t>4,4 %</a:t>
            </a:r>
          </a:p>
        </p:txBody>
      </p:sp>
      <p:sp>
        <p:nvSpPr>
          <p:cNvPr id="14" name="LP text 3"/>
          <p:cNvSpPr txBox="1"/>
          <p:nvPr/>
        </p:nvSpPr>
        <p:spPr>
          <a:xfrm>
            <a:off x="2560320" y="3154679"/>
            <a:ext cx="6126480" cy="731520"/>
          </a:xfrm>
          <a:prstGeom prst="rect">
            <a:avLst/>
          </a:prstGeom>
          <a:noFill/>
        </p:spPr>
        <p:txBody>
          <a:bodyPr wrap="square" lIns="36576" rIns="36576" tIns="18288" bIns="18288" anchor="t">
            <a:spAutoFit/>
          </a:bodyPr>
          <a:lstStyle/>
          <a:p>
            <a:pPr algn="l">
              <a:spcAft>
                <a:spcPts val="200"/>
              </a:spcAft>
            </a:pPr>
            <a:r>
              <a:rPr lang="de-AT" sz="1300" b="0" i="0">
                <a:solidFill>
                  <a:schemeClr val="tx1"/>
                </a:solidFill>
              </a:rPr>
              <a:t>Jahreswachstum bei hohen Bonusausgaben vs. 5,5 % bei niedrigen, 55 börsennotierte Firmen.</a:t>
            </a:r>
          </a:p>
          <a:p>
            <a:pPr algn="l">
              <a:spcAft>
                <a:spcPts val="200"/>
              </a:spcAft>
            </a:pPr>
            <a:r>
              <a:rPr lang="de-AT" sz="1050" b="0" i="0">
                <a:solidFill>
                  <a:srgbClr val="595959"/>
                </a:solidFill>
              </a:rPr>
              <a:t>McKinsey (2013) Making loyalty pay</a:t>
            </a:r>
          </a:p>
        </p:txBody>
      </p:sp>
      <p:sp>
        <p:nvSpPr>
          <p:cNvPr id="15" name="LP cases"/>
          <p:cNvSpPr/>
          <p:nvPr/>
        </p:nvSpPr>
        <p:spPr>
          <a:xfrm>
            <a:off x="457200" y="4069080"/>
            <a:ext cx="8229600" cy="5943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LP cases text"/>
          <p:cNvSpPr txBox="1"/>
          <p:nvPr/>
        </p:nvSpPr>
        <p:spPr>
          <a:xfrm>
            <a:off x="640080" y="4069080"/>
            <a:ext cx="7863840" cy="594360"/>
          </a:xfrm>
          <a:prstGeom prst="rect">
            <a:avLst/>
          </a:prstGeom>
          <a:noFill/>
        </p:spPr>
        <p:txBody>
          <a:bodyPr wrap="square" lIns="36576" rIns="36576" tIns="18288" bIns="18288" anchor="ctr">
            <a:spAutoFit/>
          </a:bodyPr>
          <a:lstStyle/>
          <a:p>
            <a:pPr algn="l">
              <a:spcAft>
                <a:spcPts val="0"/>
              </a:spcAft>
            </a:pPr>
            <a:r>
              <a:rPr lang="de-AT" sz="1300" b="1" i="0">
                <a:solidFill>
                  <a:schemeClr val="tx1"/>
                </a:solidFill>
              </a:rPr>
              <a:t>Lokale Fälle: </a:t>
            </a:r>
            <a:r>
              <a:rPr lang="de-AT" sz="1300" b="0" i="0">
                <a:solidFill>
                  <a:schemeClr val="tx1"/>
                </a:solidFill>
              </a:rPr>
              <a:t>jö Bonus Club (4,5 bis 4,7 Mio. Mitglieder) und Payback; Starbucks-Mitglieder bringen 57 bis 60 % des US-Umsatzes.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Teil 6 von 6 · wo die Kette bricht</a:t>
            </a:r>
          </a:p>
        </p:txBody>
      </p:sp>
      <p:sp>
        <p:nvSpPr>
          <p:cNvPr id="3" name="Title 2"/>
          <p:cNvSpPr>
            <a:spLocks noGrp="1"/>
          </p:cNvSpPr>
          <p:nvPr>
            <p:ph type="ctrTitle"/>
          </p:nvPr>
        </p:nvSpPr>
        <p:spPr/>
        <p:txBody>
          <a:bodyPr/>
          <a:lstStyle/>
          <a:p>
            <a:r>
              <a:t>Kritik und Anwendung</a:t>
            </a:r>
          </a:p>
        </p:txBody>
      </p:sp>
      <p:sp>
        <p:nvSpPr>
          <p:cNvPr id="4" name="Footer Placeholder 3"/>
          <p:cNvSpPr>
            <a:spLocks noGrp="1"/>
          </p:cNvSpPr>
          <p:nvPr>
            <p:ph type="ftr" idx="14" sz="quarter"/>
          </p:nvPr>
        </p:nvSpPr>
        <p:spPr/>
        <p:txBody>
          <a:bodyPr/>
          <a:p>
            <a:r>
              <a:rPr lang="de-AT"/>
              <a:t>Loyalität, Churn und Share of Wallet</a:t>
            </a:r>
          </a:p>
        </p:txBody>
      </p:sp>
      <p:sp>
        <p:nvSpPr>
          <p:cNvPr id="5" name="Slide Number Placeholder 4"/>
          <p:cNvSpPr>
            <a:spLocks noGrp="1"/>
          </p:cNvSpPr>
          <p:nvPr>
            <p:ph type="sldNum" idx="15" sz="quarter"/>
          </p:nvPr>
        </p:nvSpPr>
        <p:spPr/>
        <p:txBody>
          <a:bodyPr/>
          <a:p>
            <a:r>
              <a:rPr lang="de-AT"/>
              <a:t>SEITE </a:t>
            </a:r>
            <a:fld id="{B6F15528-21DE-4FAA-801E-634DDDAF4B2B}" type="slidenum">
              <a:rPr lang="en-GB"/>
              <a:t>‹#›</a:t>
            </a:fld>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Loyalität ist nicht gleich Profitabilität</a:t>
            </a:r>
          </a:p>
        </p:txBody>
      </p:sp>
      <p:sp>
        <p:nvSpPr>
          <p:cNvPr id="4" name="Footer Placeholder 3"/>
          <p:cNvSpPr>
            <a:spLocks noGrp="1"/>
          </p:cNvSpPr>
          <p:nvPr>
            <p:ph type="ftr" idx="11" sz="quarter"/>
          </p:nvPr>
        </p:nvSpPr>
        <p:spPr/>
        <p:txBody>
          <a:bodyPr/>
          <a:p>
            <a:r>
              <a:rPr lang="de-AT"/>
              <a:t>Loyalität, Churn und Share of Wallet</a:t>
            </a:r>
          </a:p>
        </p:txBody>
      </p:sp>
      <p:sp>
        <p:nvSpPr>
          <p:cNvPr id="5" name="Slide Number Placeholder 4"/>
          <p:cNvSpPr>
            <a:spLocks noGrp="1"/>
          </p:cNvSpPr>
          <p:nvPr>
            <p:ph type="sldNum" idx="12" sz="quarter"/>
          </p:nvPr>
        </p:nvSpPr>
        <p:spPr/>
        <p:txBody>
          <a:bodyPr/>
          <a:p>
            <a:r>
              <a:rPr lang="de-AT"/>
              <a:t>SEITE </a:t>
            </a:r>
            <a:fld id="{B6F15528-21DE-4FAA-801E-634DDDAF4B2B}" type="slidenum">
              <a:rPr lang="en-GB"/>
              <a:t>‹#›</a:t>
            </a:fld>
          </a:p>
        </p:txBody>
      </p:sp>
      <p:sp>
        <p:nvSpPr>
          <p:cNvPr id="6" name="Quadrant Barnacles"/>
          <p:cNvSpPr/>
          <p:nvPr/>
        </p:nvSpPr>
        <p:spPr>
          <a:xfrm>
            <a:off x="1920240" y="1234440"/>
            <a:ext cx="2880360" cy="1600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Quadrant heading Barnacles"/>
          <p:cNvSpPr txBox="1"/>
          <p:nvPr/>
        </p:nvSpPr>
        <p:spPr>
          <a:xfrm>
            <a:off x="2057400" y="1325880"/>
            <a:ext cx="2606040" cy="411480"/>
          </a:xfrm>
          <a:prstGeom prst="rect">
            <a:avLst/>
          </a:prstGeom>
          <a:noFill/>
        </p:spPr>
        <p:txBody>
          <a:bodyPr wrap="square" lIns="36576" rIns="36576" tIns="18288" bIns="18288" anchor="t">
            <a:spAutoFit/>
          </a:bodyPr>
          <a:lstStyle/>
          <a:p>
            <a:pPr algn="l">
              <a:spcAft>
                <a:spcPts val="600"/>
              </a:spcAft>
            </a:pPr>
            <a:r>
              <a:rPr lang="de-AT" sz="1500" b="1" i="0">
                <a:solidFill>
                  <a:schemeClr val="tx2"/>
                </a:solidFill>
                <a:latin typeface="+mj-lt"/>
              </a:rPr>
              <a:t>Barnacles</a:t>
            </a:r>
          </a:p>
        </p:txBody>
      </p:sp>
      <p:sp>
        <p:nvSpPr>
          <p:cNvPr id="8" name="Quadrant text Barnacles"/>
          <p:cNvSpPr txBox="1"/>
          <p:nvPr/>
        </p:nvSpPr>
        <p:spPr>
          <a:xfrm>
            <a:off x="2057400" y="1783080"/>
            <a:ext cx="2606040" cy="960120"/>
          </a:xfrm>
          <a:prstGeom prst="rect">
            <a:avLst/>
          </a:prstGeom>
          <a:noFill/>
        </p:spPr>
        <p:txBody>
          <a:bodyPr wrap="square" lIns="36576" rIns="36576" tIns="18288" bIns="18288" anchor="t">
            <a:spAutoFit/>
          </a:bodyPr>
          <a:lstStyle/>
          <a:p>
            <a:pPr algn="l">
              <a:spcAft>
                <a:spcPts val="600"/>
              </a:spcAft>
            </a:pPr>
            <a:r>
              <a:rPr lang="de-AT" sz="1300" b="0" i="0">
                <a:solidFill>
                  <a:schemeClr val="tx1"/>
                </a:solidFill>
              </a:rPr>
              <a:t>Treu, aber unprofitabel: Share of Wallet erhöhen oder Servicekosten senken</a:t>
            </a:r>
          </a:p>
        </p:txBody>
      </p:sp>
      <p:sp>
        <p:nvSpPr>
          <p:cNvPr id="9" name="Quadrant True Friends"/>
          <p:cNvSpPr/>
          <p:nvPr/>
        </p:nvSpPr>
        <p:spPr>
          <a:xfrm>
            <a:off x="4892040" y="1234440"/>
            <a:ext cx="2880360" cy="1600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Quadrant heading True Friends"/>
          <p:cNvSpPr txBox="1"/>
          <p:nvPr/>
        </p:nvSpPr>
        <p:spPr>
          <a:xfrm>
            <a:off x="5029200" y="1325880"/>
            <a:ext cx="2606040" cy="411480"/>
          </a:xfrm>
          <a:prstGeom prst="rect">
            <a:avLst/>
          </a:prstGeom>
          <a:noFill/>
        </p:spPr>
        <p:txBody>
          <a:bodyPr wrap="square" lIns="36576" rIns="36576" tIns="18288" bIns="18288" anchor="t">
            <a:spAutoFit/>
          </a:bodyPr>
          <a:lstStyle/>
          <a:p>
            <a:pPr algn="l">
              <a:spcAft>
                <a:spcPts val="600"/>
              </a:spcAft>
            </a:pPr>
            <a:r>
              <a:rPr lang="de-AT" sz="1500" b="1" i="0">
                <a:solidFill>
                  <a:schemeClr val="bg1"/>
                </a:solidFill>
                <a:latin typeface="+mj-lt"/>
              </a:rPr>
              <a:t>True Friends</a:t>
            </a:r>
          </a:p>
        </p:txBody>
      </p:sp>
      <p:sp>
        <p:nvSpPr>
          <p:cNvPr id="11" name="Quadrant text True Friends"/>
          <p:cNvSpPr txBox="1"/>
          <p:nvPr/>
        </p:nvSpPr>
        <p:spPr>
          <a:xfrm>
            <a:off x="5029200" y="1783080"/>
            <a:ext cx="2606040" cy="960120"/>
          </a:xfrm>
          <a:prstGeom prst="rect">
            <a:avLst/>
          </a:prstGeom>
          <a:noFill/>
        </p:spPr>
        <p:txBody>
          <a:bodyPr wrap="square" lIns="36576" rIns="36576" tIns="18288" bIns="18288" anchor="t">
            <a:spAutoFit/>
          </a:bodyPr>
          <a:lstStyle/>
          <a:p>
            <a:pPr algn="l">
              <a:spcAft>
                <a:spcPts val="600"/>
              </a:spcAft>
            </a:pPr>
            <a:r>
              <a:rPr lang="de-AT" sz="1300" b="0" i="0">
                <a:solidFill>
                  <a:schemeClr val="bg1"/>
                </a:solidFill>
              </a:rPr>
              <a:t>Treu und profitabel: halten, belohnen, pflegen</a:t>
            </a:r>
          </a:p>
        </p:txBody>
      </p:sp>
      <p:sp>
        <p:nvSpPr>
          <p:cNvPr id="12" name="Quadrant Strangers"/>
          <p:cNvSpPr/>
          <p:nvPr/>
        </p:nvSpPr>
        <p:spPr>
          <a:xfrm>
            <a:off x="1920240" y="2926080"/>
            <a:ext cx="2880360" cy="1600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Quadrant heading Strangers"/>
          <p:cNvSpPr txBox="1"/>
          <p:nvPr/>
        </p:nvSpPr>
        <p:spPr>
          <a:xfrm>
            <a:off x="2057400" y="3017520"/>
            <a:ext cx="2606040" cy="411480"/>
          </a:xfrm>
          <a:prstGeom prst="rect">
            <a:avLst/>
          </a:prstGeom>
          <a:noFill/>
        </p:spPr>
        <p:txBody>
          <a:bodyPr wrap="square" lIns="36576" rIns="36576" tIns="18288" bIns="18288" anchor="t">
            <a:spAutoFit/>
          </a:bodyPr>
          <a:lstStyle/>
          <a:p>
            <a:pPr algn="l">
              <a:spcAft>
                <a:spcPts val="600"/>
              </a:spcAft>
            </a:pPr>
            <a:r>
              <a:rPr lang="de-AT" sz="1500" b="1" i="0">
                <a:solidFill>
                  <a:schemeClr val="tx2"/>
                </a:solidFill>
                <a:latin typeface="+mj-lt"/>
              </a:rPr>
              <a:t>Strangers</a:t>
            </a:r>
          </a:p>
        </p:txBody>
      </p:sp>
      <p:sp>
        <p:nvSpPr>
          <p:cNvPr id="14" name="Quadrant text Strangers"/>
          <p:cNvSpPr txBox="1"/>
          <p:nvPr/>
        </p:nvSpPr>
        <p:spPr>
          <a:xfrm>
            <a:off x="2057400" y="3474720"/>
            <a:ext cx="2606040" cy="960120"/>
          </a:xfrm>
          <a:prstGeom prst="rect">
            <a:avLst/>
          </a:prstGeom>
          <a:noFill/>
        </p:spPr>
        <p:txBody>
          <a:bodyPr wrap="square" lIns="36576" rIns="36576" tIns="18288" bIns="18288" anchor="t">
            <a:spAutoFit/>
          </a:bodyPr>
          <a:lstStyle/>
          <a:p>
            <a:pPr algn="l">
              <a:spcAft>
                <a:spcPts val="600"/>
              </a:spcAft>
            </a:pPr>
            <a:r>
              <a:rPr lang="de-AT" sz="1300" b="0" i="0">
                <a:solidFill>
                  <a:schemeClr val="tx1"/>
                </a:solidFill>
              </a:rPr>
              <a:t>Weder noch: nicht investieren</a:t>
            </a:r>
          </a:p>
        </p:txBody>
      </p:sp>
      <p:sp>
        <p:nvSpPr>
          <p:cNvPr id="15" name="Quadrant Butterflies"/>
          <p:cNvSpPr/>
          <p:nvPr/>
        </p:nvSpPr>
        <p:spPr>
          <a:xfrm>
            <a:off x="4892040" y="2926080"/>
            <a:ext cx="2880360" cy="1600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Quadrant heading Butterflies"/>
          <p:cNvSpPr txBox="1"/>
          <p:nvPr/>
        </p:nvSpPr>
        <p:spPr>
          <a:xfrm>
            <a:off x="5029200" y="3017520"/>
            <a:ext cx="2606040" cy="411480"/>
          </a:xfrm>
          <a:prstGeom prst="rect">
            <a:avLst/>
          </a:prstGeom>
          <a:noFill/>
        </p:spPr>
        <p:txBody>
          <a:bodyPr wrap="square" lIns="36576" rIns="36576" tIns="18288" bIns="18288" anchor="t">
            <a:spAutoFit/>
          </a:bodyPr>
          <a:lstStyle/>
          <a:p>
            <a:pPr algn="l">
              <a:spcAft>
                <a:spcPts val="600"/>
              </a:spcAft>
            </a:pPr>
            <a:r>
              <a:rPr lang="de-AT" sz="1500" b="1" i="0">
                <a:solidFill>
                  <a:schemeClr val="bg1"/>
                </a:solidFill>
                <a:latin typeface="+mj-lt"/>
              </a:rPr>
              <a:t>Butterflies</a:t>
            </a:r>
          </a:p>
        </p:txBody>
      </p:sp>
      <p:sp>
        <p:nvSpPr>
          <p:cNvPr id="17" name="Quadrant text Butterflies"/>
          <p:cNvSpPr txBox="1"/>
          <p:nvPr/>
        </p:nvSpPr>
        <p:spPr>
          <a:xfrm>
            <a:off x="5029200" y="3474720"/>
            <a:ext cx="2606040" cy="960120"/>
          </a:xfrm>
          <a:prstGeom prst="rect">
            <a:avLst/>
          </a:prstGeom>
          <a:noFill/>
        </p:spPr>
        <p:txBody>
          <a:bodyPr wrap="square" lIns="36576" rIns="36576" tIns="18288" bIns="18288" anchor="t">
            <a:spAutoFit/>
          </a:bodyPr>
          <a:lstStyle/>
          <a:p>
            <a:pPr algn="l">
              <a:spcAft>
                <a:spcPts val="600"/>
              </a:spcAft>
            </a:pPr>
            <a:r>
              <a:rPr lang="de-AT" sz="1300" b="0" i="0">
                <a:solidFill>
                  <a:schemeClr val="bg1"/>
                </a:solidFill>
              </a:rPr>
              <a:t>Profitabel, aber kurzlebig: abschöpfen, nicht um Treue werben</a:t>
            </a:r>
          </a:p>
        </p:txBody>
      </p:sp>
      <p:sp>
        <p:nvSpPr>
          <p:cNvPr id="18" name="Axis loyalty"/>
          <p:cNvSpPr txBox="1"/>
          <p:nvPr/>
        </p:nvSpPr>
        <p:spPr>
          <a:xfrm>
            <a:off x="457200" y="2423160"/>
            <a:ext cx="1371600" cy="914400"/>
          </a:xfrm>
          <a:prstGeom prst="rect">
            <a:avLst/>
          </a:prstGeom>
          <a:noFill/>
        </p:spPr>
        <p:txBody>
          <a:bodyPr wrap="square" lIns="36576" rIns="36576" tIns="18288" bIns="18288" anchor="ctr">
            <a:spAutoFit/>
          </a:bodyPr>
          <a:lstStyle/>
          <a:p>
            <a:pPr algn="r">
              <a:spcAft>
                <a:spcPts val="600"/>
              </a:spcAft>
            </a:pPr>
            <a:r>
              <a:rPr lang="de-AT" sz="1100" b="0" i="0">
                <a:solidFill>
                  <a:srgbClr val="595959"/>
                </a:solidFill>
              </a:rPr>
              <a:t>Loyalität: erwartete Beziehungsdauer</a:t>
            </a:r>
          </a:p>
        </p:txBody>
      </p:sp>
      <p:sp>
        <p:nvSpPr>
          <p:cNvPr id="19" name="Axis profit"/>
          <p:cNvSpPr txBox="1"/>
          <p:nvPr/>
        </p:nvSpPr>
        <p:spPr>
          <a:xfrm>
            <a:off x="1920240" y="4572000"/>
            <a:ext cx="5852160" cy="274320"/>
          </a:xfrm>
          <a:prstGeom prst="rect">
            <a:avLst/>
          </a:prstGeom>
          <a:noFill/>
        </p:spPr>
        <p:txBody>
          <a:bodyPr wrap="square" lIns="36576" rIns="36576" tIns="18288" bIns="18288" anchor="t">
            <a:spAutoFit/>
          </a:bodyPr>
          <a:lstStyle/>
          <a:p>
            <a:pPr algn="ctr">
              <a:spcAft>
                <a:spcPts val="600"/>
              </a:spcAft>
            </a:pPr>
            <a:r>
              <a:rPr lang="de-AT" sz="1100" b="0" i="0">
                <a:solidFill>
                  <a:srgbClr val="595959"/>
                </a:solidFill>
              </a:rPr>
              <a:t>Profitabilität →</a:t>
            </a:r>
          </a:p>
        </p:txBody>
      </p:sp>
      <p:sp>
        <p:nvSpPr>
          <p:cNvPr id="20" name="Axis long"/>
          <p:cNvSpPr txBox="1"/>
          <p:nvPr/>
        </p:nvSpPr>
        <p:spPr>
          <a:xfrm>
            <a:off x="457200" y="1234440"/>
            <a:ext cx="1371600" cy="274320"/>
          </a:xfrm>
          <a:prstGeom prst="rect">
            <a:avLst/>
          </a:prstGeom>
          <a:noFill/>
        </p:spPr>
        <p:txBody>
          <a:bodyPr wrap="square" lIns="36576" rIns="36576" tIns="18288" bIns="18288" anchor="t">
            <a:spAutoFit/>
          </a:bodyPr>
          <a:lstStyle/>
          <a:p>
            <a:pPr algn="r">
              <a:spcAft>
                <a:spcPts val="600"/>
              </a:spcAft>
            </a:pPr>
            <a:r>
              <a:rPr lang="de-AT" sz="1100" b="0" i="0">
                <a:solidFill>
                  <a:srgbClr val="595959"/>
                </a:solidFill>
              </a:rPr>
              <a:t>lang</a:t>
            </a:r>
          </a:p>
        </p:txBody>
      </p:sp>
      <p:sp>
        <p:nvSpPr>
          <p:cNvPr id="21" name="Axis short"/>
          <p:cNvSpPr txBox="1"/>
          <p:nvPr/>
        </p:nvSpPr>
        <p:spPr>
          <a:xfrm>
            <a:off x="457200" y="4251960"/>
            <a:ext cx="1371600" cy="274320"/>
          </a:xfrm>
          <a:prstGeom prst="rect">
            <a:avLst/>
          </a:prstGeom>
          <a:noFill/>
        </p:spPr>
        <p:txBody>
          <a:bodyPr wrap="square" lIns="36576" rIns="36576" tIns="18288" bIns="18288" anchor="t">
            <a:spAutoFit/>
          </a:bodyPr>
          <a:lstStyle/>
          <a:p>
            <a:pPr algn="r">
              <a:spcAft>
                <a:spcPts val="600"/>
              </a:spcAft>
            </a:pPr>
            <a:r>
              <a:rPr lang="de-AT" sz="1100" b="0" i="0">
                <a:solidFill>
                  <a:srgbClr val="595959"/>
                </a:solidFill>
              </a:rPr>
              <a:t>kurz</a:t>
            </a:r>
          </a:p>
        </p:txBody>
      </p:sp>
      <p:sp>
        <p:nvSpPr>
          <p:cNvPr id="22" name="Source note"/>
          <p:cNvSpPr txBox="1"/>
          <p:nvPr/>
        </p:nvSpPr>
        <p:spPr>
          <a:xfrm>
            <a:off x="457200" y="4892040"/>
            <a:ext cx="8229600" cy="320040"/>
          </a:xfrm>
          <a:prstGeom prst="rect">
            <a:avLst/>
          </a:prstGeom>
          <a:noFill/>
        </p:spPr>
        <p:txBody>
          <a:bodyPr wrap="square" lIns="36576" rIns="36576" tIns="18288" bIns="18288" anchor="t">
            <a:spAutoFit/>
          </a:bodyPr>
          <a:lstStyle/>
          <a:p>
            <a:pPr algn="l">
              <a:spcAft>
                <a:spcPts val="0"/>
              </a:spcAft>
            </a:pPr>
            <a:r>
              <a:rPr lang="de-AT" sz="1050" b="0" i="0">
                <a:solidFill>
                  <a:srgbClr val="595959"/>
                </a:solidFill>
              </a:rPr>
              <a:t>Reinartz &amp; Kumar (2002) Harvard Business Review; Reinartz &amp; Kumar (2000) Journal of Marketing.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Wo die Kette bricht</a:t>
            </a:r>
          </a:p>
        </p:txBody>
      </p:sp>
      <p:sp>
        <p:nvSpPr>
          <p:cNvPr id="4" name="Footer Placeholder 3"/>
          <p:cNvSpPr>
            <a:spLocks noGrp="1"/>
          </p:cNvSpPr>
          <p:nvPr>
            <p:ph type="ftr" idx="11" sz="quarter"/>
          </p:nvPr>
        </p:nvSpPr>
        <p:spPr/>
        <p:txBody>
          <a:bodyPr/>
          <a:p>
            <a:r>
              <a:rPr lang="de-AT"/>
              <a:t>Loyalität, Churn und Share of Wallet</a:t>
            </a:r>
          </a:p>
        </p:txBody>
      </p:sp>
      <p:sp>
        <p:nvSpPr>
          <p:cNvPr id="5" name="Slide Number Placeholder 4"/>
          <p:cNvSpPr>
            <a:spLocks noGrp="1"/>
          </p:cNvSpPr>
          <p:nvPr>
            <p:ph type="sldNum" idx="12" sz="quarter"/>
          </p:nvPr>
        </p:nvSpPr>
        <p:spPr/>
        <p:txBody>
          <a:bodyPr/>
          <a:p>
            <a:r>
              <a:rPr lang="de-AT"/>
              <a:t>SEITE </a:t>
            </a:r>
            <a:fld id="{B6F15528-21DE-4FAA-801E-634DDDAF4B2B}" type="slidenum">
              <a:rPr lang="en-GB"/>
              <a:t>‹#›</a:t>
            </a:fld>
          </a:p>
        </p:txBody>
      </p:sp>
      <p:sp>
        <p:nvSpPr>
          <p:cNvPr id="6" name="Break 1"/>
          <p:cNvSpPr/>
          <p:nvPr/>
        </p:nvSpPr>
        <p:spPr>
          <a:xfrm>
            <a:off x="457200" y="1234440"/>
            <a:ext cx="4032504" cy="10789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Break bar 1"/>
          <p:cNvSpPr/>
          <p:nvPr/>
        </p:nvSpPr>
        <p:spPr>
          <a:xfrm>
            <a:off x="457200" y="1344168"/>
            <a:ext cx="64008" cy="85953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reak text 1"/>
          <p:cNvSpPr txBox="1"/>
          <p:nvPr/>
        </p:nvSpPr>
        <p:spPr>
          <a:xfrm>
            <a:off x="640080" y="1280160"/>
            <a:ext cx="3758184" cy="1005840"/>
          </a:xfrm>
          <a:prstGeom prst="rect">
            <a:avLst/>
          </a:prstGeom>
          <a:noFill/>
        </p:spPr>
        <p:txBody>
          <a:bodyPr wrap="square" lIns="36576" rIns="36576" tIns="18288" bIns="18288" anchor="t">
            <a:spAutoFit/>
          </a:bodyPr>
          <a:lstStyle/>
          <a:p>
            <a:pPr algn="l">
              <a:spcAft>
                <a:spcPts val="200"/>
              </a:spcAft>
            </a:pPr>
            <a:r>
              <a:rPr lang="de-AT" sz="1400" b="1" i="0">
                <a:solidFill>
                  <a:schemeClr val="tx2"/>
                </a:solidFill>
                <a:latin typeface="+mj-lt"/>
              </a:rPr>
              <a:t>NPS</a:t>
            </a:r>
          </a:p>
          <a:p>
            <a:pPr algn="l">
              <a:spcAft>
                <a:spcPts val="200"/>
              </a:spcAft>
            </a:pPr>
            <a:r>
              <a:rPr lang="de-AT" sz="1200" b="0" i="0">
                <a:solidFill>
                  <a:schemeClr val="tx1"/>
                </a:solidFill>
              </a:rPr>
              <a:t>Sagt Wachstum nicht besser voraus als Zufriedenheit</a:t>
            </a:r>
          </a:p>
          <a:p>
            <a:pPr algn="l">
              <a:spcAft>
                <a:spcPts val="200"/>
              </a:spcAft>
            </a:pPr>
            <a:r>
              <a:rPr lang="de-AT" sz="1050" b="0" i="0">
                <a:solidFill>
                  <a:srgbClr val="595959"/>
                </a:solidFill>
              </a:rPr>
              <a:t>Keiningham et al. (2007); van Doorn et al. (2013)</a:t>
            </a:r>
          </a:p>
        </p:txBody>
      </p:sp>
      <p:sp>
        <p:nvSpPr>
          <p:cNvPr id="9" name="Break 2"/>
          <p:cNvSpPr/>
          <p:nvPr/>
        </p:nvSpPr>
        <p:spPr>
          <a:xfrm>
            <a:off x="4654296" y="1234440"/>
            <a:ext cx="4032504" cy="10789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reak bar 2"/>
          <p:cNvSpPr/>
          <p:nvPr/>
        </p:nvSpPr>
        <p:spPr>
          <a:xfrm>
            <a:off x="4654296" y="1344168"/>
            <a:ext cx="64008" cy="85953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reak text 2"/>
          <p:cNvSpPr txBox="1"/>
          <p:nvPr/>
        </p:nvSpPr>
        <p:spPr>
          <a:xfrm>
            <a:off x="4837176" y="1280160"/>
            <a:ext cx="3758184" cy="1005840"/>
          </a:xfrm>
          <a:prstGeom prst="rect">
            <a:avLst/>
          </a:prstGeom>
          <a:noFill/>
        </p:spPr>
        <p:txBody>
          <a:bodyPr wrap="square" lIns="36576" rIns="36576" tIns="18288" bIns="18288" anchor="t">
            <a:spAutoFit/>
          </a:bodyPr>
          <a:lstStyle/>
          <a:p>
            <a:pPr algn="l">
              <a:spcAft>
                <a:spcPts val="200"/>
              </a:spcAft>
            </a:pPr>
            <a:r>
              <a:rPr lang="de-AT" sz="1400" b="1" i="0">
                <a:solidFill>
                  <a:schemeClr val="tx2"/>
                </a:solidFill>
                <a:latin typeface="+mj-lt"/>
              </a:rPr>
              <a:t>Penetration</a:t>
            </a:r>
          </a:p>
          <a:p>
            <a:pPr algn="l">
              <a:spcAft>
                <a:spcPts val="200"/>
              </a:spcAft>
            </a:pPr>
            <a:r>
              <a:rPr lang="de-AT" sz="1200" b="0" i="0">
                <a:solidFill>
                  <a:schemeClr val="tx1"/>
                </a:solidFill>
              </a:rPr>
              <a:t>Marken wachsen vor allem durch Neukunden; Loyalität folgt der Größe</a:t>
            </a:r>
          </a:p>
          <a:p>
            <a:pPr algn="l">
              <a:spcAft>
                <a:spcPts val="200"/>
              </a:spcAft>
            </a:pPr>
            <a:r>
              <a:rPr lang="de-AT" sz="1050" b="0" i="0">
                <a:solidFill>
                  <a:srgbClr val="595959"/>
                </a:solidFill>
              </a:rPr>
              <a:t>Ehrenberg et al. (1990); Riebe et al. (2014)</a:t>
            </a:r>
          </a:p>
        </p:txBody>
      </p:sp>
      <p:sp>
        <p:nvSpPr>
          <p:cNvPr id="12" name="Break 3"/>
          <p:cNvSpPr/>
          <p:nvPr/>
        </p:nvSpPr>
        <p:spPr>
          <a:xfrm>
            <a:off x="457200" y="2441448"/>
            <a:ext cx="4032504" cy="10789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reak bar 3"/>
          <p:cNvSpPr/>
          <p:nvPr/>
        </p:nvSpPr>
        <p:spPr>
          <a:xfrm>
            <a:off x="457200" y="2551176"/>
            <a:ext cx="64008" cy="85953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reak text 3"/>
          <p:cNvSpPr txBox="1"/>
          <p:nvPr/>
        </p:nvSpPr>
        <p:spPr>
          <a:xfrm>
            <a:off x="640080" y="2487168"/>
            <a:ext cx="3758184" cy="1005840"/>
          </a:xfrm>
          <a:prstGeom prst="rect">
            <a:avLst/>
          </a:prstGeom>
          <a:noFill/>
        </p:spPr>
        <p:txBody>
          <a:bodyPr wrap="square" lIns="36576" rIns="36576" tIns="18288" bIns="18288" anchor="t">
            <a:spAutoFit/>
          </a:bodyPr>
          <a:lstStyle/>
          <a:p>
            <a:pPr algn="l">
              <a:spcAft>
                <a:spcPts val="200"/>
              </a:spcAft>
            </a:pPr>
            <a:r>
              <a:rPr lang="de-AT" sz="1400" b="1" i="0">
                <a:solidFill>
                  <a:schemeClr val="tx2"/>
                </a:solidFill>
                <a:latin typeface="+mj-lt"/>
              </a:rPr>
              <a:t>Cross-Buying</a:t>
            </a:r>
          </a:p>
          <a:p>
            <a:pPr algn="l">
              <a:spcAft>
                <a:spcPts val="200"/>
              </a:spcAft>
            </a:pPr>
            <a:r>
              <a:rPr lang="de-AT" sz="1200" b="0" i="0">
                <a:solidFill>
                  <a:schemeClr val="tx1"/>
                </a:solidFill>
              </a:rPr>
              <a:t>Mehr Share of Wallet kann unprofitable Käufer anziehen</a:t>
            </a:r>
          </a:p>
          <a:p>
            <a:pPr algn="l">
              <a:spcAft>
                <a:spcPts val="200"/>
              </a:spcAft>
            </a:pPr>
            <a:r>
              <a:rPr lang="de-AT" sz="1050" b="0" i="0">
                <a:solidFill>
                  <a:srgbClr val="595959"/>
                </a:solidFill>
              </a:rPr>
              <a:t>Shah et al. (2012)</a:t>
            </a:r>
          </a:p>
        </p:txBody>
      </p:sp>
      <p:sp>
        <p:nvSpPr>
          <p:cNvPr id="15" name="Break 4"/>
          <p:cNvSpPr/>
          <p:nvPr/>
        </p:nvSpPr>
        <p:spPr>
          <a:xfrm>
            <a:off x="4654296" y="2441448"/>
            <a:ext cx="4032504" cy="10789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reak bar 4"/>
          <p:cNvSpPr/>
          <p:nvPr/>
        </p:nvSpPr>
        <p:spPr>
          <a:xfrm>
            <a:off x="4654296" y="2551176"/>
            <a:ext cx="64008" cy="85953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reak text 4"/>
          <p:cNvSpPr txBox="1"/>
          <p:nvPr/>
        </p:nvSpPr>
        <p:spPr>
          <a:xfrm>
            <a:off x="4837176" y="2487168"/>
            <a:ext cx="3758184" cy="1005840"/>
          </a:xfrm>
          <a:prstGeom prst="rect">
            <a:avLst/>
          </a:prstGeom>
          <a:noFill/>
        </p:spPr>
        <p:txBody>
          <a:bodyPr wrap="square" lIns="36576" rIns="36576" tIns="18288" bIns="18288" anchor="t">
            <a:spAutoFit/>
          </a:bodyPr>
          <a:lstStyle/>
          <a:p>
            <a:pPr algn="l">
              <a:spcAft>
                <a:spcPts val="200"/>
              </a:spcAft>
            </a:pPr>
            <a:r>
              <a:rPr lang="de-AT" sz="1400" b="1" i="0">
                <a:solidFill>
                  <a:schemeClr val="tx2"/>
                </a:solidFill>
                <a:latin typeface="+mj-lt"/>
              </a:rPr>
              <a:t>Zufriedenheitskosten</a:t>
            </a:r>
          </a:p>
          <a:p>
            <a:pPr algn="l">
              <a:spcAft>
                <a:spcPts val="200"/>
              </a:spcAft>
            </a:pPr>
            <a:r>
              <a:rPr lang="de-AT" sz="1200" b="0" i="0">
                <a:solidFill>
                  <a:schemeClr val="tx1"/>
                </a:solidFill>
              </a:rPr>
              <a:t>Sehr hohe Zufriedenheit kann die Aktienrendite senken</a:t>
            </a:r>
          </a:p>
          <a:p>
            <a:pPr algn="l">
              <a:spcAft>
                <a:spcPts val="200"/>
              </a:spcAft>
            </a:pPr>
            <a:r>
              <a:rPr lang="de-AT" sz="1050" b="0" i="0">
                <a:solidFill>
                  <a:srgbClr val="595959"/>
                </a:solidFill>
              </a:rPr>
              <a:t>Guenther &amp; Guenther (2021)</a:t>
            </a:r>
          </a:p>
        </p:txBody>
      </p:sp>
      <p:sp>
        <p:nvSpPr>
          <p:cNvPr id="18" name="Break 5"/>
          <p:cNvSpPr/>
          <p:nvPr/>
        </p:nvSpPr>
        <p:spPr>
          <a:xfrm>
            <a:off x="457200" y="3648456"/>
            <a:ext cx="4032504" cy="10789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reak bar 5"/>
          <p:cNvSpPr/>
          <p:nvPr/>
        </p:nvSpPr>
        <p:spPr>
          <a:xfrm>
            <a:off x="457200" y="3758184"/>
            <a:ext cx="64008" cy="85953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reak text 5"/>
          <p:cNvSpPr txBox="1"/>
          <p:nvPr/>
        </p:nvSpPr>
        <p:spPr>
          <a:xfrm>
            <a:off x="640080" y="3694176"/>
            <a:ext cx="3758184" cy="1005840"/>
          </a:xfrm>
          <a:prstGeom prst="rect">
            <a:avLst/>
          </a:prstGeom>
          <a:noFill/>
        </p:spPr>
        <p:txBody>
          <a:bodyPr wrap="square" lIns="36576" rIns="36576" tIns="18288" bIns="18288" anchor="t">
            <a:spAutoFit/>
          </a:bodyPr>
          <a:lstStyle/>
          <a:p>
            <a:pPr algn="l">
              <a:spcAft>
                <a:spcPts val="200"/>
              </a:spcAft>
            </a:pPr>
            <a:r>
              <a:rPr lang="de-AT" sz="1400" b="1" i="0">
                <a:solidFill>
                  <a:schemeClr val="tx2"/>
                </a:solidFill>
                <a:latin typeface="+mj-lt"/>
              </a:rPr>
              <a:t>Mitarbeitende</a:t>
            </a:r>
          </a:p>
          <a:p>
            <a:pPr algn="l">
              <a:spcAft>
                <a:spcPts val="200"/>
              </a:spcAft>
            </a:pPr>
            <a:r>
              <a:rPr lang="de-AT" sz="1200" b="0" i="0">
                <a:solidFill>
                  <a:schemeClr val="tx1"/>
                </a:solidFill>
              </a:rPr>
              <a:t>Mitarbeiterzufriedenheit hebt den Gewinn nicht immer</a:t>
            </a:r>
          </a:p>
          <a:p>
            <a:pPr algn="l">
              <a:spcAft>
                <a:spcPts val="200"/>
              </a:spcAft>
            </a:pPr>
            <a:r>
              <a:rPr lang="de-AT" sz="1050" b="0" i="0">
                <a:solidFill>
                  <a:srgbClr val="595959"/>
                </a:solidFill>
              </a:rPr>
              <a:t>Silvestro (2002)</a:t>
            </a:r>
          </a:p>
        </p:txBody>
      </p:sp>
      <p:sp>
        <p:nvSpPr>
          <p:cNvPr id="21" name="Break 6"/>
          <p:cNvSpPr/>
          <p:nvPr/>
        </p:nvSpPr>
        <p:spPr>
          <a:xfrm>
            <a:off x="4654296" y="3648456"/>
            <a:ext cx="4032504" cy="10789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reak bar 6"/>
          <p:cNvSpPr/>
          <p:nvPr/>
        </p:nvSpPr>
        <p:spPr>
          <a:xfrm>
            <a:off x="4654296" y="3758184"/>
            <a:ext cx="64008" cy="85953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reak text 6"/>
          <p:cNvSpPr txBox="1"/>
          <p:nvPr/>
        </p:nvSpPr>
        <p:spPr>
          <a:xfrm>
            <a:off x="4837176" y="3694176"/>
            <a:ext cx="3758184" cy="1005840"/>
          </a:xfrm>
          <a:prstGeom prst="rect">
            <a:avLst/>
          </a:prstGeom>
          <a:noFill/>
        </p:spPr>
        <p:txBody>
          <a:bodyPr wrap="square" lIns="36576" rIns="36576" tIns="18288" bIns="18288" anchor="t">
            <a:spAutoFit/>
          </a:bodyPr>
          <a:lstStyle/>
          <a:p>
            <a:pPr algn="l">
              <a:spcAft>
                <a:spcPts val="200"/>
              </a:spcAft>
            </a:pPr>
            <a:r>
              <a:rPr lang="de-AT" sz="1400" b="1" i="0">
                <a:solidFill>
                  <a:schemeClr val="tx2"/>
                </a:solidFill>
                <a:latin typeface="+mj-lt"/>
              </a:rPr>
              <a:t>Lock-in</a:t>
            </a:r>
          </a:p>
          <a:p>
            <a:pPr algn="l">
              <a:spcAft>
                <a:spcPts val="200"/>
              </a:spcAft>
            </a:pPr>
            <a:r>
              <a:rPr lang="de-AT" sz="1200" b="0" i="0">
                <a:solidFill>
                  <a:schemeClr val="tx1"/>
                </a:solidFill>
              </a:rPr>
              <a:t>Wechselbarrieren halten nur, solange das Erlebnis schlecht ist</a:t>
            </a:r>
          </a:p>
          <a:p>
            <a:pPr algn="l">
              <a:spcAft>
                <a:spcPts val="200"/>
              </a:spcAft>
            </a:pPr>
            <a:r>
              <a:rPr lang="de-AT" sz="1050" b="0" i="0">
                <a:solidFill>
                  <a:srgbClr val="595959"/>
                </a:solidFill>
              </a:rPr>
              <a:t>Gao, Melero-Polo &amp; Sese (2022)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Lab: Churn und CLV mit echten Daten</a:t>
            </a:r>
          </a:p>
        </p:txBody>
      </p:sp>
      <p:sp>
        <p:nvSpPr>
          <p:cNvPr id="4" name="Footer Placeholder 3"/>
          <p:cNvSpPr>
            <a:spLocks noGrp="1"/>
          </p:cNvSpPr>
          <p:nvPr>
            <p:ph type="ftr" idx="11" sz="quarter"/>
          </p:nvPr>
        </p:nvSpPr>
        <p:spPr/>
        <p:txBody>
          <a:bodyPr/>
          <a:p>
            <a:r>
              <a:rPr lang="de-AT"/>
              <a:t>Loyalität, Churn und Share of Wallet</a:t>
            </a:r>
          </a:p>
        </p:txBody>
      </p:sp>
      <p:sp>
        <p:nvSpPr>
          <p:cNvPr id="5" name="Slide Number Placeholder 4"/>
          <p:cNvSpPr>
            <a:spLocks noGrp="1"/>
          </p:cNvSpPr>
          <p:nvPr>
            <p:ph type="sldNum" idx="12" sz="quarter"/>
          </p:nvPr>
        </p:nvSpPr>
        <p:spPr/>
        <p:txBody>
          <a:bodyPr/>
          <a:p>
            <a:r>
              <a:rPr lang="de-AT"/>
              <a:t>SEITE </a:t>
            </a:r>
            <a:fld id="{B6F15528-21DE-4FAA-801E-634DDDAF4B2B}" type="slidenum">
              <a:rPr lang="en-GB"/>
              <a:t>‹#›</a:t>
            </a:fld>
          </a:p>
        </p:txBody>
      </p:sp>
      <p:sp>
        <p:nvSpPr>
          <p:cNvPr id="6" name="Step 1"/>
          <p:cNvSpPr/>
          <p:nvPr/>
        </p:nvSpPr>
        <p:spPr>
          <a:xfrm>
            <a:off x="457200" y="1280160"/>
            <a:ext cx="1733702" cy="502920"/>
          </a:xfrm>
          <a:prstGeom prst="homePlat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201168" rIns="73152"/>
          <a:lstStyle/>
          <a:p>
            <a:pPr algn="ctr"/>
            <a:r>
              <a:rPr lang="de-AT" sz="1050" b="1">
                <a:solidFill>
                  <a:schemeClr val="bg1"/>
                </a:solidFill>
              </a:rPr>
              <a:t>Daten</a:t>
            </a:r>
          </a:p>
        </p:txBody>
      </p:sp>
      <p:sp>
        <p:nvSpPr>
          <p:cNvPr id="7" name="Step 2"/>
          <p:cNvSpPr/>
          <p:nvPr/>
        </p:nvSpPr>
        <p:spPr>
          <a:xfrm>
            <a:off x="2081174" y="1280160"/>
            <a:ext cx="1733702" cy="502920"/>
          </a:xfrm>
          <a:prstGeom prst="chevron">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201168" rIns="73152"/>
          <a:lstStyle/>
          <a:p>
            <a:pPr algn="ctr"/>
            <a:r>
              <a:rPr lang="de-AT" sz="1050" b="1">
                <a:solidFill>
                  <a:schemeClr val="bg1"/>
                </a:solidFill>
              </a:rPr>
              <a:t>Beschreiben</a:t>
            </a:r>
          </a:p>
        </p:txBody>
      </p:sp>
      <p:sp>
        <p:nvSpPr>
          <p:cNvPr id="8" name="Step 3"/>
          <p:cNvSpPr/>
          <p:nvPr/>
        </p:nvSpPr>
        <p:spPr>
          <a:xfrm>
            <a:off x="3705148" y="1280160"/>
            <a:ext cx="1733702" cy="502920"/>
          </a:xfrm>
          <a:prstGeom prst="chevron">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201168" rIns="73152"/>
          <a:lstStyle/>
          <a:p>
            <a:pPr algn="ctr"/>
            <a:r>
              <a:rPr lang="de-AT" sz="1050" b="1">
                <a:solidFill>
                  <a:schemeClr val="bg1"/>
                </a:solidFill>
              </a:rPr>
              <a:t>Modellieren</a:t>
            </a:r>
          </a:p>
        </p:txBody>
      </p:sp>
      <p:sp>
        <p:nvSpPr>
          <p:cNvPr id="9" name="Step 4"/>
          <p:cNvSpPr/>
          <p:nvPr/>
        </p:nvSpPr>
        <p:spPr>
          <a:xfrm>
            <a:off x="5329123" y="1280160"/>
            <a:ext cx="1733702" cy="502920"/>
          </a:xfrm>
          <a:prstGeom prst="chevron">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201168" rIns="73152"/>
          <a:lstStyle/>
          <a:p>
            <a:pPr algn="ctr"/>
            <a:r>
              <a:rPr lang="de-AT" sz="1050" b="1">
                <a:solidFill>
                  <a:schemeClr val="bg1"/>
                </a:solidFill>
              </a:rPr>
              <a:t>Bewerten</a:t>
            </a:r>
          </a:p>
        </p:txBody>
      </p:sp>
      <p:sp>
        <p:nvSpPr>
          <p:cNvPr id="10" name="Step 5"/>
          <p:cNvSpPr/>
          <p:nvPr/>
        </p:nvSpPr>
        <p:spPr>
          <a:xfrm>
            <a:off x="6953097" y="1280160"/>
            <a:ext cx="1733702" cy="502920"/>
          </a:xfrm>
          <a:prstGeom prst="chevron">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201168" rIns="73152"/>
          <a:lstStyle/>
          <a:p>
            <a:pPr algn="ctr"/>
            <a:r>
              <a:rPr lang="de-AT" sz="1050" b="1">
                <a:solidFill>
                  <a:schemeClr val="bg1"/>
                </a:solidFill>
              </a:rPr>
              <a:t>Entscheiden</a:t>
            </a:r>
          </a:p>
        </p:txBody>
      </p:sp>
      <p:sp>
        <p:nvSpPr>
          <p:cNvPr id="11" name="Lab data body"/>
          <p:cNvSpPr/>
          <p:nvPr/>
        </p:nvSpPr>
        <p:spPr>
          <a:xfrm>
            <a:off x="457200" y="1965960"/>
            <a:ext cx="3291840" cy="22402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ab data band"/>
          <p:cNvSpPr/>
          <p:nvPr/>
        </p:nvSpPr>
        <p:spPr>
          <a:xfrm>
            <a:off x="457200" y="1965960"/>
            <a:ext cx="3291840"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ab data heading"/>
          <p:cNvSpPr txBox="1"/>
          <p:nvPr/>
        </p:nvSpPr>
        <p:spPr>
          <a:xfrm>
            <a:off x="566928" y="2020824"/>
            <a:ext cx="2606040" cy="365760"/>
          </a:xfrm>
          <a:prstGeom prst="rect">
            <a:avLst/>
          </a:prstGeom>
          <a:noFill/>
        </p:spPr>
        <p:txBody>
          <a:bodyPr wrap="square" lIns="36576" rIns="36576" tIns="18288" bIns="18288" anchor="ctr">
            <a:spAutoFit/>
          </a:bodyPr>
          <a:lstStyle/>
          <a:p>
            <a:pPr algn="l">
              <a:spcAft>
                <a:spcPts val="600"/>
              </a:spcAft>
            </a:pPr>
            <a:r>
              <a:rPr lang="de-AT" sz="1500" b="1" i="0">
                <a:solidFill>
                  <a:schemeClr val="bg1"/>
                </a:solidFill>
                <a:latin typeface="+mj-lt"/>
              </a:rPr>
              <a:t>Daten und Tools</a:t>
            </a:r>
          </a:p>
        </p:txBody>
      </p:sp>
      <p:pic>
        <p:nvPicPr>
          <p:cNvPr id="14" name="Icon LuDatabase" descr="LuDatabase-white.png"/>
          <p:cNvPicPr>
            <a:picLocks noChangeAspect="1"/>
          </p:cNvPicPr>
          <p:nvPr/>
        </p:nvPicPr>
        <p:blipFill>
          <a:blip r:embed="rId2"/>
          <a:stretch>
            <a:fillRect/>
          </a:stretch>
        </p:blipFill>
        <p:spPr>
          <a:xfrm>
            <a:off x="3319272" y="2029967"/>
            <a:ext cx="329184" cy="329184"/>
          </a:xfrm>
          <a:prstGeom prst="rect">
            <a:avLst/>
          </a:prstGeom>
        </p:spPr>
      </p:pic>
      <p:sp>
        <p:nvSpPr>
          <p:cNvPr id="15" name="Lab data text"/>
          <p:cNvSpPr txBox="1"/>
          <p:nvPr/>
        </p:nvSpPr>
        <p:spPr>
          <a:xfrm>
            <a:off x="594360" y="2532888"/>
            <a:ext cx="3017520" cy="1581912"/>
          </a:xfrm>
          <a:prstGeom prst="rect">
            <a:avLst/>
          </a:prstGeom>
          <a:noFill/>
        </p:spPr>
        <p:txBody>
          <a:bodyPr wrap="square" lIns="36576" rIns="36576" tIns="18288" bIns="18288" anchor="t">
            <a:spAutoFit/>
          </a:bodyPr>
          <a:lstStyle/>
          <a:p>
            <a:pPr algn="l">
              <a:spcAft>
                <a:spcPts val="700"/>
              </a:spcAft>
            </a:pPr>
            <a:r>
              <a:rPr lang="de-AT" sz="1200" b="1" i="0">
                <a:solidFill>
                  <a:schemeClr val="tx1"/>
                </a:solidFill>
              </a:rPr>
              <a:t>IBM Telco: </a:t>
            </a:r>
            <a:r>
              <a:rPr lang="de-AT" sz="1200" b="0" i="0">
                <a:solidFill>
                  <a:schemeClr val="tx1"/>
                </a:solidFill>
              </a:rPr>
              <a:t>7.043 Kunden, Churn-Flag</a:t>
            </a:r>
          </a:p>
          <a:p>
            <a:pPr algn="l">
              <a:spcAft>
                <a:spcPts val="700"/>
              </a:spcAft>
            </a:pPr>
            <a:r>
              <a:rPr lang="de-AT" sz="1200" b="1" i="0">
                <a:solidFill>
                  <a:schemeClr val="tx1"/>
                </a:solidFill>
              </a:rPr>
              <a:t>CDNOW: </a:t>
            </a:r>
            <a:r>
              <a:rPr lang="de-AT" sz="1200" b="0" i="0">
                <a:solidFill>
                  <a:schemeClr val="tx1"/>
                </a:solidFill>
              </a:rPr>
              <a:t>Stichprobe mit 2.357 Kunden, Käufe</a:t>
            </a:r>
          </a:p>
          <a:p>
            <a:pPr algn="l">
              <a:spcAft>
                <a:spcPts val="700"/>
              </a:spcAft>
            </a:pPr>
            <a:r>
              <a:rPr lang="de-AT" sz="1200" b="1" i="0">
                <a:solidFill>
                  <a:schemeClr val="tx1"/>
                </a:solidFill>
              </a:rPr>
              <a:t>R: </a:t>
            </a:r>
            <a:r>
              <a:rPr lang="de-AT" sz="1200" b="0" i="0">
                <a:solidFill>
                  <a:schemeClr val="tx1"/>
                </a:solidFill>
              </a:rPr>
              <a:t>CLVTools, BTYDplus (WU), survival</a:t>
            </a:r>
          </a:p>
          <a:p>
            <a:pPr algn="l">
              <a:spcAft>
                <a:spcPts val="700"/>
              </a:spcAft>
            </a:pPr>
            <a:r>
              <a:rPr lang="de-AT" sz="1200" b="1" i="0">
                <a:solidFill>
                  <a:schemeClr val="tx1"/>
                </a:solidFill>
              </a:rPr>
              <a:t>Python: </a:t>
            </a:r>
            <a:r>
              <a:rPr lang="de-AT" sz="1200" b="0" i="0">
                <a:solidFill>
                  <a:schemeClr val="tx1"/>
                </a:solidFill>
              </a:rPr>
              <a:t>PyMC-Marketing, lifelines</a:t>
            </a:r>
          </a:p>
        </p:txBody>
      </p:sp>
      <p:sp>
        <p:nvSpPr>
          <p:cNvPr id="16" name="Task number 1"/>
          <p:cNvSpPr/>
          <p:nvPr/>
        </p:nvSpPr>
        <p:spPr>
          <a:xfrm>
            <a:off x="3977639" y="2011679"/>
            <a:ext cx="347472" cy="34747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de-AT" sz="1200" b="1">
                <a:solidFill>
                  <a:schemeClr val="bg1"/>
                </a:solidFill>
                <a:latin typeface="+mj-lt"/>
              </a:rPr>
              <a:t>1</a:t>
            </a:r>
          </a:p>
        </p:txBody>
      </p:sp>
      <p:sp>
        <p:nvSpPr>
          <p:cNvPr id="17" name="Task 1"/>
          <p:cNvSpPr txBox="1"/>
          <p:nvPr/>
        </p:nvSpPr>
        <p:spPr>
          <a:xfrm>
            <a:off x="4434840" y="1965960"/>
            <a:ext cx="4251960" cy="502920"/>
          </a:xfrm>
          <a:prstGeom prst="rect">
            <a:avLst/>
          </a:prstGeom>
          <a:noFill/>
        </p:spPr>
        <p:txBody>
          <a:bodyPr wrap="square" lIns="36576" rIns="36576" tIns="18288" bIns="18288" anchor="ctr">
            <a:spAutoFit/>
          </a:bodyPr>
          <a:lstStyle/>
          <a:p>
            <a:pPr algn="l">
              <a:spcAft>
                <a:spcPts val="0"/>
              </a:spcAft>
            </a:pPr>
            <a:r>
              <a:rPr lang="de-AT" sz="1200" b="0" i="0">
                <a:solidFill>
                  <a:schemeClr val="tx1"/>
                </a:solidFill>
              </a:rPr>
              <a:t>Bindungskurven nach Vertragsart (Kaplan-Meier)</a:t>
            </a:r>
          </a:p>
        </p:txBody>
      </p:sp>
      <p:sp>
        <p:nvSpPr>
          <p:cNvPr id="18" name="Task number 2"/>
          <p:cNvSpPr/>
          <p:nvPr/>
        </p:nvSpPr>
        <p:spPr>
          <a:xfrm>
            <a:off x="3977639" y="2578608"/>
            <a:ext cx="347472" cy="34747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de-AT" sz="1200" b="1">
                <a:solidFill>
                  <a:schemeClr val="bg1"/>
                </a:solidFill>
                <a:latin typeface="+mj-lt"/>
              </a:rPr>
              <a:t>2</a:t>
            </a:r>
          </a:p>
        </p:txBody>
      </p:sp>
      <p:sp>
        <p:nvSpPr>
          <p:cNvPr id="19" name="Task 2"/>
          <p:cNvSpPr txBox="1"/>
          <p:nvPr/>
        </p:nvSpPr>
        <p:spPr>
          <a:xfrm>
            <a:off x="4434840" y="2532888"/>
            <a:ext cx="4251960" cy="502920"/>
          </a:xfrm>
          <a:prstGeom prst="rect">
            <a:avLst/>
          </a:prstGeom>
          <a:noFill/>
        </p:spPr>
        <p:txBody>
          <a:bodyPr wrap="square" lIns="36576" rIns="36576" tIns="18288" bIns="18288" anchor="ctr">
            <a:spAutoFit/>
          </a:bodyPr>
          <a:lstStyle/>
          <a:p>
            <a:pPr algn="l">
              <a:spcAft>
                <a:spcPts val="0"/>
              </a:spcAft>
            </a:pPr>
            <a:r>
              <a:rPr lang="de-AT" sz="1200" b="0" i="0">
                <a:solidFill>
                  <a:schemeClr val="tx1"/>
                </a:solidFill>
              </a:rPr>
              <a:t>Logit-Churn-Modell schätzen; Lift-Tabelle nach Dezilen</a:t>
            </a:r>
          </a:p>
        </p:txBody>
      </p:sp>
      <p:sp>
        <p:nvSpPr>
          <p:cNvPr id="20" name="Task number 3"/>
          <p:cNvSpPr/>
          <p:nvPr/>
        </p:nvSpPr>
        <p:spPr>
          <a:xfrm>
            <a:off x="3977639" y="3145535"/>
            <a:ext cx="347472" cy="34747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de-AT" sz="1200" b="1">
                <a:solidFill>
                  <a:schemeClr val="bg1"/>
                </a:solidFill>
                <a:latin typeface="+mj-lt"/>
              </a:rPr>
              <a:t>3</a:t>
            </a:r>
          </a:p>
        </p:txBody>
      </p:sp>
      <p:sp>
        <p:nvSpPr>
          <p:cNvPr id="21" name="Task 3"/>
          <p:cNvSpPr txBox="1"/>
          <p:nvPr/>
        </p:nvSpPr>
        <p:spPr>
          <a:xfrm>
            <a:off x="4434840" y="3099815"/>
            <a:ext cx="4251960" cy="502920"/>
          </a:xfrm>
          <a:prstGeom prst="rect">
            <a:avLst/>
          </a:prstGeom>
          <a:noFill/>
        </p:spPr>
        <p:txBody>
          <a:bodyPr wrap="square" lIns="36576" rIns="36576" tIns="18288" bIns="18288" anchor="ctr">
            <a:spAutoFit/>
          </a:bodyPr>
          <a:lstStyle/>
          <a:p>
            <a:pPr algn="l">
              <a:spcAft>
                <a:spcPts val="0"/>
              </a:spcAft>
            </a:pPr>
            <a:r>
              <a:rPr lang="de-AT" sz="1200" b="0" i="0">
                <a:solidFill>
                  <a:schemeClr val="tx1"/>
                </a:solidFill>
              </a:rPr>
              <a:t>BG/NBD auf CDNOW; P(alive) und 12-Monats-CLV</a:t>
            </a:r>
          </a:p>
        </p:txBody>
      </p:sp>
      <p:sp>
        <p:nvSpPr>
          <p:cNvPr id="22" name="Task number 4"/>
          <p:cNvSpPr/>
          <p:nvPr/>
        </p:nvSpPr>
        <p:spPr>
          <a:xfrm>
            <a:off x="3977639" y="3712463"/>
            <a:ext cx="347472" cy="34747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de-AT" sz="1200" b="1">
                <a:solidFill>
                  <a:schemeClr val="bg1"/>
                </a:solidFill>
                <a:latin typeface="+mj-lt"/>
              </a:rPr>
              <a:t>4</a:t>
            </a:r>
          </a:p>
        </p:txBody>
      </p:sp>
      <p:sp>
        <p:nvSpPr>
          <p:cNvPr id="23" name="Task 4"/>
          <p:cNvSpPr txBox="1"/>
          <p:nvPr/>
        </p:nvSpPr>
        <p:spPr>
          <a:xfrm>
            <a:off x="4434840" y="3666744"/>
            <a:ext cx="4251960" cy="502920"/>
          </a:xfrm>
          <a:prstGeom prst="rect">
            <a:avLst/>
          </a:prstGeom>
          <a:noFill/>
        </p:spPr>
        <p:txBody>
          <a:bodyPr wrap="square" lIns="36576" rIns="36576" tIns="18288" bIns="18288" anchor="ctr">
            <a:spAutoFit/>
          </a:bodyPr>
          <a:lstStyle/>
          <a:p>
            <a:pPr algn="l">
              <a:spcAft>
                <a:spcPts val="0"/>
              </a:spcAft>
            </a:pPr>
            <a:r>
              <a:rPr lang="de-AT" sz="1200" b="0" i="0">
                <a:solidFill>
                  <a:schemeClr val="tx1"/>
                </a:solidFill>
              </a:rPr>
              <a:t>Kundenstamm bewerten: Wem lohnt ein Halteangebot?</a:t>
            </a:r>
          </a:p>
        </p:txBody>
      </p:sp>
      <p:sp>
        <p:nvSpPr>
          <p:cNvPr id="24" name="Deliverable"/>
          <p:cNvSpPr/>
          <p:nvPr/>
        </p:nvSpPr>
        <p:spPr>
          <a:xfrm>
            <a:off x="457200" y="4343400"/>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eliverable text"/>
          <p:cNvSpPr txBox="1"/>
          <p:nvPr/>
        </p:nvSpPr>
        <p:spPr>
          <a:xfrm>
            <a:off x="640080" y="4343400"/>
            <a:ext cx="7863840" cy="457200"/>
          </a:xfrm>
          <a:prstGeom prst="rect">
            <a:avLst/>
          </a:prstGeom>
          <a:noFill/>
        </p:spPr>
        <p:txBody>
          <a:bodyPr wrap="square" lIns="36576" rIns="36576" tIns="18288" bIns="18288" anchor="ctr">
            <a:spAutoFit/>
          </a:bodyPr>
          <a:lstStyle/>
          <a:p>
            <a:pPr algn="l">
              <a:spcAft>
                <a:spcPts val="0"/>
              </a:spcAft>
            </a:pPr>
            <a:r>
              <a:rPr lang="de-AT" sz="1300" b="0" i="0">
                <a:solidFill>
                  <a:schemeClr val="bg1"/>
                </a:solidFill>
              </a:rPr>
              <a:t>Abgabe: Bindungsgrafik, CLV-Tabelle und eine halbe Seite zur Zielgruppe.</a:t>
            </a:r>
          </a:p>
        </p:txBody>
      </p:sp>
      <p:sp>
        <p:nvSpPr>
          <p:cNvPr id="26" name="Source note"/>
          <p:cNvSpPr txBox="1"/>
          <p:nvPr/>
        </p:nvSpPr>
        <p:spPr>
          <a:xfrm>
            <a:off x="457200" y="4846320"/>
            <a:ext cx="8229600" cy="320040"/>
          </a:xfrm>
          <a:prstGeom prst="rect">
            <a:avLst/>
          </a:prstGeom>
          <a:noFill/>
        </p:spPr>
        <p:txBody>
          <a:bodyPr wrap="square" lIns="36576" rIns="36576" tIns="18288" bIns="18288" anchor="t">
            <a:spAutoFit/>
          </a:bodyPr>
          <a:lstStyle/>
          <a:p>
            <a:pPr algn="l">
              <a:spcAft>
                <a:spcPts val="0"/>
              </a:spcAft>
            </a:pPr>
            <a:r>
              <a:rPr lang="de-AT" sz="1050" b="0" i="0">
                <a:solidFill>
                  <a:srgbClr val="595959"/>
                </a:solidFill>
              </a:rPr>
              <a:t>Daten: Kaggle (IBM Telco Customer Churn); brucehardie.com/datasets (CDNOW). Methode: Fader, Hardie &amp; Lee (2005) Marketing Science.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Fallstudien für die Lehre</a:t>
            </a:r>
          </a:p>
        </p:txBody>
      </p:sp>
      <p:sp>
        <p:nvSpPr>
          <p:cNvPr id="4" name="Footer Placeholder 3"/>
          <p:cNvSpPr>
            <a:spLocks noGrp="1"/>
          </p:cNvSpPr>
          <p:nvPr>
            <p:ph type="ftr" idx="11" sz="quarter"/>
          </p:nvPr>
        </p:nvSpPr>
        <p:spPr/>
        <p:txBody>
          <a:bodyPr/>
          <a:p>
            <a:r>
              <a:rPr lang="de-AT"/>
              <a:t>Loyalität, Churn und Share of Wallet</a:t>
            </a:r>
          </a:p>
        </p:txBody>
      </p:sp>
      <p:sp>
        <p:nvSpPr>
          <p:cNvPr id="5" name="Slide Number Placeholder 4"/>
          <p:cNvSpPr>
            <a:spLocks noGrp="1"/>
          </p:cNvSpPr>
          <p:nvPr>
            <p:ph type="sldNum" idx="12" sz="quarter"/>
          </p:nvPr>
        </p:nvSpPr>
        <p:spPr/>
        <p:txBody>
          <a:bodyPr/>
          <a:p>
            <a:r>
              <a:rPr lang="de-AT"/>
              <a:t>SEITE </a:t>
            </a:r>
            <a:fld id="{B6F15528-21DE-4FAA-801E-634DDDAF4B2B}" type="slidenum">
              <a:rPr lang="en-GB"/>
              <a:t>‹#›</a:t>
            </a:fld>
          </a:p>
        </p:txBody>
      </p:sp>
      <p:sp>
        <p:nvSpPr>
          <p:cNvPr id="6" name="Case Pilgrim Bank body"/>
          <p:cNvSpPr/>
          <p:nvPr/>
        </p:nvSpPr>
        <p:spPr>
          <a:xfrm>
            <a:off x="457200" y="1234440"/>
            <a:ext cx="2633472" cy="26060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ase Pilgrim Bank band"/>
          <p:cNvSpPr/>
          <p:nvPr/>
        </p:nvSpPr>
        <p:spPr>
          <a:xfrm>
            <a:off x="457200" y="1234440"/>
            <a:ext cx="2633472"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se Pilgrim Bank heading"/>
          <p:cNvSpPr txBox="1"/>
          <p:nvPr/>
        </p:nvSpPr>
        <p:spPr>
          <a:xfrm>
            <a:off x="566928" y="1289304"/>
            <a:ext cx="1947672" cy="365760"/>
          </a:xfrm>
          <a:prstGeom prst="rect">
            <a:avLst/>
          </a:prstGeom>
          <a:noFill/>
        </p:spPr>
        <p:txBody>
          <a:bodyPr wrap="square" lIns="36576" rIns="36576" tIns="18288" bIns="18288" anchor="ctr">
            <a:spAutoFit/>
          </a:bodyPr>
          <a:lstStyle/>
          <a:p>
            <a:pPr algn="l">
              <a:spcAft>
                <a:spcPts val="600"/>
              </a:spcAft>
            </a:pPr>
            <a:r>
              <a:rPr lang="de-AT" sz="1500" b="1" i="0">
                <a:solidFill>
                  <a:schemeClr val="bg1"/>
                </a:solidFill>
                <a:latin typeface="+mj-lt"/>
              </a:rPr>
              <a:t>Pilgrim Bank</a:t>
            </a:r>
          </a:p>
        </p:txBody>
      </p:sp>
      <p:sp>
        <p:nvSpPr>
          <p:cNvPr id="9" name="Case Pilgrim Bank text"/>
          <p:cNvSpPr txBox="1"/>
          <p:nvPr/>
        </p:nvSpPr>
        <p:spPr>
          <a:xfrm>
            <a:off x="594360" y="1801368"/>
            <a:ext cx="2359152" cy="1947672"/>
          </a:xfrm>
          <a:prstGeom prst="rect">
            <a:avLst/>
          </a:prstGeom>
          <a:noFill/>
        </p:spPr>
        <p:txBody>
          <a:bodyPr wrap="square" lIns="36576" rIns="36576" tIns="18288" bIns="18288" anchor="t">
            <a:spAutoFit/>
          </a:bodyPr>
          <a:lstStyle/>
          <a:p>
            <a:pPr algn="l">
              <a:spcAft>
                <a:spcPts val="700"/>
              </a:spcAft>
            </a:pPr>
            <a:r>
              <a:rPr lang="de-AT" sz="1300" b="0" i="0">
                <a:solidFill>
                  <a:schemeClr val="tx1"/>
                </a:solidFill>
              </a:rPr>
              <a:t>Fälle (A) und (B), Kundendaten: Sind Online-Kunden profitabler und treuer?</a:t>
            </a:r>
          </a:p>
          <a:p>
            <a:pPr algn="l">
              <a:spcAft>
                <a:spcPts val="700"/>
              </a:spcAft>
            </a:pPr>
            <a:r>
              <a:rPr lang="de-AT" sz="1300" b="1" i="0">
                <a:solidFill>
                  <a:schemeClr val="tx2"/>
                </a:solidFill>
              </a:rPr>
              <a:t>Gewinn, Bindung, Selektionseffekt</a:t>
            </a:r>
          </a:p>
          <a:p>
            <a:pPr algn="l">
              <a:spcAft>
                <a:spcPts val="700"/>
              </a:spcAft>
            </a:pPr>
            <a:r>
              <a:rPr lang="de-AT" sz="1050" b="0" i="0">
                <a:solidFill>
                  <a:srgbClr val="595959"/>
                </a:solidFill>
              </a:rPr>
              <a:t>HBS 602104 / 602095</a:t>
            </a:r>
          </a:p>
        </p:txBody>
      </p:sp>
      <p:sp>
        <p:nvSpPr>
          <p:cNvPr id="10" name="Case Teleko body"/>
          <p:cNvSpPr/>
          <p:nvPr/>
        </p:nvSpPr>
        <p:spPr>
          <a:xfrm>
            <a:off x="3255264" y="1234440"/>
            <a:ext cx="2633472" cy="26060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Teleko band"/>
          <p:cNvSpPr/>
          <p:nvPr/>
        </p:nvSpPr>
        <p:spPr>
          <a:xfrm>
            <a:off x="3255264" y="1234440"/>
            <a:ext cx="2633472"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ase Teleko heading"/>
          <p:cNvSpPr txBox="1"/>
          <p:nvPr/>
        </p:nvSpPr>
        <p:spPr>
          <a:xfrm>
            <a:off x="3364992" y="1289304"/>
            <a:ext cx="1947672" cy="365760"/>
          </a:xfrm>
          <a:prstGeom prst="rect">
            <a:avLst/>
          </a:prstGeom>
          <a:noFill/>
        </p:spPr>
        <p:txBody>
          <a:bodyPr wrap="square" lIns="36576" rIns="36576" tIns="18288" bIns="18288" anchor="ctr">
            <a:spAutoFit/>
          </a:bodyPr>
          <a:lstStyle/>
          <a:p>
            <a:pPr algn="l">
              <a:spcAft>
                <a:spcPts val="600"/>
              </a:spcAft>
            </a:pPr>
            <a:r>
              <a:rPr lang="de-AT" sz="1500" b="1" i="0">
                <a:solidFill>
                  <a:schemeClr val="bg1"/>
                </a:solidFill>
                <a:latin typeface="+mj-lt"/>
              </a:rPr>
              <a:t>Teleko</a:t>
            </a:r>
          </a:p>
        </p:txBody>
      </p:sp>
      <p:sp>
        <p:nvSpPr>
          <p:cNvPr id="13" name="Case Teleko text"/>
          <p:cNvSpPr txBox="1"/>
          <p:nvPr/>
        </p:nvSpPr>
        <p:spPr>
          <a:xfrm>
            <a:off x="3392424" y="1801368"/>
            <a:ext cx="2359152" cy="1947672"/>
          </a:xfrm>
          <a:prstGeom prst="rect">
            <a:avLst/>
          </a:prstGeom>
          <a:noFill/>
        </p:spPr>
        <p:txBody>
          <a:bodyPr wrap="square" lIns="36576" rIns="36576" tIns="18288" bIns="18288" anchor="t">
            <a:spAutoFit/>
          </a:bodyPr>
          <a:lstStyle/>
          <a:p>
            <a:pPr algn="l">
              <a:spcAft>
                <a:spcPts val="700"/>
              </a:spcAft>
            </a:pPr>
            <a:r>
              <a:rPr lang="de-AT" sz="1300" b="0" i="0">
                <a:solidFill>
                  <a:schemeClr val="tx1"/>
                </a:solidFill>
              </a:rPr>
              <a:t>Wen mit einem Halteangebot ansprechen: nach Churn-Risiko oder Uplift?</a:t>
            </a:r>
          </a:p>
          <a:p>
            <a:pPr algn="l">
              <a:spcAft>
                <a:spcPts val="700"/>
              </a:spcAft>
            </a:pPr>
            <a:r>
              <a:rPr lang="de-AT" sz="1300" b="1" i="0">
                <a:solidFill>
                  <a:schemeClr val="tx2"/>
                </a:solidFill>
              </a:rPr>
              <a:t>Churn-Management</a:t>
            </a:r>
          </a:p>
          <a:p>
            <a:pPr algn="l">
              <a:spcAft>
                <a:spcPts val="700"/>
              </a:spcAft>
            </a:pPr>
            <a:r>
              <a:rPr lang="de-AT" sz="1050" b="0" i="0">
                <a:solidFill>
                  <a:srgbClr val="595959"/>
                </a:solidFill>
              </a:rPr>
              <a:t>HBS 523005, kostenloses Online-Tool</a:t>
            </a:r>
          </a:p>
        </p:txBody>
      </p:sp>
      <p:sp>
        <p:nvSpPr>
          <p:cNvPr id="14" name="Case Harrah's body"/>
          <p:cNvSpPr/>
          <p:nvPr/>
        </p:nvSpPr>
        <p:spPr>
          <a:xfrm>
            <a:off x="6053328" y="1234440"/>
            <a:ext cx="2633472" cy="26060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se Harrah's band"/>
          <p:cNvSpPr/>
          <p:nvPr/>
        </p:nvSpPr>
        <p:spPr>
          <a:xfrm>
            <a:off x="6053328" y="1234440"/>
            <a:ext cx="2633472"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se Harrah's heading"/>
          <p:cNvSpPr txBox="1"/>
          <p:nvPr/>
        </p:nvSpPr>
        <p:spPr>
          <a:xfrm>
            <a:off x="6163056" y="1289304"/>
            <a:ext cx="1947672" cy="365760"/>
          </a:xfrm>
          <a:prstGeom prst="rect">
            <a:avLst/>
          </a:prstGeom>
          <a:noFill/>
        </p:spPr>
        <p:txBody>
          <a:bodyPr wrap="square" lIns="36576" rIns="36576" tIns="18288" bIns="18288" anchor="ctr">
            <a:spAutoFit/>
          </a:bodyPr>
          <a:lstStyle/>
          <a:p>
            <a:pPr algn="l">
              <a:spcAft>
                <a:spcPts val="600"/>
              </a:spcAft>
            </a:pPr>
            <a:r>
              <a:rPr lang="de-AT" sz="1500" b="1" i="0">
                <a:solidFill>
                  <a:schemeClr val="bg1"/>
                </a:solidFill>
                <a:latin typeface="+mj-lt"/>
              </a:rPr>
              <a:t>Harrah's</a:t>
            </a:r>
          </a:p>
        </p:txBody>
      </p:sp>
      <p:sp>
        <p:nvSpPr>
          <p:cNvPr id="17" name="Case Harrah's text"/>
          <p:cNvSpPr txBox="1"/>
          <p:nvPr/>
        </p:nvSpPr>
        <p:spPr>
          <a:xfrm>
            <a:off x="6190488" y="1801368"/>
            <a:ext cx="2359152" cy="1947672"/>
          </a:xfrm>
          <a:prstGeom prst="rect">
            <a:avLst/>
          </a:prstGeom>
          <a:noFill/>
        </p:spPr>
        <p:txBody>
          <a:bodyPr wrap="square" lIns="36576" rIns="36576" tIns="18288" bIns="18288" anchor="t">
            <a:spAutoFit/>
          </a:bodyPr>
          <a:lstStyle/>
          <a:p>
            <a:pPr algn="l">
              <a:spcAft>
                <a:spcPts val="700"/>
              </a:spcAft>
            </a:pPr>
            <a:r>
              <a:rPr lang="de-AT" sz="1300" b="0" i="0">
                <a:solidFill>
                  <a:schemeClr val="tx1"/>
                </a:solidFill>
              </a:rPr>
              <a:t>Total Rewards erhöhte den Anteil an einem Spielbudget, der bei 36 % lag.</a:t>
            </a:r>
          </a:p>
          <a:p>
            <a:pPr algn="l">
              <a:spcAft>
                <a:spcPts val="700"/>
              </a:spcAft>
            </a:pPr>
            <a:r>
              <a:rPr lang="de-AT" sz="1300" b="1" i="0">
                <a:solidFill>
                  <a:schemeClr val="tx2"/>
                </a:solidFill>
              </a:rPr>
              <a:t>Share of Wallet, Bonusdaten</a:t>
            </a:r>
          </a:p>
          <a:p>
            <a:pPr algn="l">
              <a:spcAft>
                <a:spcPts val="700"/>
              </a:spcAft>
            </a:pPr>
            <a:r>
              <a:rPr lang="de-AT" sz="1050" b="0" i="0">
                <a:solidFill>
                  <a:srgbClr val="595959"/>
                </a:solidFill>
              </a:rPr>
              <a:t>HBS 502011; Loveman (2003) HBR</a:t>
            </a:r>
          </a:p>
        </p:txBody>
      </p:sp>
      <p:sp>
        <p:nvSpPr>
          <p:cNvPr id="18" name="More cases"/>
          <p:cNvSpPr/>
          <p:nvPr/>
        </p:nvSpPr>
        <p:spPr>
          <a:xfrm>
            <a:off x="457200" y="402336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More cases text"/>
          <p:cNvSpPr txBox="1"/>
          <p:nvPr/>
        </p:nvSpPr>
        <p:spPr>
          <a:xfrm>
            <a:off x="640080" y="4023360"/>
            <a:ext cx="7863840" cy="548640"/>
          </a:xfrm>
          <a:prstGeom prst="rect">
            <a:avLst/>
          </a:prstGeom>
          <a:noFill/>
        </p:spPr>
        <p:txBody>
          <a:bodyPr wrap="square" lIns="36576" rIns="36576" tIns="18288" bIns="18288" anchor="ctr">
            <a:spAutoFit/>
          </a:bodyPr>
          <a:lstStyle/>
          <a:p>
            <a:pPr algn="l">
              <a:spcAft>
                <a:spcPts val="0"/>
              </a:spcAft>
            </a:pPr>
            <a:r>
              <a:rPr lang="de-AT" sz="1300" b="1" i="0">
                <a:solidFill>
                  <a:schemeClr val="bg1"/>
                </a:solidFill>
              </a:rPr>
              <a:t>Außerdem: </a:t>
            </a:r>
            <a:r>
              <a:rPr lang="de-AT" sz="1300" b="0" i="0">
                <a:solidFill>
                  <a:schemeClr val="bg1"/>
                </a:solidFill>
              </a:rPr>
              <a:t>Sears (Service-Profit-Chain), Starbucks: Delivering Customer Service, Netflix (Darden, CLV und Bewertung).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Literatur</a:t>
            </a:r>
          </a:p>
        </p:txBody>
      </p:sp>
      <p:sp>
        <p:nvSpPr>
          <p:cNvPr id="4" name="Footer Placeholder 3"/>
          <p:cNvSpPr>
            <a:spLocks noGrp="1"/>
          </p:cNvSpPr>
          <p:nvPr>
            <p:ph type="ftr" idx="11" sz="quarter"/>
          </p:nvPr>
        </p:nvSpPr>
        <p:spPr/>
        <p:txBody>
          <a:bodyPr/>
          <a:p>
            <a:r>
              <a:rPr lang="de-AT"/>
              <a:t>Loyalität, Churn und Share of Wallet</a:t>
            </a:r>
          </a:p>
        </p:txBody>
      </p:sp>
      <p:sp>
        <p:nvSpPr>
          <p:cNvPr id="5" name="Slide Number Placeholder 4"/>
          <p:cNvSpPr>
            <a:spLocks noGrp="1"/>
          </p:cNvSpPr>
          <p:nvPr>
            <p:ph type="sldNum" idx="12" sz="quarter"/>
          </p:nvPr>
        </p:nvSpPr>
        <p:spPr/>
        <p:txBody>
          <a:bodyPr/>
          <a:p>
            <a:r>
              <a:rPr lang="de-AT"/>
              <a:t>SEITE </a:t>
            </a:r>
            <a:fld id="{B6F15528-21DE-4FAA-801E-634DDDAF4B2B}" type="slidenum">
              <a:rPr lang="en-GB"/>
              <a:t>‹#›</a:t>
            </a:fld>
          </a:p>
        </p:txBody>
      </p:sp>
      <p:sp>
        <p:nvSpPr>
          <p:cNvPr id="6" name="References core body"/>
          <p:cNvSpPr/>
          <p:nvPr/>
        </p:nvSpPr>
        <p:spPr>
          <a:xfrm>
            <a:off x="457200" y="1234440"/>
            <a:ext cx="2633472" cy="30632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ferences core band"/>
          <p:cNvSpPr/>
          <p:nvPr/>
        </p:nvSpPr>
        <p:spPr>
          <a:xfrm>
            <a:off x="457200" y="1234440"/>
            <a:ext cx="2633472"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ferences core heading"/>
          <p:cNvSpPr txBox="1"/>
          <p:nvPr/>
        </p:nvSpPr>
        <p:spPr>
          <a:xfrm>
            <a:off x="566928" y="1289304"/>
            <a:ext cx="1947672" cy="365760"/>
          </a:xfrm>
          <a:prstGeom prst="rect">
            <a:avLst/>
          </a:prstGeom>
          <a:noFill/>
        </p:spPr>
        <p:txBody>
          <a:bodyPr wrap="square" lIns="36576" rIns="36576" tIns="18288" bIns="18288" anchor="ctr">
            <a:spAutoFit/>
          </a:bodyPr>
          <a:lstStyle/>
          <a:p>
            <a:pPr algn="l">
              <a:spcAft>
                <a:spcPts val="600"/>
              </a:spcAft>
            </a:pPr>
            <a:r>
              <a:rPr lang="de-AT" sz="1500" b="1" i="0">
                <a:solidFill>
                  <a:schemeClr val="bg1"/>
                </a:solidFill>
                <a:latin typeface="+mj-lt"/>
              </a:rPr>
              <a:t>Kernliteratur</a:t>
            </a:r>
          </a:p>
        </p:txBody>
      </p:sp>
      <p:pic>
        <p:nvPicPr>
          <p:cNvPr id="9" name="Icon LuGraduationCap" descr="LuGraduationCap-white.png"/>
          <p:cNvPicPr>
            <a:picLocks noChangeAspect="1"/>
          </p:cNvPicPr>
          <p:nvPr/>
        </p:nvPicPr>
        <p:blipFill>
          <a:blip r:embed="rId2"/>
          <a:stretch>
            <a:fillRect/>
          </a:stretch>
        </p:blipFill>
        <p:spPr>
          <a:xfrm>
            <a:off x="2660904" y="1298448"/>
            <a:ext cx="329184" cy="329184"/>
          </a:xfrm>
          <a:prstGeom prst="rect">
            <a:avLst/>
          </a:prstGeom>
        </p:spPr>
      </p:pic>
      <p:sp>
        <p:nvSpPr>
          <p:cNvPr id="10" name="References core text"/>
          <p:cNvSpPr txBox="1"/>
          <p:nvPr/>
        </p:nvSpPr>
        <p:spPr>
          <a:xfrm>
            <a:off x="594360" y="1801368"/>
            <a:ext cx="2359152" cy="2404872"/>
          </a:xfrm>
          <a:prstGeom prst="rect">
            <a:avLst/>
          </a:prstGeom>
          <a:noFill/>
        </p:spPr>
        <p:txBody>
          <a:bodyPr wrap="square" lIns="36576" rIns="36576" tIns="18288" bIns="18288" anchor="t">
            <a:spAutoFit/>
          </a:bodyPr>
          <a:lstStyle/>
          <a:p>
            <a:pPr algn="l">
              <a:spcAft>
                <a:spcPts val="700"/>
              </a:spcAft>
            </a:pPr>
            <a:r>
              <a:rPr lang="de-AT" sz="1100" b="1" i="0">
                <a:solidFill>
                  <a:schemeClr val="tx1"/>
                </a:solidFill>
              </a:rPr>
              <a:t>Heskett et al. (1994) </a:t>
            </a:r>
            <a:r>
              <a:rPr lang="de-AT" sz="1100" b="0" i="0">
                <a:solidFill>
                  <a:schemeClr val="tx1"/>
                </a:solidFill>
              </a:rPr>
              <a:t>Putting the service-profit chain to work, HBR</a:t>
            </a:r>
          </a:p>
          <a:p>
            <a:pPr algn="l">
              <a:spcAft>
                <a:spcPts val="700"/>
              </a:spcAft>
            </a:pPr>
            <a:r>
              <a:rPr lang="de-AT" sz="1100" b="1" i="0">
                <a:solidFill>
                  <a:schemeClr val="tx1"/>
                </a:solidFill>
              </a:rPr>
              <a:t>Gupta &amp; Zeithaml (2006) </a:t>
            </a:r>
            <a:r>
              <a:rPr lang="de-AT" sz="1100" b="0" i="0">
                <a:solidFill>
                  <a:schemeClr val="tx1"/>
                </a:solidFill>
              </a:rPr>
              <a:t>Customer metrics, Marketing Science</a:t>
            </a:r>
          </a:p>
          <a:p>
            <a:pPr algn="l">
              <a:spcAft>
                <a:spcPts val="700"/>
              </a:spcAft>
            </a:pPr>
            <a:r>
              <a:rPr lang="de-AT" sz="1100" b="1" i="0">
                <a:solidFill>
                  <a:schemeClr val="tx1"/>
                </a:solidFill>
              </a:rPr>
              <a:t>Hogreve et al. (2017) </a:t>
            </a:r>
            <a:r>
              <a:rPr lang="de-AT" sz="1100" b="0" i="0">
                <a:solidFill>
                  <a:schemeClr val="tx1"/>
                </a:solidFill>
              </a:rPr>
              <a:t>SPC-Metaanalyse, JM</a:t>
            </a:r>
          </a:p>
          <a:p>
            <a:pPr algn="l">
              <a:spcAft>
                <a:spcPts val="700"/>
              </a:spcAft>
            </a:pPr>
            <a:r>
              <a:rPr lang="de-AT" sz="1100" b="1" i="0">
                <a:solidFill>
                  <a:schemeClr val="tx1"/>
                </a:solidFill>
              </a:rPr>
              <a:t>Gupta et al. (2004) </a:t>
            </a:r>
            <a:r>
              <a:rPr lang="de-AT" sz="1100" b="0" i="0">
                <a:solidFill>
                  <a:schemeClr val="tx1"/>
                </a:solidFill>
              </a:rPr>
              <a:t>Valuing customers, JMR</a:t>
            </a:r>
          </a:p>
          <a:p>
            <a:pPr algn="l">
              <a:spcAft>
                <a:spcPts val="700"/>
              </a:spcAft>
            </a:pPr>
            <a:r>
              <a:rPr lang="de-AT" sz="1100" b="1" i="0">
                <a:solidFill>
                  <a:schemeClr val="tx1"/>
                </a:solidFill>
              </a:rPr>
              <a:t>Keiningham et al. (2015) </a:t>
            </a:r>
            <a:r>
              <a:rPr lang="de-AT" sz="1100" b="0" i="0">
                <a:solidFill>
                  <a:schemeClr val="tx1"/>
                </a:solidFill>
              </a:rPr>
              <a:t>Perceptions are relative, JOSM</a:t>
            </a:r>
          </a:p>
        </p:txBody>
      </p:sp>
      <p:sp>
        <p:nvSpPr>
          <p:cNvPr id="11" name="References frameworks body"/>
          <p:cNvSpPr/>
          <p:nvPr/>
        </p:nvSpPr>
        <p:spPr>
          <a:xfrm>
            <a:off x="3255264" y="1234440"/>
            <a:ext cx="2633472" cy="30632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ferences frameworks band"/>
          <p:cNvSpPr/>
          <p:nvPr/>
        </p:nvSpPr>
        <p:spPr>
          <a:xfrm>
            <a:off x="3255264" y="1234440"/>
            <a:ext cx="2633472"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ferences frameworks heading"/>
          <p:cNvSpPr txBox="1"/>
          <p:nvPr/>
        </p:nvSpPr>
        <p:spPr>
          <a:xfrm>
            <a:off x="3364992" y="1289304"/>
            <a:ext cx="1947672" cy="365760"/>
          </a:xfrm>
          <a:prstGeom prst="rect">
            <a:avLst/>
          </a:prstGeom>
          <a:noFill/>
        </p:spPr>
        <p:txBody>
          <a:bodyPr wrap="square" lIns="36576" rIns="36576" tIns="18288" bIns="18288" anchor="ctr">
            <a:spAutoFit/>
          </a:bodyPr>
          <a:lstStyle/>
          <a:p>
            <a:pPr algn="l">
              <a:spcAft>
                <a:spcPts val="600"/>
              </a:spcAft>
            </a:pPr>
            <a:r>
              <a:rPr lang="de-AT" sz="1500" b="1" i="0">
                <a:solidFill>
                  <a:schemeClr val="bg1"/>
                </a:solidFill>
                <a:latin typeface="+mj-lt"/>
              </a:rPr>
              <a:t>Ansätze</a:t>
            </a:r>
          </a:p>
        </p:txBody>
      </p:sp>
      <p:pic>
        <p:nvPicPr>
          <p:cNvPr id="14" name="Icon LuLibrary" descr="LuLibrary-white.png"/>
          <p:cNvPicPr>
            <a:picLocks noChangeAspect="1"/>
          </p:cNvPicPr>
          <p:nvPr/>
        </p:nvPicPr>
        <p:blipFill>
          <a:blip r:embed="rId3"/>
          <a:stretch>
            <a:fillRect/>
          </a:stretch>
        </p:blipFill>
        <p:spPr>
          <a:xfrm>
            <a:off x="5458968" y="1298448"/>
            <a:ext cx="329184" cy="329184"/>
          </a:xfrm>
          <a:prstGeom prst="rect">
            <a:avLst/>
          </a:prstGeom>
        </p:spPr>
      </p:pic>
      <p:sp>
        <p:nvSpPr>
          <p:cNvPr id="15" name="References frameworks text"/>
          <p:cNvSpPr txBox="1"/>
          <p:nvPr/>
        </p:nvSpPr>
        <p:spPr>
          <a:xfrm>
            <a:off x="3392424" y="1801368"/>
            <a:ext cx="2359152" cy="2404872"/>
          </a:xfrm>
          <a:prstGeom prst="rect">
            <a:avLst/>
          </a:prstGeom>
          <a:noFill/>
        </p:spPr>
        <p:txBody>
          <a:bodyPr wrap="square" lIns="36576" rIns="36576" tIns="18288" bIns="18288" anchor="t">
            <a:spAutoFit/>
          </a:bodyPr>
          <a:lstStyle/>
          <a:p>
            <a:pPr algn="l">
              <a:spcAft>
                <a:spcPts val="700"/>
              </a:spcAft>
            </a:pPr>
            <a:r>
              <a:rPr lang="de-AT" sz="1100" b="1" i="0">
                <a:solidFill>
                  <a:schemeClr val="tx1"/>
                </a:solidFill>
              </a:rPr>
              <a:t>Srivastava et al. (1998) </a:t>
            </a:r>
            <a:r>
              <a:rPr lang="de-AT" sz="1100" b="0" i="0">
                <a:solidFill>
                  <a:schemeClr val="tx1"/>
                </a:solidFill>
              </a:rPr>
              <a:t>Market-based assets, JM</a:t>
            </a:r>
          </a:p>
          <a:p>
            <a:pPr algn="l">
              <a:spcAft>
                <a:spcPts val="700"/>
              </a:spcAft>
            </a:pPr>
            <a:r>
              <a:rPr lang="de-AT" sz="1100" b="1" i="0">
                <a:solidFill>
                  <a:schemeClr val="tx1"/>
                </a:solidFill>
              </a:rPr>
              <a:t>Rust et al. (2004) </a:t>
            </a:r>
            <a:r>
              <a:rPr lang="de-AT" sz="1100" b="0" i="0">
                <a:solidFill>
                  <a:schemeClr val="tx1"/>
                </a:solidFill>
              </a:rPr>
              <a:t>Return on marketing, JM</a:t>
            </a:r>
          </a:p>
          <a:p>
            <a:pPr algn="l">
              <a:spcAft>
                <a:spcPts val="700"/>
              </a:spcAft>
            </a:pPr>
            <a:r>
              <a:rPr lang="de-AT" sz="1100" b="1" i="0">
                <a:solidFill>
                  <a:schemeClr val="tx1"/>
                </a:solidFill>
              </a:rPr>
              <a:t>Reinartz &amp; Kumar (2002) </a:t>
            </a:r>
            <a:r>
              <a:rPr lang="de-AT" sz="1100" b="0" i="0">
                <a:solidFill>
                  <a:schemeClr val="tx1"/>
                </a:solidFill>
              </a:rPr>
              <a:t>Mismanagement of loyalty, HBR</a:t>
            </a:r>
          </a:p>
          <a:p>
            <a:pPr algn="l">
              <a:spcAft>
                <a:spcPts val="700"/>
              </a:spcAft>
            </a:pPr>
            <a:r>
              <a:rPr lang="de-AT" sz="1100" b="1" i="0">
                <a:solidFill>
                  <a:schemeClr val="tx1"/>
                </a:solidFill>
              </a:rPr>
              <a:t>Otto et al. (2020) </a:t>
            </a:r>
            <a:r>
              <a:rPr lang="de-AT" sz="1100" b="0" i="0">
                <a:solidFill>
                  <a:schemeClr val="tx1"/>
                </a:solidFill>
              </a:rPr>
              <a:t>Zufriedenheits-Metaanalyse, JAMS</a:t>
            </a:r>
          </a:p>
          <a:p>
            <a:pPr algn="l">
              <a:spcAft>
                <a:spcPts val="700"/>
              </a:spcAft>
            </a:pPr>
            <a:r>
              <a:rPr lang="de-AT" sz="1100" b="1" i="0">
                <a:solidFill>
                  <a:schemeClr val="tx1"/>
                </a:solidFill>
              </a:rPr>
              <a:t>Bruhn &amp; Homburg (2017) </a:t>
            </a:r>
            <a:r>
              <a:rPr lang="de-AT" sz="1100" b="0" i="0">
                <a:solidFill>
                  <a:schemeClr val="tx1"/>
                </a:solidFill>
              </a:rPr>
              <a:t>Handbuch Kundenbindungsmanagement</a:t>
            </a:r>
          </a:p>
        </p:txBody>
      </p:sp>
      <p:sp>
        <p:nvSpPr>
          <p:cNvPr id="16" name="References methods body"/>
          <p:cNvSpPr/>
          <p:nvPr/>
        </p:nvSpPr>
        <p:spPr>
          <a:xfrm>
            <a:off x="6053328" y="1234440"/>
            <a:ext cx="2633472" cy="30632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ferences methods band"/>
          <p:cNvSpPr/>
          <p:nvPr/>
        </p:nvSpPr>
        <p:spPr>
          <a:xfrm>
            <a:off x="6053328" y="1234440"/>
            <a:ext cx="2633472"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ferences methods heading"/>
          <p:cNvSpPr txBox="1"/>
          <p:nvPr/>
        </p:nvSpPr>
        <p:spPr>
          <a:xfrm>
            <a:off x="6163056" y="1289304"/>
            <a:ext cx="1947672" cy="365760"/>
          </a:xfrm>
          <a:prstGeom prst="rect">
            <a:avLst/>
          </a:prstGeom>
          <a:noFill/>
        </p:spPr>
        <p:txBody>
          <a:bodyPr wrap="square" lIns="36576" rIns="36576" tIns="18288" bIns="18288" anchor="ctr">
            <a:spAutoFit/>
          </a:bodyPr>
          <a:lstStyle/>
          <a:p>
            <a:pPr algn="l">
              <a:spcAft>
                <a:spcPts val="600"/>
              </a:spcAft>
            </a:pPr>
            <a:r>
              <a:rPr lang="de-AT" sz="1500" b="1" i="0">
                <a:solidFill>
                  <a:schemeClr val="bg1"/>
                </a:solidFill>
                <a:latin typeface="+mj-lt"/>
              </a:rPr>
              <a:t>Churn, Methoden</a:t>
            </a:r>
          </a:p>
        </p:txBody>
      </p:sp>
      <p:pic>
        <p:nvPicPr>
          <p:cNvPr id="19" name="Icon LuChartColumn" descr="LuChartColumn-white.png"/>
          <p:cNvPicPr>
            <a:picLocks noChangeAspect="1"/>
          </p:cNvPicPr>
          <p:nvPr/>
        </p:nvPicPr>
        <p:blipFill>
          <a:blip r:embed="rId4"/>
          <a:stretch>
            <a:fillRect/>
          </a:stretch>
        </p:blipFill>
        <p:spPr>
          <a:xfrm>
            <a:off x="8257032" y="1298448"/>
            <a:ext cx="329184" cy="329184"/>
          </a:xfrm>
          <a:prstGeom prst="rect">
            <a:avLst/>
          </a:prstGeom>
        </p:spPr>
      </p:pic>
      <p:sp>
        <p:nvSpPr>
          <p:cNvPr id="20" name="References methods text"/>
          <p:cNvSpPr txBox="1"/>
          <p:nvPr/>
        </p:nvSpPr>
        <p:spPr>
          <a:xfrm>
            <a:off x="6190488" y="1801368"/>
            <a:ext cx="2359152" cy="2404872"/>
          </a:xfrm>
          <a:prstGeom prst="rect">
            <a:avLst/>
          </a:prstGeom>
          <a:noFill/>
        </p:spPr>
        <p:txBody>
          <a:bodyPr wrap="square" lIns="36576" rIns="36576" tIns="18288" bIns="18288" anchor="t">
            <a:spAutoFit/>
          </a:bodyPr>
          <a:lstStyle/>
          <a:p>
            <a:pPr algn="l">
              <a:spcAft>
                <a:spcPts val="700"/>
              </a:spcAft>
            </a:pPr>
            <a:r>
              <a:rPr lang="de-AT" sz="1100" b="1" i="0">
                <a:solidFill>
                  <a:schemeClr val="tx1"/>
                </a:solidFill>
              </a:rPr>
              <a:t>Ascarza (2018) </a:t>
            </a:r>
            <a:r>
              <a:rPr lang="de-AT" sz="1100" b="0" i="0">
                <a:solidFill>
                  <a:schemeClr val="tx1"/>
                </a:solidFill>
              </a:rPr>
              <a:t>Retention futility, JMR</a:t>
            </a:r>
          </a:p>
          <a:p>
            <a:pPr algn="l">
              <a:spcAft>
                <a:spcPts val="700"/>
              </a:spcAft>
            </a:pPr>
            <a:r>
              <a:rPr lang="de-AT" sz="1100" b="1" i="0">
                <a:solidFill>
                  <a:schemeClr val="tx1"/>
                </a:solidFill>
              </a:rPr>
              <a:t>Neslin et al. (2006) </a:t>
            </a:r>
            <a:r>
              <a:rPr lang="de-AT" sz="1100" b="0" i="0">
                <a:solidFill>
                  <a:schemeClr val="tx1"/>
                </a:solidFill>
              </a:rPr>
              <a:t>Defection detection, JMR</a:t>
            </a:r>
          </a:p>
          <a:p>
            <a:pPr algn="l">
              <a:spcAft>
                <a:spcPts val="700"/>
              </a:spcAft>
            </a:pPr>
            <a:r>
              <a:rPr lang="de-AT" sz="1100" b="1" i="0">
                <a:solidFill>
                  <a:schemeClr val="tx1"/>
                </a:solidFill>
              </a:rPr>
              <a:t>Fader et al. (2005) </a:t>
            </a:r>
            <a:r>
              <a:rPr lang="de-AT" sz="1100" b="0" i="0">
                <a:solidFill>
                  <a:schemeClr val="tx1"/>
                </a:solidFill>
              </a:rPr>
              <a:t>BG/NBD, Marketing Science</a:t>
            </a:r>
          </a:p>
          <a:p>
            <a:pPr algn="l">
              <a:spcAft>
                <a:spcPts val="700"/>
              </a:spcAft>
            </a:pPr>
            <a:r>
              <a:rPr lang="de-AT" sz="1100" b="1" i="0">
                <a:solidFill>
                  <a:schemeClr val="tx1"/>
                </a:solidFill>
              </a:rPr>
              <a:t>McCarthy et al. (2017) </a:t>
            </a:r>
            <a:r>
              <a:rPr lang="de-AT" sz="1100" b="0" i="0">
                <a:solidFill>
                  <a:schemeClr val="tx1"/>
                </a:solidFill>
              </a:rPr>
              <a:t>Valuing subscription firms, JM</a:t>
            </a:r>
          </a:p>
          <a:p>
            <a:pPr algn="l">
              <a:spcAft>
                <a:spcPts val="700"/>
              </a:spcAft>
            </a:pPr>
            <a:r>
              <a:rPr lang="de-AT" sz="1100" b="1" i="0">
                <a:solidFill>
                  <a:schemeClr val="tx1"/>
                </a:solidFill>
              </a:rPr>
              <a:t>Platzer &amp; Reutterer (2016) </a:t>
            </a:r>
            <a:r>
              <a:rPr lang="de-AT" sz="1100" b="0" i="0">
                <a:solidFill>
                  <a:schemeClr val="tx1"/>
                </a:solidFill>
              </a:rPr>
              <a:t>Pareto/GGG, Marketing Science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Kernaussagen</a:t>
            </a:r>
          </a:p>
        </p:txBody>
      </p:sp>
      <p:sp>
        <p:nvSpPr>
          <p:cNvPr id="4" name="Footer Placeholder 3"/>
          <p:cNvSpPr>
            <a:spLocks noGrp="1"/>
          </p:cNvSpPr>
          <p:nvPr>
            <p:ph type="ftr" idx="11" sz="quarter"/>
          </p:nvPr>
        </p:nvSpPr>
        <p:spPr/>
        <p:txBody>
          <a:bodyPr/>
          <a:p>
            <a:r>
              <a:rPr lang="de-AT"/>
              <a:t>Loyalität, Churn und Share of Wallet</a:t>
            </a:r>
          </a:p>
        </p:txBody>
      </p:sp>
      <p:sp>
        <p:nvSpPr>
          <p:cNvPr id="5" name="Slide Number Placeholder 4"/>
          <p:cNvSpPr>
            <a:spLocks noGrp="1"/>
          </p:cNvSpPr>
          <p:nvPr>
            <p:ph type="sldNum" idx="12" sz="quarter"/>
          </p:nvPr>
        </p:nvSpPr>
        <p:spPr/>
        <p:txBody>
          <a:bodyPr/>
          <a:p>
            <a:r>
              <a:rPr lang="de-AT"/>
              <a:t>SEITE </a:t>
            </a:r>
            <a:fld id="{B6F15528-21DE-4FAA-801E-634DDDAF4B2B}" type="slidenum">
              <a:rPr lang="en-GB"/>
              <a:t>‹#›</a:t>
            </a:fld>
          </a:p>
        </p:txBody>
      </p:sp>
      <p:sp>
        <p:nvSpPr>
          <p:cNvPr id="6" name="Takeaway row 1"/>
          <p:cNvSpPr/>
          <p:nvPr/>
        </p:nvSpPr>
        <p:spPr>
          <a:xfrm>
            <a:off x="457200" y="123444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akeaway number 1"/>
          <p:cNvSpPr/>
          <p:nvPr/>
        </p:nvSpPr>
        <p:spPr>
          <a:xfrm>
            <a:off x="566928" y="1289304"/>
            <a:ext cx="347472" cy="34747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de-AT" sz="1300" b="1">
                <a:solidFill>
                  <a:schemeClr val="bg1"/>
                </a:solidFill>
                <a:latin typeface="+mj-lt"/>
              </a:rPr>
              <a:t>1</a:t>
            </a:r>
          </a:p>
        </p:txBody>
      </p:sp>
      <p:sp>
        <p:nvSpPr>
          <p:cNvPr id="8" name="Takeaway text 1"/>
          <p:cNvSpPr txBox="1"/>
          <p:nvPr/>
        </p:nvSpPr>
        <p:spPr>
          <a:xfrm>
            <a:off x="1097280" y="1234440"/>
            <a:ext cx="7452360" cy="457200"/>
          </a:xfrm>
          <a:prstGeom prst="rect">
            <a:avLst/>
          </a:prstGeom>
          <a:noFill/>
        </p:spPr>
        <p:txBody>
          <a:bodyPr wrap="square" lIns="36576" rIns="36576" tIns="18288" bIns="18288" anchor="ctr">
            <a:spAutoFit/>
          </a:bodyPr>
          <a:lstStyle/>
          <a:p>
            <a:pPr algn="l">
              <a:spcAft>
                <a:spcPts val="0"/>
              </a:spcAft>
            </a:pPr>
            <a:r>
              <a:rPr lang="de-AT" sz="1300" b="1" i="0">
                <a:solidFill>
                  <a:schemeClr val="tx2"/>
                </a:solidFill>
              </a:rPr>
              <a:t>Kennzahlen: </a:t>
            </a:r>
            <a:r>
              <a:rPr lang="de-AT" sz="1300" b="0" i="0">
                <a:solidFill>
                  <a:schemeClr val="tx1"/>
                </a:solidFill>
              </a:rPr>
              <a:t>Kundenbindung, Abwanderung und Share of Wallet getrennt messen.</a:t>
            </a:r>
          </a:p>
        </p:txBody>
      </p:sp>
      <p:sp>
        <p:nvSpPr>
          <p:cNvPr id="9" name="Takeaway row 2"/>
          <p:cNvSpPr/>
          <p:nvPr/>
        </p:nvSpPr>
        <p:spPr>
          <a:xfrm>
            <a:off x="457200" y="1764792"/>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akeaway number 2"/>
          <p:cNvSpPr/>
          <p:nvPr/>
        </p:nvSpPr>
        <p:spPr>
          <a:xfrm>
            <a:off x="566928" y="1819656"/>
            <a:ext cx="347472" cy="34747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de-AT" sz="1300" b="1">
                <a:solidFill>
                  <a:schemeClr val="bg1"/>
                </a:solidFill>
                <a:latin typeface="+mj-lt"/>
              </a:rPr>
              <a:t>2</a:t>
            </a:r>
          </a:p>
        </p:txBody>
      </p:sp>
      <p:sp>
        <p:nvSpPr>
          <p:cNvPr id="11" name="Takeaway text 2"/>
          <p:cNvSpPr txBox="1"/>
          <p:nvPr/>
        </p:nvSpPr>
        <p:spPr>
          <a:xfrm>
            <a:off x="1097280" y="1764792"/>
            <a:ext cx="7452360" cy="457200"/>
          </a:xfrm>
          <a:prstGeom prst="rect">
            <a:avLst/>
          </a:prstGeom>
          <a:noFill/>
        </p:spPr>
        <p:txBody>
          <a:bodyPr wrap="square" lIns="36576" rIns="36576" tIns="18288" bIns="18288" anchor="ctr">
            <a:spAutoFit/>
          </a:bodyPr>
          <a:lstStyle/>
          <a:p>
            <a:pPr algn="l">
              <a:spcAft>
                <a:spcPts val="0"/>
              </a:spcAft>
            </a:pPr>
            <a:r>
              <a:rPr lang="de-AT" sz="1300" b="1" i="0">
                <a:solidFill>
                  <a:schemeClr val="tx2"/>
                </a:solidFill>
              </a:rPr>
              <a:t>Service-Profit-Chain: </a:t>
            </a:r>
            <a:r>
              <a:rPr lang="de-AT" sz="1300" b="0" i="0">
                <a:solidFill>
                  <a:schemeClr val="tx1"/>
                </a:solidFill>
              </a:rPr>
              <a:t>jedes Glied hält im Schnitt, die Stärke hängt vom Setting ab.</a:t>
            </a:r>
          </a:p>
        </p:txBody>
      </p:sp>
      <p:sp>
        <p:nvSpPr>
          <p:cNvPr id="12" name="Takeaway row 3"/>
          <p:cNvSpPr/>
          <p:nvPr/>
        </p:nvSpPr>
        <p:spPr>
          <a:xfrm>
            <a:off x="457200" y="2295144"/>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akeaway number 3"/>
          <p:cNvSpPr/>
          <p:nvPr/>
        </p:nvSpPr>
        <p:spPr>
          <a:xfrm>
            <a:off x="566928" y="2350008"/>
            <a:ext cx="347472" cy="34747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de-AT" sz="1300" b="1">
                <a:solidFill>
                  <a:schemeClr val="bg1"/>
                </a:solidFill>
                <a:latin typeface="+mj-lt"/>
              </a:rPr>
              <a:t>3</a:t>
            </a:r>
          </a:p>
        </p:txBody>
      </p:sp>
      <p:sp>
        <p:nvSpPr>
          <p:cNvPr id="14" name="Takeaway text 3"/>
          <p:cNvSpPr txBox="1"/>
          <p:nvPr/>
        </p:nvSpPr>
        <p:spPr>
          <a:xfrm>
            <a:off x="1097280" y="2295144"/>
            <a:ext cx="7452360" cy="457200"/>
          </a:xfrm>
          <a:prstGeom prst="rect">
            <a:avLst/>
          </a:prstGeom>
          <a:noFill/>
        </p:spPr>
        <p:txBody>
          <a:bodyPr wrap="square" lIns="36576" rIns="36576" tIns="18288" bIns="18288" anchor="ctr">
            <a:spAutoFit/>
          </a:bodyPr>
          <a:lstStyle/>
          <a:p>
            <a:pPr algn="l">
              <a:spcAft>
                <a:spcPts val="0"/>
              </a:spcAft>
            </a:pPr>
            <a:r>
              <a:rPr lang="de-AT" sz="1300" b="1" i="0">
                <a:solidFill>
                  <a:schemeClr val="tx2"/>
                </a:solidFill>
              </a:rPr>
              <a:t>Zufriedenheit: </a:t>
            </a:r>
            <a:r>
              <a:rPr lang="de-AT" sz="1300" b="0" i="0">
                <a:solidFill>
                  <a:schemeClr val="tx1"/>
                </a:solidFill>
              </a:rPr>
              <a:t>hängt mit dem Erfolg zusammen, mäßig und nicht linear.</a:t>
            </a:r>
          </a:p>
        </p:txBody>
      </p:sp>
      <p:sp>
        <p:nvSpPr>
          <p:cNvPr id="15" name="Takeaway row 4"/>
          <p:cNvSpPr/>
          <p:nvPr/>
        </p:nvSpPr>
        <p:spPr>
          <a:xfrm>
            <a:off x="457200" y="2825496"/>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akeaway number 4"/>
          <p:cNvSpPr/>
          <p:nvPr/>
        </p:nvSpPr>
        <p:spPr>
          <a:xfrm>
            <a:off x="566928" y="2880360"/>
            <a:ext cx="347472" cy="34747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de-AT" sz="1300" b="1">
                <a:solidFill>
                  <a:schemeClr val="bg1"/>
                </a:solidFill>
                <a:latin typeface="+mj-lt"/>
              </a:rPr>
              <a:t>4</a:t>
            </a:r>
          </a:p>
        </p:txBody>
      </p:sp>
      <p:sp>
        <p:nvSpPr>
          <p:cNvPr id="17" name="Takeaway text 4"/>
          <p:cNvSpPr txBox="1"/>
          <p:nvPr/>
        </p:nvSpPr>
        <p:spPr>
          <a:xfrm>
            <a:off x="1097280" y="2825496"/>
            <a:ext cx="7452360" cy="457200"/>
          </a:xfrm>
          <a:prstGeom prst="rect">
            <a:avLst/>
          </a:prstGeom>
          <a:noFill/>
        </p:spPr>
        <p:txBody>
          <a:bodyPr wrap="square" lIns="36576" rIns="36576" tIns="18288" bIns="18288" anchor="ctr">
            <a:spAutoFit/>
          </a:bodyPr>
          <a:lstStyle/>
          <a:p>
            <a:pPr algn="l">
              <a:spcAft>
                <a:spcPts val="0"/>
              </a:spcAft>
            </a:pPr>
            <a:r>
              <a:rPr lang="de-AT" sz="1300" b="1" i="0">
                <a:solidFill>
                  <a:schemeClr val="tx2"/>
                </a:solidFill>
              </a:rPr>
              <a:t>Bindung: </a:t>
            </a:r>
            <a:r>
              <a:rPr lang="de-AT" sz="1300" b="0" i="0">
                <a:solidFill>
                  <a:schemeClr val="tx1"/>
                </a:solidFill>
              </a:rPr>
              <a:t>ist der stärkste Hebel der Customer Equity und zeigt sich im Firmenwert.</a:t>
            </a:r>
          </a:p>
        </p:txBody>
      </p:sp>
      <p:sp>
        <p:nvSpPr>
          <p:cNvPr id="18" name="Takeaway row 5"/>
          <p:cNvSpPr/>
          <p:nvPr/>
        </p:nvSpPr>
        <p:spPr>
          <a:xfrm>
            <a:off x="457200" y="3355848"/>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akeaway number 5"/>
          <p:cNvSpPr/>
          <p:nvPr/>
        </p:nvSpPr>
        <p:spPr>
          <a:xfrm>
            <a:off x="566928" y="3410712"/>
            <a:ext cx="347472" cy="34747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de-AT" sz="1300" b="1">
                <a:solidFill>
                  <a:schemeClr val="bg1"/>
                </a:solidFill>
                <a:latin typeface="+mj-lt"/>
              </a:rPr>
              <a:t>5</a:t>
            </a:r>
          </a:p>
        </p:txBody>
      </p:sp>
      <p:sp>
        <p:nvSpPr>
          <p:cNvPr id="20" name="Takeaway text 5"/>
          <p:cNvSpPr txBox="1"/>
          <p:nvPr/>
        </p:nvSpPr>
        <p:spPr>
          <a:xfrm>
            <a:off x="1097280" y="3355848"/>
            <a:ext cx="7452360" cy="457200"/>
          </a:xfrm>
          <a:prstGeom prst="rect">
            <a:avLst/>
          </a:prstGeom>
          <a:noFill/>
        </p:spPr>
        <p:txBody>
          <a:bodyPr wrap="square" lIns="36576" rIns="36576" tIns="18288" bIns="18288" anchor="ctr">
            <a:spAutoFit/>
          </a:bodyPr>
          <a:lstStyle/>
          <a:p>
            <a:pPr algn="l">
              <a:spcAft>
                <a:spcPts val="0"/>
              </a:spcAft>
            </a:pPr>
            <a:r>
              <a:rPr lang="de-AT" sz="1300" b="1" i="0">
                <a:solidFill>
                  <a:schemeClr val="tx2"/>
                </a:solidFill>
              </a:rPr>
              <a:t>Share of Wallet: </a:t>
            </a:r>
            <a:r>
              <a:rPr lang="de-AT" sz="1300" b="0" i="0">
                <a:solidFill>
                  <a:schemeClr val="tx1"/>
                </a:solidFill>
              </a:rPr>
              <a:t>folgt dem Rang, nicht dem Zufriedenheitswert.</a:t>
            </a:r>
          </a:p>
        </p:txBody>
      </p:sp>
      <p:sp>
        <p:nvSpPr>
          <p:cNvPr id="21" name="Takeaway row 6"/>
          <p:cNvSpPr/>
          <p:nvPr/>
        </p:nvSpPr>
        <p:spPr>
          <a:xfrm>
            <a:off x="457200" y="388620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akeaway number 6"/>
          <p:cNvSpPr/>
          <p:nvPr/>
        </p:nvSpPr>
        <p:spPr>
          <a:xfrm>
            <a:off x="566928" y="3941063"/>
            <a:ext cx="347472" cy="34747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de-AT" sz="1300" b="1">
                <a:solidFill>
                  <a:schemeClr val="bg1"/>
                </a:solidFill>
                <a:latin typeface="+mj-lt"/>
              </a:rPr>
              <a:t>6</a:t>
            </a:r>
          </a:p>
        </p:txBody>
      </p:sp>
      <p:sp>
        <p:nvSpPr>
          <p:cNvPr id="23" name="Takeaway text 6"/>
          <p:cNvSpPr txBox="1"/>
          <p:nvPr/>
        </p:nvSpPr>
        <p:spPr>
          <a:xfrm>
            <a:off x="1097280" y="3886200"/>
            <a:ext cx="7452360" cy="457200"/>
          </a:xfrm>
          <a:prstGeom prst="rect">
            <a:avLst/>
          </a:prstGeom>
          <a:noFill/>
        </p:spPr>
        <p:txBody>
          <a:bodyPr wrap="square" lIns="36576" rIns="36576" tIns="18288" bIns="18288" anchor="ctr">
            <a:spAutoFit/>
          </a:bodyPr>
          <a:lstStyle/>
          <a:p>
            <a:pPr algn="l">
              <a:spcAft>
                <a:spcPts val="0"/>
              </a:spcAft>
            </a:pPr>
            <a:r>
              <a:rPr lang="de-AT" sz="1300" b="1" i="0">
                <a:solidFill>
                  <a:schemeClr val="tx2"/>
                </a:solidFill>
              </a:rPr>
              <a:t>Grenzen: </a:t>
            </a:r>
            <a:r>
              <a:rPr lang="de-AT" sz="1300" b="0" i="0">
                <a:solidFill>
                  <a:schemeClr val="tx1"/>
                </a:solidFill>
              </a:rPr>
              <a:t>Loyalität ist nicht Gewinn; Halteangebote nach Uplift und CLV steuern.</a:t>
            </a:r>
          </a:p>
        </p:txBody>
      </p:sp>
      <p:sp>
        <p:nvSpPr>
          <p:cNvPr id="24" name="Next"/>
          <p:cNvSpPr/>
          <p:nvPr/>
        </p:nvSpPr>
        <p:spPr>
          <a:xfrm>
            <a:off x="457200" y="4526280"/>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ext text"/>
          <p:cNvSpPr txBox="1"/>
          <p:nvPr/>
        </p:nvSpPr>
        <p:spPr>
          <a:xfrm>
            <a:off x="640080" y="4526280"/>
            <a:ext cx="7863840" cy="457200"/>
          </a:xfrm>
          <a:prstGeom prst="rect">
            <a:avLst/>
          </a:prstGeom>
          <a:noFill/>
        </p:spPr>
        <p:txBody>
          <a:bodyPr wrap="square" lIns="36576" rIns="36576" tIns="18288" bIns="18288" anchor="ctr">
            <a:spAutoFit/>
          </a:bodyPr>
          <a:lstStyle/>
          <a:p>
            <a:pPr algn="l">
              <a:spcAft>
                <a:spcPts val="0"/>
              </a:spcAft>
            </a:pPr>
            <a:r>
              <a:rPr lang="de-AT" sz="1300" b="1" i="0">
                <a:solidFill>
                  <a:schemeClr val="bg1"/>
                </a:solidFill>
              </a:rPr>
              <a:t>Nächstes Mal: </a:t>
            </a:r>
            <a:r>
              <a:rPr lang="de-AT" sz="1300" b="0" i="0">
                <a:solidFill>
                  <a:schemeClr val="bg1"/>
                </a:solidFill>
              </a:rPr>
              <a:t>das Churn- und CLV-Lab. Bitte Laptop mit R oder Python mitbringen.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ooter Placeholder 1"/>
          <p:cNvSpPr>
            <a:spLocks noGrp="1"/>
          </p:cNvSpPr>
          <p:nvPr>
            <p:ph type="ftr" idx="12" sz="quarter"/>
          </p:nvPr>
        </p:nvSpPr>
        <p:spPr/>
        <p:txBody>
          <a:bodyPr/>
          <a:p>
            <a:r>
              <a:rPr lang="de-AT"/>
              <a:t>Loyalität, Churn und Share of Wallet</a:t>
            </a:r>
          </a:p>
        </p:txBody>
      </p:sp>
      <p:sp>
        <p:nvSpPr>
          <p:cNvPr id="3" name="Slide Number Placeholder 2"/>
          <p:cNvSpPr>
            <a:spLocks noGrp="1"/>
          </p:cNvSpPr>
          <p:nvPr>
            <p:ph type="sldNum" idx="13" sz="quarter"/>
          </p:nvPr>
        </p:nvSpPr>
        <p:spPr/>
        <p:txBody>
          <a:bodyPr/>
          <a:p>
            <a:r>
              <a:rPr lang="de-AT"/>
              <a:t>SEITE </a:t>
            </a:r>
            <a:fld id="{B6F15528-21DE-4FAA-801E-634DDDAF4B2B}" type="slidenum">
              <a:rPr lang="en-GB"/>
              <a:t>‹#›</a:t>
            </a:fld>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ELECTEDLANGUAGE" val="English UK"/>
</p:tagLst>
</file>

<file path=ppt/theme/theme1.xml><?xml version="1.0" encoding="utf-8"?>
<a:theme xmlns:a="http://schemas.openxmlformats.org/drawingml/2006/main" name="WU 16:10">
  <a:themeElements>
    <a:clrScheme name="WU">
      <a:dk1>
        <a:srgbClr val="000000"/>
      </a:dk1>
      <a:lt1>
        <a:srgbClr val="FFFFFF"/>
      </a:lt1>
      <a:dk2>
        <a:srgbClr val="002350"/>
      </a:dk2>
      <a:lt2>
        <a:srgbClr val="E5F5FA"/>
      </a:lt2>
      <a:accent1>
        <a:srgbClr val="0096D3"/>
      </a:accent1>
      <a:accent2>
        <a:srgbClr val="002350"/>
      </a:accent2>
      <a:accent3>
        <a:srgbClr val="4B2582"/>
      </a:accent3>
      <a:accent4>
        <a:srgbClr val="457AA0"/>
      </a:accent4>
      <a:accent5>
        <a:srgbClr val="A592C0"/>
      </a:accent5>
      <a:accent6>
        <a:srgbClr val="80CFE9"/>
      </a:accent6>
      <a:hlink>
        <a:srgbClr val="405A7C"/>
      </a:hlink>
      <a:folHlink>
        <a:srgbClr val="0082AA"/>
      </a:folHlink>
    </a:clrScheme>
    <a:fontScheme name="WU neu">
      <a:majorFont>
        <a:latin typeface="Georgi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WU Farbschema neu">
        <a:dk1>
          <a:srgbClr val="000000"/>
        </a:dk1>
        <a:lt1>
          <a:sysClr val="window" lastClr="FFFFFF"/>
        </a:lt1>
        <a:dk2>
          <a:srgbClr val="002E60"/>
        </a:dk2>
        <a:lt2>
          <a:srgbClr val="E5F5FA"/>
        </a:lt2>
        <a:accent1>
          <a:srgbClr val="0096D3"/>
        </a:accent1>
        <a:accent2>
          <a:srgbClr val="002E60"/>
        </a:accent2>
        <a:accent3>
          <a:srgbClr val="532481"/>
        </a:accent3>
        <a:accent4>
          <a:srgbClr val="457AA0"/>
        </a:accent4>
        <a:accent5>
          <a:srgbClr val="A991C0"/>
        </a:accent5>
        <a:accent6>
          <a:srgbClr val="7FCAE9"/>
        </a:accent6>
        <a:hlink>
          <a:srgbClr val="406288"/>
        </a:hlink>
        <a:folHlink>
          <a:srgbClr val="008FA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WU Sample Presentation 16x10 V1.1.potx" id="{74DD536C-D372-4256-BA4D-24C734E7AF81}" vid="{99E22345-25BB-45DF-85CE-FC929AE6991A}"/>
    </a:ext>
  </a:ext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Kategorie xmlns="dde413db-0745-4f3a-8dca-564dc7ff6f7d">Präsentationen</Kategorie>
    <Beschreibung xmlns="dde413db-0745-4f3a-8dca-564dc7ff6f7d">Sample presenation in format 16:10 (= WU standard)</Beschreibung>
    <TaxCatchAll xmlns="08b0a3ee-3d2a-451c-9a1a-7e5d5b0c9c77">
      <Value>266</Value>
      <Value>403</Value>
    </TaxCatchAll>
    <DokumentenartTaxHTField0 xmlns="1a8d9a65-8471-4209-a900-f8e11db75e0a">
      <Terms xmlns="http://schemas.microsoft.com/office/infopath/2007/PartnerControls">
        <TermInfo xmlns="http://schemas.microsoft.com/office/infopath/2007/PartnerControls">
          <TermName xmlns="http://schemas.microsoft.com/office/infopath/2007/PartnerControls">Vorlagen</TermName>
          <TermId xmlns="http://schemas.microsoft.com/office/infopath/2007/PartnerControls">17fc50ed-8ad1-47be-ab12-04243fd74ddb</TermId>
        </TermInfo>
      </Terms>
    </DokumentenartTaxHTField0>
    <WU_x0020_ThemaTaxHTField0 xmlns="1a8d9a65-8471-4209-a900-f8e11db75e0a">
      <Terms xmlns="http://schemas.microsoft.com/office/infopath/2007/PartnerControls">
        <TermInfo xmlns="http://schemas.microsoft.com/office/infopath/2007/PartnerControls">
          <TermName xmlns="http://schemas.microsoft.com/office/infopath/2007/PartnerControls">Corporate Design</TermName>
          <TermId xmlns="http://schemas.microsoft.com/office/infopath/2007/PartnerControls">19895bcd-b158-45ae-ab7b-f5ca217dfcec</TermId>
        </TermInfo>
      </Terms>
    </WU_x0020_ThemaTaxHTField0>
    <Format xmlns="dde413db-0745-4f3a-8dca-564dc7ff6f7d">Microsoft Office 2013/2016</Format>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BCF651A35DF3154DB01328AF51148DAE" ma:contentTypeVersion="1" ma:contentTypeDescription="Ein neues Dokument erstellen." ma:contentTypeScope="" ma:versionID="458c1b80f8d593bdc96b60ff34dd40b4">
  <xsd:schema xmlns:xsd="http://www.w3.org/2001/XMLSchema" xmlns:xs="http://www.w3.org/2001/XMLSchema" xmlns:p="http://schemas.microsoft.com/office/2006/metadata/properties" xmlns:ns2="1a8d9a65-8471-4209-a900-f8e11db75e0a" xmlns:ns3="08b0a3ee-3d2a-451c-9a1a-7e5d5b0c9c77" xmlns:ns4="dde413db-0745-4f3a-8dca-564dc7ff6f7d" targetNamespace="http://schemas.microsoft.com/office/2006/metadata/properties" ma:root="true" ma:fieldsID="2d31116d1a6b5af1b4a8b1ba7152d57a" ns2:_="" ns3:_="" ns4:_="">
    <xsd:import namespace="1a8d9a65-8471-4209-a900-f8e11db75e0a"/>
    <xsd:import namespace="08b0a3ee-3d2a-451c-9a1a-7e5d5b0c9c77"/>
    <xsd:import namespace="dde413db-0745-4f3a-8dca-564dc7ff6f7d"/>
    <xsd:element name="properties">
      <xsd:complexType>
        <xsd:sequence>
          <xsd:element name="documentManagement">
            <xsd:complexType>
              <xsd:all>
                <xsd:element ref="ns2:WU_x0020_ThemaTaxHTField0" minOccurs="0"/>
                <xsd:element ref="ns3:TaxCatchAll" minOccurs="0"/>
                <xsd:element ref="ns2:DokumentenartTaxHTField0" minOccurs="0"/>
                <xsd:element ref="ns4:Beschreibung" minOccurs="0"/>
                <xsd:element ref="ns4:Format" minOccurs="0"/>
                <xsd:element ref="ns4:Kategorie"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8d9a65-8471-4209-a900-f8e11db75e0a" elementFormDefault="qualified">
    <xsd:import namespace="http://schemas.microsoft.com/office/2006/documentManagement/types"/>
    <xsd:import namespace="http://schemas.microsoft.com/office/infopath/2007/PartnerControls"/>
    <xsd:element name="WU_x0020_ThemaTaxHTField0" ma:index="9" nillable="true" ma:taxonomy="true" ma:internalName="WU_x0020_ThemaTaxHTField0" ma:taxonomyFieldName="WU_x0020_Thema" ma:displayName="Schlagwort" ma:default="" ma:fieldId="{a2eb3201-e251-4055-97e9-466604fc777f}" ma:taxonomyMulti="true" ma:sspId="59da4ae5-1217-4de6-bd64-b7a740f353bb" ma:termSetId="c1edca97-812b-4584-b6b5-1e5cade81cae" ma:anchorId="00000000-0000-0000-0000-000000000000" ma:open="true" ma:isKeyword="false">
      <xsd:complexType>
        <xsd:sequence>
          <xsd:element ref="pc:Terms" minOccurs="0" maxOccurs="1"/>
        </xsd:sequence>
      </xsd:complexType>
    </xsd:element>
    <xsd:element name="DokumentenartTaxHTField0" ma:index="12" nillable="true" ma:taxonomy="true" ma:internalName="DokumentenartTaxHTField0" ma:taxonomyFieldName="Dokumentenart" ma:displayName="Dokumentenart" ma:default="" ma:fieldId="{0f2e647f-32b7-4850-b6be-ae358ed71e70}" ma:taxonomyMulti="true" ma:sspId="59da4ae5-1217-4de6-bd64-b7a740f353bb" ma:termSetId="325756d7-e24e-4b6f-ba71-3f779d34c1ea"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08b0a3ee-3d2a-451c-9a1a-7e5d5b0c9c77" elementFormDefault="qualified">
    <xsd:import namespace="http://schemas.microsoft.com/office/2006/documentManagement/types"/>
    <xsd:import namespace="http://schemas.microsoft.com/office/infopath/2007/PartnerControls"/>
    <xsd:element name="TaxCatchAll" ma:index="10" nillable="true" ma:displayName="Taxonomy Catch All Column" ma:description="" ma:hidden="true" ma:list="{6a103bb8-3913-4e3b-a229-080a76572464}" ma:internalName="TaxCatchAll" ma:showField="CatchAllData" ma:web="08b0a3ee-3d2a-451c-9a1a-7e5d5b0c9c77">
      <xsd:complexType>
        <xsd:complexContent>
          <xsd:extension base="dms:MultiChoiceLookup">
            <xsd:sequence>
              <xsd:element name="Value" type="dms:Lookup" maxOccurs="unbounded" minOccurs="0" nillable="true"/>
            </xsd:sequence>
          </xsd:extension>
        </xsd:complexContent>
      </xsd:complexType>
    </xsd:element>
    <xsd:element name="SharedWithUsers" ma:index="16" nillable="true" ma:displayName="Freigegeben für"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de413db-0745-4f3a-8dca-564dc7ff6f7d" elementFormDefault="qualified">
    <xsd:import namespace="http://schemas.microsoft.com/office/2006/documentManagement/types"/>
    <xsd:import namespace="http://schemas.microsoft.com/office/infopath/2007/PartnerControls"/>
    <xsd:element name="Beschreibung" ma:index="13" nillable="true" ma:displayName="Beschreibung" ma:internalName="Beschreibung">
      <xsd:simpleType>
        <xsd:restriction base="dms:Note">
          <xsd:maxLength value="255"/>
        </xsd:restriction>
      </xsd:simpleType>
    </xsd:element>
    <xsd:element name="Format" ma:index="14" nillable="true" ma:displayName="Format" ma:format="Dropdown" ma:internalName="Format">
      <xsd:simpleType>
        <xsd:union memberTypes="dms:Text">
          <xsd:simpleType>
            <xsd:restriction base="dms:Choice">
              <xsd:enumeration value="LaTeX"/>
              <xsd:enumeration value="Microsoft Office 2003"/>
              <xsd:enumeration value="Microsoft Office 2007-2013"/>
              <xsd:enumeration value="Microsoft Office 2013/2016"/>
              <xsd:enumeration value="OpenOffice 3.0"/>
            </xsd:restriction>
          </xsd:simpleType>
        </xsd:union>
      </xsd:simpleType>
    </xsd:element>
    <xsd:element name="Kategorie" ma:index="15" nillable="true" ma:displayName="Kategorie" ma:default="Anleitungen" ma:format="Dropdown" ma:internalName="Kategorie">
      <xsd:simpleType>
        <xsd:union memberTypes="dms:Text">
          <xsd:simpleType>
            <xsd:restriction base="dms:Choice">
              <xsd:enumeration value="Anleitungen"/>
              <xsd:enumeration value="Aushänge für Lift und Tür"/>
              <xsd:enumeration value="Basisvorlagen"/>
              <xsd:enumeration value="Brief-/Faxvorlagen"/>
              <xsd:enumeration value="Einladungen"/>
              <xsd:enumeration value="Etiketten"/>
              <xsd:enumeration value="Musterdateien"/>
              <xsd:enumeration value="Namensschilder"/>
              <xsd:enumeration value="Präsentationen"/>
              <xsd:enumeration value="Skripten-Cover"/>
            </xsd:restriction>
          </xsd:simpleType>
        </xsd:un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5929A89-D8E6-4794-A98F-6609FAAECB3B}">
  <ds:schemaRefs>
    <ds:schemaRef ds:uri="http://schemas.microsoft.com/office/2006/metadata/properties"/>
    <ds:schemaRef ds:uri="http://schemas.microsoft.com/office/infopath/2007/PartnerControls"/>
    <ds:schemaRef ds:uri="dde413db-0745-4f3a-8dca-564dc7ff6f7d"/>
    <ds:schemaRef ds:uri="08b0a3ee-3d2a-451c-9a1a-7e5d5b0c9c77"/>
    <ds:schemaRef ds:uri="1a8d9a65-8471-4209-a900-f8e11db75e0a"/>
  </ds:schemaRefs>
</ds:datastoreItem>
</file>

<file path=customXml/itemProps2.xml><?xml version="1.0" encoding="utf-8"?>
<ds:datastoreItem xmlns:ds="http://schemas.openxmlformats.org/officeDocument/2006/customXml" ds:itemID="{D81AF645-C4BF-4115-A9DE-6B087264731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a8d9a65-8471-4209-a900-f8e11db75e0a"/>
    <ds:schemaRef ds:uri="08b0a3ee-3d2a-451c-9a1a-7e5d5b0c9c77"/>
    <ds:schemaRef ds:uri="dde413db-0745-4f3a-8dca-564dc7ff6f7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89857B5-BC10-4782-8A0F-717F20E5E22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WU Sample Presentation 16x10</Template>
  <TotalTime>0</TotalTime>
  <Words>1441</Words>
  <Application>Microsoft Office PowerPoint</Application>
  <PresentationFormat>Bildschirmpräsentation (16:10)</PresentationFormat>
  <Paragraphs>207</Paragraphs>
  <Slides>26</Slides>
  <Notes>26</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26</vt:i4>
      </vt:variant>
    </vt:vector>
  </HeadingPairs>
  <TitlesOfParts>
    <vt:vector size="31" baseType="lpstr">
      <vt:lpstr>Arial</vt:lpstr>
      <vt:lpstr>Georgia</vt:lpstr>
      <vt:lpstr>Verdana</vt:lpstr>
      <vt:lpstr>Wingdings</vt:lpstr>
      <vt:lpstr>WU 16:10</vt:lpstr>
      <vt:lpstr>WU Presentation Template incl. Samples</vt:lpstr>
      <vt:lpstr>Basics</vt:lpstr>
      <vt:lpstr>Available slide layouts – overview</vt:lpstr>
      <vt:lpstr>Make use of the slide layouts</vt:lpstr>
      <vt:lpstr>Designing text slides</vt:lpstr>
      <vt:lpstr>Insert footer information</vt:lpstr>
      <vt:lpstr>Toner- and ink-reduced printing</vt:lpstr>
      <vt:lpstr>Sample Slides</vt:lpstr>
      <vt:lpstr>Layout „Titelfolie“ –  font Georgia 32 pt</vt:lpstr>
      <vt:lpstr>Layout „Titelfolie kurz“</vt:lpstr>
      <vt:lpstr>Layout „Titelfolie ohne Bild“ – for 2 lines of text</vt:lpstr>
      <vt:lpstr>Titleslide w/o pic. short</vt:lpstr>
      <vt:lpstr>Layout „Titelfolie Bild 2“ – for 2 lines of text</vt:lpstr>
      <vt:lpstr>Layout „Titelfolie Bild 3“ – for 2 lines of text</vt:lpstr>
      <vt:lpstr>Layout „Titel und Inhalt“ for title and content – font Georgia 24 pt</vt:lpstr>
      <vt:lpstr>Layout without footer for large graphics, tables or charts</vt:lpstr>
      <vt:lpstr>Layout “Zwei Inhalte” with two placeholders for different content types</vt:lpstr>
      <vt:lpstr>Layout „Vergleich“ – e.g. for comparison</vt:lpstr>
      <vt:lpstr>Sample table</vt:lpstr>
      <vt:lpstr>Sample for simple graphics  (based on SmartArt)</vt:lpstr>
      <vt:lpstr>Sample organizational chart  (based on SmartArt)</vt:lpstr>
      <vt:lpstr>Sample for bar chart </vt:lpstr>
      <vt:lpstr>Sample for column chart </vt:lpstr>
      <vt:lpstr>Sample for line chart </vt:lpstr>
      <vt:lpstr>Sample for doughnut chart </vt:lpstr>
      <vt:lpstr> </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2023-08-25T07:52:25Z</dcterms:created>
  <dcterms:modified xsi:type="dcterms:W3CDTF">2023-08-25T07:53:01Z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WU Thema">
    <vt:lpwstr>403;#Corporate Design|19895bcd-b158-45ae-ab7b-f5ca217dfcec</vt:lpwstr>
  </property>
  <property fmtid="{D5CDD505-2E9C-101B-9397-08002B2CF9AE}" pid="3" name="Dokumentenart">
    <vt:lpwstr>266;#Vorlagen|17fc50ed-8ad1-47be-ab12-04243fd74ddb</vt:lpwstr>
  </property>
  <property fmtid="{D5CDD505-2E9C-101B-9397-08002B2CF9AE}" pid="4" name="ContentTypeId">
    <vt:lpwstr>0x010100BCF651A35DF3154DB01328AF51148DAE</vt:lpwstr>
  </property>
</Properties>
</file>