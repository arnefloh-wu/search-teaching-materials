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Dreistündige Einheit zum Markenaudit in fünf Teilen: warum Marken ein Audit brauchen, der Ablauf nach Keller, Messung des Markenwerts, Daten jenseits der Befragung (Online-Daten, KI-Antworten, monetäre Bewertung) und die Anwendung mit Mini-Audit und Teamprojekt. Alle Quellen mit Zugangshinweisen: Notion-Seite „Brand Audit“ (377 Quellen) und GitHub-Ordner topics/Brand Audit.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Fünf Lernziele. Das letzte führt direkt zum Teamprojekt am Ende der Einheit.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typische Anlässe und was es kostet, eine Marke ohne Audit zu verändern.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Sinngemäß nach Kellers Definition. „Konsumentenorientiert“ betonen: Ein Audit ist kein Design-Review und keine interne SWOT, sondern fragt, was im Gedächtnis der Käufer:innen gespeichert ist. Kapitelnummer in der 5. Auflage vor dem Zitieren prüfen (laut Quellenliste Kap. 9, nicht verifiziert).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Beispielen österreichischer Marken für jeden Anlass fragen. Ritsons Kolumne „Brand diagnosis is the brand manager’s first job“ (Marketing Week, Feb. 2023) trennt die tiefe Diagnose im ersten Jahr vom jährlichen Tracker.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Tropicana: Absatz von Pure Premium −20 %, Umsatz −19 % (rund 33 Mio. USD) zwischen 1. Jänner und 22. Februar 2009; Redesign am 23. Februar zurückgezogen. Gap: Logo vom Oktober 2010 nach etwa einer Woche zurückgenommen. Bud Light: YouGov Impression von 6,2 auf −14 zwischen 1. April und 11. Juni 2023; Stella Artois im selben Zeitraum nur −3,5.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Keller und Lehmann ordnen die Markenforschung entlang dieser Brand Value Chain. Mizik und Jacobson zeigen, dass BAV-Säulen über Bilanzdaten hinaus Information für Aktienrenditen enthalten. Befragungsdaten sind ein Glied der Kette; Markt- und Finanzdaten prüfen, ob die Wahrnehmungen zählen.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Inventory und Brand Exploratory, strukturiert durch die CBBE-Pyramide.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Kellers zweiteilige Struktur. Den Wert des Audits liefert der Vergleich: wo die beabsichtigte Positionierung (Inventory) und das, was Käufer:innen tatsächlich im Gedächtnis haben (Exploratory), auseinanderfallen. Keller (2016, AMS Review) zeigt seine aktualisierte Sicht im digitalen Kontext.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Vorlagen: kostenlose Brand-Audit-Templates von Smartsheet; Wheeler &amp; Meyerson, Designing Brand Identity. Chattopadhyay &amp; Laborie (2005, JAR) ergänzen ein Kontaktpunkt-Audit.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Relationship Spectrum nach Aaker &amp; Joachimsthaler. Beispiele: A1-Markenmigration (Leadersnet, 20.09.2017), Merkur zu BILLA PLUS (REWE, 28.01.2021), Rauch-Dachmarke (Horizont 2009), Manner-Portfolio (Geschäftsbericht 2019). Die Einordnung von Rauch und BILLA PLUS ist diskutierbar. Strebinger (WU) untersucht Treiber von Corporate- versus Produktmarken.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Plumeyer et al. (2019, Review of Managerial Science) vergleichen 12 Verfahren zur Messung des Markenimages und geben eine Entscheidungshilfe. Romaniuk warnt, dass Tracker treue Intensivkäufer:innen übergewichten.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Pyramide strukturiert das Exploratory: Jede Ebene wird zu einem Fragenblock. Keller (1993) definiert Markenwissen als Bekanntheit plus Image. Studierende formulieren je Block eine Frage.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Identitätsbasierte Markenführung (Burmann, Meffert, Eschs Markensteuerrad) versteht das Audit als Abgleich von Identität und Image. Eine interne Befragung (Employee Brand Equity nach King, Grace &amp; Funk) schließt die Lücke. Baumgarths Markenaudit-Tool (PraxisWISSEN Marketing 2016, kostenlos) verbindet beide Sichten.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Assoziationen, Skalen, Mental Availability, Distinctive Assets und Tracking.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Schnittka, Sattler &amp; Zenker (2012, IJRM) erweitern Concept Maps um die Vorteilhaftigkeit. Driesener &amp; Romaniuk zeigen, dass Rating, Ranking und Pick-any auf Markenebene fast gleiche Ergebnisse liefern.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Christodoulides &amp; de Chernatony (2010, IJMR) geben einen Überblick. Datta et al. (2017, JM) verknüpfen BAV-Befragungsdaten mit Scannerdaten für über 290 Marken. Für die Übung: lavaan in R oder semopy in Python.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Übung: zwei konkurrierende Marken (z. B. Manner und Milka) mit den Geuens-Items bewerten und diskutieren, ob das Persönlichkeit oder bloß Sympathie misst. Deutsche Bezeichnungen der Aaker-Dimensionen sinngemäß übersetzt.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Daten: r-marketing.r-forge.r-project.org/data/rintro-chapter8.csv (auch im Dropbox-Kursordner). Die Adjektive bleiben englisch, weil sie so im Datensatz stehen. Li et al. (2024), Marketing Science 43(2).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Romaniuk &amp; Sharp (2003): Die Zahl der Marke-Attribut-Nennungen folgt der Markengröße (Double Jeopardy). Romaniuk &amp; Sharp (2004) definieren Brand Salience. Better Brand Health macht daraus Tracker-Kennzahlen.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Benchmarks aus Phua, Bali, Anesbury &amp; Sharp (2026): 1.162 Assets, 21 Kategorien, 4 Länder (Open Access). Brus et al. (2025): Urteile von Marketingverantwortlichen zu 405 Elementen von 50 Marken. Tropicana gab ein bekanntes, einzigartiges Asset ohne Test auf; Mastercard ließ den Schriftzug erst fallen, als über 80 % die Kreise ohne Namen erkannten.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Ritson (2023): im ersten Jahr eine tiefe Diagnose, danach ein jährlicher Tracker. Romaniuk: Tracker für die Kategorie entwerfen. Riquier (2019): Trackerwerte etablierter Marken bewegen sich kaum. Praxishinweis aus planung&amp;analyse (2022): Anbieterwechsel braucht parallele Wellen.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der Pause: nutzergenerierte Inhalte, KI-Sichtbarkeit und monetäre Markenbewertung.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Netzer et al. 2012; Tirunillai &amp; Tellis 2014 (15 Unternehmen, 5 Märkte, LDA); Culotta &amp; Cutler 2016 (Code auf GitHub, X-Daten eingeschränkt); Rust et al. 2021. Alzate et al. 2022 (Open Access) zeigen einen nachvollziehbaren Ablauf. Tools: Brandwatch, Talkwalker, Brand24; BERTopic, spaCy, tidytext, quanteda.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ergibt sich aus 1,08 Mio. geteilt durch 20.400. Lehrfall: Darden M-1043 (2023). MASB bietet ein kostenloses White Paper zu Markenpräferenz und Absatz. Diskussion: Welchen Blick würden Sie dem Vorstand zeigen?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OMR Reviews (Jänner 2026) liefert ein KPI-Set für KI-Sichtbarkeit. Zenodo-Datensatz: Zatuchin 2026, CC BY 4.0, DOI 10.5281/zenodo.20794390. Otterly.AI ist ein Wiener Start-up (Option für einen Gastvortrag). Antworten variieren je Durchlauf, deshalb Prompts wiederholen.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Methodenseiten von Interbrand, Kantar BrandZ und Brand Finance (2021). Salinas &amp; Ambler (2009, JBM) ordnen die Verfahren. Gerhard Hrebicek (European Brand Institute, Wien) leitet die Entwicklung der ISO 20671 und wäre ein starker Gastredner.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Finance Austria 25 (8.9.2026): Red Bull 10,6 Mrd. EUR, Top 25 zusammen 46,8 Mrd. EUR. EBI-Studie (1.7.2026): rund 20,1 Mrd. EUR. Mögliche Gründe: Marke versus Markenunternehmen, Lizenzrate, Prognosehorizont, Diskontsatz. Einen Markenwert nur mit Methode berichten.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Österreichische Markendaten, Fälle, ein Mini-Audit im Hörsaal und das Teamprojekt.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Marketagent-Pressecharts (Feb. 2025, kostenlos): 11 Markenwertfragen mit Spitzen-, Durchschnitts- und Tiefstwerten. BAV Austria 2025 von Scholz &amp; Friends Wien (Leadersnet, 1.7.2025). Thomas Schwabl (Marketagent) wäre eine Option für einen Gastvortrag.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Fälle liegen nur auf Englisch vor. HBP-Fälle kosten etwa 9–12 USD pro Kopie; WU-Lizenzen prüfen. Der LEGO-Fall (AEF) ist kostenlos und enthält Tracking-Daten sowie eine Teaching Note. Zotter-Fallnummer nur über einen Bibliotheksdatensatz bestätigt.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Vorbereitung: Marketagent-Pressecharts BRAND.Diamonds 2024 und je Marke drei Asset-Bilder ohne Namen (z. B. Manner-Rosa, ÖBB-Raute, Almdudler-Trachtenpärchen). Bei sechs Teams dauert die Pitch-Runde etwa 12 Minuten.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Platzhalter in eckigen Klammern ausfüllen. Struktur nach Kellers Beispiel-Audit (Rolex in früheren Auflagen). Das Lacasa-Audit (Journal of Brand Strategy) ist ein veröffentlichtes Audit in Studierendengröße; Baumgarths Markenaudit-Tool bietet eine Alternative mit Scoring.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Werkzeuge stehen mit Version und Lizenz in der Notion-Quellensammlung „Brand Audit“. WU-Lizenzen für Qualtrics, Unipark und Statista klären, bevor die Studierenden ins Feld gehen.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Esch, Strategie und Technik der Markenführung, ergänzt die deutschsprachige Vertiefung; Burmann et al., Identitätsbasierte Markenführung, ist eine weitere Option. Die meisten Artikel brauchen den WU-Bibliothekszugang.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 dem Ende die Projekttermine von der Projektfolie nennen. Fragen und Diskussion.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9.png"/><Relationship Id="rId5"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de-AT"/>
              <a:t>Markenaudit</a:t>
            </a:r>
          </a:p>
        </p:txBody>
      </p:sp>
      <p:sp>
        <p:nvSpPr>
          <p:cNvPr id="3" name="Subtitle 2"/>
          <p:cNvSpPr>
            <a:spLocks noGrp="1"/>
          </p:cNvSpPr>
          <p:nvPr>
            <p:ph type="subTitle" idx="1"/>
          </p:nvPr>
        </p:nvSpPr>
        <p:spPr/>
        <p:txBody>
          <a:bodyPr/>
          <a:lstStyle/>
          <a:p>
            <a:r>
              <a:rPr lang="de-AT"/>
              <a:t>Markengesundheit diagnostizieren</a:t>
            </a:r>
          </a:p>
        </p:txBody>
      </p:sp>
      <p:sp>
        <p:nvSpPr>
          <p:cNvPr id="4" name="Text Placeholder 3"/>
          <p:cNvSpPr>
            <a:spLocks noGrp="1"/>
          </p:cNvSpPr>
          <p:nvPr>
            <p:ph type="body" idx="12" sz="quarter"/>
          </p:nvPr>
        </p:nvSpPr>
        <p:spPr/>
        <p:txBody>
          <a:bodyPr/>
          <a:lstStyle/>
          <a:p>
            <a:r>
              <a:rPr lang="de-AT"/>
              <a:t>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Lernziele</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Intro"/>
          <p:cNvSpPr txBox="1"/>
          <p:nvPr/>
        </p:nvSpPr>
        <p:spPr>
          <a:xfrm>
            <a:off x="457200" y="1234440"/>
            <a:ext cx="8229600" cy="320040"/>
          </a:xfrm>
          <a:prstGeom prst="rect">
            <a:avLst/>
          </a:prstGeom>
          <a:noFill/>
        </p:spPr>
        <p:txBody>
          <a:bodyPr wrap="square" lIns="36576" rIns="36576" tIns="18288" bIns="18288" anchor="t">
            <a:spAutoFit/>
          </a:bodyPr>
          <a:lstStyle/>
          <a:p>
            <a:pPr algn="l">
              <a:spcAft>
                <a:spcPts val="600"/>
              </a:spcAft>
            </a:pPr>
            <a:r>
              <a:rPr lang="de-AT" sz="1300" b="1">
                <a:solidFill>
                  <a:schemeClr val="tx2"/>
                </a:solidFill>
              </a:rPr>
              <a:t>Nach dieser Einheit können Sie …</a:t>
            </a:r>
          </a:p>
        </p:txBody>
      </p:sp>
      <p:sp>
        <p:nvSpPr>
          <p:cNvPr id="7" name="Ziel 1 Band"/>
          <p:cNvSpPr/>
          <p:nvPr/>
        </p:nvSpPr>
        <p:spPr>
          <a:xfrm>
            <a:off x="457200" y="16459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Ziel 1 Bar"/>
          <p:cNvSpPr/>
          <p:nvPr/>
        </p:nvSpPr>
        <p:spPr>
          <a:xfrm>
            <a:off x="457200" y="1645920"/>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Ziel 1 Nummer"/>
          <p:cNvSpPr/>
          <p:nvPr/>
        </p:nvSpPr>
        <p:spPr>
          <a:xfrm>
            <a:off x="658368" y="1709928"/>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1</a:t>
            </a:r>
          </a:p>
        </p:txBody>
      </p:sp>
      <p:sp>
        <p:nvSpPr>
          <p:cNvPr id="10" name="Ziel 1 Text"/>
          <p:cNvSpPr txBox="1"/>
          <p:nvPr/>
        </p:nvSpPr>
        <p:spPr>
          <a:xfrm>
            <a:off x="1234440" y="1645920"/>
            <a:ext cx="7315200" cy="512064"/>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erklären, was ein Markenaudit ist und wann ein Unternehmen eines braucht.</a:t>
            </a:r>
          </a:p>
        </p:txBody>
      </p:sp>
      <p:sp>
        <p:nvSpPr>
          <p:cNvPr id="11" name="Ziel 2 Band"/>
          <p:cNvSpPr/>
          <p:nvPr/>
        </p:nvSpPr>
        <p:spPr>
          <a:xfrm>
            <a:off x="457200" y="22677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Ziel 2 Bar"/>
          <p:cNvSpPr/>
          <p:nvPr/>
        </p:nvSpPr>
        <p:spPr>
          <a:xfrm>
            <a:off x="457200" y="2267712"/>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Ziel 2 Nummer"/>
          <p:cNvSpPr/>
          <p:nvPr/>
        </p:nvSpPr>
        <p:spPr>
          <a:xfrm>
            <a:off x="658368" y="233172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2</a:t>
            </a:r>
          </a:p>
        </p:txBody>
      </p:sp>
      <p:sp>
        <p:nvSpPr>
          <p:cNvPr id="14" name="Ziel 2 Text"/>
          <p:cNvSpPr txBox="1"/>
          <p:nvPr/>
        </p:nvSpPr>
        <p:spPr>
          <a:xfrm>
            <a:off x="1234440" y="2267712"/>
            <a:ext cx="7315200" cy="512064"/>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ein Audit mit Kellers Brand Inventory und Brand Exploratory strukturieren.</a:t>
            </a:r>
          </a:p>
        </p:txBody>
      </p:sp>
      <p:sp>
        <p:nvSpPr>
          <p:cNvPr id="15" name="Ziel 3 Band"/>
          <p:cNvSpPr/>
          <p:nvPr/>
        </p:nvSpPr>
        <p:spPr>
          <a:xfrm>
            <a:off x="457200" y="28895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Ziel 3 Bar"/>
          <p:cNvSpPr/>
          <p:nvPr/>
        </p:nvSpPr>
        <p:spPr>
          <a:xfrm>
            <a:off x="457200" y="2889504"/>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Ziel 3 Nummer"/>
          <p:cNvSpPr/>
          <p:nvPr/>
        </p:nvSpPr>
        <p:spPr>
          <a:xfrm>
            <a:off x="658368" y="2953512"/>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3</a:t>
            </a:r>
          </a:p>
        </p:txBody>
      </p:sp>
      <p:sp>
        <p:nvSpPr>
          <p:cNvPr id="18" name="Ziel 3 Text"/>
          <p:cNvSpPr txBox="1"/>
          <p:nvPr/>
        </p:nvSpPr>
        <p:spPr>
          <a:xfrm>
            <a:off x="1234440" y="2889504"/>
            <a:ext cx="7315200" cy="512064"/>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Methoden zur Messung des Markenwerts wählen und die Wahl begründen.</a:t>
            </a:r>
          </a:p>
        </p:txBody>
      </p:sp>
      <p:sp>
        <p:nvSpPr>
          <p:cNvPr id="19" name="Ziel 4 Band"/>
          <p:cNvSpPr/>
          <p:nvPr/>
        </p:nvSpPr>
        <p:spPr>
          <a:xfrm>
            <a:off x="457200" y="351129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Ziel 4 Bar"/>
          <p:cNvSpPr/>
          <p:nvPr/>
        </p:nvSpPr>
        <p:spPr>
          <a:xfrm>
            <a:off x="457200" y="3511296"/>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Ziel 4 Nummer"/>
          <p:cNvSpPr/>
          <p:nvPr/>
        </p:nvSpPr>
        <p:spPr>
          <a:xfrm>
            <a:off x="658368" y="3575303"/>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4</a:t>
            </a:r>
          </a:p>
        </p:txBody>
      </p:sp>
      <p:sp>
        <p:nvSpPr>
          <p:cNvPr id="22" name="Ziel 4 Text"/>
          <p:cNvSpPr txBox="1"/>
          <p:nvPr/>
        </p:nvSpPr>
        <p:spPr>
          <a:xfrm>
            <a:off x="1234440" y="3511296"/>
            <a:ext cx="7315200" cy="512064"/>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Markendaten kritisch lesen: Größeneffekte, Sentiment-Genauigkeit, Bewertungen.</a:t>
            </a:r>
          </a:p>
        </p:txBody>
      </p:sp>
      <p:sp>
        <p:nvSpPr>
          <p:cNvPr id="23" name="Ziel 5 Band"/>
          <p:cNvSpPr/>
          <p:nvPr/>
        </p:nvSpPr>
        <p:spPr>
          <a:xfrm>
            <a:off x="457200" y="4133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Ziel 5 Bar"/>
          <p:cNvSpPr/>
          <p:nvPr/>
        </p:nvSpPr>
        <p:spPr>
          <a:xfrm>
            <a:off x="457200" y="4133088"/>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Ziel 5 Nummer"/>
          <p:cNvSpPr/>
          <p:nvPr/>
        </p:nvSpPr>
        <p:spPr>
          <a:xfrm>
            <a:off x="658368" y="4197096"/>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5</a:t>
            </a:r>
          </a:p>
        </p:txBody>
      </p:sp>
      <p:sp>
        <p:nvSpPr>
          <p:cNvPr id="26" name="Ziel 5 Text"/>
          <p:cNvSpPr txBox="1"/>
          <p:nvPr/>
        </p:nvSpPr>
        <p:spPr>
          <a:xfrm>
            <a:off x="1234440" y="4133088"/>
            <a:ext cx="7315200" cy="512064"/>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im Team ein Markenaudit einer österreichischen Marke planen und umsetzen.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1 von 5 · Definition, Anlässe, Kosten</a:t>
            </a:r>
          </a:p>
        </p:txBody>
      </p:sp>
      <p:sp>
        <p:nvSpPr>
          <p:cNvPr id="3" name="Title 2"/>
          <p:cNvSpPr>
            <a:spLocks noGrp="1"/>
          </p:cNvSpPr>
          <p:nvPr>
            <p:ph type="ctrTitle"/>
          </p:nvPr>
        </p:nvSpPr>
        <p:spPr/>
        <p:txBody>
          <a:bodyPr/>
          <a:lstStyle/>
          <a:p>
            <a:r>
              <a:rPr lang="de-AT"/>
              <a:t>Warum Marken ein Audit brauchen</a:t>
            </a:r>
          </a:p>
        </p:txBody>
      </p:sp>
      <p:sp>
        <p:nvSpPr>
          <p:cNvPr id="4" name="Footer Placeholder 3"/>
          <p:cNvSpPr>
            <a:spLocks noGrp="1"/>
          </p:cNvSpPr>
          <p:nvPr>
            <p:ph type="ftr" idx="14" sz="quarter"/>
          </p:nvPr>
        </p:nvSpPr>
        <p:spPr/>
        <p:txBody>
          <a:bodyPr/>
          <a:p>
            <a:r>
              <a:rPr lang="de-AT"/>
              <a:t>Markenaudit</a:t>
            </a:r>
          </a:p>
        </p:txBody>
      </p:sp>
      <p:sp>
        <p:nvSpPr>
          <p:cNvPr id="5" name="Slide Number Placeholder 4"/>
          <p:cNvSpPr>
            <a:spLocks noGrp="1"/>
          </p:cNvSpPr>
          <p:nvPr>
            <p:ph type="sldNum" idx="15" sz="quarter"/>
          </p:nvPr>
        </p:nvSpPr>
        <p:spPr/>
        <p:txBody>
          <a:bodyPr/>
          <a:p>
            <a:r>
              <a:rPr lang="de-AT"/>
              <a:t>SEITE </a:t>
            </a:r>
            <a:fld id="{B6F15528-21DE-4FAA-801E-634DDDAF4B2B}" type="slidenum">
              <a:rPr lang="de-AT"/>
              <a:t>‹#›</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Was ein Markenaudit ist</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Definition Band"/>
          <p:cNvSpPr/>
          <p:nvPr/>
        </p:nvSpPr>
        <p:spPr>
          <a:xfrm>
            <a:off x="457200" y="1280160"/>
            <a:ext cx="822960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finition Bar"/>
          <p:cNvSpPr/>
          <p:nvPr/>
        </p:nvSpPr>
        <p:spPr>
          <a:xfrm>
            <a:off x="457200" y="1280160"/>
            <a:ext cx="64008" cy="1188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finition"/>
          <p:cNvSpPr txBox="1"/>
          <p:nvPr/>
        </p:nvSpPr>
        <p:spPr>
          <a:xfrm>
            <a:off x="685800" y="1353312"/>
            <a:ext cx="7818120" cy="822960"/>
          </a:xfrm>
          <a:prstGeom prst="rect">
            <a:avLst/>
          </a:prstGeom>
          <a:noFill/>
        </p:spPr>
        <p:txBody>
          <a:bodyPr wrap="square" lIns="36576" rIns="36576" tIns="18288" bIns="18288" anchor="t">
            <a:spAutoFit/>
          </a:bodyPr>
          <a:lstStyle/>
          <a:p>
            <a:pPr algn="l">
              <a:spcAft>
                <a:spcPts val="0"/>
              </a:spcAft>
            </a:pPr>
            <a:r>
              <a:rPr lang="de-AT" sz="1600" b="1">
                <a:solidFill>
                  <a:schemeClr val="tx2"/>
                </a:solidFill>
                <a:latin typeface="+mj-lt"/>
              </a:rPr>
              <a:t>Eine konsumentenorientierte, umfassende Prüfung einer Marke: wie gesund sie ist, woher ihr Markenwert stammt und wie er sich stärken und nutzen lässt.</a:t>
            </a:r>
          </a:p>
        </p:txBody>
      </p:sp>
      <p:sp>
        <p:nvSpPr>
          <p:cNvPr id="9" name="Definition Quelle"/>
          <p:cNvSpPr txBox="1"/>
          <p:nvPr/>
        </p:nvSpPr>
        <p:spPr>
          <a:xfrm>
            <a:off x="685800" y="2130552"/>
            <a:ext cx="7818120" cy="27432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Nach Keller &amp; Swaminathan, Strategic Brand Management, 5. Aufl., Pearson</a:t>
            </a:r>
          </a:p>
        </p:txBody>
      </p:sp>
      <p:sp>
        <p:nvSpPr>
          <p:cNvPr id="10" name="Frage 1 body"/>
          <p:cNvSpPr/>
          <p:nvPr/>
        </p:nvSpPr>
        <p:spPr>
          <a:xfrm>
            <a:off x="457200"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age 1 band"/>
          <p:cNvSpPr/>
          <p:nvPr/>
        </p:nvSpPr>
        <p:spPr>
          <a:xfrm>
            <a:off x="457200"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age 1 heading"/>
          <p:cNvSpPr txBox="1"/>
          <p:nvPr/>
        </p:nvSpPr>
        <p:spPr>
          <a:xfrm>
            <a:off x="566928" y="275234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Zustand</a:t>
            </a:r>
          </a:p>
        </p:txBody>
      </p:sp>
      <p:pic>
        <p:nvPicPr>
          <p:cNvPr id="13" name="Icon LuGauge" descr=""/>
          <p:cNvPicPr>
            <a:picLocks noChangeAspect="1"/>
          </p:cNvPicPr>
          <p:nvPr/>
        </p:nvPicPr>
        <p:blipFill>
          <a:blip r:embed="rId3"/>
          <a:stretch>
            <a:fillRect/>
          </a:stretch>
        </p:blipFill>
        <p:spPr>
          <a:xfrm>
            <a:off x="2660904" y="2761488"/>
            <a:ext cx="329184" cy="329184"/>
          </a:xfrm>
          <a:prstGeom prst="rect">
            <a:avLst/>
          </a:prstGeom>
        </p:spPr>
      </p:pic>
      <p:sp>
        <p:nvSpPr>
          <p:cNvPr id="14" name="Frage 1 text"/>
          <p:cNvSpPr txBox="1"/>
          <p:nvPr/>
        </p:nvSpPr>
        <p:spPr>
          <a:xfrm>
            <a:off x="594360" y="3264408"/>
            <a:ext cx="2359152" cy="1170432"/>
          </a:xfrm>
          <a:prstGeom prst="rect">
            <a:avLst/>
          </a:prstGeom>
          <a:noFill/>
        </p:spPr>
        <p:txBody>
          <a:bodyPr wrap="square" lIns="36576" rIns="36576" tIns="18288" bIns="18288" anchor="t">
            <a:spAutoFit/>
          </a:bodyPr>
          <a:lstStyle/>
          <a:p>
            <a:pPr algn="l">
              <a:spcAft>
                <a:spcPts val="700"/>
              </a:spcAft>
            </a:pPr>
            <a:r>
              <a:rPr lang="de-AT" sz="1300" b="0">
                <a:solidFill>
                  <a:schemeClr val="tx1"/>
                </a:solidFill>
              </a:rPr>
              <a:t>Wie stark ist die Marke heute, im Vergleich zu Wettbewerb und eigener Historie?</a:t>
            </a:r>
          </a:p>
        </p:txBody>
      </p:sp>
      <p:sp>
        <p:nvSpPr>
          <p:cNvPr id="15" name="Frage 2 body"/>
          <p:cNvSpPr/>
          <p:nvPr/>
        </p:nvSpPr>
        <p:spPr>
          <a:xfrm>
            <a:off x="3255264"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age 2 band"/>
          <p:cNvSpPr/>
          <p:nvPr/>
        </p:nvSpPr>
        <p:spPr>
          <a:xfrm>
            <a:off x="3255264"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age 2 heading"/>
          <p:cNvSpPr txBox="1"/>
          <p:nvPr/>
        </p:nvSpPr>
        <p:spPr>
          <a:xfrm>
            <a:off x="3364992" y="275234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Quellen</a:t>
            </a:r>
          </a:p>
        </p:txBody>
      </p:sp>
      <p:pic>
        <p:nvPicPr>
          <p:cNvPr id="18" name="Icon LuSearch" descr=""/>
          <p:cNvPicPr>
            <a:picLocks noChangeAspect="1"/>
          </p:cNvPicPr>
          <p:nvPr/>
        </p:nvPicPr>
        <p:blipFill>
          <a:blip r:embed="rId4"/>
          <a:stretch>
            <a:fillRect/>
          </a:stretch>
        </p:blipFill>
        <p:spPr>
          <a:xfrm>
            <a:off x="5458968" y="2761488"/>
            <a:ext cx="329184" cy="329184"/>
          </a:xfrm>
          <a:prstGeom prst="rect">
            <a:avLst/>
          </a:prstGeom>
        </p:spPr>
      </p:pic>
      <p:sp>
        <p:nvSpPr>
          <p:cNvPr id="19" name="Frage 2 text"/>
          <p:cNvSpPr txBox="1"/>
          <p:nvPr/>
        </p:nvSpPr>
        <p:spPr>
          <a:xfrm>
            <a:off x="3392424" y="3264408"/>
            <a:ext cx="2359152" cy="1170432"/>
          </a:xfrm>
          <a:prstGeom prst="rect">
            <a:avLst/>
          </a:prstGeom>
          <a:noFill/>
        </p:spPr>
        <p:txBody>
          <a:bodyPr wrap="square" lIns="36576" rIns="36576" tIns="18288" bIns="18288" anchor="t">
            <a:spAutoFit/>
          </a:bodyPr>
          <a:lstStyle/>
          <a:p>
            <a:pPr algn="l">
              <a:spcAft>
                <a:spcPts val="700"/>
              </a:spcAft>
            </a:pPr>
            <a:r>
              <a:rPr lang="de-AT" sz="1300" b="0">
                <a:solidFill>
                  <a:schemeClr val="tx1"/>
                </a:solidFill>
              </a:rPr>
              <a:t>Welche Assoziationen, Assets und Kontaktpunkte tragen diese Stärke?</a:t>
            </a:r>
          </a:p>
        </p:txBody>
      </p:sp>
      <p:sp>
        <p:nvSpPr>
          <p:cNvPr id="20" name="Frage 3 body"/>
          <p:cNvSpPr/>
          <p:nvPr/>
        </p:nvSpPr>
        <p:spPr>
          <a:xfrm>
            <a:off x="6053328"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age 3 band"/>
          <p:cNvSpPr/>
          <p:nvPr/>
        </p:nvSpPr>
        <p:spPr>
          <a:xfrm>
            <a:off x="6053328"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age 3 heading"/>
          <p:cNvSpPr txBox="1"/>
          <p:nvPr/>
        </p:nvSpPr>
        <p:spPr>
          <a:xfrm>
            <a:off x="6163056" y="275234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Maßnahmen</a:t>
            </a:r>
          </a:p>
        </p:txBody>
      </p:sp>
      <p:pic>
        <p:nvPicPr>
          <p:cNvPr id="23" name="Icon LuTarget" descr=""/>
          <p:cNvPicPr>
            <a:picLocks noChangeAspect="1"/>
          </p:cNvPicPr>
          <p:nvPr/>
        </p:nvPicPr>
        <p:blipFill>
          <a:blip r:embed="rId5"/>
          <a:stretch>
            <a:fillRect/>
          </a:stretch>
        </p:blipFill>
        <p:spPr>
          <a:xfrm>
            <a:off x="8257032" y="2761488"/>
            <a:ext cx="329184" cy="329184"/>
          </a:xfrm>
          <a:prstGeom prst="rect">
            <a:avLst/>
          </a:prstGeom>
        </p:spPr>
      </p:pic>
      <p:sp>
        <p:nvSpPr>
          <p:cNvPr id="24" name="Frage 3 text"/>
          <p:cNvSpPr txBox="1"/>
          <p:nvPr/>
        </p:nvSpPr>
        <p:spPr>
          <a:xfrm>
            <a:off x="6190488" y="3264408"/>
            <a:ext cx="2359152" cy="1170432"/>
          </a:xfrm>
          <a:prstGeom prst="rect">
            <a:avLst/>
          </a:prstGeom>
          <a:noFill/>
        </p:spPr>
        <p:txBody>
          <a:bodyPr wrap="square" lIns="36576" rIns="36576" tIns="18288" bIns="18288" anchor="t">
            <a:spAutoFit/>
          </a:bodyPr>
          <a:lstStyle/>
          <a:p>
            <a:pPr algn="l">
              <a:spcAft>
                <a:spcPts val="700"/>
              </a:spcAft>
            </a:pPr>
            <a:r>
              <a:rPr lang="de-AT" sz="1300" b="0">
                <a:solidFill>
                  <a:schemeClr val="tx1"/>
                </a:solidFill>
              </a:rPr>
              <a:t>Was muss sich an Positionierung, Portfolio und Marketing ändern?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Wann Unternehmen ein Audit durchführen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Anlass 1 body"/>
          <p:cNvSpPr/>
          <p:nvPr/>
        </p:nvSpPr>
        <p:spPr>
          <a:xfrm>
            <a:off x="457200"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nlass 1 bar"/>
          <p:cNvSpPr/>
          <p:nvPr/>
        </p:nvSpPr>
        <p:spPr>
          <a:xfrm>
            <a:off x="457200"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LuCompass" descr=""/>
          <p:cNvPicPr>
            <a:picLocks noChangeAspect="1"/>
          </p:cNvPicPr>
          <p:nvPr/>
        </p:nvPicPr>
        <p:blipFill>
          <a:blip r:embed="rId3"/>
          <a:stretch>
            <a:fillRect/>
          </a:stretch>
        </p:blipFill>
        <p:spPr>
          <a:xfrm>
            <a:off x="594360" y="1463039"/>
            <a:ext cx="310896" cy="310896"/>
          </a:xfrm>
          <a:prstGeom prst="rect">
            <a:avLst/>
          </a:prstGeom>
        </p:spPr>
      </p:pic>
      <p:sp>
        <p:nvSpPr>
          <p:cNvPr id="9" name="Anlass 1 heading"/>
          <p:cNvSpPr txBox="1"/>
          <p:nvPr/>
        </p:nvSpPr>
        <p:spPr>
          <a:xfrm>
            <a:off x="1005840"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Strategiewechsel</a:t>
            </a:r>
          </a:p>
        </p:txBody>
      </p:sp>
      <p:sp>
        <p:nvSpPr>
          <p:cNvPr id="10" name="Anlass 1 text"/>
          <p:cNvSpPr txBox="1"/>
          <p:nvPr/>
        </p:nvSpPr>
        <p:spPr>
          <a:xfrm>
            <a:off x="594360" y="18836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Neuer Markt, neues Segment oder eine geplante Repositionierung.</a:t>
            </a:r>
          </a:p>
        </p:txBody>
      </p:sp>
      <p:sp>
        <p:nvSpPr>
          <p:cNvPr id="11" name="Anlass 2 body"/>
          <p:cNvSpPr/>
          <p:nvPr/>
        </p:nvSpPr>
        <p:spPr>
          <a:xfrm>
            <a:off x="3255264"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lass 2 bar"/>
          <p:cNvSpPr/>
          <p:nvPr/>
        </p:nvSpPr>
        <p:spPr>
          <a:xfrm>
            <a:off x="3255264"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UserCheck" descr=""/>
          <p:cNvPicPr>
            <a:picLocks noChangeAspect="1"/>
          </p:cNvPicPr>
          <p:nvPr/>
        </p:nvPicPr>
        <p:blipFill>
          <a:blip r:embed="rId4"/>
          <a:stretch>
            <a:fillRect/>
          </a:stretch>
        </p:blipFill>
        <p:spPr>
          <a:xfrm>
            <a:off x="3392424" y="1463039"/>
            <a:ext cx="310896" cy="310896"/>
          </a:xfrm>
          <a:prstGeom prst="rect">
            <a:avLst/>
          </a:prstGeom>
        </p:spPr>
      </p:pic>
      <p:sp>
        <p:nvSpPr>
          <p:cNvPr id="14" name="Anlass 2 heading"/>
          <p:cNvSpPr txBox="1"/>
          <p:nvPr/>
        </p:nvSpPr>
        <p:spPr>
          <a:xfrm>
            <a:off x="3803904"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Neue Führung</a:t>
            </a:r>
          </a:p>
        </p:txBody>
      </p:sp>
      <p:sp>
        <p:nvSpPr>
          <p:cNvPr id="15" name="Anlass 2 text"/>
          <p:cNvSpPr txBox="1"/>
          <p:nvPr/>
        </p:nvSpPr>
        <p:spPr>
          <a:xfrm>
            <a:off x="3392424" y="18836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Eine neue Marketingleitung diagnostiziert, bevor sie die Strategie festlegt.</a:t>
            </a:r>
          </a:p>
        </p:txBody>
      </p:sp>
      <p:sp>
        <p:nvSpPr>
          <p:cNvPr id="16" name="Anlass 3 body"/>
          <p:cNvSpPr/>
          <p:nvPr/>
        </p:nvSpPr>
        <p:spPr>
          <a:xfrm>
            <a:off x="6053328"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nlass 3 bar"/>
          <p:cNvSpPr/>
          <p:nvPr/>
        </p:nvSpPr>
        <p:spPr>
          <a:xfrm>
            <a:off x="6053328"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LuPalette" descr=""/>
          <p:cNvPicPr>
            <a:picLocks noChangeAspect="1"/>
          </p:cNvPicPr>
          <p:nvPr/>
        </p:nvPicPr>
        <p:blipFill>
          <a:blip r:embed="rId5"/>
          <a:stretch>
            <a:fillRect/>
          </a:stretch>
        </p:blipFill>
        <p:spPr>
          <a:xfrm>
            <a:off x="6190488" y="1463039"/>
            <a:ext cx="310896" cy="310896"/>
          </a:xfrm>
          <a:prstGeom prst="rect">
            <a:avLst/>
          </a:prstGeom>
        </p:spPr>
      </p:pic>
      <p:sp>
        <p:nvSpPr>
          <p:cNvPr id="19" name="Anlass 3 heading"/>
          <p:cNvSpPr txBox="1"/>
          <p:nvPr/>
        </p:nvSpPr>
        <p:spPr>
          <a:xfrm>
            <a:off x="6601968"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Vor Rebranding</a:t>
            </a:r>
          </a:p>
        </p:txBody>
      </p:sp>
      <p:sp>
        <p:nvSpPr>
          <p:cNvPr id="20" name="Anlass 3 text"/>
          <p:cNvSpPr txBox="1"/>
          <p:nvPr/>
        </p:nvSpPr>
        <p:spPr>
          <a:xfrm>
            <a:off x="6190488" y="18836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Wissen, welche Assets Markenwert tragen, bevor man sie ändert.</a:t>
            </a:r>
          </a:p>
        </p:txBody>
      </p:sp>
      <p:sp>
        <p:nvSpPr>
          <p:cNvPr id="21" name="Anlass 4 body"/>
          <p:cNvSpPr/>
          <p:nvPr/>
        </p:nvSpPr>
        <p:spPr>
          <a:xfrm>
            <a:off x="457200"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lass 4 bar"/>
          <p:cNvSpPr/>
          <p:nvPr/>
        </p:nvSpPr>
        <p:spPr>
          <a:xfrm>
            <a:off x="457200"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con LuLayers" descr=""/>
          <p:cNvPicPr>
            <a:picLocks noChangeAspect="1"/>
          </p:cNvPicPr>
          <p:nvPr/>
        </p:nvPicPr>
        <p:blipFill>
          <a:blip r:embed="rId6"/>
          <a:stretch>
            <a:fillRect/>
          </a:stretch>
        </p:blipFill>
        <p:spPr>
          <a:xfrm>
            <a:off x="594360" y="2834640"/>
            <a:ext cx="310896" cy="310896"/>
          </a:xfrm>
          <a:prstGeom prst="rect">
            <a:avLst/>
          </a:prstGeom>
        </p:spPr>
      </p:pic>
      <p:sp>
        <p:nvSpPr>
          <p:cNvPr id="24" name="Anlass 4 heading"/>
          <p:cNvSpPr txBox="1"/>
          <p:nvPr/>
        </p:nvSpPr>
        <p:spPr>
          <a:xfrm>
            <a:off x="1005840" y="280720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Portfolio</a:t>
            </a:r>
          </a:p>
        </p:txBody>
      </p:sp>
      <p:sp>
        <p:nvSpPr>
          <p:cNvPr id="25" name="Anlass 4 text"/>
          <p:cNvSpPr txBox="1"/>
          <p:nvPr/>
        </p:nvSpPr>
        <p:spPr>
          <a:xfrm>
            <a:off x="594360" y="32552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Marken nach Fusionen behalten, zusammenlegen oder einstellen.</a:t>
            </a:r>
          </a:p>
        </p:txBody>
      </p:sp>
      <p:sp>
        <p:nvSpPr>
          <p:cNvPr id="26" name="Anlass 5 body"/>
          <p:cNvSpPr/>
          <p:nvPr/>
        </p:nvSpPr>
        <p:spPr>
          <a:xfrm>
            <a:off x="3255264"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nlass 5 bar"/>
          <p:cNvSpPr/>
          <p:nvPr/>
        </p:nvSpPr>
        <p:spPr>
          <a:xfrm>
            <a:off x="3255264"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 LuTriangleAlert" descr=""/>
          <p:cNvPicPr>
            <a:picLocks noChangeAspect="1"/>
          </p:cNvPicPr>
          <p:nvPr/>
        </p:nvPicPr>
        <p:blipFill>
          <a:blip r:embed="rId7"/>
          <a:stretch>
            <a:fillRect/>
          </a:stretch>
        </p:blipFill>
        <p:spPr>
          <a:xfrm>
            <a:off x="3392424" y="2834640"/>
            <a:ext cx="310896" cy="310896"/>
          </a:xfrm>
          <a:prstGeom prst="rect">
            <a:avLst/>
          </a:prstGeom>
        </p:spPr>
      </p:pic>
      <p:sp>
        <p:nvSpPr>
          <p:cNvPr id="29" name="Anlass 5 heading"/>
          <p:cNvSpPr txBox="1"/>
          <p:nvPr/>
        </p:nvSpPr>
        <p:spPr>
          <a:xfrm>
            <a:off x="3803904" y="280720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Krise</a:t>
            </a:r>
          </a:p>
        </p:txBody>
      </p:sp>
      <p:sp>
        <p:nvSpPr>
          <p:cNvPr id="30" name="Anlass 5 text"/>
          <p:cNvSpPr txBox="1"/>
          <p:nvPr/>
        </p:nvSpPr>
        <p:spPr>
          <a:xfrm>
            <a:off x="3392424" y="32552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Reputationsschaden nach Segment und über die Zeit messen.</a:t>
            </a:r>
          </a:p>
        </p:txBody>
      </p:sp>
      <p:sp>
        <p:nvSpPr>
          <p:cNvPr id="31" name="Anlass 6 body"/>
          <p:cNvSpPr/>
          <p:nvPr/>
        </p:nvSpPr>
        <p:spPr>
          <a:xfrm>
            <a:off x="6053328"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nlass 6 bar"/>
          <p:cNvSpPr/>
          <p:nvPr/>
        </p:nvSpPr>
        <p:spPr>
          <a:xfrm>
            <a:off x="6053328"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Icon LuRefreshCw" descr=""/>
          <p:cNvPicPr>
            <a:picLocks noChangeAspect="1"/>
          </p:cNvPicPr>
          <p:nvPr/>
        </p:nvPicPr>
        <p:blipFill>
          <a:blip r:embed="rId8"/>
          <a:stretch>
            <a:fillRect/>
          </a:stretch>
        </p:blipFill>
        <p:spPr>
          <a:xfrm>
            <a:off x="6190488" y="2834640"/>
            <a:ext cx="310896" cy="310896"/>
          </a:xfrm>
          <a:prstGeom prst="rect">
            <a:avLst/>
          </a:prstGeom>
        </p:spPr>
      </p:pic>
      <p:sp>
        <p:nvSpPr>
          <p:cNvPr id="34" name="Anlass 6 heading"/>
          <p:cNvSpPr txBox="1"/>
          <p:nvPr/>
        </p:nvSpPr>
        <p:spPr>
          <a:xfrm>
            <a:off x="6601968" y="280720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Regelmäßig</a:t>
            </a:r>
          </a:p>
        </p:txBody>
      </p:sp>
      <p:sp>
        <p:nvSpPr>
          <p:cNvPr id="35" name="Anlass 6 text"/>
          <p:cNvSpPr txBox="1"/>
          <p:nvPr/>
        </p:nvSpPr>
        <p:spPr>
          <a:xfrm>
            <a:off x="6190488" y="3255264"/>
            <a:ext cx="2359152" cy="557784"/>
          </a:xfrm>
          <a:prstGeom prst="rect">
            <a:avLst/>
          </a:prstGeom>
          <a:noFill/>
        </p:spPr>
        <p:txBody>
          <a:bodyPr wrap="square" lIns="36576" rIns="36576" tIns="18288" bIns="18288" anchor="t">
            <a:spAutoFit/>
          </a:bodyPr>
          <a:lstStyle/>
          <a:p>
            <a:pPr algn="l">
              <a:spcAft>
                <a:spcPts val="400"/>
              </a:spcAft>
            </a:pPr>
            <a:r>
              <a:rPr lang="de-AT" sz="1300" b="0">
                <a:solidFill>
                  <a:schemeClr val="tx1"/>
                </a:solidFill>
              </a:rPr>
              <a:t>Tiefes Audit alle paar Jahre, dazwischen schlankes Tracking.</a:t>
            </a:r>
          </a:p>
        </p:txBody>
      </p:sp>
      <p:sp>
        <p:nvSpPr>
          <p:cNvPr id="36" name="Ritson"/>
          <p:cNvSpPr/>
          <p:nvPr/>
        </p:nvSpPr>
        <p:spPr>
          <a:xfrm>
            <a:off x="457200" y="41148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tson text"/>
          <p:cNvSpPr txBox="1"/>
          <p:nvPr/>
        </p:nvSpPr>
        <p:spPr>
          <a:xfrm>
            <a:off x="640080" y="4114800"/>
            <a:ext cx="7863840" cy="594360"/>
          </a:xfrm>
          <a:prstGeom prst="rect">
            <a:avLst/>
          </a:prstGeom>
          <a:noFill/>
        </p:spPr>
        <p:txBody>
          <a:bodyPr wrap="square" lIns="36576" rIns="36576" tIns="18288" bIns="18288" anchor="ctr">
            <a:spAutoFit/>
          </a:bodyPr>
          <a:lstStyle/>
          <a:p>
            <a:pPr algn="l">
              <a:spcAft>
                <a:spcPts val="0"/>
              </a:spcAft>
            </a:pPr>
            <a:r>
              <a:rPr lang="de-AT" sz="1300" b="1">
                <a:solidFill>
                  <a:schemeClr val="bg1"/>
                </a:solidFill>
              </a:rPr>
              <a:t>Ritson (Marketing Week, 2023): </a:t>
            </a:r>
            <a:r>
              <a:rPr lang="de-AT" sz="1300" b="0">
                <a:solidFill>
                  <a:schemeClr val="bg1"/>
                </a:solidFill>
              </a:rPr>
              <a:t>Markendiagnose ist die erste Aufgabe im Brand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Was ein fehlendes Audit kosten kann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Stat bar 1"/>
          <p:cNvSpPr/>
          <p:nvPr/>
        </p:nvSpPr>
        <p:spPr>
          <a:xfrm>
            <a:off x="457200" y="139903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325880"/>
            <a:ext cx="19202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−20 %</a:t>
            </a:r>
          </a:p>
        </p:txBody>
      </p:sp>
      <p:sp>
        <p:nvSpPr>
          <p:cNvPr id="8" name="Stat text 1"/>
          <p:cNvSpPr txBox="1"/>
          <p:nvPr/>
        </p:nvSpPr>
        <p:spPr>
          <a:xfrm>
            <a:off x="2651760" y="1371600"/>
            <a:ext cx="60350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Tropicana, 2009: </a:t>
            </a:r>
            <a:r>
              <a:rPr lang="de-AT" sz="1300" b="0">
                <a:solidFill>
                  <a:schemeClr val="tx1"/>
                </a:solidFill>
              </a:rPr>
              <a:t>Absatz in unter zwei Monaten nach dem Packungsredesign ohne Orange mit Strohhalm.</a:t>
            </a:r>
          </a:p>
          <a:p>
            <a:pPr algn="l">
              <a:spcAft>
                <a:spcPts val="200"/>
              </a:spcAft>
            </a:pPr>
            <a:r>
              <a:rPr lang="de-AT" sz="1050" b="0">
                <a:solidFill>
                  <a:srgbClr val="595959"/>
                </a:solidFill>
              </a:rPr>
              <a:t>IRI-Daten via Ad Age/Bloomberg (2009)</a:t>
            </a:r>
          </a:p>
        </p:txBody>
      </p:sp>
      <p:sp>
        <p:nvSpPr>
          <p:cNvPr id="9" name="Stat bar 2"/>
          <p:cNvSpPr/>
          <p:nvPr/>
        </p:nvSpPr>
        <p:spPr>
          <a:xfrm>
            <a:off x="457200" y="235915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286000"/>
            <a:ext cx="19202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1 Woche</a:t>
            </a:r>
          </a:p>
        </p:txBody>
      </p:sp>
      <p:sp>
        <p:nvSpPr>
          <p:cNvPr id="11" name="Stat text 2"/>
          <p:cNvSpPr txBox="1"/>
          <p:nvPr/>
        </p:nvSpPr>
        <p:spPr>
          <a:xfrm>
            <a:off x="2651760" y="2331720"/>
            <a:ext cx="60350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Gap, 2010: </a:t>
            </a:r>
            <a:r>
              <a:rPr lang="de-AT" sz="1300" b="0">
                <a:solidFill>
                  <a:schemeClr val="tx1"/>
                </a:solidFill>
              </a:rPr>
              <a:t>so lange hielt das neue Logo, bis ein Shitstorm die Rückkehr zur blauen Box erzwang.</a:t>
            </a:r>
          </a:p>
          <a:p>
            <a:pPr algn="l">
              <a:spcAft>
                <a:spcPts val="200"/>
              </a:spcAft>
            </a:pPr>
            <a:r>
              <a:rPr lang="de-AT" sz="1050" b="0">
                <a:solidFill>
                  <a:srgbClr val="595959"/>
                </a:solidFill>
              </a:rPr>
              <a:t>Pollach, The CASE Journal (2016)</a:t>
            </a:r>
          </a:p>
        </p:txBody>
      </p:sp>
      <p:sp>
        <p:nvSpPr>
          <p:cNvPr id="12" name="Stat bar 3"/>
          <p:cNvSpPr/>
          <p:nvPr/>
        </p:nvSpPr>
        <p:spPr>
          <a:xfrm>
            <a:off x="457200" y="331927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246120"/>
            <a:ext cx="19202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−20 Pkt.</a:t>
            </a:r>
          </a:p>
        </p:txBody>
      </p:sp>
      <p:sp>
        <p:nvSpPr>
          <p:cNvPr id="14" name="Stat text 3"/>
          <p:cNvSpPr txBox="1"/>
          <p:nvPr/>
        </p:nvSpPr>
        <p:spPr>
          <a:xfrm>
            <a:off x="2651760" y="3291839"/>
            <a:ext cx="60350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Bud Light, 2023: </a:t>
            </a:r>
            <a:r>
              <a:rPr lang="de-AT" sz="1300" b="0">
                <a:solidFill>
                  <a:schemeClr val="tx1"/>
                </a:solidFill>
              </a:rPr>
              <a:t>YouGov-Impression, April bis Juni, nach einer Kooperation, die Kernkäufer:innen verprellte.</a:t>
            </a:r>
          </a:p>
          <a:p>
            <a:pPr algn="l">
              <a:spcAft>
                <a:spcPts val="200"/>
              </a:spcAft>
            </a:pPr>
            <a:r>
              <a:rPr lang="de-AT" sz="1050" b="0">
                <a:solidFill>
                  <a:srgbClr val="595959"/>
                </a:solidFill>
              </a:rPr>
              <a:t>YouGov BrandIndex (31.08.2023)</a:t>
            </a:r>
          </a:p>
        </p:txBody>
      </p:sp>
      <p:sp>
        <p:nvSpPr>
          <p:cNvPr id="15" name="Lehre"/>
          <p:cNvSpPr/>
          <p:nvPr/>
        </p:nvSpPr>
        <p:spPr>
          <a:xfrm>
            <a:off x="457200" y="43434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hre text"/>
          <p:cNvSpPr txBox="1"/>
          <p:nvPr/>
        </p:nvSpPr>
        <p:spPr>
          <a:xfrm>
            <a:off x="640080" y="4343400"/>
            <a:ext cx="7863840" cy="502920"/>
          </a:xfrm>
          <a:prstGeom prst="rect">
            <a:avLst/>
          </a:prstGeom>
          <a:noFill/>
        </p:spPr>
        <p:txBody>
          <a:bodyPr wrap="square" lIns="36576" rIns="36576" tIns="18288" bIns="18288" anchor="ctr">
            <a:spAutoFit/>
          </a:bodyPr>
          <a:lstStyle/>
          <a:p>
            <a:pPr algn="l">
              <a:spcAft>
                <a:spcPts val="0"/>
              </a:spcAft>
            </a:pPr>
            <a:r>
              <a:rPr lang="de-AT" sz="1300" b="0">
                <a:solidFill>
                  <a:schemeClr val="bg1"/>
                </a:solidFill>
              </a:rPr>
              <a:t>Jeder Fall änderte Markenelemente, ohne zu wissen, was den Markenwert trug.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Wo ein Audit ansetzt</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Step 1"/>
          <p:cNvSpPr/>
          <p:nvPr/>
        </p:nvSpPr>
        <p:spPr>
          <a:xfrm>
            <a:off x="457200" y="1325880"/>
            <a:ext cx="2139696" cy="64008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200" b="1">
                <a:solidFill>
                  <a:schemeClr val="bg1"/>
                </a:solidFill>
              </a:rPr>
              <a:t>Marketing­programm</a:t>
            </a:r>
          </a:p>
        </p:txBody>
      </p:sp>
      <p:sp>
        <p:nvSpPr>
          <p:cNvPr id="7" name="Step 2"/>
          <p:cNvSpPr/>
          <p:nvPr/>
        </p:nvSpPr>
        <p:spPr>
          <a:xfrm>
            <a:off x="2487168"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200" b="1">
                <a:solidFill>
                  <a:schemeClr val="bg1"/>
                </a:solidFill>
              </a:rPr>
              <a:t>Kunden­wissen</a:t>
            </a:r>
          </a:p>
        </p:txBody>
      </p:sp>
      <p:sp>
        <p:nvSpPr>
          <p:cNvPr id="8" name="Step 3"/>
          <p:cNvSpPr/>
          <p:nvPr/>
        </p:nvSpPr>
        <p:spPr>
          <a:xfrm>
            <a:off x="4517136"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200" b="1">
                <a:solidFill>
                  <a:schemeClr val="bg1"/>
                </a:solidFill>
              </a:rPr>
              <a:t>Markt­erfolg</a:t>
            </a:r>
          </a:p>
        </p:txBody>
      </p:sp>
      <p:sp>
        <p:nvSpPr>
          <p:cNvPr id="9" name="Step 4"/>
          <p:cNvSpPr/>
          <p:nvPr/>
        </p:nvSpPr>
        <p:spPr>
          <a:xfrm>
            <a:off x="6547103"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200" b="1">
                <a:solidFill>
                  <a:schemeClr val="bg1"/>
                </a:solidFill>
              </a:rPr>
              <a:t>Unter­nehmens­wert</a:t>
            </a:r>
          </a:p>
        </p:txBody>
      </p:sp>
      <p:sp>
        <p:nvSpPr>
          <p:cNvPr id="10" name="Ebene 1"/>
          <p:cNvSpPr txBox="1"/>
          <p:nvPr/>
        </p:nvSpPr>
        <p:spPr>
          <a:xfrm>
            <a:off x="548640" y="2148840"/>
            <a:ext cx="1819655" cy="1463040"/>
          </a:xfrm>
          <a:prstGeom prst="rect">
            <a:avLst/>
          </a:prstGeom>
          <a:noFill/>
        </p:spPr>
        <p:txBody>
          <a:bodyPr wrap="square" lIns="36576" rIns="36576" tIns="18288" bIns="18288" anchor="t">
            <a:spAutoFit/>
          </a:bodyPr>
          <a:lstStyle/>
          <a:p>
            <a:pPr algn="l">
              <a:spcAft>
                <a:spcPts val="400"/>
              </a:spcAft>
            </a:pPr>
            <a:r>
              <a:rPr lang="de-AT" sz="1300" b="1">
                <a:solidFill>
                  <a:schemeClr val="tx2"/>
                </a:solidFill>
              </a:rPr>
              <a:t>Brand Inventory</a:t>
            </a:r>
          </a:p>
          <a:p>
            <a:pPr algn="l">
              <a:spcAft>
                <a:spcPts val="400"/>
              </a:spcAft>
            </a:pPr>
            <a:r>
              <a:rPr lang="de-AT" sz="1300" b="0">
                <a:solidFill>
                  <a:schemeClr val="tx1"/>
                </a:solidFill>
              </a:rPr>
              <a:t>Elemente, Produkte, Preis, Kommunikation, Distribution</a:t>
            </a:r>
          </a:p>
        </p:txBody>
      </p:sp>
      <p:sp>
        <p:nvSpPr>
          <p:cNvPr id="11" name="Ebene 2"/>
          <p:cNvSpPr txBox="1"/>
          <p:nvPr/>
        </p:nvSpPr>
        <p:spPr>
          <a:xfrm>
            <a:off x="2578608" y="2148840"/>
            <a:ext cx="1819655" cy="1463040"/>
          </a:xfrm>
          <a:prstGeom prst="rect">
            <a:avLst/>
          </a:prstGeom>
          <a:noFill/>
        </p:spPr>
        <p:txBody>
          <a:bodyPr wrap="square" lIns="36576" rIns="36576" tIns="18288" bIns="18288" anchor="t">
            <a:spAutoFit/>
          </a:bodyPr>
          <a:lstStyle/>
          <a:p>
            <a:pPr algn="l">
              <a:spcAft>
                <a:spcPts val="400"/>
              </a:spcAft>
            </a:pPr>
            <a:r>
              <a:rPr lang="de-AT" sz="1300" b="1">
                <a:solidFill>
                  <a:schemeClr val="tx2"/>
                </a:solidFill>
              </a:rPr>
              <a:t>Brand Exploratory</a:t>
            </a:r>
          </a:p>
          <a:p>
            <a:pPr algn="l">
              <a:spcAft>
                <a:spcPts val="400"/>
              </a:spcAft>
            </a:pPr>
            <a:r>
              <a:rPr lang="de-AT" sz="1300" b="0">
                <a:solidFill>
                  <a:schemeClr val="tx1"/>
                </a:solidFill>
              </a:rPr>
              <a:t>Bekanntheit, Assoziationen, Einstellungen, Bindung</a:t>
            </a:r>
          </a:p>
        </p:txBody>
      </p:sp>
      <p:sp>
        <p:nvSpPr>
          <p:cNvPr id="12" name="Ebene 3"/>
          <p:cNvSpPr txBox="1"/>
          <p:nvPr/>
        </p:nvSpPr>
        <p:spPr>
          <a:xfrm>
            <a:off x="4608575" y="2148840"/>
            <a:ext cx="1819655" cy="1463040"/>
          </a:xfrm>
          <a:prstGeom prst="rect">
            <a:avLst/>
          </a:prstGeom>
          <a:noFill/>
        </p:spPr>
        <p:txBody>
          <a:bodyPr wrap="square" lIns="36576" rIns="36576" tIns="18288" bIns="18288" anchor="t">
            <a:spAutoFit/>
          </a:bodyPr>
          <a:lstStyle/>
          <a:p>
            <a:pPr algn="l">
              <a:spcAft>
                <a:spcPts val="400"/>
              </a:spcAft>
            </a:pPr>
            <a:r>
              <a:rPr lang="de-AT" sz="1300" b="1">
                <a:solidFill>
                  <a:schemeClr val="tx2"/>
                </a:solidFill>
              </a:rPr>
              <a:t>Marktdaten</a:t>
            </a:r>
          </a:p>
          <a:p>
            <a:pPr algn="l">
              <a:spcAft>
                <a:spcPts val="400"/>
              </a:spcAft>
            </a:pPr>
            <a:r>
              <a:rPr lang="de-AT" sz="1300" b="0">
                <a:solidFill>
                  <a:schemeClr val="tx1"/>
                </a:solidFill>
              </a:rPr>
              <a:t>Preisprämie, Marktanteil, Penetration, Loyalität</a:t>
            </a:r>
          </a:p>
        </p:txBody>
      </p:sp>
      <p:sp>
        <p:nvSpPr>
          <p:cNvPr id="13" name="Ebene 4"/>
          <p:cNvSpPr txBox="1"/>
          <p:nvPr/>
        </p:nvSpPr>
        <p:spPr>
          <a:xfrm>
            <a:off x="6638543" y="2148840"/>
            <a:ext cx="1819655" cy="1463040"/>
          </a:xfrm>
          <a:prstGeom prst="rect">
            <a:avLst/>
          </a:prstGeom>
          <a:noFill/>
        </p:spPr>
        <p:txBody>
          <a:bodyPr wrap="square" lIns="36576" rIns="36576" tIns="18288" bIns="18288" anchor="t">
            <a:spAutoFit/>
          </a:bodyPr>
          <a:lstStyle/>
          <a:p>
            <a:pPr algn="l">
              <a:spcAft>
                <a:spcPts val="400"/>
              </a:spcAft>
            </a:pPr>
            <a:r>
              <a:rPr lang="de-AT" sz="1300" b="1">
                <a:solidFill>
                  <a:schemeClr val="tx2"/>
                </a:solidFill>
              </a:rPr>
              <a:t>Bewertung</a:t>
            </a:r>
          </a:p>
          <a:p>
            <a:pPr algn="l">
              <a:spcAft>
                <a:spcPts val="400"/>
              </a:spcAft>
            </a:pPr>
            <a:r>
              <a:rPr lang="de-AT" sz="1300" b="0">
                <a:solidFill>
                  <a:schemeClr val="tx1"/>
                </a:solidFill>
              </a:rPr>
              <a:t>Markenwert, Aktienrendite</a:t>
            </a:r>
          </a:p>
        </p:txBody>
      </p:sp>
      <p:sp>
        <p:nvSpPr>
          <p:cNvPr id="14" name="Audit-Frage"/>
          <p:cNvSpPr/>
          <p:nvPr/>
        </p:nvSpPr>
        <p:spPr>
          <a:xfrm>
            <a:off x="457200" y="34747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udit-Frage text"/>
          <p:cNvSpPr txBox="1"/>
          <p:nvPr/>
        </p:nvSpPr>
        <p:spPr>
          <a:xfrm>
            <a:off x="640080" y="3474720"/>
            <a:ext cx="7863840" cy="502920"/>
          </a:xfrm>
          <a:prstGeom prst="rect">
            <a:avLst/>
          </a:prstGeom>
          <a:noFill/>
        </p:spPr>
        <p:txBody>
          <a:bodyPr wrap="square" lIns="36576" rIns="36576" tIns="18288" bIns="18288" anchor="ctr">
            <a:spAutoFit/>
          </a:bodyPr>
          <a:lstStyle/>
          <a:p>
            <a:pPr algn="l">
              <a:spcAft>
                <a:spcPts val="0"/>
              </a:spcAft>
            </a:pPr>
            <a:r>
              <a:rPr lang="de-AT" sz="1300" b="1">
                <a:solidFill>
                  <a:schemeClr val="bg1"/>
                </a:solidFill>
              </a:rPr>
              <a:t>Audit-Frage: </a:t>
            </a:r>
            <a:r>
              <a:rPr lang="de-AT" sz="1300" b="0">
                <a:solidFill>
                  <a:schemeClr val="bg1"/>
                </a:solidFill>
              </a:rPr>
              <a:t>Bewegen die gemessenen Wahrnehmungen Markt- und Finanzergebnisse?</a:t>
            </a:r>
          </a:p>
        </p:txBody>
      </p:sp>
      <p:sp>
        <p:nvSpPr>
          <p:cNvPr id="16" name="Source note"/>
          <p:cNvSpPr txBox="1"/>
          <p:nvPr/>
        </p:nvSpPr>
        <p:spPr>
          <a:xfrm>
            <a:off x="457200" y="4160520"/>
            <a:ext cx="8229600" cy="45720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Keller &amp; Lehmann (2006), Marketing Science 25(6); Mizik &amp; Jacobson (2008), Journal of Marketing Research 45(1).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2 von 5 · Inventory, Exploratory, CBBE-Pyramide</a:t>
            </a:r>
          </a:p>
        </p:txBody>
      </p:sp>
      <p:sp>
        <p:nvSpPr>
          <p:cNvPr id="3" name="Title 2"/>
          <p:cNvSpPr>
            <a:spLocks noGrp="1"/>
          </p:cNvSpPr>
          <p:nvPr>
            <p:ph type="ctrTitle"/>
          </p:nvPr>
        </p:nvSpPr>
        <p:spPr/>
        <p:txBody>
          <a:bodyPr/>
          <a:lstStyle/>
          <a:p>
            <a:r>
              <a:rPr lang="de-AT"/>
              <a:t>Der Ablauf eines Markenaudits</a:t>
            </a:r>
          </a:p>
        </p:txBody>
      </p:sp>
      <p:sp>
        <p:nvSpPr>
          <p:cNvPr id="4" name="Footer Placeholder 3"/>
          <p:cNvSpPr>
            <a:spLocks noGrp="1"/>
          </p:cNvSpPr>
          <p:nvPr>
            <p:ph type="ftr" idx="14" sz="quarter"/>
          </p:nvPr>
        </p:nvSpPr>
        <p:spPr/>
        <p:txBody>
          <a:bodyPr/>
          <a:p>
            <a:r>
              <a:rPr lang="de-AT"/>
              <a:t>Markenaudit</a:t>
            </a:r>
          </a:p>
        </p:txBody>
      </p:sp>
      <p:sp>
        <p:nvSpPr>
          <p:cNvPr id="5" name="Slide Number Placeholder 4"/>
          <p:cNvSpPr>
            <a:spLocks noGrp="1"/>
          </p:cNvSpPr>
          <p:nvPr>
            <p:ph type="sldNum" idx="15" sz="quarter"/>
          </p:nvPr>
        </p:nvSpPr>
        <p:spPr/>
        <p:txBody>
          <a:bodyPr/>
          <a:p>
            <a:r>
              <a:rPr lang="de-AT"/>
              <a:t>SEITE </a:t>
            </a:r>
            <a:fld id="{B6F15528-21DE-4FAA-801E-634DDDAF4B2B}" type="slidenum">
              <a:rPr lang="de-AT"/>
              <a:t>‹#›</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zwei Teile jedes Audits</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Inventory body"/>
          <p:cNvSpPr/>
          <p:nvPr/>
        </p:nvSpPr>
        <p:spPr>
          <a:xfrm>
            <a:off x="457200" y="1280160"/>
            <a:ext cx="4032504"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nventory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nventory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Brand Inventory</a:t>
            </a:r>
          </a:p>
        </p:txBody>
      </p:sp>
      <p:pic>
        <p:nvPicPr>
          <p:cNvPr id="9" name="Icon LuClipboardList" descr=""/>
          <p:cNvPicPr>
            <a:picLocks noChangeAspect="1"/>
          </p:cNvPicPr>
          <p:nvPr/>
        </p:nvPicPr>
        <p:blipFill>
          <a:blip r:embed="rId3"/>
          <a:stretch>
            <a:fillRect/>
          </a:stretch>
        </p:blipFill>
        <p:spPr>
          <a:xfrm>
            <a:off x="4059936" y="1344168"/>
            <a:ext cx="329184" cy="329184"/>
          </a:xfrm>
          <a:prstGeom prst="rect">
            <a:avLst/>
          </a:prstGeom>
        </p:spPr>
      </p:pic>
      <p:sp>
        <p:nvSpPr>
          <p:cNvPr id="10" name="Inventory text"/>
          <p:cNvSpPr txBox="1"/>
          <p:nvPr/>
        </p:nvSpPr>
        <p:spPr>
          <a:xfrm>
            <a:off x="594360" y="1847088"/>
            <a:ext cx="3758184" cy="258775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Sicht des Unternehmens</a:t>
            </a:r>
          </a:p>
          <a:p>
            <a:pPr algn="l">
              <a:spcAft>
                <a:spcPts val="700"/>
              </a:spcAft>
            </a:pPr>
            <a:r>
              <a:rPr lang="de-AT" sz="1300" b="0">
                <a:solidFill>
                  <a:schemeClr val="tx1"/>
                </a:solidFill>
              </a:rPr>
              <a:t>Vollständiges Profil, wie die Marke vermarktet wird.</a:t>
            </a:r>
          </a:p>
          <a:p>
            <a:pPr algn="l">
              <a:spcAft>
                <a:spcPts val="700"/>
              </a:spcAft>
            </a:pPr>
            <a:r>
              <a:rPr lang="de-AT" sz="1300" b="0">
                <a:solidFill>
                  <a:schemeClr val="tx1"/>
                </a:solidFill>
              </a:rPr>
              <a:t>Elemente, Portfolio, Produkte, Preis, Kommunikation, Distribution.</a:t>
            </a:r>
          </a:p>
          <a:p>
            <a:pPr algn="l">
              <a:spcAft>
                <a:spcPts val="700"/>
              </a:spcAft>
            </a:pPr>
            <a:r>
              <a:rPr lang="de-AT" sz="1300" b="0">
                <a:solidFill>
                  <a:schemeClr val="tx1"/>
                </a:solidFill>
              </a:rPr>
              <a:t>Dasselbe Profil für die wichtigsten Wettbewerber.</a:t>
            </a:r>
          </a:p>
          <a:p>
            <a:pPr algn="l">
              <a:spcAft>
                <a:spcPts val="700"/>
              </a:spcAft>
            </a:pPr>
            <a:r>
              <a:rPr lang="de-AT" sz="1300" b="0">
                <a:solidFill>
                  <a:schemeClr val="tx1"/>
                </a:solidFill>
              </a:rPr>
              <a:t>Ergebnis: beabsichtigte Positionierung und ihre Konsistenz.</a:t>
            </a:r>
          </a:p>
        </p:txBody>
      </p:sp>
      <p:sp>
        <p:nvSpPr>
          <p:cNvPr id="11" name="Exploratory body"/>
          <p:cNvSpPr/>
          <p:nvPr/>
        </p:nvSpPr>
        <p:spPr>
          <a:xfrm>
            <a:off x="4654296" y="1280160"/>
            <a:ext cx="4032504"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xploratory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oratory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Brand Exploratory</a:t>
            </a:r>
          </a:p>
        </p:txBody>
      </p:sp>
      <p:pic>
        <p:nvPicPr>
          <p:cNvPr id="14" name="Icon LuSearch" descr=""/>
          <p:cNvPicPr>
            <a:picLocks noChangeAspect="1"/>
          </p:cNvPicPr>
          <p:nvPr/>
        </p:nvPicPr>
        <p:blipFill>
          <a:blip r:embed="rId4"/>
          <a:stretch>
            <a:fillRect/>
          </a:stretch>
        </p:blipFill>
        <p:spPr>
          <a:xfrm>
            <a:off x="8257031" y="1344168"/>
            <a:ext cx="329184" cy="329184"/>
          </a:xfrm>
          <a:prstGeom prst="rect">
            <a:avLst/>
          </a:prstGeom>
        </p:spPr>
      </p:pic>
      <p:sp>
        <p:nvSpPr>
          <p:cNvPr id="15" name="Exploratory text"/>
          <p:cNvSpPr txBox="1"/>
          <p:nvPr/>
        </p:nvSpPr>
        <p:spPr>
          <a:xfrm>
            <a:off x="4791456" y="1847088"/>
            <a:ext cx="3758184" cy="258775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Sicht der Käufer:innen</a:t>
            </a:r>
          </a:p>
          <a:p>
            <a:pPr algn="l">
              <a:spcAft>
                <a:spcPts val="700"/>
              </a:spcAft>
            </a:pPr>
            <a:r>
              <a:rPr lang="de-AT" sz="1300" b="0">
                <a:solidFill>
                  <a:schemeClr val="tx1"/>
                </a:solidFill>
              </a:rPr>
              <a:t>Was Konsument:innen über die Marke wissen, denken und fühlen.</a:t>
            </a:r>
          </a:p>
          <a:p>
            <a:pPr algn="l">
              <a:spcAft>
                <a:spcPts val="700"/>
              </a:spcAft>
            </a:pPr>
            <a:r>
              <a:rPr lang="de-AT" sz="1300" b="0">
                <a:solidFill>
                  <a:schemeClr val="tx1"/>
                </a:solidFill>
              </a:rPr>
              <a:t>Erst Sekundärdaten, dann qualitative Forschung, dann Befragung.</a:t>
            </a:r>
          </a:p>
          <a:p>
            <a:pPr algn="l">
              <a:spcAft>
                <a:spcPts val="700"/>
              </a:spcAft>
            </a:pPr>
            <a:r>
              <a:rPr lang="de-AT" sz="1300" b="0">
                <a:solidFill>
                  <a:schemeClr val="tx1"/>
                </a:solidFill>
              </a:rPr>
              <a:t>Verglichen mit denselben Wettbewerbern.</a:t>
            </a:r>
          </a:p>
          <a:p>
            <a:pPr algn="l">
              <a:spcAft>
                <a:spcPts val="700"/>
              </a:spcAft>
            </a:pPr>
            <a:r>
              <a:rPr lang="de-AT" sz="1300" b="0">
                <a:solidFill>
                  <a:schemeClr val="tx1"/>
                </a:solidFill>
              </a:rPr>
              <a:t>Ergebnis: Quellen des Markenwerts und Lücken zur Soll-Positionierung.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Checkliste für das Brand Inventory</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Inventory Tabelle"/>
          <p:cNvGraphicFramePr>
            <a:graphicFrameLocks noGrp="1"/>
          </p:cNvGraphicFramePr>
          <p:nvPr/>
        </p:nvGraphicFramePr>
        <p:xfrm>
          <a:off x="457200" y="1280160"/>
          <a:ext cx="8229600" cy="2834640"/>
        </p:xfrm>
        <a:graphic>
          <a:graphicData uri="http://schemas.openxmlformats.org/drawingml/2006/table">
            <a:tbl>
              <a:tblPr firstRow="1" bandRow="1">
                <a:tableStyleId>{5C22544A-7EE6-4342-B048-85BDC9FD1C3A}</a:tableStyleId>
              </a:tblPr>
              <a:tblGrid>
                <a:gridCol w="1828800"/>
                <a:gridCol w="3566160"/>
                <a:gridCol w="2834640"/>
              </a:tblGrid>
              <a:tr h="354330">
                <a:tc>
                  <a:txBody>
                    <a:bodyPr/>
                    <a:lstStyle/>
                    <a:p>
                      <a:r>
                        <a:rPr lang="de-AT" sz="1200" b="1">
                          <a:solidFill>
                            <a:schemeClr val="bg1"/>
                          </a:solidFill>
                        </a:rPr>
                        <a:t>Bereich</a:t>
                      </a:r>
                    </a:p>
                  </a:txBody>
                  <a:tcPr marT="36576" marB="36576" anchor="ctr">
                    <a:solidFill>
                      <a:schemeClr val="accent1"/>
                    </a:solidFill>
                  </a:tcPr>
                </a:tc>
                <a:tc>
                  <a:txBody>
                    <a:bodyPr/>
                    <a:lstStyle/>
                    <a:p>
                      <a:r>
                        <a:rPr lang="de-AT" sz="1200" b="1">
                          <a:solidFill>
                            <a:schemeClr val="bg1"/>
                          </a:solidFill>
                        </a:rPr>
                        <a:t>Was erfassen</a:t>
                      </a:r>
                    </a:p>
                  </a:txBody>
                  <a:tcPr marT="36576" marB="36576" anchor="ctr">
                    <a:solidFill>
                      <a:schemeClr val="accent1"/>
                    </a:solidFill>
                  </a:tcPr>
                </a:tc>
                <a:tc>
                  <a:txBody>
                    <a:bodyPr/>
                    <a:lstStyle/>
                    <a:p>
                      <a:r>
                        <a:rPr lang="de-AT" sz="1200" b="1">
                          <a:solidFill>
                            <a:schemeClr val="bg1"/>
                          </a:solidFill>
                        </a:rPr>
                        <a:t>Typische Quellen</a:t>
                      </a:r>
                    </a:p>
                  </a:txBody>
                  <a:tcPr marT="36576" marB="36576" anchor="ctr">
                    <a:solidFill>
                      <a:schemeClr val="accent1"/>
                    </a:solidFill>
                  </a:tcPr>
                </a:tc>
              </a:tr>
              <a:tr h="354330">
                <a:tc>
                  <a:txBody>
                    <a:bodyPr/>
                    <a:lstStyle/>
                    <a:p>
                      <a:r>
                        <a:rPr lang="de-AT" sz="1200">
                          <a:solidFill>
                            <a:schemeClr val="tx1"/>
                          </a:solidFill>
                        </a:rPr>
                        <a:t>Markenelemente</a:t>
                      </a:r>
                    </a:p>
                  </a:txBody>
                  <a:tcPr marT="36576" marB="36576" anchor="ctr">
                    <a:solidFill>
                      <a:schemeClr val="bg2"/>
                    </a:solidFill>
                  </a:tcPr>
                </a:tc>
                <a:tc>
                  <a:txBody>
                    <a:bodyPr/>
                    <a:lstStyle/>
                    <a:p>
                      <a:r>
                        <a:rPr lang="de-AT" sz="1200">
                          <a:solidFill>
                            <a:schemeClr val="tx1"/>
                          </a:solidFill>
                        </a:rPr>
                        <a:t>Name, Logo, Farben, Packung, Slogan, Sound</a:t>
                      </a:r>
                    </a:p>
                  </a:txBody>
                  <a:tcPr marT="36576" marB="36576" anchor="ctr">
                    <a:solidFill>
                      <a:schemeClr val="bg2"/>
                    </a:solidFill>
                  </a:tcPr>
                </a:tc>
                <a:tc>
                  <a:txBody>
                    <a:bodyPr/>
                    <a:lstStyle/>
                    <a:p>
                      <a:r>
                        <a:rPr lang="de-AT" sz="1200">
                          <a:solidFill>
                            <a:schemeClr val="tx1"/>
                          </a:solidFill>
                        </a:rPr>
                        <a:t>Packungen, Website, Brand Book</a:t>
                      </a:r>
                    </a:p>
                  </a:txBody>
                  <a:tcPr marT="36576" marB="36576" anchor="ctr">
                    <a:solidFill>
                      <a:schemeClr val="bg2"/>
                    </a:solidFill>
                  </a:tcPr>
                </a:tc>
              </a:tr>
              <a:tr h="354330">
                <a:tc>
                  <a:txBody>
                    <a:bodyPr/>
                    <a:lstStyle/>
                    <a:p>
                      <a:r>
                        <a:rPr lang="de-AT" sz="1200">
                          <a:solidFill>
                            <a:schemeClr val="tx1"/>
                          </a:solidFill>
                        </a:rPr>
                        <a:t>Portfolio</a:t>
                      </a:r>
                    </a:p>
                  </a:txBody>
                  <a:tcPr marT="36576" marB="36576" anchor="ctr">
                    <a:solidFill>
                      <a:srgbClr val="F2F2F2"/>
                    </a:solidFill>
                  </a:tcPr>
                </a:tc>
                <a:tc>
                  <a:txBody>
                    <a:bodyPr/>
                    <a:lstStyle/>
                    <a:p>
                      <a:r>
                        <a:rPr lang="de-AT" sz="1200">
                          <a:solidFill>
                            <a:schemeClr val="tx1"/>
                          </a:solidFill>
                        </a:rPr>
                        <a:t>Marken, Submarken, Endorsements</a:t>
                      </a:r>
                    </a:p>
                  </a:txBody>
                  <a:tcPr marT="36576" marB="36576" anchor="ctr">
                    <a:solidFill>
                      <a:srgbClr val="F2F2F2"/>
                    </a:solidFill>
                  </a:tcPr>
                </a:tc>
                <a:tc>
                  <a:txBody>
                    <a:bodyPr/>
                    <a:lstStyle/>
                    <a:p>
                      <a:r>
                        <a:rPr lang="de-AT" sz="1200">
                          <a:solidFill>
                            <a:schemeClr val="tx1"/>
                          </a:solidFill>
                        </a:rPr>
                        <a:t>Geschäftsbericht, Website</a:t>
                      </a:r>
                    </a:p>
                  </a:txBody>
                  <a:tcPr marT="36576" marB="36576" anchor="ctr">
                    <a:solidFill>
                      <a:srgbClr val="F2F2F2"/>
                    </a:solidFill>
                  </a:tcPr>
                </a:tc>
              </a:tr>
              <a:tr h="354330">
                <a:tc>
                  <a:txBody>
                    <a:bodyPr/>
                    <a:lstStyle/>
                    <a:p>
                      <a:r>
                        <a:rPr lang="de-AT" sz="1200">
                          <a:solidFill>
                            <a:schemeClr val="tx1"/>
                          </a:solidFill>
                        </a:rPr>
                        <a:t>Produkt</a:t>
                      </a:r>
                    </a:p>
                  </a:txBody>
                  <a:tcPr marT="36576" marB="36576" anchor="ctr">
                    <a:solidFill>
                      <a:schemeClr val="bg2"/>
                    </a:solidFill>
                  </a:tcPr>
                </a:tc>
                <a:tc>
                  <a:txBody>
                    <a:bodyPr/>
                    <a:lstStyle/>
                    <a:p>
                      <a:r>
                        <a:rPr lang="de-AT" sz="1200">
                          <a:solidFill>
                            <a:schemeClr val="tx1"/>
                          </a:solidFill>
                        </a:rPr>
                        <a:t>Sortiment, Nutzen, Qualitätssignale</a:t>
                      </a:r>
                    </a:p>
                  </a:txBody>
                  <a:tcPr marT="36576" marB="36576" anchor="ctr">
                    <a:solidFill>
                      <a:schemeClr val="bg2"/>
                    </a:solidFill>
                  </a:tcPr>
                </a:tc>
                <a:tc>
                  <a:txBody>
                    <a:bodyPr/>
                    <a:lstStyle/>
                    <a:p>
                      <a:r>
                        <a:rPr lang="de-AT" sz="1200">
                          <a:solidFill>
                            <a:schemeClr val="tx1"/>
                          </a:solidFill>
                        </a:rPr>
                        <a:t>Sortimentslisten, Rezensionen</a:t>
                      </a:r>
                    </a:p>
                  </a:txBody>
                  <a:tcPr marT="36576" marB="36576" anchor="ctr">
                    <a:solidFill>
                      <a:schemeClr val="bg2"/>
                    </a:solidFill>
                  </a:tcPr>
                </a:tc>
              </a:tr>
              <a:tr h="354330">
                <a:tc>
                  <a:txBody>
                    <a:bodyPr/>
                    <a:lstStyle/>
                    <a:p>
                      <a:r>
                        <a:rPr lang="de-AT" sz="1200">
                          <a:solidFill>
                            <a:schemeClr val="tx1"/>
                          </a:solidFill>
                        </a:rPr>
                        <a:t>Preis</a:t>
                      </a:r>
                    </a:p>
                  </a:txBody>
                  <a:tcPr marT="36576" marB="36576" anchor="ctr">
                    <a:solidFill>
                      <a:srgbClr val="F2F2F2"/>
                    </a:solidFill>
                  </a:tcPr>
                </a:tc>
                <a:tc>
                  <a:txBody>
                    <a:bodyPr/>
                    <a:lstStyle/>
                    <a:p>
                      <a:r>
                        <a:rPr lang="de-AT" sz="1200">
                          <a:solidFill>
                            <a:schemeClr val="tx1"/>
                          </a:solidFill>
                        </a:rPr>
                        <a:t>Preispunkte, Preisprämie, Aktionen</a:t>
                      </a:r>
                    </a:p>
                  </a:txBody>
                  <a:tcPr marT="36576" marB="36576" anchor="ctr">
                    <a:solidFill>
                      <a:srgbClr val="F2F2F2"/>
                    </a:solidFill>
                  </a:tcPr>
                </a:tc>
                <a:tc>
                  <a:txBody>
                    <a:bodyPr/>
                    <a:lstStyle/>
                    <a:p>
                      <a:r>
                        <a:rPr lang="de-AT" sz="1200">
                          <a:solidFill>
                            <a:schemeClr val="tx1"/>
                          </a:solidFill>
                        </a:rPr>
                        <a:t>Store-Checks, Scannerdaten</a:t>
                      </a:r>
                    </a:p>
                  </a:txBody>
                  <a:tcPr marT="36576" marB="36576" anchor="ctr">
                    <a:solidFill>
                      <a:srgbClr val="F2F2F2"/>
                    </a:solidFill>
                  </a:tcPr>
                </a:tc>
              </a:tr>
              <a:tr h="354330">
                <a:tc>
                  <a:txBody>
                    <a:bodyPr/>
                    <a:lstStyle/>
                    <a:p>
                      <a:r>
                        <a:rPr lang="de-AT" sz="1200">
                          <a:solidFill>
                            <a:schemeClr val="tx1"/>
                          </a:solidFill>
                        </a:rPr>
                        <a:t>Kommunikation</a:t>
                      </a:r>
                    </a:p>
                  </a:txBody>
                  <a:tcPr marT="36576" marB="36576" anchor="ctr">
                    <a:solidFill>
                      <a:schemeClr val="bg2"/>
                    </a:solidFill>
                  </a:tcPr>
                </a:tc>
                <a:tc>
                  <a:txBody>
                    <a:bodyPr/>
                    <a:lstStyle/>
                    <a:p>
                      <a:r>
                        <a:rPr lang="de-AT" sz="1200">
                          <a:solidFill>
                            <a:schemeClr val="tx1"/>
                          </a:solidFill>
                        </a:rPr>
                        <a:t>Kampagnen, Claims, Mediamix, Social</a:t>
                      </a:r>
                    </a:p>
                  </a:txBody>
                  <a:tcPr marT="36576" marB="36576" anchor="ctr">
                    <a:solidFill>
                      <a:schemeClr val="bg2"/>
                    </a:solidFill>
                  </a:tcPr>
                </a:tc>
                <a:tc>
                  <a:txBody>
                    <a:bodyPr/>
                    <a:lstStyle/>
                    <a:p>
                      <a:r>
                        <a:rPr lang="de-AT" sz="1200">
                          <a:solidFill>
                            <a:schemeClr val="tx1"/>
                          </a:solidFill>
                        </a:rPr>
                        <a:t>Werbearchive, Effie-Einreichungen</a:t>
                      </a:r>
                    </a:p>
                  </a:txBody>
                  <a:tcPr marT="36576" marB="36576" anchor="ctr">
                    <a:solidFill>
                      <a:schemeClr val="bg2"/>
                    </a:solidFill>
                  </a:tcPr>
                </a:tc>
              </a:tr>
              <a:tr h="354330">
                <a:tc>
                  <a:txBody>
                    <a:bodyPr/>
                    <a:lstStyle/>
                    <a:p>
                      <a:r>
                        <a:rPr lang="de-AT" sz="1200">
                          <a:solidFill>
                            <a:schemeClr val="tx1"/>
                          </a:solidFill>
                        </a:rPr>
                        <a:t>Distribution</a:t>
                      </a:r>
                    </a:p>
                  </a:txBody>
                  <a:tcPr marT="36576" marB="36576" anchor="ctr">
                    <a:solidFill>
                      <a:srgbClr val="F2F2F2"/>
                    </a:solidFill>
                  </a:tcPr>
                </a:tc>
                <a:tc>
                  <a:txBody>
                    <a:bodyPr/>
                    <a:lstStyle/>
                    <a:p>
                      <a:r>
                        <a:rPr lang="de-AT" sz="1200">
                          <a:solidFill>
                            <a:schemeClr val="tx1"/>
                          </a:solidFill>
                        </a:rPr>
                        <a:t>Kanäle, Regalpräsenz, Verfügbarkeit</a:t>
                      </a:r>
                    </a:p>
                  </a:txBody>
                  <a:tcPr marT="36576" marB="36576" anchor="ctr">
                    <a:solidFill>
                      <a:srgbClr val="F2F2F2"/>
                    </a:solidFill>
                  </a:tcPr>
                </a:tc>
                <a:tc>
                  <a:txBody>
                    <a:bodyPr/>
                    <a:lstStyle/>
                    <a:p>
                      <a:r>
                        <a:rPr lang="de-AT" sz="1200">
                          <a:solidFill>
                            <a:schemeClr val="tx1"/>
                          </a:solidFill>
                        </a:rPr>
                        <a:t>Store-Besuche, Handelsdaten</a:t>
                      </a:r>
                    </a:p>
                  </a:txBody>
                  <a:tcPr marT="36576" marB="36576" anchor="ctr">
                    <a:solidFill>
                      <a:srgbClr val="F2F2F2"/>
                    </a:solidFill>
                  </a:tcPr>
                </a:tc>
              </a:tr>
              <a:tr h="354330">
                <a:tc>
                  <a:txBody>
                    <a:bodyPr/>
                    <a:lstStyle/>
                    <a:p>
                      <a:r>
                        <a:rPr lang="de-AT" sz="1200">
                          <a:solidFill>
                            <a:schemeClr val="tx1"/>
                          </a:solidFill>
                        </a:rPr>
                        <a:t>Wettbewerb</a:t>
                      </a:r>
                    </a:p>
                  </a:txBody>
                  <a:tcPr marT="36576" marB="36576" anchor="ctr">
                    <a:solidFill>
                      <a:schemeClr val="bg2"/>
                    </a:solidFill>
                  </a:tcPr>
                </a:tc>
                <a:tc>
                  <a:txBody>
                    <a:bodyPr/>
                    <a:lstStyle/>
                    <a:p>
                      <a:r>
                        <a:rPr lang="de-AT" sz="1200">
                          <a:solidFill>
                            <a:schemeClr val="tx1"/>
                          </a:solidFill>
                        </a:rPr>
                        <a:t>Dasselbe Profil für 2–3 Konkurrenten</a:t>
                      </a:r>
                    </a:p>
                  </a:txBody>
                  <a:tcPr marT="36576" marB="36576" anchor="ctr">
                    <a:solidFill>
                      <a:schemeClr val="bg2"/>
                    </a:solidFill>
                  </a:tcPr>
                </a:tc>
                <a:tc>
                  <a:txBody>
                    <a:bodyPr/>
                    <a:lstStyle/>
                    <a:p>
                      <a:r>
                        <a:rPr lang="de-AT" sz="1200">
                          <a:solidFill>
                            <a:schemeClr val="tx1"/>
                          </a:solidFill>
                        </a:rPr>
                        <a:t>Alle obigen Quellen</a:t>
                      </a:r>
                    </a:p>
                  </a:txBody>
                  <a:tcPr marT="36576" marB="36576" anchor="ctr">
                    <a:solidFill>
                      <a:schemeClr val="bg2"/>
                    </a:solidFill>
                  </a:tcPr>
                </a:tc>
              </a:tr>
            </a:tbl>
          </a:graphicData>
        </a:graphic>
      </p:graphicFrame>
      <p:sp>
        <p:nvSpPr>
          <p:cNvPr id="7" name="Hinweis"/>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343400"/>
            <a:ext cx="7863840" cy="50292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Leitfrage: </a:t>
            </a:r>
            <a:r>
              <a:rPr lang="de-AT" sz="1300" b="0">
                <a:solidFill>
                  <a:schemeClr val="tx1"/>
                </a:solidFill>
              </a:rPr>
              <a:t>Erzählen Elemente, Claims und Kontaktpunkte eine konsistente Geschichte?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Markenarchitektur prüfen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Pol links"/>
          <p:cNvSpPr txBox="1"/>
          <p:nvPr/>
        </p:nvSpPr>
        <p:spPr>
          <a:xfrm>
            <a:off x="457200" y="1261872"/>
            <a:ext cx="2011680" cy="274320"/>
          </a:xfrm>
          <a:prstGeom prst="rect">
            <a:avLst/>
          </a:prstGeom>
          <a:noFill/>
        </p:spPr>
        <p:txBody>
          <a:bodyPr wrap="square" lIns="36576" rIns="36576" tIns="18288" bIns="18288" anchor="t">
            <a:spAutoFit/>
          </a:bodyPr>
          <a:lstStyle/>
          <a:p>
            <a:pPr algn="l">
              <a:spcAft>
                <a:spcPts val="0"/>
              </a:spcAft>
            </a:pPr>
            <a:r>
              <a:rPr lang="de-AT" sz="1300" b="1">
                <a:solidFill>
                  <a:schemeClr val="tx2"/>
                </a:solidFill>
              </a:rPr>
              <a:t>Eine Dachmarke</a:t>
            </a:r>
          </a:p>
        </p:txBody>
      </p:sp>
      <p:sp>
        <p:nvSpPr>
          <p:cNvPr id="7" name="Pol rechts"/>
          <p:cNvSpPr txBox="1"/>
          <p:nvPr/>
        </p:nvSpPr>
        <p:spPr>
          <a:xfrm>
            <a:off x="6309360" y="1261872"/>
            <a:ext cx="2377440" cy="274320"/>
          </a:xfrm>
          <a:prstGeom prst="rect">
            <a:avLst/>
          </a:prstGeom>
          <a:noFill/>
        </p:spPr>
        <p:txBody>
          <a:bodyPr wrap="square" lIns="36576" rIns="36576" tIns="18288" bIns="18288" anchor="t">
            <a:spAutoFit/>
          </a:bodyPr>
          <a:lstStyle/>
          <a:p>
            <a:pPr algn="r">
              <a:spcAft>
                <a:spcPts val="0"/>
              </a:spcAft>
            </a:pPr>
            <a:r>
              <a:rPr lang="de-AT" sz="1300" b="1">
                <a:solidFill>
                  <a:schemeClr val="tx2"/>
                </a:solidFill>
              </a:rPr>
              <a:t>Eigenständige Marken</a:t>
            </a:r>
          </a:p>
        </p:txBody>
      </p:sp>
      <p:cxnSp>
        <p:nvCxnSpPr>
          <p:cNvPr id="8" name="Spektrum"/>
          <p:cNvCxnSpPr/>
          <p:nvPr/>
        </p:nvCxnSpPr>
        <p:spPr>
          <a:xfrm>
            <a:off x="2148840" y="1399032"/>
            <a:ext cx="4389120" cy="0"/>
          </a:xfrm>
          <a:prstGeom prst="line">
            <a:avLst/>
          </a:prstGeom>
          <a:ln w="25400">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Architektur 1"/>
          <p:cNvSpPr/>
          <p:nvPr/>
        </p:nvSpPr>
        <p:spPr>
          <a:xfrm>
            <a:off x="457200" y="1691640"/>
            <a:ext cx="1933956" cy="2057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hitektur 1 Text"/>
          <p:cNvSpPr txBox="1"/>
          <p:nvPr/>
        </p:nvSpPr>
        <p:spPr>
          <a:xfrm>
            <a:off x="566928" y="1783080"/>
            <a:ext cx="1714500" cy="1874519"/>
          </a:xfrm>
          <a:prstGeom prst="rect">
            <a:avLst/>
          </a:prstGeom>
          <a:noFill/>
        </p:spPr>
        <p:txBody>
          <a:bodyPr wrap="square" lIns="36576" rIns="36576" tIns="18288" bIns="18288" anchor="t">
            <a:spAutoFit/>
          </a:bodyPr>
          <a:lstStyle/>
          <a:p>
            <a:pPr algn="l">
              <a:spcAft>
                <a:spcPts val="600"/>
              </a:spcAft>
            </a:pPr>
            <a:r>
              <a:rPr lang="de-AT" sz="1400" b="1">
                <a:solidFill>
                  <a:schemeClr val="tx1"/>
                </a:solidFill>
                <a:latin typeface="+mj-lt"/>
              </a:rPr>
              <a:t>Branded House</a:t>
            </a:r>
          </a:p>
          <a:p>
            <a:pPr algn="l">
              <a:spcAft>
                <a:spcPts val="600"/>
              </a:spcAft>
            </a:pPr>
            <a:r>
              <a:rPr lang="de-AT" sz="1200" b="0">
                <a:solidFill>
                  <a:schemeClr val="tx1"/>
                </a:solidFill>
              </a:rPr>
              <a:t>A1: über 10 lokale Marken 2017 unter einer Marke; 350 Mio. EUR Markenwert abgeschrieben.</a:t>
            </a:r>
          </a:p>
        </p:txBody>
      </p:sp>
      <p:sp>
        <p:nvSpPr>
          <p:cNvPr id="11" name="Architektur 2"/>
          <p:cNvSpPr/>
          <p:nvPr/>
        </p:nvSpPr>
        <p:spPr>
          <a:xfrm>
            <a:off x="2555748" y="1691640"/>
            <a:ext cx="1933956" cy="20574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hitektur 2 Text"/>
          <p:cNvSpPr txBox="1"/>
          <p:nvPr/>
        </p:nvSpPr>
        <p:spPr>
          <a:xfrm>
            <a:off x="2665476" y="1783080"/>
            <a:ext cx="1714500" cy="1874519"/>
          </a:xfrm>
          <a:prstGeom prst="rect">
            <a:avLst/>
          </a:prstGeom>
          <a:noFill/>
        </p:spPr>
        <p:txBody>
          <a:bodyPr wrap="square" lIns="36576" rIns="36576" tIns="18288" bIns="18288" anchor="t">
            <a:spAutoFit/>
          </a:bodyPr>
          <a:lstStyle/>
          <a:p>
            <a:pPr algn="l">
              <a:spcAft>
                <a:spcPts val="600"/>
              </a:spcAft>
            </a:pPr>
            <a:r>
              <a:rPr lang="de-AT" sz="1400" b="1">
                <a:solidFill>
                  <a:schemeClr val="tx1"/>
                </a:solidFill>
                <a:latin typeface="+mj-lt"/>
              </a:rPr>
              <a:t>Submarken</a:t>
            </a:r>
          </a:p>
          <a:p>
            <a:pPr algn="l">
              <a:spcAft>
                <a:spcPts val="600"/>
              </a:spcAft>
            </a:pPr>
            <a:r>
              <a:rPr lang="de-AT" sz="1200" b="0">
                <a:solidFill>
                  <a:schemeClr val="tx1"/>
                </a:solidFill>
              </a:rPr>
              <a:t>BILLA und BILLA PLUS: die 52 Jahre alte Marke Merkur ging 2021 in BILLA PLUS auf.</a:t>
            </a:r>
          </a:p>
        </p:txBody>
      </p:sp>
      <p:sp>
        <p:nvSpPr>
          <p:cNvPr id="13" name="Architektur 3"/>
          <p:cNvSpPr/>
          <p:nvPr/>
        </p:nvSpPr>
        <p:spPr>
          <a:xfrm>
            <a:off x="4654296" y="1691640"/>
            <a:ext cx="1933956" cy="2057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hitektur 3 Text"/>
          <p:cNvSpPr txBox="1"/>
          <p:nvPr/>
        </p:nvSpPr>
        <p:spPr>
          <a:xfrm>
            <a:off x="4764024" y="1783080"/>
            <a:ext cx="1714500" cy="1874519"/>
          </a:xfrm>
          <a:prstGeom prst="rect">
            <a:avLst/>
          </a:prstGeom>
          <a:noFill/>
        </p:spPr>
        <p:txBody>
          <a:bodyPr wrap="square" lIns="36576" rIns="36576" tIns="18288" bIns="18288" anchor="t">
            <a:spAutoFit/>
          </a:bodyPr>
          <a:lstStyle/>
          <a:p>
            <a:pPr algn="l">
              <a:spcAft>
                <a:spcPts val="600"/>
              </a:spcAft>
            </a:pPr>
            <a:r>
              <a:rPr lang="de-AT" sz="1400" b="1">
                <a:solidFill>
                  <a:schemeClr val="tx1"/>
                </a:solidFill>
                <a:latin typeface="+mj-lt"/>
              </a:rPr>
              <a:t>Endorsed Brands</a:t>
            </a:r>
          </a:p>
          <a:p>
            <a:pPr algn="l">
              <a:spcAft>
                <a:spcPts val="600"/>
              </a:spcAft>
            </a:pPr>
            <a:r>
              <a:rPr lang="de-AT" sz="1200" b="0">
                <a:solidFill>
                  <a:schemeClr val="tx1"/>
                </a:solidFill>
              </a:rPr>
              <a:t>Rauch: Happy Day und Bravo tragen die Dachmarke Rauch und ihren Baum.</a:t>
            </a:r>
          </a:p>
        </p:txBody>
      </p:sp>
      <p:sp>
        <p:nvSpPr>
          <p:cNvPr id="15" name="Architektur 4"/>
          <p:cNvSpPr/>
          <p:nvPr/>
        </p:nvSpPr>
        <p:spPr>
          <a:xfrm>
            <a:off x="6752844" y="1691640"/>
            <a:ext cx="1933956"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rchitektur 4 Text"/>
          <p:cNvSpPr txBox="1"/>
          <p:nvPr/>
        </p:nvSpPr>
        <p:spPr>
          <a:xfrm>
            <a:off x="6862572" y="1783080"/>
            <a:ext cx="1714500" cy="1874519"/>
          </a:xfrm>
          <a:prstGeom prst="rect">
            <a:avLst/>
          </a:prstGeom>
          <a:noFill/>
        </p:spPr>
        <p:txBody>
          <a:bodyPr wrap="square" lIns="36576" rIns="36576" tIns="18288" bIns="18288" anchor="t">
            <a:spAutoFit/>
          </a:bodyPr>
          <a:lstStyle/>
          <a:p>
            <a:pPr algn="l">
              <a:spcAft>
                <a:spcPts val="600"/>
              </a:spcAft>
            </a:pPr>
            <a:r>
              <a:rPr lang="de-AT" sz="1400" b="1">
                <a:solidFill>
                  <a:schemeClr val="tx1"/>
                </a:solidFill>
                <a:latin typeface="+mj-lt"/>
              </a:rPr>
              <a:t>House of Brands</a:t>
            </a:r>
          </a:p>
          <a:p>
            <a:pPr algn="l">
              <a:spcAft>
                <a:spcPts val="600"/>
              </a:spcAft>
            </a:pPr>
            <a:r>
              <a:rPr lang="de-AT" sz="1200" b="0">
                <a:solidFill>
                  <a:schemeClr val="tx1"/>
                </a:solidFill>
              </a:rPr>
              <a:t>Josef Manner &amp; Comp.: Manner, Casali, Napoli, Victor Schmidt.</a:t>
            </a:r>
          </a:p>
        </p:txBody>
      </p:sp>
      <p:sp>
        <p:nvSpPr>
          <p:cNvPr id="17" name="Punkt"/>
          <p:cNvSpPr txBox="1"/>
          <p:nvPr/>
        </p:nvSpPr>
        <p:spPr>
          <a:xfrm>
            <a:off x="457200" y="3931920"/>
            <a:ext cx="8229600" cy="3657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de-AT" sz="1300" b="1">
                <a:solidFill>
                  <a:schemeClr val="tx1"/>
                </a:solidFill>
              </a:rPr>
              <a:t>Audit-Frage: </a:t>
            </a:r>
            <a:r>
              <a:rPr lang="de-AT" sz="1300" b="0">
                <a:solidFill>
                  <a:schemeClr val="tx1"/>
                </a:solidFill>
              </a:rPr>
              <a:t>Passt die Position zu Branchen-, Unternehmens- und Produkttreibern?</a:t>
            </a:r>
          </a:p>
        </p:txBody>
      </p:sp>
      <p:sp>
        <p:nvSpPr>
          <p:cNvPr id="18" name="Source note"/>
          <p:cNvSpPr txBox="1"/>
          <p:nvPr/>
        </p:nvSpPr>
        <p:spPr>
          <a:xfrm>
            <a:off x="457200" y="4434840"/>
            <a:ext cx="8229600" cy="45720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Aaker &amp; Joachimsthaler (2000), California Management Review; Strebinger (2014), European Journal of Marketing; Leadersnet (2017); REWE Group (2021).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Das Brand Exploratory in drei Schritten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Step 1"/>
          <p:cNvSpPr/>
          <p:nvPr/>
        </p:nvSpPr>
        <p:spPr>
          <a:xfrm>
            <a:off x="457200" y="1325880"/>
            <a:ext cx="2816352" cy="54864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300" b="1">
                <a:solidFill>
                  <a:schemeClr val="bg1"/>
                </a:solidFill>
              </a:rPr>
              <a:t>1  Sekundärdaten</a:t>
            </a:r>
          </a:p>
        </p:txBody>
      </p:sp>
      <p:sp>
        <p:nvSpPr>
          <p:cNvPr id="7" name="Step 2"/>
          <p:cNvSpPr/>
          <p:nvPr/>
        </p:nvSpPr>
        <p:spPr>
          <a:xfrm>
            <a:off x="3163824" y="1325880"/>
            <a:ext cx="2816352" cy="54864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300" b="1">
                <a:solidFill>
                  <a:schemeClr val="bg1"/>
                </a:solidFill>
              </a:rPr>
              <a:t>2  Qualitative Forschung</a:t>
            </a:r>
          </a:p>
        </p:txBody>
      </p:sp>
      <p:sp>
        <p:nvSpPr>
          <p:cNvPr id="8" name="Step 3"/>
          <p:cNvSpPr/>
          <p:nvPr/>
        </p:nvSpPr>
        <p:spPr>
          <a:xfrm>
            <a:off x="5870448" y="1325880"/>
            <a:ext cx="2816352" cy="54864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de-AT" sz="1300" b="1">
                <a:solidFill>
                  <a:schemeClr val="bg1"/>
                </a:solidFill>
              </a:rPr>
              <a:t>3  Befragung</a:t>
            </a:r>
          </a:p>
        </p:txBody>
      </p:sp>
      <p:sp>
        <p:nvSpPr>
          <p:cNvPr id="9" name="Schritt 1 Feld"/>
          <p:cNvSpPr/>
          <p:nvPr/>
        </p:nvSpPr>
        <p:spPr>
          <a:xfrm>
            <a:off x="502920"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hritt 1 Text"/>
          <p:cNvSpPr txBox="1"/>
          <p:nvPr/>
        </p:nvSpPr>
        <p:spPr>
          <a:xfrm>
            <a:off x="612648" y="2103120"/>
            <a:ext cx="2395728" cy="1097280"/>
          </a:xfrm>
          <a:prstGeom prst="rect">
            <a:avLst/>
          </a:prstGeom>
          <a:noFill/>
        </p:spPr>
        <p:txBody>
          <a:bodyPr wrap="square" lIns="36576" rIns="36576" tIns="18288" bIns="18288" anchor="t">
            <a:spAutoFit/>
          </a:bodyPr>
          <a:lstStyle/>
          <a:p>
            <a:pPr algn="l">
              <a:spcAft>
                <a:spcPts val="0"/>
              </a:spcAft>
            </a:pPr>
            <a:r>
              <a:rPr lang="de-AT" sz="1300" b="0">
                <a:solidFill>
                  <a:schemeClr val="tx1"/>
                </a:solidFill>
              </a:rPr>
              <a:t>Geschäftsberichte, Tracker, Rankings, Suchtrends, frühere Studien.</a:t>
            </a:r>
          </a:p>
        </p:txBody>
      </p:sp>
      <p:sp>
        <p:nvSpPr>
          <p:cNvPr id="11" name="Schritt 2 Feld"/>
          <p:cNvSpPr/>
          <p:nvPr/>
        </p:nvSpPr>
        <p:spPr>
          <a:xfrm>
            <a:off x="3209544"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chritt 2 Text"/>
          <p:cNvSpPr txBox="1"/>
          <p:nvPr/>
        </p:nvSpPr>
        <p:spPr>
          <a:xfrm>
            <a:off x="3319272" y="2103120"/>
            <a:ext cx="2395728" cy="1097280"/>
          </a:xfrm>
          <a:prstGeom prst="rect">
            <a:avLst/>
          </a:prstGeom>
          <a:noFill/>
        </p:spPr>
        <p:txBody>
          <a:bodyPr wrap="square" lIns="36576" rIns="36576" tIns="18288" bIns="18288" anchor="t">
            <a:spAutoFit/>
          </a:bodyPr>
          <a:lstStyle/>
          <a:p>
            <a:pPr algn="l">
              <a:spcAft>
                <a:spcPts val="0"/>
              </a:spcAft>
            </a:pPr>
            <a:r>
              <a:rPr lang="de-AT" sz="1300" b="0">
                <a:solidFill>
                  <a:schemeClr val="tx1"/>
                </a:solidFill>
              </a:rPr>
              <a:t>Freie Assoziation, Laddering, ZMET, Brand Concept Maps, projektive Aufgaben.</a:t>
            </a:r>
          </a:p>
        </p:txBody>
      </p:sp>
      <p:sp>
        <p:nvSpPr>
          <p:cNvPr id="13" name="Schritt 3 Feld"/>
          <p:cNvSpPr/>
          <p:nvPr/>
        </p:nvSpPr>
        <p:spPr>
          <a:xfrm>
            <a:off x="5916168"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chritt 3 Text"/>
          <p:cNvSpPr txBox="1"/>
          <p:nvPr/>
        </p:nvSpPr>
        <p:spPr>
          <a:xfrm>
            <a:off x="6025896" y="2103120"/>
            <a:ext cx="2395728" cy="1097280"/>
          </a:xfrm>
          <a:prstGeom prst="rect">
            <a:avLst/>
          </a:prstGeom>
          <a:noFill/>
        </p:spPr>
        <p:txBody>
          <a:bodyPr wrap="square" lIns="36576" rIns="36576" tIns="18288" bIns="18288" anchor="t">
            <a:spAutoFit/>
          </a:bodyPr>
          <a:lstStyle/>
          <a:p>
            <a:pPr algn="l">
              <a:spcAft>
                <a:spcPts val="0"/>
              </a:spcAft>
            </a:pPr>
            <a:r>
              <a:rPr lang="de-AT" sz="1300" b="0">
                <a:solidFill>
                  <a:schemeClr val="tx1"/>
                </a:solidFill>
              </a:rPr>
              <a:t>Bekanntheit, Marken-Attribut-Raster, Markenwertskalen, Persönlichkeit, im Vergleich.</a:t>
            </a:r>
          </a:p>
        </p:txBody>
      </p:sp>
      <p:sp>
        <p:nvSpPr>
          <p:cNvPr id="15" name="Punkt"/>
          <p:cNvSpPr txBox="1"/>
          <p:nvPr/>
        </p:nvSpPr>
        <p:spPr>
          <a:xfrm>
            <a:off x="457200" y="3520440"/>
            <a:ext cx="8229600" cy="8229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de-AT" sz="1300" b="1">
                <a:solidFill>
                  <a:schemeClr val="tx1"/>
                </a:solidFill>
              </a:rPr>
              <a:t>Qualitativ zuerst: </a:t>
            </a:r>
            <a:r>
              <a:rPr lang="de-AT" sz="1300" b="0">
                <a:solidFill>
                  <a:schemeClr val="tx1"/>
                </a:solidFill>
              </a:rPr>
              <a:t>So kommen die Worte der Käufer:innen in die Fragebogen-Items.</a:t>
            </a:r>
          </a:p>
          <a:p>
            <a:pPr algn="l" marL="182880" indent="-182880">
              <a:spcAft>
                <a:spcPts val="600"/>
              </a:spcAft>
              <a:buClr>
                <a:schemeClr val="accent1"/>
              </a:buClr>
              <a:buFont typeface="Arial"/>
              <a:buChar char="▪"/>
            </a:pPr>
            <a:r>
              <a:rPr lang="de-AT" sz="1300" b="1">
                <a:solidFill>
                  <a:schemeClr val="tx1"/>
                </a:solidFill>
              </a:rPr>
              <a:t>Stichprobe: </a:t>
            </a:r>
            <a:r>
              <a:rPr lang="de-AT" sz="1300" b="0">
                <a:solidFill>
                  <a:schemeClr val="tx1"/>
                </a:solidFill>
              </a:rPr>
              <a:t>Kategorie-, Gelegenheits- und Nichtkäufer:innen befragen, nicht nur treue Fans.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CBBE-Pyramide als Audit-Struktur</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Pyramide Resonanz"/>
          <p:cNvSpPr/>
          <p:nvPr/>
        </p:nvSpPr>
        <p:spPr>
          <a:xfrm>
            <a:off x="1691640" y="1325880"/>
            <a:ext cx="1371600" cy="6583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bg1"/>
                </a:solidFill>
              </a:rPr>
              <a:t>Resonanz</a:t>
            </a:r>
          </a:p>
        </p:txBody>
      </p:sp>
      <p:sp>
        <p:nvSpPr>
          <p:cNvPr id="7" name="Ebene 1 Frage"/>
          <p:cNvSpPr txBox="1"/>
          <p:nvPr/>
        </p:nvSpPr>
        <p:spPr>
          <a:xfrm>
            <a:off x="4572000" y="1325880"/>
            <a:ext cx="4114800" cy="65836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Beziehung. </a:t>
            </a:r>
            <a:r>
              <a:rPr lang="de-AT" sz="1300" b="0">
                <a:solidFill>
                  <a:schemeClr val="tx1"/>
                </a:solidFill>
              </a:rPr>
              <a:t>Wie loyal, verbunden und engagiert sind die Käufer:innen?</a:t>
            </a:r>
          </a:p>
        </p:txBody>
      </p:sp>
      <p:sp>
        <p:nvSpPr>
          <p:cNvPr id="8" name="Pyramide Urteile"/>
          <p:cNvSpPr/>
          <p:nvPr/>
        </p:nvSpPr>
        <p:spPr>
          <a:xfrm>
            <a:off x="1188720" y="2103120"/>
            <a:ext cx="1143000"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Urteile</a:t>
            </a:r>
          </a:p>
        </p:txBody>
      </p:sp>
      <p:sp>
        <p:nvSpPr>
          <p:cNvPr id="9" name="Pyramide Gefühle"/>
          <p:cNvSpPr/>
          <p:nvPr/>
        </p:nvSpPr>
        <p:spPr>
          <a:xfrm>
            <a:off x="2423160" y="2103120"/>
            <a:ext cx="1143000"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Gefühle</a:t>
            </a:r>
          </a:p>
        </p:txBody>
      </p:sp>
      <p:sp>
        <p:nvSpPr>
          <p:cNvPr id="10" name="Ebene 2 Frage"/>
          <p:cNvSpPr txBox="1"/>
          <p:nvPr/>
        </p:nvSpPr>
        <p:spPr>
          <a:xfrm>
            <a:off x="4572000" y="2103120"/>
            <a:ext cx="4114800" cy="65836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Reaktion. </a:t>
            </a:r>
            <a:r>
              <a:rPr lang="de-AT" sz="1300" b="0">
                <a:solidFill>
                  <a:schemeClr val="tx1"/>
                </a:solidFill>
              </a:rPr>
              <a:t>Qualität, Glaubwürdigkeit, Erwägung; Wärme, Spaß, Sicherheit?</a:t>
            </a:r>
          </a:p>
        </p:txBody>
      </p:sp>
      <p:sp>
        <p:nvSpPr>
          <p:cNvPr id="11" name="Pyramide Leistung"/>
          <p:cNvSpPr/>
          <p:nvPr/>
        </p:nvSpPr>
        <p:spPr>
          <a:xfrm>
            <a:off x="731520" y="2880360"/>
            <a:ext cx="1600200" cy="658368"/>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Leistung</a:t>
            </a:r>
          </a:p>
        </p:txBody>
      </p:sp>
      <p:sp>
        <p:nvSpPr>
          <p:cNvPr id="12" name="Pyramide Imagery"/>
          <p:cNvSpPr/>
          <p:nvPr/>
        </p:nvSpPr>
        <p:spPr>
          <a:xfrm>
            <a:off x="2423160" y="2880360"/>
            <a:ext cx="1600200" cy="658368"/>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Imagery</a:t>
            </a:r>
          </a:p>
        </p:txBody>
      </p:sp>
      <p:sp>
        <p:nvSpPr>
          <p:cNvPr id="13" name="Ebene 3 Frage"/>
          <p:cNvSpPr txBox="1"/>
          <p:nvPr/>
        </p:nvSpPr>
        <p:spPr>
          <a:xfrm>
            <a:off x="4572000" y="2880360"/>
            <a:ext cx="4114800" cy="65836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Bedeutung. </a:t>
            </a:r>
            <a:r>
              <a:rPr lang="de-AT" sz="1300" b="0">
                <a:solidFill>
                  <a:schemeClr val="tx1"/>
                </a:solidFill>
              </a:rPr>
              <a:t>Welche Assoziationen – wie stark, positiv, einzigartig?</a:t>
            </a:r>
          </a:p>
        </p:txBody>
      </p:sp>
      <p:sp>
        <p:nvSpPr>
          <p:cNvPr id="14" name="Pyramide Salienz"/>
          <p:cNvSpPr/>
          <p:nvPr/>
        </p:nvSpPr>
        <p:spPr>
          <a:xfrm>
            <a:off x="457200" y="365760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Salienz</a:t>
            </a:r>
          </a:p>
        </p:txBody>
      </p:sp>
      <p:sp>
        <p:nvSpPr>
          <p:cNvPr id="15" name="Ebene 4 Frage"/>
          <p:cNvSpPr txBox="1"/>
          <p:nvPr/>
        </p:nvSpPr>
        <p:spPr>
          <a:xfrm>
            <a:off x="4572000" y="3657600"/>
            <a:ext cx="4114800" cy="65836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Identität. </a:t>
            </a:r>
            <a:r>
              <a:rPr lang="de-AT" sz="1300" b="0">
                <a:solidFill>
                  <a:schemeClr val="tx1"/>
                </a:solidFill>
              </a:rPr>
              <a:t>Fällt die Marke in Kaufsituationen ein?</a:t>
            </a:r>
          </a:p>
        </p:txBody>
      </p:sp>
      <p:sp>
        <p:nvSpPr>
          <p:cNvPr id="16"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Keller (1993), Journal of Marketing 57(1); Keller (2016), AMS Review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Identität und Image</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Identität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dentitä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dentitä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Identität: inside-out</a:t>
            </a:r>
          </a:p>
        </p:txBody>
      </p:sp>
      <p:pic>
        <p:nvPicPr>
          <p:cNvPr id="9" name="Icon LuBuilding2" descr=""/>
          <p:cNvPicPr>
            <a:picLocks noChangeAspect="1"/>
          </p:cNvPicPr>
          <p:nvPr/>
        </p:nvPicPr>
        <p:blipFill>
          <a:blip r:embed="rId3"/>
          <a:stretch>
            <a:fillRect/>
          </a:stretch>
        </p:blipFill>
        <p:spPr>
          <a:xfrm>
            <a:off x="4059936" y="1344168"/>
            <a:ext cx="329184" cy="329184"/>
          </a:xfrm>
          <a:prstGeom prst="rect">
            <a:avLst/>
          </a:prstGeom>
        </p:spPr>
      </p:pic>
      <p:sp>
        <p:nvSpPr>
          <p:cNvPr id="10" name="Identität text"/>
          <p:cNvSpPr txBox="1"/>
          <p:nvPr/>
        </p:nvSpPr>
        <p:spPr>
          <a:xfrm>
            <a:off x="594360" y="1847088"/>
            <a:ext cx="3758184" cy="185623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de-AT" sz="1300" b="0">
                <a:solidFill>
                  <a:schemeClr val="tx1"/>
                </a:solidFill>
              </a:rPr>
              <a:t>Was Management und Mitarbeitende aus der Marke machen wollen.</a:t>
            </a:r>
          </a:p>
          <a:p>
            <a:pPr algn="l" marL="182880" indent="-182880">
              <a:spcAft>
                <a:spcPts val="700"/>
              </a:spcAft>
              <a:buClr>
                <a:schemeClr val="accent1"/>
              </a:buClr>
              <a:buFont typeface="Arial"/>
              <a:buChar char="▪"/>
            </a:pPr>
            <a:r>
              <a:rPr lang="de-AT" sz="1300" b="0">
                <a:solidFill>
                  <a:schemeClr val="tx1"/>
                </a:solidFill>
              </a:rPr>
              <a:t>Kapferers Prisma: Physis, Persönlichkeit, Kultur, Beziehung, Spiegelbild, Selbstbild.</a:t>
            </a:r>
          </a:p>
          <a:p>
            <a:pPr algn="l" marL="182880" indent="-182880">
              <a:spcAft>
                <a:spcPts val="700"/>
              </a:spcAft>
              <a:buClr>
                <a:schemeClr val="accent1"/>
              </a:buClr>
              <a:buFont typeface="Arial"/>
              <a:buChar char="▪"/>
            </a:pPr>
            <a:r>
              <a:rPr lang="de-AT" sz="1300" b="0">
                <a:solidFill>
                  <a:schemeClr val="tx1"/>
                </a:solidFill>
              </a:rPr>
              <a:t>Daten: Brand Book, Interviews, Befragung der Mitarbeitenden.</a:t>
            </a:r>
          </a:p>
        </p:txBody>
      </p:sp>
      <p:sp>
        <p:nvSpPr>
          <p:cNvPr id="11" name="Image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mage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mage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Image: outside-in</a:t>
            </a:r>
          </a:p>
        </p:txBody>
      </p:sp>
      <p:pic>
        <p:nvPicPr>
          <p:cNvPr id="14" name="Icon LuEye" descr=""/>
          <p:cNvPicPr>
            <a:picLocks noChangeAspect="1"/>
          </p:cNvPicPr>
          <p:nvPr/>
        </p:nvPicPr>
        <p:blipFill>
          <a:blip r:embed="rId4"/>
          <a:stretch>
            <a:fillRect/>
          </a:stretch>
        </p:blipFill>
        <p:spPr>
          <a:xfrm>
            <a:off x="8257031" y="1344168"/>
            <a:ext cx="329184" cy="329184"/>
          </a:xfrm>
          <a:prstGeom prst="rect">
            <a:avLst/>
          </a:prstGeom>
        </p:spPr>
      </p:pic>
      <p:sp>
        <p:nvSpPr>
          <p:cNvPr id="15" name="Image text"/>
          <p:cNvSpPr txBox="1"/>
          <p:nvPr/>
        </p:nvSpPr>
        <p:spPr>
          <a:xfrm>
            <a:off x="4791456" y="1847088"/>
            <a:ext cx="3758184" cy="185623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de-AT" sz="1300" b="0">
                <a:solidFill>
                  <a:schemeClr val="tx1"/>
                </a:solidFill>
              </a:rPr>
              <a:t>Was Käufer:innen tatsächlich mit der Marke verbinden.</a:t>
            </a:r>
          </a:p>
          <a:p>
            <a:pPr algn="l" marL="182880" indent="-182880">
              <a:spcAft>
                <a:spcPts val="700"/>
              </a:spcAft>
              <a:buClr>
                <a:schemeClr val="accent1"/>
              </a:buClr>
              <a:buFont typeface="Arial"/>
              <a:buChar char="▪"/>
            </a:pPr>
            <a:r>
              <a:rPr lang="de-AT" sz="1300" b="0">
                <a:solidFill>
                  <a:schemeClr val="tx1"/>
                </a:solidFill>
              </a:rPr>
              <a:t>Kellers CBBE: Stärke, Vorteilhaftigkeit und Einzigartigkeit der Assoziationen.</a:t>
            </a:r>
          </a:p>
          <a:p>
            <a:pPr algn="l" marL="182880" indent="-182880">
              <a:spcAft>
                <a:spcPts val="700"/>
              </a:spcAft>
              <a:buClr>
                <a:schemeClr val="accent1"/>
              </a:buClr>
              <a:buFont typeface="Arial"/>
              <a:buChar char="▪"/>
            </a:pPr>
            <a:r>
              <a:rPr lang="de-AT" sz="1300" b="0">
                <a:solidFill>
                  <a:schemeClr val="tx1"/>
                </a:solidFill>
              </a:rPr>
              <a:t>Daten: das Exploratory mit Käufer:innen und Nichtkäufer:innen.</a:t>
            </a:r>
          </a:p>
        </p:txBody>
      </p:sp>
      <p:sp>
        <p:nvSpPr>
          <p:cNvPr id="16" name="Lücke"/>
          <p:cNvSpPr/>
          <p:nvPr/>
        </p:nvSpPr>
        <p:spPr>
          <a:xfrm>
            <a:off x="457200" y="3977639"/>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ücke text"/>
          <p:cNvSpPr txBox="1"/>
          <p:nvPr/>
        </p:nvSpPr>
        <p:spPr>
          <a:xfrm>
            <a:off x="640080" y="3977639"/>
            <a:ext cx="7863840" cy="594360"/>
          </a:xfrm>
          <a:prstGeom prst="rect">
            <a:avLst/>
          </a:prstGeom>
          <a:noFill/>
        </p:spPr>
        <p:txBody>
          <a:bodyPr wrap="square" lIns="36576" rIns="36576" tIns="18288" bIns="18288" anchor="ctr">
            <a:spAutoFit/>
          </a:bodyPr>
          <a:lstStyle/>
          <a:p>
            <a:pPr algn="l">
              <a:spcAft>
                <a:spcPts val="0"/>
              </a:spcAft>
            </a:pPr>
            <a:r>
              <a:rPr lang="de-AT" sz="1300" b="1">
                <a:solidFill>
                  <a:schemeClr val="bg1"/>
                </a:solidFill>
              </a:rPr>
              <a:t>Das zentrale Audit-Ergebnis ist die Lücke </a:t>
            </a:r>
            <a:r>
              <a:rPr lang="de-AT" sz="1300" b="0">
                <a:solidFill>
                  <a:schemeClr val="bg1"/>
                </a:solidFill>
              </a:rPr>
              <a:t>zwischen Soll-Identität und wahrgenommenem Image.</a:t>
            </a:r>
          </a:p>
        </p:txBody>
      </p:sp>
      <p:sp>
        <p:nvSpPr>
          <p:cNvPr id="18" name="Source note"/>
          <p:cNvSpPr txBox="1"/>
          <p:nvPr/>
        </p:nvSpPr>
        <p:spPr>
          <a:xfrm>
            <a:off x="457200" y="4663440"/>
            <a:ext cx="8229600" cy="45720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Kapferer, The New Strategic Brand Management; Burmann et al., Identitätsbasierte Markenführung (5. Aufl., 2024); King, Grace &amp; Funk (2012), JBM.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3 von 5 · Assoziationen, Skalen, Mental Availability, Assets, Tracking</a:t>
            </a:r>
          </a:p>
        </p:txBody>
      </p:sp>
      <p:sp>
        <p:nvSpPr>
          <p:cNvPr id="3" name="Title 2"/>
          <p:cNvSpPr>
            <a:spLocks noGrp="1"/>
          </p:cNvSpPr>
          <p:nvPr>
            <p:ph type="ctrTitle"/>
          </p:nvPr>
        </p:nvSpPr>
        <p:spPr/>
        <p:txBody>
          <a:bodyPr/>
          <a:lstStyle/>
          <a:p>
            <a:r>
              <a:rPr lang="de-AT"/>
              <a:t>Markenwert messen</a:t>
            </a:r>
          </a:p>
        </p:txBody>
      </p:sp>
      <p:sp>
        <p:nvSpPr>
          <p:cNvPr id="4" name="Footer Placeholder 3"/>
          <p:cNvSpPr>
            <a:spLocks noGrp="1"/>
          </p:cNvSpPr>
          <p:nvPr>
            <p:ph type="ftr" idx="14" sz="quarter"/>
          </p:nvPr>
        </p:nvSpPr>
        <p:spPr/>
        <p:txBody>
          <a:bodyPr/>
          <a:p>
            <a:r>
              <a:rPr lang="de-AT"/>
              <a:t>Markenaudit</a:t>
            </a:r>
          </a:p>
        </p:txBody>
      </p:sp>
      <p:sp>
        <p:nvSpPr>
          <p:cNvPr id="5" name="Slide Number Placeholder 4"/>
          <p:cNvSpPr>
            <a:spLocks noGrp="1"/>
          </p:cNvSpPr>
          <p:nvPr>
            <p:ph type="sldNum" idx="15" sz="quarter"/>
          </p:nvPr>
        </p:nvSpPr>
        <p:spPr/>
        <p:txBody>
          <a:bodyPr/>
          <a:p>
            <a:r>
              <a:rPr lang="de-AT"/>
              <a:t>SEITE </a:t>
            </a:r>
            <a:fld id="{B6F15528-21DE-4FAA-801E-634DDDAF4B2B}" type="slidenum">
              <a:rPr lang="de-AT"/>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Methoden zur Erhebung von Assoziationen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Methoden Tabelle"/>
          <p:cNvGraphicFramePr>
            <a:graphicFrameLocks noGrp="1"/>
          </p:cNvGraphicFramePr>
          <p:nvPr/>
        </p:nvGraphicFramePr>
        <p:xfrm>
          <a:off x="457200" y="1280160"/>
          <a:ext cx="8229600" cy="2651760"/>
        </p:xfrm>
        <a:graphic>
          <a:graphicData uri="http://schemas.openxmlformats.org/drawingml/2006/table">
            <a:tbl>
              <a:tblPr firstRow="1" bandRow="1">
                <a:tableStyleId>{5C22544A-7EE6-4342-B048-85BDC9FD1C3A}</a:tableStyleId>
              </a:tblPr>
              <a:tblGrid>
                <a:gridCol w="1645920"/>
                <a:gridCol w="2834640"/>
                <a:gridCol w="1143000"/>
                <a:gridCol w="2606040"/>
              </a:tblGrid>
              <a:tr h="378822">
                <a:tc>
                  <a:txBody>
                    <a:bodyPr/>
                    <a:lstStyle/>
                    <a:p>
                      <a:r>
                        <a:rPr lang="de-AT" sz="1200" b="1">
                          <a:solidFill>
                            <a:schemeClr val="bg1"/>
                          </a:solidFill>
                        </a:rPr>
                        <a:t>Methode</a:t>
                      </a:r>
                    </a:p>
                  </a:txBody>
                  <a:tcPr marT="36576" marB="36576" anchor="ctr">
                    <a:solidFill>
                      <a:schemeClr val="accent1"/>
                    </a:solidFill>
                  </a:tcPr>
                </a:tc>
                <a:tc>
                  <a:txBody>
                    <a:bodyPr/>
                    <a:lstStyle/>
                    <a:p>
                      <a:r>
                        <a:rPr lang="de-AT" sz="1200" b="1">
                          <a:solidFill>
                            <a:schemeClr val="bg1"/>
                          </a:solidFill>
                        </a:rPr>
                        <a:t>Was sie zeigt</a:t>
                      </a:r>
                    </a:p>
                  </a:txBody>
                  <a:tcPr marT="36576" marB="36576" anchor="ctr">
                    <a:solidFill>
                      <a:schemeClr val="accent1"/>
                    </a:solidFill>
                  </a:tcPr>
                </a:tc>
                <a:tc>
                  <a:txBody>
                    <a:bodyPr/>
                    <a:lstStyle/>
                    <a:p>
                      <a:r>
                        <a:rPr lang="de-AT" sz="1200" b="1">
                          <a:solidFill>
                            <a:schemeClr val="bg1"/>
                          </a:solidFill>
                        </a:rPr>
                        <a:t>Aufwand</a:t>
                      </a:r>
                    </a:p>
                  </a:txBody>
                  <a:tcPr marT="36576" marB="36576" anchor="ctr">
                    <a:solidFill>
                      <a:schemeClr val="accent1"/>
                    </a:solidFill>
                  </a:tcPr>
                </a:tc>
                <a:tc>
                  <a:txBody>
                    <a:bodyPr/>
                    <a:lstStyle/>
                    <a:p>
                      <a:r>
                        <a:rPr lang="de-AT" sz="1200" b="1">
                          <a:solidFill>
                            <a:schemeClr val="bg1"/>
                          </a:solidFill>
                        </a:rPr>
                        <a:t>Zentrale Quelle</a:t>
                      </a:r>
                    </a:p>
                  </a:txBody>
                  <a:tcPr marT="36576" marB="36576" anchor="ctr">
                    <a:solidFill>
                      <a:schemeClr val="accent1"/>
                    </a:solidFill>
                  </a:tcPr>
                </a:tc>
              </a:tr>
              <a:tr h="378822">
                <a:tc>
                  <a:txBody>
                    <a:bodyPr/>
                    <a:lstStyle/>
                    <a:p>
                      <a:r>
                        <a:rPr lang="de-AT" sz="1200">
                          <a:solidFill>
                            <a:schemeClr val="tx1"/>
                          </a:solidFill>
                        </a:rPr>
                        <a:t>Freie Assoziation</a:t>
                      </a:r>
                    </a:p>
                  </a:txBody>
                  <a:tcPr marT="36576" marB="36576" anchor="ctr">
                    <a:solidFill>
                      <a:schemeClr val="bg2"/>
                    </a:solidFill>
                  </a:tcPr>
                </a:tc>
                <a:tc>
                  <a:txBody>
                    <a:bodyPr/>
                    <a:lstStyle/>
                    <a:p>
                      <a:r>
                        <a:rPr lang="de-AT" sz="1200">
                          <a:solidFill>
                            <a:schemeClr val="tx1"/>
                          </a:solidFill>
                        </a:rPr>
                        <a:t>Anzahl, Valenz, Einzigartigkeit</a:t>
                      </a:r>
                    </a:p>
                  </a:txBody>
                  <a:tcPr marT="36576" marB="36576" anchor="ctr">
                    <a:solidFill>
                      <a:schemeClr val="bg2"/>
                    </a:solidFill>
                  </a:tcPr>
                </a:tc>
                <a:tc>
                  <a:txBody>
                    <a:bodyPr/>
                    <a:lstStyle/>
                    <a:p>
                      <a:r>
                        <a:rPr lang="de-AT" sz="1200">
                          <a:solidFill>
                            <a:schemeClr val="tx1"/>
                          </a:solidFill>
                        </a:rPr>
                        <a:t>gering</a:t>
                      </a:r>
                    </a:p>
                  </a:txBody>
                  <a:tcPr marT="36576" marB="36576" anchor="ctr">
                    <a:solidFill>
                      <a:schemeClr val="bg2"/>
                    </a:solidFill>
                  </a:tcPr>
                </a:tc>
                <a:tc>
                  <a:txBody>
                    <a:bodyPr/>
                    <a:lstStyle/>
                    <a:p>
                      <a:r>
                        <a:rPr lang="de-AT" sz="1200">
                          <a:solidFill>
                            <a:schemeClr val="tx1"/>
                          </a:solidFill>
                        </a:rPr>
                        <a:t>Krishnan (1996), IJRM</a:t>
                      </a:r>
                    </a:p>
                  </a:txBody>
                  <a:tcPr marT="36576" marB="36576" anchor="ctr">
                    <a:solidFill>
                      <a:schemeClr val="bg2"/>
                    </a:solidFill>
                  </a:tcPr>
                </a:tc>
              </a:tr>
              <a:tr h="378822">
                <a:tc>
                  <a:txBody>
                    <a:bodyPr/>
                    <a:lstStyle/>
                    <a:p>
                      <a:r>
                        <a:rPr lang="de-AT" sz="1200">
                          <a:solidFill>
                            <a:schemeClr val="tx1"/>
                          </a:solidFill>
                        </a:rPr>
                        <a:t>Concept Maps</a:t>
                      </a:r>
                    </a:p>
                  </a:txBody>
                  <a:tcPr marT="36576" marB="36576" anchor="ctr">
                    <a:solidFill>
                      <a:srgbClr val="F2F2F2"/>
                    </a:solidFill>
                  </a:tcPr>
                </a:tc>
                <a:tc>
                  <a:txBody>
                    <a:bodyPr/>
                    <a:lstStyle/>
                    <a:p>
                      <a:r>
                        <a:rPr lang="de-AT" sz="1200">
                          <a:solidFill>
                            <a:schemeClr val="tx1"/>
                          </a:solidFill>
                        </a:rPr>
                        <a:t>Assoziationsnetz, Konsens-Map</a:t>
                      </a:r>
                    </a:p>
                  </a:txBody>
                  <a:tcPr marT="36576" marB="36576" anchor="ctr">
                    <a:solidFill>
                      <a:srgbClr val="F2F2F2"/>
                    </a:solidFill>
                  </a:tcPr>
                </a:tc>
                <a:tc>
                  <a:txBody>
                    <a:bodyPr/>
                    <a:lstStyle/>
                    <a:p>
                      <a:r>
                        <a:rPr lang="de-AT" sz="1200">
                          <a:solidFill>
                            <a:schemeClr val="tx1"/>
                          </a:solidFill>
                        </a:rPr>
                        <a:t>mittel</a:t>
                      </a:r>
                    </a:p>
                  </a:txBody>
                  <a:tcPr marT="36576" marB="36576" anchor="ctr">
                    <a:solidFill>
                      <a:srgbClr val="F2F2F2"/>
                    </a:solidFill>
                  </a:tcPr>
                </a:tc>
                <a:tc>
                  <a:txBody>
                    <a:bodyPr/>
                    <a:lstStyle/>
                    <a:p>
                      <a:r>
                        <a:rPr lang="de-AT" sz="1200">
                          <a:solidFill>
                            <a:schemeClr val="tx1"/>
                          </a:solidFill>
                        </a:rPr>
                        <a:t>John et al. (2006), JMR</a:t>
                      </a:r>
                    </a:p>
                  </a:txBody>
                  <a:tcPr marT="36576" marB="36576" anchor="ctr">
                    <a:solidFill>
                      <a:srgbClr val="F2F2F2"/>
                    </a:solidFill>
                  </a:tcPr>
                </a:tc>
              </a:tr>
              <a:tr h="378822">
                <a:tc>
                  <a:txBody>
                    <a:bodyPr/>
                    <a:lstStyle/>
                    <a:p>
                      <a:r>
                        <a:rPr lang="de-AT" sz="1200">
                          <a:solidFill>
                            <a:schemeClr val="tx1"/>
                          </a:solidFill>
                        </a:rPr>
                        <a:t>Laddering</a:t>
                      </a:r>
                    </a:p>
                  </a:txBody>
                  <a:tcPr marT="36576" marB="36576" anchor="ctr">
                    <a:solidFill>
                      <a:schemeClr val="bg2"/>
                    </a:solidFill>
                  </a:tcPr>
                </a:tc>
                <a:tc>
                  <a:txBody>
                    <a:bodyPr/>
                    <a:lstStyle/>
                    <a:p>
                      <a:r>
                        <a:rPr lang="de-AT" sz="1200">
                          <a:solidFill>
                            <a:schemeClr val="tx1"/>
                          </a:solidFill>
                        </a:rPr>
                        <a:t>Attribute, Konsequenzen, Werte</a:t>
                      </a:r>
                    </a:p>
                  </a:txBody>
                  <a:tcPr marT="36576" marB="36576" anchor="ctr">
                    <a:solidFill>
                      <a:schemeClr val="bg2"/>
                    </a:solidFill>
                  </a:tcPr>
                </a:tc>
                <a:tc>
                  <a:txBody>
                    <a:bodyPr/>
                    <a:lstStyle/>
                    <a:p>
                      <a:r>
                        <a:rPr lang="de-AT" sz="1200">
                          <a:solidFill>
                            <a:schemeClr val="tx1"/>
                          </a:solidFill>
                        </a:rPr>
                        <a:t>mittel</a:t>
                      </a:r>
                    </a:p>
                  </a:txBody>
                  <a:tcPr marT="36576" marB="36576" anchor="ctr">
                    <a:solidFill>
                      <a:schemeClr val="bg2"/>
                    </a:solidFill>
                  </a:tcPr>
                </a:tc>
                <a:tc>
                  <a:txBody>
                    <a:bodyPr/>
                    <a:lstStyle/>
                    <a:p>
                      <a:r>
                        <a:rPr lang="de-AT" sz="1200">
                          <a:solidFill>
                            <a:schemeClr val="tx1"/>
                          </a:solidFill>
                        </a:rPr>
                        <a:t>Reynolds &amp; Gutman (1988)</a:t>
                      </a:r>
                    </a:p>
                  </a:txBody>
                  <a:tcPr marT="36576" marB="36576" anchor="ctr">
                    <a:solidFill>
                      <a:schemeClr val="bg2"/>
                    </a:solidFill>
                  </a:tcPr>
                </a:tc>
              </a:tr>
              <a:tr h="378822">
                <a:tc>
                  <a:txBody>
                    <a:bodyPr/>
                    <a:lstStyle/>
                    <a:p>
                      <a:r>
                        <a:rPr lang="de-AT" sz="1200">
                          <a:solidFill>
                            <a:schemeClr val="tx1"/>
                          </a:solidFill>
                        </a:rPr>
                        <a:t>ZMET</a:t>
                      </a:r>
                    </a:p>
                  </a:txBody>
                  <a:tcPr marT="36576" marB="36576" anchor="ctr">
                    <a:solidFill>
                      <a:srgbClr val="F2F2F2"/>
                    </a:solidFill>
                  </a:tcPr>
                </a:tc>
                <a:tc>
                  <a:txBody>
                    <a:bodyPr/>
                    <a:lstStyle/>
                    <a:p>
                      <a:r>
                        <a:rPr lang="de-AT" sz="1200">
                          <a:solidFill>
                            <a:schemeClr val="tx1"/>
                          </a:solidFill>
                        </a:rPr>
                        <a:t>Tiefe Metaphern, verborgene Bedeutung</a:t>
                      </a:r>
                    </a:p>
                  </a:txBody>
                  <a:tcPr marT="36576" marB="36576" anchor="ctr">
                    <a:solidFill>
                      <a:srgbClr val="F2F2F2"/>
                    </a:solidFill>
                  </a:tcPr>
                </a:tc>
                <a:tc>
                  <a:txBody>
                    <a:bodyPr/>
                    <a:lstStyle/>
                    <a:p>
                      <a:r>
                        <a:rPr lang="de-AT" sz="1200">
                          <a:solidFill>
                            <a:schemeClr val="tx1"/>
                          </a:solidFill>
                        </a:rPr>
                        <a:t>hoch</a:t>
                      </a:r>
                    </a:p>
                  </a:txBody>
                  <a:tcPr marT="36576" marB="36576" anchor="ctr">
                    <a:solidFill>
                      <a:srgbClr val="F2F2F2"/>
                    </a:solidFill>
                  </a:tcPr>
                </a:tc>
                <a:tc>
                  <a:txBody>
                    <a:bodyPr/>
                    <a:lstStyle/>
                    <a:p>
                      <a:r>
                        <a:rPr lang="de-AT" sz="1200">
                          <a:solidFill>
                            <a:schemeClr val="tx1"/>
                          </a:solidFill>
                        </a:rPr>
                        <a:t>Zaltman &amp; Coulter (1995)</a:t>
                      </a:r>
                    </a:p>
                  </a:txBody>
                  <a:tcPr marT="36576" marB="36576" anchor="ctr">
                    <a:solidFill>
                      <a:srgbClr val="F2F2F2"/>
                    </a:solidFill>
                  </a:tcPr>
                </a:tc>
              </a:tr>
              <a:tr h="378822">
                <a:tc>
                  <a:txBody>
                    <a:bodyPr/>
                    <a:lstStyle/>
                    <a:p>
                      <a:r>
                        <a:rPr lang="de-AT" sz="1200">
                          <a:solidFill>
                            <a:schemeClr val="tx1"/>
                          </a:solidFill>
                        </a:rPr>
                        <a:t>Pick-any-Raster</a:t>
                      </a:r>
                    </a:p>
                  </a:txBody>
                  <a:tcPr marT="36576" marB="36576" anchor="ctr">
                    <a:solidFill>
                      <a:schemeClr val="bg2"/>
                    </a:solidFill>
                  </a:tcPr>
                </a:tc>
                <a:tc>
                  <a:txBody>
                    <a:bodyPr/>
                    <a:lstStyle/>
                    <a:p>
                      <a:r>
                        <a:rPr lang="de-AT" sz="1200">
                          <a:solidFill>
                            <a:schemeClr val="tx1"/>
                          </a:solidFill>
                        </a:rPr>
                        <a:t>Marke-Attribut-Verknüpfungen in großer Zahl</a:t>
                      </a:r>
                    </a:p>
                  </a:txBody>
                  <a:tcPr marT="36576" marB="36576" anchor="ctr">
                    <a:solidFill>
                      <a:schemeClr val="bg2"/>
                    </a:solidFill>
                  </a:tcPr>
                </a:tc>
                <a:tc>
                  <a:txBody>
                    <a:bodyPr/>
                    <a:lstStyle/>
                    <a:p>
                      <a:r>
                        <a:rPr lang="de-AT" sz="1200">
                          <a:solidFill>
                            <a:schemeClr val="tx1"/>
                          </a:solidFill>
                        </a:rPr>
                        <a:t>gering</a:t>
                      </a:r>
                    </a:p>
                  </a:txBody>
                  <a:tcPr marT="36576" marB="36576" anchor="ctr">
                    <a:solidFill>
                      <a:schemeClr val="bg2"/>
                    </a:solidFill>
                  </a:tcPr>
                </a:tc>
                <a:tc>
                  <a:txBody>
                    <a:bodyPr/>
                    <a:lstStyle/>
                    <a:p>
                      <a:r>
                        <a:rPr lang="de-AT" sz="1200">
                          <a:solidFill>
                            <a:schemeClr val="tx1"/>
                          </a:solidFill>
                        </a:rPr>
                        <a:t>Driesener &amp; Romaniuk (2006)</a:t>
                      </a:r>
                    </a:p>
                  </a:txBody>
                  <a:tcPr marT="36576" marB="36576" anchor="ctr">
                    <a:solidFill>
                      <a:schemeClr val="bg2"/>
                    </a:solidFill>
                  </a:tcPr>
                </a:tc>
              </a:tr>
              <a:tr h="378828">
                <a:tc>
                  <a:txBody>
                    <a:bodyPr/>
                    <a:lstStyle/>
                    <a:p>
                      <a:r>
                        <a:rPr lang="de-AT" sz="1200">
                          <a:solidFill>
                            <a:schemeClr val="tx1"/>
                          </a:solidFill>
                        </a:rPr>
                        <a:t>Text Mining</a:t>
                      </a:r>
                    </a:p>
                  </a:txBody>
                  <a:tcPr marT="36576" marB="36576" anchor="ctr">
                    <a:solidFill>
                      <a:srgbClr val="F2F2F2"/>
                    </a:solidFill>
                  </a:tcPr>
                </a:tc>
                <a:tc>
                  <a:txBody>
                    <a:bodyPr/>
                    <a:lstStyle/>
                    <a:p>
                      <a:r>
                        <a:rPr lang="de-AT" sz="1200">
                          <a:solidFill>
                            <a:schemeClr val="tx1"/>
                          </a:solidFill>
                        </a:rPr>
                        <a:t>Assoziationen in Rezensionen und Posts</a:t>
                      </a:r>
                    </a:p>
                  </a:txBody>
                  <a:tcPr marT="36576" marB="36576" anchor="ctr">
                    <a:solidFill>
                      <a:srgbClr val="F2F2F2"/>
                    </a:solidFill>
                  </a:tcPr>
                </a:tc>
                <a:tc>
                  <a:txBody>
                    <a:bodyPr/>
                    <a:lstStyle/>
                    <a:p>
                      <a:r>
                        <a:rPr lang="de-AT" sz="1200">
                          <a:solidFill>
                            <a:schemeClr val="tx1"/>
                          </a:solidFill>
                        </a:rPr>
                        <a:t>mittel</a:t>
                      </a:r>
                    </a:p>
                  </a:txBody>
                  <a:tcPr marT="36576" marB="36576" anchor="ctr">
                    <a:solidFill>
                      <a:srgbClr val="F2F2F2"/>
                    </a:solidFill>
                  </a:tcPr>
                </a:tc>
                <a:tc>
                  <a:txBody>
                    <a:bodyPr/>
                    <a:lstStyle/>
                    <a:p>
                      <a:r>
                        <a:rPr lang="de-AT" sz="1200">
                          <a:solidFill>
                            <a:schemeClr val="tx1"/>
                          </a:solidFill>
                        </a:rPr>
                        <a:t>Netzer et al. (2012)</a:t>
                      </a:r>
                    </a:p>
                  </a:txBody>
                  <a:tcPr marT="36576" marB="36576" anchor="ctr">
                    <a:solidFill>
                      <a:srgbClr val="F2F2F2"/>
                    </a:solidFill>
                  </a:tcPr>
                </a:tc>
              </a:tr>
            </a:tbl>
          </a:graphicData>
        </a:graphic>
      </p:graphicFrame>
      <p:sp>
        <p:nvSpPr>
          <p:cNvPr id="7" name="Hinweis"/>
          <p:cNvSpPr/>
          <p:nvPr/>
        </p:nvSpPr>
        <p:spPr>
          <a:xfrm>
            <a:off x="457200" y="42062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Auswahl: </a:t>
            </a:r>
            <a:r>
              <a:rPr lang="de-AT" sz="1300" b="0">
                <a:solidFill>
                  <a:schemeClr val="tx1"/>
                </a:solidFill>
              </a:rPr>
              <a:t>Plumeyer et al. (2019) vergleichen 12 Verfahren und geben eine Entscheidungshilfe.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Skalen zum Markenwert</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Skalen Tabelle"/>
          <p:cNvGraphicFramePr>
            <a:graphicFrameLocks noGrp="1"/>
          </p:cNvGraphicFramePr>
          <p:nvPr/>
        </p:nvGraphicFramePr>
        <p:xfrm>
          <a:off x="457200" y="1280160"/>
          <a:ext cx="8229600" cy="2377440"/>
        </p:xfrm>
        <a:graphic>
          <a:graphicData uri="http://schemas.openxmlformats.org/drawingml/2006/table">
            <a:tbl>
              <a:tblPr firstRow="1" bandRow="1">
                <a:tableStyleId>{5C22544A-7EE6-4342-B048-85BDC9FD1C3A}</a:tableStyleId>
              </a:tblPr>
              <a:tblGrid>
                <a:gridCol w="2103120"/>
                <a:gridCol w="4114800"/>
                <a:gridCol w="2011680"/>
              </a:tblGrid>
              <a:tr h="475488">
                <a:tc>
                  <a:txBody>
                    <a:bodyPr/>
                    <a:lstStyle/>
                    <a:p>
                      <a:r>
                        <a:rPr lang="de-AT" sz="1200" b="1">
                          <a:solidFill>
                            <a:schemeClr val="bg1"/>
                          </a:solidFill>
                        </a:rPr>
                        <a:t>Skala</a:t>
                      </a:r>
                    </a:p>
                  </a:txBody>
                  <a:tcPr marT="36576" marB="36576" anchor="ctr">
                    <a:solidFill>
                      <a:schemeClr val="accent1"/>
                    </a:solidFill>
                  </a:tcPr>
                </a:tc>
                <a:tc>
                  <a:txBody>
                    <a:bodyPr/>
                    <a:lstStyle/>
                    <a:p>
                      <a:r>
                        <a:rPr lang="de-AT" sz="1200" b="1">
                          <a:solidFill>
                            <a:schemeClr val="bg1"/>
                          </a:solidFill>
                        </a:rPr>
                        <a:t>Dimensionen</a:t>
                      </a:r>
                    </a:p>
                  </a:txBody>
                  <a:tcPr marT="36576" marB="36576" anchor="ctr">
                    <a:solidFill>
                      <a:schemeClr val="accent1"/>
                    </a:solidFill>
                  </a:tcPr>
                </a:tc>
                <a:tc>
                  <a:txBody>
                    <a:bodyPr/>
                    <a:lstStyle/>
                    <a:p>
                      <a:r>
                        <a:rPr lang="de-AT" sz="1200" b="1">
                          <a:solidFill>
                            <a:schemeClr val="bg1"/>
                          </a:solidFill>
                        </a:rPr>
                        <a:t>Geeignet für</a:t>
                      </a:r>
                    </a:p>
                  </a:txBody>
                  <a:tcPr marT="36576" marB="36576" anchor="ctr">
                    <a:solidFill>
                      <a:schemeClr val="accent1"/>
                    </a:solidFill>
                  </a:tcPr>
                </a:tc>
              </a:tr>
              <a:tr h="475488">
                <a:tc>
                  <a:txBody>
                    <a:bodyPr/>
                    <a:lstStyle/>
                    <a:p>
                      <a:r>
                        <a:rPr lang="de-AT" sz="1200">
                          <a:solidFill>
                            <a:schemeClr val="tx1"/>
                          </a:solidFill>
                        </a:rPr>
                        <a:t>Aaker (1996): Brand Equity Ten</a:t>
                      </a:r>
                    </a:p>
                  </a:txBody>
                  <a:tcPr marT="36576" marB="36576" anchor="ctr">
                    <a:solidFill>
                      <a:schemeClr val="bg2"/>
                    </a:solidFill>
                  </a:tcPr>
                </a:tc>
                <a:tc>
                  <a:txBody>
                    <a:bodyPr/>
                    <a:lstStyle/>
                    <a:p>
                      <a:r>
                        <a:rPr lang="de-AT" sz="1200">
                          <a:solidFill>
                            <a:schemeClr val="tx1"/>
                          </a:solidFill>
                        </a:rPr>
                        <a:t>Loyalität, Qualität und Führung, Assoziationen, Bekanntheit, Marktverhalten</a:t>
                      </a:r>
                    </a:p>
                  </a:txBody>
                  <a:tcPr marT="36576" marB="36576" anchor="ctr">
                    <a:solidFill>
                      <a:schemeClr val="bg2"/>
                    </a:solidFill>
                  </a:tcPr>
                </a:tc>
                <a:tc>
                  <a:txBody>
                    <a:bodyPr/>
                    <a:lstStyle/>
                    <a:p>
                      <a:r>
                        <a:rPr lang="de-AT" sz="1200">
                          <a:solidFill>
                            <a:schemeClr val="tx1"/>
                          </a:solidFill>
                        </a:rPr>
                        <a:t>Gerüst für Tracker</a:t>
                      </a:r>
                    </a:p>
                  </a:txBody>
                  <a:tcPr marT="36576" marB="36576" anchor="ctr">
                    <a:solidFill>
                      <a:schemeClr val="bg2"/>
                    </a:solidFill>
                  </a:tcPr>
                </a:tc>
              </a:tr>
              <a:tr h="475488">
                <a:tc>
                  <a:txBody>
                    <a:bodyPr/>
                    <a:lstStyle/>
                    <a:p>
                      <a:r>
                        <a:rPr lang="de-AT" sz="1200">
                          <a:solidFill>
                            <a:schemeClr val="tx1"/>
                          </a:solidFill>
                        </a:rPr>
                        <a:t>Yoo &amp; Donthu (2001)</a:t>
                      </a:r>
                    </a:p>
                  </a:txBody>
                  <a:tcPr marT="36576" marB="36576" anchor="ctr">
                    <a:solidFill>
                      <a:srgbClr val="F2F2F2"/>
                    </a:solidFill>
                  </a:tcPr>
                </a:tc>
                <a:tc>
                  <a:txBody>
                    <a:bodyPr/>
                    <a:lstStyle/>
                    <a:p>
                      <a:r>
                        <a:rPr lang="de-AT" sz="1200">
                          <a:solidFill>
                            <a:schemeClr val="tx1"/>
                          </a:solidFill>
                        </a:rPr>
                        <a:t>Loyalität, wahrgenommene Qualität, Bekanntheit und Assoziationen, Gesamtwert</a:t>
                      </a:r>
                    </a:p>
                  </a:txBody>
                  <a:tcPr marT="36576" marB="36576" anchor="ctr">
                    <a:solidFill>
                      <a:srgbClr val="F2F2F2"/>
                    </a:solidFill>
                  </a:tcPr>
                </a:tc>
                <a:tc>
                  <a:txBody>
                    <a:bodyPr/>
                    <a:lstStyle/>
                    <a:p>
                      <a:r>
                        <a:rPr lang="de-AT" sz="1200">
                          <a:solidFill>
                            <a:schemeClr val="tx1"/>
                          </a:solidFill>
                        </a:rPr>
                        <a:t>Markenvergleiche</a:t>
                      </a:r>
                    </a:p>
                  </a:txBody>
                  <a:tcPr marT="36576" marB="36576" anchor="ctr">
                    <a:solidFill>
                      <a:srgbClr val="F2F2F2"/>
                    </a:solidFill>
                  </a:tcPr>
                </a:tc>
              </a:tr>
              <a:tr h="475488">
                <a:tc>
                  <a:txBody>
                    <a:bodyPr/>
                    <a:lstStyle/>
                    <a:p>
                      <a:r>
                        <a:rPr lang="de-AT" sz="1200">
                          <a:solidFill>
                            <a:schemeClr val="tx1"/>
                          </a:solidFill>
                        </a:rPr>
                        <a:t>Netemeyer et al. (2004)</a:t>
                      </a:r>
                    </a:p>
                  </a:txBody>
                  <a:tcPr marT="36576" marB="36576" anchor="ctr">
                    <a:solidFill>
                      <a:schemeClr val="bg2"/>
                    </a:solidFill>
                  </a:tcPr>
                </a:tc>
                <a:tc>
                  <a:txBody>
                    <a:bodyPr/>
                    <a:lstStyle/>
                    <a:p>
                      <a:r>
                        <a:rPr lang="de-AT" sz="1200">
                          <a:solidFill>
                            <a:schemeClr val="tx1"/>
                          </a:solidFill>
                        </a:rPr>
                        <a:t>Qualität, Preis-Leistung, Einzigartigkeit, Zahlungsbereitschaft</a:t>
                      </a:r>
                    </a:p>
                  </a:txBody>
                  <a:tcPr marT="36576" marB="36576" anchor="ctr">
                    <a:solidFill>
                      <a:schemeClr val="bg2"/>
                    </a:solidFill>
                  </a:tcPr>
                </a:tc>
                <a:tc>
                  <a:txBody>
                    <a:bodyPr/>
                    <a:lstStyle/>
                    <a:p>
                      <a:r>
                        <a:rPr lang="de-AT" sz="1200">
                          <a:solidFill>
                            <a:schemeClr val="tx1"/>
                          </a:solidFill>
                        </a:rPr>
                        <a:t>Bezug zur Preisprämie</a:t>
                      </a:r>
                    </a:p>
                  </a:txBody>
                  <a:tcPr marT="36576" marB="36576" anchor="ctr">
                    <a:solidFill>
                      <a:schemeClr val="bg2"/>
                    </a:solidFill>
                  </a:tcPr>
                </a:tc>
              </a:tr>
              <a:tr h="475488">
                <a:tc>
                  <a:txBody>
                    <a:bodyPr/>
                    <a:lstStyle/>
                    <a:p>
                      <a:r>
                        <a:rPr lang="de-AT" sz="1200">
                          <a:solidFill>
                            <a:schemeClr val="tx1"/>
                          </a:solidFill>
                        </a:rPr>
                        <a:t>Brakus et al. (2009)</a:t>
                      </a:r>
                    </a:p>
                  </a:txBody>
                  <a:tcPr marT="36576" marB="36576" anchor="ctr">
                    <a:solidFill>
                      <a:srgbClr val="F2F2F2"/>
                    </a:solidFill>
                  </a:tcPr>
                </a:tc>
                <a:tc>
                  <a:txBody>
                    <a:bodyPr/>
                    <a:lstStyle/>
                    <a:p>
                      <a:r>
                        <a:rPr lang="de-AT" sz="1200">
                          <a:solidFill>
                            <a:schemeClr val="tx1"/>
                          </a:solidFill>
                        </a:rPr>
                        <a:t>Sensorisches, affektives, intellektuelles, verhaltensbezogenes Erleben</a:t>
                      </a:r>
                    </a:p>
                  </a:txBody>
                  <a:tcPr marT="36576" marB="36576" anchor="ctr">
                    <a:solidFill>
                      <a:srgbClr val="F2F2F2"/>
                    </a:solidFill>
                  </a:tcPr>
                </a:tc>
                <a:tc>
                  <a:txBody>
                    <a:bodyPr/>
                    <a:lstStyle/>
                    <a:p>
                      <a:r>
                        <a:rPr lang="de-AT" sz="1200">
                          <a:solidFill>
                            <a:schemeClr val="tx1"/>
                          </a:solidFill>
                        </a:rPr>
                        <a:t>Erlebnis-Modul</a:t>
                      </a:r>
                    </a:p>
                  </a:txBody>
                  <a:tcPr marT="36576" marB="36576" anchor="ctr">
                    <a:solidFill>
                      <a:srgbClr val="F2F2F2"/>
                    </a:solidFill>
                  </a:tcPr>
                </a:tc>
              </a:tr>
            </a:tbl>
          </a:graphicData>
        </a:graphic>
      </p:graphicFrame>
      <p:sp>
        <p:nvSpPr>
          <p:cNvPr id="7" name="Punkt"/>
          <p:cNvSpPr txBox="1"/>
          <p:nvPr/>
        </p:nvSpPr>
        <p:spPr>
          <a:xfrm>
            <a:off x="457200" y="3977639"/>
            <a:ext cx="8229600" cy="73152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de-AT" sz="1300" b="0">
                <a:solidFill>
                  <a:schemeClr val="tx1"/>
                </a:solidFill>
              </a:rPr>
              <a:t>Vor dem Markenvergleich mit konfirmatorischer Faktorenanalyse prüfen.</a:t>
            </a:r>
          </a:p>
          <a:p>
            <a:pPr algn="l" marL="182880" indent="-182880">
              <a:spcAft>
                <a:spcPts val="600"/>
              </a:spcAft>
              <a:buClr>
                <a:schemeClr val="accent1"/>
              </a:buClr>
              <a:buFont typeface="Arial"/>
              <a:buChar char="▪"/>
            </a:pPr>
            <a:r>
              <a:rPr lang="de-AT" sz="1300" b="0">
                <a:solidFill>
                  <a:schemeClr val="tx1"/>
                </a:solidFill>
              </a:rPr>
              <a:t>Befragter Markenwert folgt nicht immer dem absatzbasierten (Datta, Ailawadi &amp; van Heerde,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Markenpersönlichkeit messen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Aaker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aker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aker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Aaker (1997)</a:t>
            </a:r>
          </a:p>
        </p:txBody>
      </p:sp>
      <p:pic>
        <p:nvPicPr>
          <p:cNvPr id="9" name="Icon LuUsers" descr=""/>
          <p:cNvPicPr>
            <a:picLocks noChangeAspect="1"/>
          </p:cNvPicPr>
          <p:nvPr/>
        </p:nvPicPr>
        <p:blipFill>
          <a:blip r:embed="rId3"/>
          <a:stretch>
            <a:fillRect/>
          </a:stretch>
        </p:blipFill>
        <p:spPr>
          <a:xfrm>
            <a:off x="4059936" y="1344168"/>
            <a:ext cx="329184" cy="329184"/>
          </a:xfrm>
          <a:prstGeom prst="rect">
            <a:avLst/>
          </a:prstGeom>
        </p:spPr>
      </p:pic>
      <p:sp>
        <p:nvSpPr>
          <p:cNvPr id="10" name="Aaker text"/>
          <p:cNvSpPr txBox="1"/>
          <p:nvPr/>
        </p:nvSpPr>
        <p:spPr>
          <a:xfrm>
            <a:off x="594360" y="1847088"/>
            <a:ext cx="3758184" cy="185623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42 Items, fünf Dimensionen</a:t>
            </a:r>
          </a:p>
          <a:p>
            <a:pPr algn="l">
              <a:spcAft>
                <a:spcPts val="700"/>
              </a:spcAft>
            </a:pPr>
            <a:r>
              <a:rPr lang="de-AT" sz="1300" b="0">
                <a:solidFill>
                  <a:schemeClr val="tx1"/>
                </a:solidFill>
              </a:rPr>
              <a:t>Aufrichtigkeit, Erregung, Kompetenz, Kultiviertheit, Robustheit.</a:t>
            </a:r>
          </a:p>
          <a:p>
            <a:pPr algn="l">
              <a:spcAft>
                <a:spcPts val="700"/>
              </a:spcAft>
            </a:pPr>
            <a:r>
              <a:rPr lang="de-AT" sz="1300" b="0">
                <a:solidFill>
                  <a:schemeClr val="tx1"/>
                </a:solidFill>
              </a:rPr>
              <a:t>Das klassische, vielfach replizierte Instrument.</a:t>
            </a:r>
          </a:p>
        </p:txBody>
      </p:sp>
      <p:sp>
        <p:nvSpPr>
          <p:cNvPr id="11" name="Geuens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uen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euen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Geuens et al. (2009)</a:t>
            </a:r>
          </a:p>
        </p:txBody>
      </p:sp>
      <p:pic>
        <p:nvPicPr>
          <p:cNvPr id="14" name="Icon LuShieldCheck" descr=""/>
          <p:cNvPicPr>
            <a:picLocks noChangeAspect="1"/>
          </p:cNvPicPr>
          <p:nvPr/>
        </p:nvPicPr>
        <p:blipFill>
          <a:blip r:embed="rId4"/>
          <a:stretch>
            <a:fillRect/>
          </a:stretch>
        </p:blipFill>
        <p:spPr>
          <a:xfrm>
            <a:off x="8257031" y="1344168"/>
            <a:ext cx="329184" cy="329184"/>
          </a:xfrm>
          <a:prstGeom prst="rect">
            <a:avLst/>
          </a:prstGeom>
        </p:spPr>
      </p:pic>
      <p:sp>
        <p:nvSpPr>
          <p:cNvPr id="15" name="Geuens text"/>
          <p:cNvSpPr txBox="1"/>
          <p:nvPr/>
        </p:nvSpPr>
        <p:spPr>
          <a:xfrm>
            <a:off x="4791456" y="1847088"/>
            <a:ext cx="3758184" cy="185623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12 Items, fünf Faktoren</a:t>
            </a:r>
          </a:p>
          <a:p>
            <a:pPr algn="l">
              <a:spcAft>
                <a:spcPts val="700"/>
              </a:spcAft>
            </a:pPr>
            <a:r>
              <a:rPr lang="de-AT" sz="1300" b="0">
                <a:solidFill>
                  <a:schemeClr val="tx1"/>
                </a:solidFill>
              </a:rPr>
              <a:t>Verantwortung, Aktivität, Aggressivität, Einfachheit, Emotionalität.</a:t>
            </a:r>
          </a:p>
          <a:p>
            <a:pPr algn="l">
              <a:spcAft>
                <a:spcPts val="700"/>
              </a:spcAft>
            </a:pPr>
            <a:r>
              <a:rPr lang="de-AT" sz="1300" b="0">
                <a:solidFill>
                  <a:schemeClr val="tx1"/>
                </a:solidFill>
              </a:rPr>
              <a:t>Ohne Nicht-Persönlichkeits-Items; über Marken, Kategorien und Länder getestet.</a:t>
            </a:r>
          </a:p>
        </p:txBody>
      </p:sp>
      <p:sp>
        <p:nvSpPr>
          <p:cNvPr id="16" name="Hinweis"/>
          <p:cNvSpPr/>
          <p:nvPr/>
        </p:nvSpPr>
        <p:spPr>
          <a:xfrm>
            <a:off x="457200" y="40233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023360"/>
            <a:ext cx="7863840" cy="59436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Kritik: </a:t>
            </a:r>
            <a:r>
              <a:rPr lang="de-AT" sz="1300" b="0">
                <a:solidFill>
                  <a:schemeClr val="tx1"/>
                </a:solidFill>
              </a:rPr>
              <a:t>Azoulay &amp; Kapferer (2003) zeigen, dass Aakers Skala Persönlichkeit mit anderen Identitätsfacetten vermischt.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Übung: eine Positionierungskarte</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Daten body"/>
          <p:cNvSpPr/>
          <p:nvPr/>
        </p:nvSpPr>
        <p:spPr>
          <a:xfrm>
            <a:off x="457200" y="1280160"/>
            <a:ext cx="3291840"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aten band"/>
          <p:cNvSpPr/>
          <p:nvPr/>
        </p:nvSpPr>
        <p:spPr>
          <a:xfrm>
            <a:off x="457200" y="12801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aten heading"/>
          <p:cNvSpPr txBox="1"/>
          <p:nvPr/>
        </p:nvSpPr>
        <p:spPr>
          <a:xfrm>
            <a:off x="566928" y="1335024"/>
            <a:ext cx="2606040"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Die Daten</a:t>
            </a:r>
          </a:p>
        </p:txBody>
      </p:sp>
      <p:pic>
        <p:nvPicPr>
          <p:cNvPr id="9" name="Icon LuDatabase" descr=""/>
          <p:cNvPicPr>
            <a:picLocks noChangeAspect="1"/>
          </p:cNvPicPr>
          <p:nvPr/>
        </p:nvPicPr>
        <p:blipFill>
          <a:blip r:embed="rId3"/>
          <a:stretch>
            <a:fillRect/>
          </a:stretch>
        </p:blipFill>
        <p:spPr>
          <a:xfrm>
            <a:off x="3319272" y="1344168"/>
            <a:ext cx="329184" cy="329184"/>
          </a:xfrm>
          <a:prstGeom prst="rect">
            <a:avLst/>
          </a:prstGeom>
        </p:spPr>
      </p:pic>
      <p:sp>
        <p:nvSpPr>
          <p:cNvPr id="10" name="Daten text"/>
          <p:cNvSpPr txBox="1"/>
          <p:nvPr/>
        </p:nvSpPr>
        <p:spPr>
          <a:xfrm>
            <a:off x="594360" y="1847088"/>
            <a:ext cx="3017520" cy="2039112"/>
          </a:xfrm>
          <a:prstGeom prst="rect">
            <a:avLst/>
          </a:prstGeom>
          <a:noFill/>
        </p:spPr>
        <p:txBody>
          <a:bodyPr wrap="square" lIns="36576" rIns="36576" tIns="18288" bIns="18288" anchor="t">
            <a:spAutoFit/>
          </a:bodyPr>
          <a:lstStyle/>
          <a:p>
            <a:pPr algn="l">
              <a:spcAft>
                <a:spcPts val="700"/>
              </a:spcAft>
            </a:pPr>
            <a:r>
              <a:rPr lang="de-AT" sz="1300" b="0">
                <a:solidFill>
                  <a:schemeClr val="tx1"/>
                </a:solidFill>
              </a:rPr>
              <a:t>Chapman &amp; Feit: 100 Befragte bewerten 10 Marken auf 9 Adjektiven (1–10).</a:t>
            </a:r>
          </a:p>
          <a:p>
            <a:pPr algn="l">
              <a:spcAft>
                <a:spcPts val="700"/>
              </a:spcAft>
            </a:pPr>
            <a:r>
              <a:rPr lang="de-AT" sz="1300" b="0">
                <a:solidFill>
                  <a:schemeClr val="tx1"/>
                </a:solidFill>
              </a:rPr>
              <a:t>Perform, leader, latest, fun, serious, bargain, value, trendy, rebuy.</a:t>
            </a:r>
          </a:p>
          <a:p>
            <a:pPr algn="l">
              <a:spcAft>
                <a:spcPts val="700"/>
              </a:spcAft>
            </a:pPr>
            <a:r>
              <a:rPr lang="de-AT" sz="1300" b="0">
                <a:solidFill>
                  <a:schemeClr val="tx1"/>
                </a:solidFill>
              </a:rPr>
              <a:t>1.000 Zeilen, simulierte Lehrdaten, frei als CSV.</a:t>
            </a:r>
          </a:p>
        </p:txBody>
      </p:sp>
      <p:sp>
        <p:nvSpPr>
          <p:cNvPr id="11" name="Lab Schritt 1"/>
          <p:cNvSpPr/>
          <p:nvPr/>
        </p:nvSpPr>
        <p:spPr>
          <a:xfrm>
            <a:off x="3977639" y="137160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1</a:t>
            </a:r>
          </a:p>
        </p:txBody>
      </p:sp>
      <p:sp>
        <p:nvSpPr>
          <p:cNvPr id="12" name="Lab Schritt 1 Text"/>
          <p:cNvSpPr txBox="1"/>
          <p:nvPr/>
        </p:nvSpPr>
        <p:spPr>
          <a:xfrm>
            <a:off x="4480560" y="1325880"/>
            <a:ext cx="4206240" cy="566928"/>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Bewertungen je Marke mitteln.</a:t>
            </a:r>
          </a:p>
        </p:txBody>
      </p:sp>
      <p:sp>
        <p:nvSpPr>
          <p:cNvPr id="13" name="Lab Schritt 2"/>
          <p:cNvSpPr/>
          <p:nvPr/>
        </p:nvSpPr>
        <p:spPr>
          <a:xfrm>
            <a:off x="3977639" y="2039111"/>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2</a:t>
            </a:r>
          </a:p>
        </p:txBody>
      </p:sp>
      <p:sp>
        <p:nvSpPr>
          <p:cNvPr id="14" name="Lab Schritt 2 Text"/>
          <p:cNvSpPr txBox="1"/>
          <p:nvPr/>
        </p:nvSpPr>
        <p:spPr>
          <a:xfrm>
            <a:off x="4480560" y="1993391"/>
            <a:ext cx="4206240" cy="566928"/>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Hauptkomponenten- oder Korrespondenzanalyse (R FactoMineR, Python prince).</a:t>
            </a:r>
          </a:p>
        </p:txBody>
      </p:sp>
      <p:sp>
        <p:nvSpPr>
          <p:cNvPr id="15" name="Lab Schritt 3"/>
          <p:cNvSpPr/>
          <p:nvPr/>
        </p:nvSpPr>
        <p:spPr>
          <a:xfrm>
            <a:off x="3977639" y="2706624"/>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3</a:t>
            </a:r>
          </a:p>
        </p:txBody>
      </p:sp>
      <p:sp>
        <p:nvSpPr>
          <p:cNvPr id="16" name="Lab Schritt 3 Text"/>
          <p:cNvSpPr txBox="1"/>
          <p:nvPr/>
        </p:nvSpPr>
        <p:spPr>
          <a:xfrm>
            <a:off x="4480560" y="2660904"/>
            <a:ext cx="4206240" cy="566928"/>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Marken und Adjektive auf den ersten zwei Dimensionen darstellen.</a:t>
            </a:r>
          </a:p>
        </p:txBody>
      </p:sp>
      <p:sp>
        <p:nvSpPr>
          <p:cNvPr id="17" name="Lab Schritt 4"/>
          <p:cNvSpPr/>
          <p:nvPr/>
        </p:nvSpPr>
        <p:spPr>
          <a:xfrm>
            <a:off x="3977639" y="3374135"/>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400" b="1">
                <a:solidFill>
                  <a:schemeClr val="bg1"/>
                </a:solidFill>
                <a:latin typeface="+mj-lt"/>
              </a:rPr>
              <a:t>4</a:t>
            </a:r>
          </a:p>
        </p:txBody>
      </p:sp>
      <p:sp>
        <p:nvSpPr>
          <p:cNvPr id="18" name="Lab Schritt 4 Text"/>
          <p:cNvSpPr txBox="1"/>
          <p:nvPr/>
        </p:nvSpPr>
        <p:spPr>
          <a:xfrm>
            <a:off x="4480560" y="3328415"/>
            <a:ext cx="4206240" cy="566928"/>
          </a:xfrm>
          <a:prstGeom prst="rect">
            <a:avLst/>
          </a:prstGeom>
          <a:noFill/>
        </p:spPr>
        <p:txBody>
          <a:bodyPr wrap="square" lIns="36576" rIns="36576" tIns="18288" bIns="18288" anchor="ctr">
            <a:spAutoFit/>
          </a:bodyPr>
          <a:lstStyle/>
          <a:p>
            <a:pPr algn="l">
              <a:spcAft>
                <a:spcPts val="0"/>
              </a:spcAft>
            </a:pPr>
            <a:r>
              <a:rPr lang="de-AT" sz="1300" b="0">
                <a:solidFill>
                  <a:schemeClr val="tx1"/>
                </a:solidFill>
              </a:rPr>
              <a:t>Dimensionen benennen, dichte und leere Bereiche finden.</a:t>
            </a:r>
          </a:p>
        </p:txBody>
      </p:sp>
      <p:sp>
        <p:nvSpPr>
          <p:cNvPr id="19" name="Hinweis"/>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inweis text"/>
          <p:cNvSpPr txBox="1"/>
          <p:nvPr/>
        </p:nvSpPr>
        <p:spPr>
          <a:xfrm>
            <a:off x="640080" y="4160520"/>
            <a:ext cx="7863840" cy="54864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Erweiterung: </a:t>
            </a:r>
            <a:r>
              <a:rPr lang="de-AT" sz="1300" b="0">
                <a:solidFill>
                  <a:schemeClr val="tx1"/>
                </a:solidFill>
              </a:rPr>
              <a:t>Dieselben Bewertungen per LLM erfragen und Karten vergleichen (Li et al., 2024: über 75 % Übereinstimmung).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Mental Availability</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Hinweis"/>
          <p:cNvSpPr/>
          <p:nvPr/>
        </p:nvSpPr>
        <p:spPr>
          <a:xfrm>
            <a:off x="457200" y="128016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inweis text"/>
          <p:cNvSpPr txBox="1"/>
          <p:nvPr/>
        </p:nvSpPr>
        <p:spPr>
          <a:xfrm>
            <a:off x="640080" y="1280160"/>
            <a:ext cx="7863840" cy="54864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Vorbehalt: </a:t>
            </a:r>
            <a:r>
              <a:rPr lang="de-AT" sz="1300" b="0">
                <a:solidFill>
                  <a:schemeClr val="tx1"/>
                </a:solidFill>
              </a:rPr>
              <a:t>Große Marken erhalten bei jedem Attribut mehr Nennungen. Erst mit erwarteten Werten vergleichen.</a:t>
            </a:r>
          </a:p>
        </p:txBody>
      </p:sp>
      <p:sp>
        <p:nvSpPr>
          <p:cNvPr id="8" name="MA 1 body"/>
          <p:cNvSpPr/>
          <p:nvPr/>
        </p:nvSpPr>
        <p:spPr>
          <a:xfrm>
            <a:off x="457200"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A 1 bar"/>
          <p:cNvSpPr/>
          <p:nvPr/>
        </p:nvSpPr>
        <p:spPr>
          <a:xfrm>
            <a:off x="457200"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 1 heading"/>
          <p:cNvSpPr txBox="1"/>
          <p:nvPr/>
        </p:nvSpPr>
        <p:spPr>
          <a:xfrm>
            <a:off x="594360" y="2167128"/>
            <a:ext cx="1705356"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Entry Points</a:t>
            </a:r>
          </a:p>
        </p:txBody>
      </p:sp>
      <p:sp>
        <p:nvSpPr>
          <p:cNvPr id="11" name="MA 1 text"/>
          <p:cNvSpPr txBox="1"/>
          <p:nvPr/>
        </p:nvSpPr>
        <p:spPr>
          <a:xfrm>
            <a:off x="594360" y="2615184"/>
            <a:ext cx="1659636" cy="1014984"/>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Kaufsituationen und Bedürfnisse, die an die Kategorie denken lassen.</a:t>
            </a:r>
          </a:p>
        </p:txBody>
      </p:sp>
      <p:sp>
        <p:nvSpPr>
          <p:cNvPr id="12" name="MA 2 body"/>
          <p:cNvSpPr/>
          <p:nvPr/>
        </p:nvSpPr>
        <p:spPr>
          <a:xfrm>
            <a:off x="2555748"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 2 bar"/>
          <p:cNvSpPr/>
          <p:nvPr/>
        </p:nvSpPr>
        <p:spPr>
          <a:xfrm>
            <a:off x="2555748"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 2 heading"/>
          <p:cNvSpPr txBox="1"/>
          <p:nvPr/>
        </p:nvSpPr>
        <p:spPr>
          <a:xfrm>
            <a:off x="2692908" y="2167128"/>
            <a:ext cx="1705355"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Mental Penetration</a:t>
            </a:r>
          </a:p>
        </p:txBody>
      </p:sp>
      <p:sp>
        <p:nvSpPr>
          <p:cNvPr id="15" name="MA 2 text"/>
          <p:cNvSpPr txBox="1"/>
          <p:nvPr/>
        </p:nvSpPr>
        <p:spPr>
          <a:xfrm>
            <a:off x="2692908" y="2615184"/>
            <a:ext cx="1659636" cy="1014984"/>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Anteil der Käufer:innen mit mindestens einem verknüpften Entry Point.</a:t>
            </a:r>
          </a:p>
        </p:txBody>
      </p:sp>
      <p:sp>
        <p:nvSpPr>
          <p:cNvPr id="16" name="MA 3 body"/>
          <p:cNvSpPr/>
          <p:nvPr/>
        </p:nvSpPr>
        <p:spPr>
          <a:xfrm>
            <a:off x="4654296"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 3 bar"/>
          <p:cNvSpPr/>
          <p:nvPr/>
        </p:nvSpPr>
        <p:spPr>
          <a:xfrm>
            <a:off x="4654296"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A 3 heading"/>
          <p:cNvSpPr txBox="1"/>
          <p:nvPr/>
        </p:nvSpPr>
        <p:spPr>
          <a:xfrm>
            <a:off x="4791456" y="2167128"/>
            <a:ext cx="1705355"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Mental Market Share</a:t>
            </a:r>
          </a:p>
        </p:txBody>
      </p:sp>
      <p:sp>
        <p:nvSpPr>
          <p:cNvPr id="19" name="MA 3 text"/>
          <p:cNvSpPr txBox="1"/>
          <p:nvPr/>
        </p:nvSpPr>
        <p:spPr>
          <a:xfrm>
            <a:off x="4791456" y="2615184"/>
            <a:ext cx="1659636" cy="1014984"/>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Anteil der Marke an allen Verknüpfungen von Marken und Entry Points.</a:t>
            </a:r>
          </a:p>
        </p:txBody>
      </p:sp>
      <p:sp>
        <p:nvSpPr>
          <p:cNvPr id="20" name="MA 4 body"/>
          <p:cNvSpPr/>
          <p:nvPr/>
        </p:nvSpPr>
        <p:spPr>
          <a:xfrm>
            <a:off x="6752844"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A 4 bar"/>
          <p:cNvSpPr/>
          <p:nvPr/>
        </p:nvSpPr>
        <p:spPr>
          <a:xfrm>
            <a:off x="6752844"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A 4 heading"/>
          <p:cNvSpPr txBox="1"/>
          <p:nvPr/>
        </p:nvSpPr>
        <p:spPr>
          <a:xfrm>
            <a:off x="6890004" y="2167128"/>
            <a:ext cx="1705355"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Network Size</a:t>
            </a:r>
          </a:p>
        </p:txBody>
      </p:sp>
      <p:sp>
        <p:nvSpPr>
          <p:cNvPr id="23" name="MA 4 text"/>
          <p:cNvSpPr txBox="1"/>
          <p:nvPr/>
        </p:nvSpPr>
        <p:spPr>
          <a:xfrm>
            <a:off x="6890004" y="2615184"/>
            <a:ext cx="1659636" cy="1014984"/>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Verknüpfte Entry Points bei jenen, die überhaupt einen verknüpfen.</a:t>
            </a:r>
          </a:p>
        </p:txBody>
      </p:sp>
      <p:sp>
        <p:nvSpPr>
          <p:cNvPr id="24" name="Callout"/>
          <p:cNvSpPr/>
          <p:nvPr/>
        </p:nvSpPr>
        <p:spPr>
          <a:xfrm>
            <a:off x="457200" y="38862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llout text"/>
          <p:cNvSpPr txBox="1"/>
          <p:nvPr/>
        </p:nvSpPr>
        <p:spPr>
          <a:xfrm>
            <a:off x="640080" y="3886200"/>
            <a:ext cx="7863840" cy="548640"/>
          </a:xfrm>
          <a:prstGeom prst="rect">
            <a:avLst/>
          </a:prstGeom>
          <a:noFill/>
        </p:spPr>
        <p:txBody>
          <a:bodyPr wrap="square" lIns="36576" rIns="36576" tIns="18288" bIns="18288" anchor="ctr">
            <a:spAutoFit/>
          </a:bodyPr>
          <a:lstStyle/>
          <a:p>
            <a:pPr algn="l">
              <a:spcAft>
                <a:spcPts val="0"/>
              </a:spcAft>
            </a:pPr>
            <a:r>
              <a:rPr lang="de-AT" sz="1300" b="1">
                <a:solidFill>
                  <a:schemeClr val="bg1"/>
                </a:solidFill>
              </a:rPr>
              <a:t>Messung: </a:t>
            </a:r>
            <a:r>
              <a:rPr lang="de-AT" sz="1300" b="0">
                <a:solidFill>
                  <a:schemeClr val="bg1"/>
                </a:solidFill>
              </a:rPr>
              <a:t>Kategoriekäufer:innen rund 20 Entry Points zeigen und fragen, welche Marken sie jeweils damit verbinden.</a:t>
            </a:r>
          </a:p>
        </p:txBody>
      </p:sp>
      <p:sp>
        <p:nvSpPr>
          <p:cNvPr id="26" name="Source note"/>
          <p:cNvSpPr txBox="1"/>
          <p:nvPr/>
        </p:nvSpPr>
        <p:spPr>
          <a:xfrm>
            <a:off x="457200" y="4572000"/>
            <a:ext cx="8229600" cy="32004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Romaniuk &amp; Sharp (2003), JTMAM; Romaniuk &amp; Sharp (2004), Marketing Theory; Romaniuk, Better Brand Health (OUP, 2023).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Distinctive Brand Assets prüfen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Raster 1"/>
          <p:cNvSpPr/>
          <p:nvPr/>
        </p:nvSpPr>
        <p:spPr>
          <a:xfrm>
            <a:off x="457200" y="1280160"/>
            <a:ext cx="1874519" cy="1325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ster 1 Text"/>
          <p:cNvSpPr txBox="1"/>
          <p:nvPr/>
        </p:nvSpPr>
        <p:spPr>
          <a:xfrm>
            <a:off x="566928" y="1389888"/>
            <a:ext cx="1691640" cy="1143000"/>
          </a:xfrm>
          <a:prstGeom prst="rect">
            <a:avLst/>
          </a:prstGeom>
          <a:noFill/>
        </p:spPr>
        <p:txBody>
          <a:bodyPr wrap="square" lIns="36576" rIns="36576" tIns="18288" bIns="18288" anchor="ctr">
            <a:spAutoFit/>
          </a:bodyPr>
          <a:lstStyle/>
          <a:p>
            <a:pPr algn="l">
              <a:spcAft>
                <a:spcPts val="400"/>
              </a:spcAft>
            </a:pPr>
            <a:r>
              <a:rPr lang="de-AT" sz="1100" b="0">
                <a:solidFill>
                  <a:schemeClr val="tx1"/>
                </a:solidFill>
              </a:rPr>
              <a:t>geringe Bekanntheit, hohe Einzigartigkeit</a:t>
            </a:r>
          </a:p>
          <a:p>
            <a:pPr algn="l">
              <a:spcAft>
                <a:spcPts val="400"/>
              </a:spcAft>
            </a:pPr>
            <a:r>
              <a:rPr lang="de-AT" sz="1400" b="1">
                <a:solidFill>
                  <a:schemeClr val="tx1"/>
                </a:solidFill>
                <a:latin typeface="+mj-lt"/>
              </a:rPr>
              <a:t>Investieren</a:t>
            </a:r>
          </a:p>
        </p:txBody>
      </p:sp>
      <p:sp>
        <p:nvSpPr>
          <p:cNvPr id="8" name="Raster 2"/>
          <p:cNvSpPr/>
          <p:nvPr/>
        </p:nvSpPr>
        <p:spPr>
          <a:xfrm>
            <a:off x="2423160" y="1280160"/>
            <a:ext cx="1874519" cy="1325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ster 2 Text"/>
          <p:cNvSpPr txBox="1"/>
          <p:nvPr/>
        </p:nvSpPr>
        <p:spPr>
          <a:xfrm>
            <a:off x="2532888" y="1389888"/>
            <a:ext cx="1691640" cy="1143000"/>
          </a:xfrm>
          <a:prstGeom prst="rect">
            <a:avLst/>
          </a:prstGeom>
          <a:noFill/>
        </p:spPr>
        <p:txBody>
          <a:bodyPr wrap="square" lIns="36576" rIns="36576" tIns="18288" bIns="18288" anchor="ctr">
            <a:spAutoFit/>
          </a:bodyPr>
          <a:lstStyle/>
          <a:p>
            <a:pPr algn="l">
              <a:spcAft>
                <a:spcPts val="400"/>
              </a:spcAft>
            </a:pPr>
            <a:r>
              <a:rPr lang="de-AT" sz="1100" b="0">
                <a:solidFill>
                  <a:schemeClr val="bg1"/>
                </a:solidFill>
              </a:rPr>
              <a:t>hohe Bekanntheit, hohe Einzigartigkeit</a:t>
            </a:r>
          </a:p>
          <a:p>
            <a:pPr algn="l">
              <a:spcAft>
                <a:spcPts val="400"/>
              </a:spcAft>
            </a:pPr>
            <a:r>
              <a:rPr lang="de-AT" sz="1400" b="1">
                <a:solidFill>
                  <a:schemeClr val="bg1"/>
                </a:solidFill>
                <a:latin typeface="+mj-lt"/>
              </a:rPr>
              <a:t>Nutzen oder verlieren</a:t>
            </a:r>
          </a:p>
        </p:txBody>
      </p:sp>
      <p:sp>
        <p:nvSpPr>
          <p:cNvPr id="10" name="Raster 3"/>
          <p:cNvSpPr/>
          <p:nvPr/>
        </p:nvSpPr>
        <p:spPr>
          <a:xfrm>
            <a:off x="457200" y="2697480"/>
            <a:ext cx="1874519"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ster 3 Text"/>
          <p:cNvSpPr txBox="1"/>
          <p:nvPr/>
        </p:nvSpPr>
        <p:spPr>
          <a:xfrm>
            <a:off x="566928" y="2807208"/>
            <a:ext cx="1691640" cy="1143000"/>
          </a:xfrm>
          <a:prstGeom prst="rect">
            <a:avLst/>
          </a:prstGeom>
          <a:noFill/>
        </p:spPr>
        <p:txBody>
          <a:bodyPr wrap="square" lIns="36576" rIns="36576" tIns="18288" bIns="18288" anchor="ctr">
            <a:spAutoFit/>
          </a:bodyPr>
          <a:lstStyle/>
          <a:p>
            <a:pPr algn="l">
              <a:spcAft>
                <a:spcPts val="400"/>
              </a:spcAft>
            </a:pPr>
            <a:r>
              <a:rPr lang="de-AT" sz="1100" b="0">
                <a:solidFill>
                  <a:schemeClr val="tx1"/>
                </a:solidFill>
              </a:rPr>
              <a:t>geringe Bekanntheit, geringe Einzigartigkeit</a:t>
            </a:r>
          </a:p>
          <a:p>
            <a:pPr algn="l">
              <a:spcAft>
                <a:spcPts val="400"/>
              </a:spcAft>
            </a:pPr>
            <a:r>
              <a:rPr lang="de-AT" sz="1400" b="1">
                <a:solidFill>
                  <a:schemeClr val="tx1"/>
                </a:solidFill>
                <a:latin typeface="+mj-lt"/>
              </a:rPr>
              <a:t>Ignorieren oder testen</a:t>
            </a:r>
          </a:p>
        </p:txBody>
      </p:sp>
      <p:sp>
        <p:nvSpPr>
          <p:cNvPr id="12" name="Raster 4"/>
          <p:cNvSpPr/>
          <p:nvPr/>
        </p:nvSpPr>
        <p:spPr>
          <a:xfrm>
            <a:off x="2423160" y="2697480"/>
            <a:ext cx="1874519" cy="132588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ster 4 Text"/>
          <p:cNvSpPr txBox="1"/>
          <p:nvPr/>
        </p:nvSpPr>
        <p:spPr>
          <a:xfrm>
            <a:off x="2532888" y="2807208"/>
            <a:ext cx="1691640" cy="1143000"/>
          </a:xfrm>
          <a:prstGeom prst="rect">
            <a:avLst/>
          </a:prstGeom>
          <a:noFill/>
        </p:spPr>
        <p:txBody>
          <a:bodyPr wrap="square" lIns="36576" rIns="36576" tIns="18288" bIns="18288" anchor="ctr">
            <a:spAutoFit/>
          </a:bodyPr>
          <a:lstStyle/>
          <a:p>
            <a:pPr algn="l">
              <a:spcAft>
                <a:spcPts val="400"/>
              </a:spcAft>
            </a:pPr>
            <a:r>
              <a:rPr lang="de-AT" sz="1100" b="0">
                <a:solidFill>
                  <a:schemeClr val="tx1"/>
                </a:solidFill>
              </a:rPr>
              <a:t>hohe Bekanntheit, geringe Einzigartigkeit</a:t>
            </a:r>
          </a:p>
          <a:p>
            <a:pPr algn="l">
              <a:spcAft>
                <a:spcPts val="400"/>
              </a:spcAft>
            </a:pPr>
            <a:r>
              <a:rPr lang="de-AT" sz="1400" b="1">
                <a:solidFill>
                  <a:schemeClr val="tx1"/>
                </a:solidFill>
                <a:latin typeface="+mj-lt"/>
              </a:rPr>
              <a:t>Nicht allein verwenden</a:t>
            </a:r>
          </a:p>
        </p:txBody>
      </p:sp>
      <p:sp>
        <p:nvSpPr>
          <p:cNvPr id="14" name="Asset Erklärung"/>
          <p:cNvSpPr txBox="1"/>
          <p:nvPr/>
        </p:nvSpPr>
        <p:spPr>
          <a:xfrm>
            <a:off x="4617720" y="1280160"/>
            <a:ext cx="4069080" cy="2788920"/>
          </a:xfrm>
          <a:prstGeom prst="rect">
            <a:avLst/>
          </a:prstGeom>
          <a:noFill/>
        </p:spPr>
        <p:txBody>
          <a:bodyPr wrap="square" lIns="36576" rIns="36576" tIns="18288" bIns="18288" anchor="t">
            <a:spAutoFit/>
          </a:bodyPr>
          <a:lstStyle/>
          <a:p>
            <a:pPr algn="l">
              <a:spcAft>
                <a:spcPts val="900"/>
              </a:spcAft>
            </a:pPr>
            <a:r>
              <a:rPr lang="de-AT" sz="1300" b="1">
                <a:solidFill>
                  <a:schemeClr val="tx2"/>
                </a:solidFill>
              </a:rPr>
              <a:t>Bekanntheit (Fame): </a:t>
            </a:r>
            <a:r>
              <a:rPr lang="de-AT" sz="1300" b="0">
                <a:solidFill>
                  <a:schemeClr val="tx1"/>
                </a:solidFill>
              </a:rPr>
              <a:t>Anteil der Kategoriekäufer:innen, die das Asset der Marke zuordnen.</a:t>
            </a:r>
          </a:p>
          <a:p>
            <a:pPr algn="l">
              <a:spcAft>
                <a:spcPts val="900"/>
              </a:spcAft>
            </a:pPr>
            <a:r>
              <a:rPr lang="de-AT" sz="1300" b="1">
                <a:solidFill>
                  <a:schemeClr val="tx2"/>
                </a:solidFill>
              </a:rPr>
              <a:t>Einzigartigkeit: </a:t>
            </a:r>
            <a:r>
              <a:rPr lang="de-AT" sz="1300" b="0">
                <a:solidFill>
                  <a:schemeClr val="tx1"/>
                </a:solidFill>
              </a:rPr>
              <a:t>Anteil dieser Zuordnungen, der auf diese Marke fällt.</a:t>
            </a:r>
          </a:p>
          <a:p>
            <a:pPr algn="l">
              <a:spcAft>
                <a:spcPts val="900"/>
              </a:spcAft>
            </a:pPr>
            <a:r>
              <a:rPr lang="de-AT" sz="1300" b="1">
                <a:solidFill>
                  <a:schemeClr val="tx2"/>
                </a:solidFill>
              </a:rPr>
              <a:t>Benchmarks: </a:t>
            </a:r>
            <a:r>
              <a:rPr lang="de-AT" sz="1300" b="0">
                <a:solidFill>
                  <a:schemeClr val="tx1"/>
                </a:solidFill>
              </a:rPr>
              <a:t>Formen im Schnitt etwa 40 % Fame und 71 % Einzigartigkeit, Farben etwa 12 % und 39 %.</a:t>
            </a:r>
          </a:p>
          <a:p>
            <a:pPr algn="l">
              <a:spcAft>
                <a:spcPts val="900"/>
              </a:spcAft>
            </a:pPr>
            <a:r>
              <a:rPr lang="de-AT" sz="1300" b="1">
                <a:solidFill>
                  <a:schemeClr val="tx2"/>
                </a:solidFill>
              </a:rPr>
              <a:t>Achtung: </a:t>
            </a:r>
            <a:r>
              <a:rPr lang="de-AT" sz="1300" b="0">
                <a:solidFill>
                  <a:schemeClr val="tx1"/>
                </a:solidFill>
              </a:rPr>
              <a:t>Marketingverantwortliche überschätzen Fame und unterschätzen Einzigartigkeit. Mit Käufer:innen testen.</a:t>
            </a:r>
          </a:p>
        </p:txBody>
      </p:sp>
      <p:sp>
        <p:nvSpPr>
          <p:cNvPr id="15"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Quellen: Romaniuk, Building Distinctive Brand Assets (2018); Phua et al. (2026), Int. J. of Advertising; Brus et al. (2025), JBM.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Vom Audit zum Tracking</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Audit body"/>
          <p:cNvSpPr/>
          <p:nvPr/>
        </p:nvSpPr>
        <p:spPr>
          <a:xfrm>
            <a:off x="457200" y="1280160"/>
            <a:ext cx="4032504"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udi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udi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Tiefes Audit</a:t>
            </a:r>
          </a:p>
        </p:txBody>
      </p:sp>
      <p:pic>
        <p:nvPicPr>
          <p:cNvPr id="9" name="Icon LuSearch" descr=""/>
          <p:cNvPicPr>
            <a:picLocks noChangeAspect="1"/>
          </p:cNvPicPr>
          <p:nvPr/>
        </p:nvPicPr>
        <p:blipFill>
          <a:blip r:embed="rId3"/>
          <a:stretch>
            <a:fillRect/>
          </a:stretch>
        </p:blipFill>
        <p:spPr>
          <a:xfrm>
            <a:off x="4059936" y="1344168"/>
            <a:ext cx="329184" cy="329184"/>
          </a:xfrm>
          <a:prstGeom prst="rect">
            <a:avLst/>
          </a:prstGeom>
        </p:spPr>
      </p:pic>
      <p:sp>
        <p:nvSpPr>
          <p:cNvPr id="10" name="Audit text"/>
          <p:cNvSpPr txBox="1"/>
          <p:nvPr/>
        </p:nvSpPr>
        <p:spPr>
          <a:xfrm>
            <a:off x="594360" y="1847088"/>
            <a:ext cx="3758184" cy="190195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Alle paar Jahre oder bei einem Anlass</a:t>
            </a:r>
          </a:p>
          <a:p>
            <a:pPr algn="l">
              <a:spcAft>
                <a:spcPts val="700"/>
              </a:spcAft>
            </a:pPr>
            <a:r>
              <a:rPr lang="de-AT" sz="1300" b="0">
                <a:solidFill>
                  <a:schemeClr val="tx1"/>
                </a:solidFill>
              </a:rPr>
              <a:t>Vollständiges Inventory, qualitative und quantitative Forschung.</a:t>
            </a:r>
          </a:p>
          <a:p>
            <a:pPr algn="l">
              <a:spcAft>
                <a:spcPts val="700"/>
              </a:spcAft>
            </a:pPr>
            <a:r>
              <a:rPr lang="de-AT" sz="1300" b="0">
                <a:solidFill>
                  <a:schemeClr val="tx1"/>
                </a:solidFill>
              </a:rPr>
              <a:t>Findet die wenigen Assoziationen, die die Wahl treiben.</a:t>
            </a:r>
          </a:p>
          <a:p>
            <a:pPr algn="l">
              <a:spcAft>
                <a:spcPts val="700"/>
              </a:spcAft>
            </a:pPr>
            <a:r>
              <a:rPr lang="de-AT" sz="1300" b="0">
                <a:solidFill>
                  <a:schemeClr val="tx1"/>
                </a:solidFill>
              </a:rPr>
              <a:t>Legt fest, was der Tracker misst.</a:t>
            </a:r>
          </a:p>
        </p:txBody>
      </p:sp>
      <p:sp>
        <p:nvSpPr>
          <p:cNvPr id="11" name="Tracker body"/>
          <p:cNvSpPr/>
          <p:nvPr/>
        </p:nvSpPr>
        <p:spPr>
          <a:xfrm>
            <a:off x="4654296" y="1280160"/>
            <a:ext cx="4032504"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cker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racker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Brand Tracker</a:t>
            </a:r>
          </a:p>
        </p:txBody>
      </p:sp>
      <p:pic>
        <p:nvPicPr>
          <p:cNvPr id="14" name="Icon LuChartColumn" descr=""/>
          <p:cNvPicPr>
            <a:picLocks noChangeAspect="1"/>
          </p:cNvPicPr>
          <p:nvPr/>
        </p:nvPicPr>
        <p:blipFill>
          <a:blip r:embed="rId4"/>
          <a:stretch>
            <a:fillRect/>
          </a:stretch>
        </p:blipFill>
        <p:spPr>
          <a:xfrm>
            <a:off x="8257031" y="1344168"/>
            <a:ext cx="329184" cy="329184"/>
          </a:xfrm>
          <a:prstGeom prst="rect">
            <a:avLst/>
          </a:prstGeom>
        </p:spPr>
      </p:pic>
      <p:sp>
        <p:nvSpPr>
          <p:cNvPr id="15" name="Tracker text"/>
          <p:cNvSpPr txBox="1"/>
          <p:nvPr/>
        </p:nvSpPr>
        <p:spPr>
          <a:xfrm>
            <a:off x="4791456" y="1847088"/>
            <a:ext cx="3758184" cy="190195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Laufend oder jährlich</a:t>
            </a:r>
          </a:p>
          <a:p>
            <a:pPr algn="l">
              <a:spcAft>
                <a:spcPts val="700"/>
              </a:spcAft>
            </a:pPr>
            <a:r>
              <a:rPr lang="de-AT" sz="1300" b="0">
                <a:solidFill>
                  <a:schemeClr val="tx1"/>
                </a:solidFill>
              </a:rPr>
              <a:t>Wenige Kennzahlen, gleiche Fragen und Stichprobe über die Zeit.</a:t>
            </a:r>
          </a:p>
          <a:p>
            <a:pPr algn="l">
              <a:spcAft>
                <a:spcPts val="700"/>
              </a:spcAft>
            </a:pPr>
            <a:r>
              <a:rPr lang="de-AT" sz="1300" b="0">
                <a:solidFill>
                  <a:schemeClr val="tx1"/>
                </a:solidFill>
              </a:rPr>
              <a:t>Immer im Vergleich zum Wettbewerb.</a:t>
            </a:r>
          </a:p>
          <a:p>
            <a:pPr algn="l">
              <a:spcAft>
                <a:spcPts val="700"/>
              </a:spcAft>
            </a:pPr>
            <a:r>
              <a:rPr lang="de-AT" sz="1300" b="0">
                <a:solidFill>
                  <a:schemeClr val="tx1"/>
                </a:solidFill>
              </a:rPr>
              <a:t>Käufer:innen und Nichtkäufer:innen getrennt berichten.</a:t>
            </a:r>
          </a:p>
        </p:txBody>
      </p:sp>
      <p:sp>
        <p:nvSpPr>
          <p:cNvPr id="16" name="Hinweis"/>
          <p:cNvSpPr/>
          <p:nvPr/>
        </p:nvSpPr>
        <p:spPr>
          <a:xfrm>
            <a:off x="457200" y="40233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023360"/>
            <a:ext cx="7863840" cy="59436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Schlank halten: </a:t>
            </a:r>
            <a:r>
              <a:rPr lang="de-AT" sz="1300" b="0">
                <a:solidFill>
                  <a:schemeClr val="tx1"/>
                </a:solidFill>
              </a:rPr>
              <a:t>27 gängige Markenkennzahlen lassen sich auf wenige Dimensionen verdichten (Lehmann, Keller &amp; Farley, 2008).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4 von 5 · Online-Daten, KI-Antworten, Markenbewertung</a:t>
            </a:r>
          </a:p>
        </p:txBody>
      </p:sp>
      <p:sp>
        <p:nvSpPr>
          <p:cNvPr id="3" name="Title 2"/>
          <p:cNvSpPr>
            <a:spLocks noGrp="1"/>
          </p:cNvSpPr>
          <p:nvPr>
            <p:ph type="ctrTitle"/>
          </p:nvPr>
        </p:nvSpPr>
        <p:spPr/>
        <p:txBody>
          <a:bodyPr/>
          <a:lstStyle/>
          <a:p>
            <a:r>
              <a:rPr lang="de-AT"/>
              <a:t>Über die Befragung hinaus</a:t>
            </a:r>
          </a:p>
        </p:txBody>
      </p:sp>
      <p:sp>
        <p:nvSpPr>
          <p:cNvPr id="4" name="Footer Placeholder 3"/>
          <p:cNvSpPr>
            <a:spLocks noGrp="1"/>
          </p:cNvSpPr>
          <p:nvPr>
            <p:ph type="ftr" idx="14" sz="quarter"/>
          </p:nvPr>
        </p:nvSpPr>
        <p:spPr/>
        <p:txBody>
          <a:bodyPr/>
          <a:p>
            <a:r>
              <a:rPr lang="de-AT"/>
              <a:t>Markenaudit</a:t>
            </a:r>
          </a:p>
        </p:txBody>
      </p:sp>
      <p:sp>
        <p:nvSpPr>
          <p:cNvPr id="5" name="Slide Number Placeholder 4"/>
          <p:cNvSpPr>
            <a:spLocks noGrp="1"/>
          </p:cNvSpPr>
          <p:nvPr>
            <p:ph type="sldNum" idx="15" sz="quarter"/>
          </p:nvPr>
        </p:nvSpPr>
        <p:spPr/>
        <p:txBody>
          <a:bodyPr/>
          <a:p>
            <a:r>
              <a:rPr lang="de-AT"/>
              <a:t>SEITE </a:t>
            </a:r>
            <a:fld id="{B6F15528-21DE-4FAA-801E-634DDDAF4B2B}" type="slidenum">
              <a:rPr lang="de-AT"/>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Marken anhand von Online-Daten prüfen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Online Tabelle"/>
          <p:cNvGraphicFramePr>
            <a:graphicFrameLocks noGrp="1"/>
          </p:cNvGraphicFramePr>
          <p:nvPr/>
        </p:nvGraphicFramePr>
        <p:xfrm>
          <a:off x="457200" y="1280160"/>
          <a:ext cx="8229600" cy="2194560"/>
        </p:xfrm>
        <a:graphic>
          <a:graphicData uri="http://schemas.openxmlformats.org/drawingml/2006/table">
            <a:tbl>
              <a:tblPr firstRow="1" bandRow="1">
                <a:tableStyleId>{5C22544A-7EE6-4342-B048-85BDC9FD1C3A}</a:tableStyleId>
              </a:tblPr>
              <a:tblGrid>
                <a:gridCol w="2103120"/>
                <a:gridCol w="2011680"/>
                <a:gridCol w="4114800"/>
              </a:tblGrid>
              <a:tr h="438912">
                <a:tc>
                  <a:txBody>
                    <a:bodyPr/>
                    <a:lstStyle/>
                    <a:p>
                      <a:r>
                        <a:rPr lang="de-AT" sz="1200" b="1">
                          <a:solidFill>
                            <a:schemeClr val="bg1"/>
                          </a:solidFill>
                        </a:rPr>
                        <a:t>Studie</a:t>
                      </a:r>
                    </a:p>
                  </a:txBody>
                  <a:tcPr marT="36576" marB="36576" anchor="ctr">
                    <a:solidFill>
                      <a:schemeClr val="accent1"/>
                    </a:solidFill>
                  </a:tcPr>
                </a:tc>
                <a:tc>
                  <a:txBody>
                    <a:bodyPr/>
                    <a:lstStyle/>
                    <a:p>
                      <a:r>
                        <a:rPr lang="de-AT" sz="1200" b="1">
                          <a:solidFill>
                            <a:schemeClr val="bg1"/>
                          </a:solidFill>
                        </a:rPr>
                        <a:t>Daten</a:t>
                      </a:r>
                    </a:p>
                  </a:txBody>
                  <a:tcPr marT="36576" marB="36576" anchor="ctr">
                    <a:solidFill>
                      <a:schemeClr val="accent1"/>
                    </a:solidFill>
                  </a:tcPr>
                </a:tc>
                <a:tc>
                  <a:txBody>
                    <a:bodyPr/>
                    <a:lstStyle/>
                    <a:p>
                      <a:r>
                        <a:rPr lang="de-AT" sz="1200" b="1">
                          <a:solidFill>
                            <a:schemeClr val="bg1"/>
                          </a:solidFill>
                        </a:rPr>
                        <a:t>Beitrag zum Audit</a:t>
                      </a:r>
                    </a:p>
                  </a:txBody>
                  <a:tcPr marT="36576" marB="36576" anchor="ctr">
                    <a:solidFill>
                      <a:schemeClr val="accent1"/>
                    </a:solidFill>
                  </a:tcPr>
                </a:tc>
              </a:tr>
              <a:tr h="438912">
                <a:tc>
                  <a:txBody>
                    <a:bodyPr/>
                    <a:lstStyle/>
                    <a:p>
                      <a:r>
                        <a:rPr lang="de-AT" sz="1200">
                          <a:solidFill>
                            <a:schemeClr val="tx1"/>
                          </a:solidFill>
                        </a:rPr>
                        <a:t>Netzer et al. (2012)</a:t>
                      </a:r>
                    </a:p>
                  </a:txBody>
                  <a:tcPr marT="36576" marB="36576" anchor="ctr">
                    <a:solidFill>
                      <a:schemeClr val="bg2"/>
                    </a:solidFill>
                  </a:tcPr>
                </a:tc>
                <a:tc>
                  <a:txBody>
                    <a:bodyPr/>
                    <a:lstStyle/>
                    <a:p>
                      <a:r>
                        <a:rPr lang="de-AT" sz="1200">
                          <a:solidFill>
                            <a:schemeClr val="tx1"/>
                          </a:solidFill>
                        </a:rPr>
                        <a:t>Forenbeiträge</a:t>
                      </a:r>
                    </a:p>
                  </a:txBody>
                  <a:tcPr marT="36576" marB="36576" anchor="ctr">
                    <a:solidFill>
                      <a:schemeClr val="bg2"/>
                    </a:solidFill>
                  </a:tcPr>
                </a:tc>
                <a:tc>
                  <a:txBody>
                    <a:bodyPr/>
                    <a:lstStyle/>
                    <a:p>
                      <a:r>
                        <a:rPr lang="de-AT" sz="1200">
                          <a:solidFill>
                            <a:schemeClr val="tx1"/>
                          </a:solidFill>
                        </a:rPr>
                        <a:t>Karten gemeinsamer Nennungen, geprüft an Befragung und Absatz</a:t>
                      </a:r>
                    </a:p>
                  </a:txBody>
                  <a:tcPr marT="36576" marB="36576" anchor="ctr">
                    <a:solidFill>
                      <a:schemeClr val="bg2"/>
                    </a:solidFill>
                  </a:tcPr>
                </a:tc>
              </a:tr>
              <a:tr h="438912">
                <a:tc>
                  <a:txBody>
                    <a:bodyPr/>
                    <a:lstStyle/>
                    <a:p>
                      <a:r>
                        <a:rPr lang="de-AT" sz="1200">
                          <a:solidFill>
                            <a:schemeClr val="tx1"/>
                          </a:solidFill>
                        </a:rPr>
                        <a:t>Tirunillai &amp; Tellis (2014)</a:t>
                      </a:r>
                    </a:p>
                  </a:txBody>
                  <a:tcPr marT="36576" marB="36576" anchor="ctr">
                    <a:solidFill>
                      <a:srgbClr val="F2F2F2"/>
                    </a:solidFill>
                  </a:tcPr>
                </a:tc>
                <a:tc>
                  <a:txBody>
                    <a:bodyPr/>
                    <a:lstStyle/>
                    <a:p>
                      <a:r>
                        <a:rPr lang="de-AT" sz="1200">
                          <a:solidFill>
                            <a:schemeClr val="tx1"/>
                          </a:solidFill>
                        </a:rPr>
                        <a:t>Rund 350.000 Rezensionen</a:t>
                      </a:r>
                    </a:p>
                  </a:txBody>
                  <a:tcPr marT="36576" marB="36576" anchor="ctr">
                    <a:solidFill>
                      <a:srgbClr val="F2F2F2"/>
                    </a:solidFill>
                  </a:tcPr>
                </a:tc>
                <a:tc>
                  <a:txBody>
                    <a:bodyPr/>
                    <a:lstStyle/>
                    <a:p>
                      <a:r>
                        <a:rPr lang="de-AT" sz="1200">
                          <a:solidFill>
                            <a:schemeClr val="tx1"/>
                          </a:solidFill>
                        </a:rPr>
                        <a:t>Qualitätsdimensionen und Positionierung über die Zeit</a:t>
                      </a:r>
                    </a:p>
                  </a:txBody>
                  <a:tcPr marT="36576" marB="36576" anchor="ctr">
                    <a:solidFill>
                      <a:srgbClr val="F2F2F2"/>
                    </a:solidFill>
                  </a:tcPr>
                </a:tc>
              </a:tr>
              <a:tr h="438912">
                <a:tc>
                  <a:txBody>
                    <a:bodyPr/>
                    <a:lstStyle/>
                    <a:p>
                      <a:r>
                        <a:rPr lang="de-AT" sz="1200">
                          <a:solidFill>
                            <a:schemeClr val="tx1"/>
                          </a:solidFill>
                        </a:rPr>
                        <a:t>Culotta &amp; Cutler (2016)</a:t>
                      </a:r>
                    </a:p>
                  </a:txBody>
                  <a:tcPr marT="36576" marB="36576" anchor="ctr">
                    <a:solidFill>
                      <a:schemeClr val="bg2"/>
                    </a:solidFill>
                  </a:tcPr>
                </a:tc>
                <a:tc>
                  <a:txBody>
                    <a:bodyPr/>
                    <a:lstStyle/>
                    <a:p>
                      <a:r>
                        <a:rPr lang="de-AT" sz="1200">
                          <a:solidFill>
                            <a:schemeClr val="tx1"/>
                          </a:solidFill>
                        </a:rPr>
                        <a:t>Twitter-Follower</a:t>
                      </a:r>
                    </a:p>
                  </a:txBody>
                  <a:tcPr marT="36576" marB="36576" anchor="ctr">
                    <a:solidFill>
                      <a:schemeClr val="bg2"/>
                    </a:solidFill>
                  </a:tcPr>
                </a:tc>
                <a:tc>
                  <a:txBody>
                    <a:bodyPr/>
                    <a:lstStyle/>
                    <a:p>
                      <a:r>
                        <a:rPr lang="de-AT" sz="1200">
                          <a:solidFill>
                            <a:schemeClr val="tx1"/>
                          </a:solidFill>
                        </a:rPr>
                        <a:t>Öko-, Luxus- und Ernährungsimage für über 200 Marken</a:t>
                      </a:r>
                    </a:p>
                  </a:txBody>
                  <a:tcPr marT="36576" marB="36576" anchor="ctr">
                    <a:solidFill>
                      <a:schemeClr val="bg2"/>
                    </a:solidFill>
                  </a:tcPr>
                </a:tc>
              </a:tr>
              <a:tr h="438912">
                <a:tc>
                  <a:txBody>
                    <a:bodyPr/>
                    <a:lstStyle/>
                    <a:p>
                      <a:r>
                        <a:rPr lang="de-AT" sz="1200">
                          <a:solidFill>
                            <a:schemeClr val="tx1"/>
                          </a:solidFill>
                        </a:rPr>
                        <a:t>Rust et al. (2021)</a:t>
                      </a:r>
                    </a:p>
                  </a:txBody>
                  <a:tcPr marT="36576" marB="36576" anchor="ctr">
                    <a:solidFill>
                      <a:srgbClr val="F2F2F2"/>
                    </a:solidFill>
                  </a:tcPr>
                </a:tc>
                <a:tc>
                  <a:txBody>
                    <a:bodyPr/>
                    <a:lstStyle/>
                    <a:p>
                      <a:r>
                        <a:rPr lang="de-AT" sz="1200">
                          <a:solidFill>
                            <a:schemeClr val="tx1"/>
                          </a:solidFill>
                        </a:rPr>
                        <a:t>Twitter-Texte</a:t>
                      </a:r>
                    </a:p>
                  </a:txBody>
                  <a:tcPr marT="36576" marB="36576" anchor="ctr">
                    <a:solidFill>
                      <a:srgbClr val="F2F2F2"/>
                    </a:solidFill>
                  </a:tcPr>
                </a:tc>
                <a:tc>
                  <a:txBody>
                    <a:bodyPr/>
                    <a:lstStyle/>
                    <a:p>
                      <a:r>
                        <a:rPr lang="de-AT" sz="1200">
                          <a:solidFill>
                            <a:schemeClr val="tx1"/>
                          </a:solidFill>
                        </a:rPr>
                        <a:t>Ein wöchentlicher Reputationstracker</a:t>
                      </a:r>
                    </a:p>
                  </a:txBody>
                  <a:tcPr marT="36576" marB="36576" anchor="ctr">
                    <a:solidFill>
                      <a:srgbClr val="F2F2F2"/>
                    </a:solidFill>
                  </a:tcPr>
                </a:tc>
              </a:tr>
            </a:tbl>
          </a:graphicData>
        </a:graphic>
      </p:graphicFrame>
      <p:sp>
        <p:nvSpPr>
          <p:cNvPr id="7" name="Punkt"/>
          <p:cNvSpPr txBox="1"/>
          <p:nvPr/>
        </p:nvSpPr>
        <p:spPr>
          <a:xfrm>
            <a:off x="457200" y="3749039"/>
            <a:ext cx="8229600" cy="8229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de-AT" sz="1300" b="0">
                <a:solidFill>
                  <a:schemeClr val="tx1"/>
                </a:solidFill>
              </a:rPr>
              <a:t>Sentiment-Tools unterscheiden sich stark in der Genauigkeit: Methode prüfen (Hartmann et al., 2023).</a:t>
            </a:r>
          </a:p>
          <a:p>
            <a:pPr algn="l" marL="182880" indent="-182880">
              <a:spcAft>
                <a:spcPts val="600"/>
              </a:spcAft>
              <a:buClr>
                <a:schemeClr val="accent1"/>
              </a:buClr>
              <a:buFont typeface="Arial"/>
              <a:buChar char="▪"/>
            </a:pPr>
            <a:r>
              <a:rPr lang="de-AT" sz="1300" b="0">
                <a:solidFill>
                  <a:schemeClr val="tx1"/>
                </a:solidFill>
              </a:rPr>
              <a:t>Menge ist nicht Repräsentativität: online melden sich vor allem Intensivnutzer:innen und Kritiker:innen.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Bud Light 2023: eine Krise, drei Blicke</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Stat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280160"/>
            <a:ext cx="14630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53×</a:t>
            </a:r>
          </a:p>
        </p:txBody>
      </p:sp>
      <p:sp>
        <p:nvSpPr>
          <p:cNvPr id="8" name="Stat text 1"/>
          <p:cNvSpPr txBox="1"/>
          <p:nvPr/>
        </p:nvSpPr>
        <p:spPr>
          <a:xfrm>
            <a:off x="2194560" y="1325880"/>
            <a:ext cx="64922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Social Listening: </a:t>
            </a:r>
            <a:r>
              <a:rPr lang="de-AT" sz="1300" b="0">
                <a:solidFill>
                  <a:schemeClr val="tx1"/>
                </a:solidFill>
              </a:rPr>
              <a:t>1,08 Mio. Erwähnungen in 11 Tagen nach dem Post statt 20.400 davor.</a:t>
            </a:r>
          </a:p>
          <a:p>
            <a:pPr algn="l">
              <a:spcAft>
                <a:spcPts val="200"/>
              </a:spcAft>
            </a:pPr>
            <a:r>
              <a:rPr lang="de-AT" sz="1050" b="0">
                <a:solidFill>
                  <a:srgbClr val="595959"/>
                </a:solidFill>
              </a:rPr>
              <a:t>The Social Element via Fox Business (April 2023)</a:t>
            </a:r>
          </a:p>
        </p:txBody>
      </p:sp>
      <p:sp>
        <p:nvSpPr>
          <p:cNvPr id="9" name="Stat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194560"/>
            <a:ext cx="14630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−20,2</a:t>
            </a:r>
          </a:p>
        </p:txBody>
      </p:sp>
      <p:sp>
        <p:nvSpPr>
          <p:cNvPr id="11" name="Stat text 2"/>
          <p:cNvSpPr txBox="1"/>
          <p:nvPr/>
        </p:nvSpPr>
        <p:spPr>
          <a:xfrm>
            <a:off x="2194560" y="2240279"/>
            <a:ext cx="64922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Brand Tracking: </a:t>
            </a:r>
            <a:r>
              <a:rPr lang="de-AT" sz="1300" b="0">
                <a:solidFill>
                  <a:schemeClr val="tx1"/>
                </a:solidFill>
              </a:rPr>
              <a:t>YouGov Impression von 6,2 auf −14, Consideration von 14,1 auf 10,9.</a:t>
            </a:r>
          </a:p>
          <a:p>
            <a:pPr algn="l">
              <a:spcAft>
                <a:spcPts val="200"/>
              </a:spcAft>
            </a:pPr>
            <a:r>
              <a:rPr lang="de-AT" sz="1050" b="0">
                <a:solidFill>
                  <a:srgbClr val="595959"/>
                </a:solidFill>
              </a:rPr>
              <a:t>YouGov BrandIndex, 1.4.–11.6.2023</a:t>
            </a:r>
          </a:p>
        </p:txBody>
      </p:sp>
      <p:sp>
        <p:nvSpPr>
          <p:cNvPr id="12" name="Stat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108960"/>
            <a:ext cx="1463040" cy="777240"/>
          </a:xfrm>
          <a:prstGeom prst="rect">
            <a:avLst/>
          </a:prstGeom>
          <a:noFill/>
        </p:spPr>
        <p:txBody>
          <a:bodyPr wrap="square" lIns="36576" rIns="36576" tIns="18288" bIns="18288" anchor="ctr">
            <a:spAutoFit/>
          </a:bodyPr>
          <a:lstStyle/>
          <a:p>
            <a:pPr algn="l">
              <a:spcAft>
                <a:spcPts val="0"/>
              </a:spcAft>
            </a:pPr>
            <a:r>
              <a:rPr lang="de-AT" sz="2800" b="1">
                <a:solidFill>
                  <a:schemeClr val="tx2"/>
                </a:solidFill>
                <a:latin typeface="+mj-lt"/>
              </a:rPr>
              <a:t>−21,5</a:t>
            </a:r>
          </a:p>
        </p:txBody>
      </p:sp>
      <p:sp>
        <p:nvSpPr>
          <p:cNvPr id="14" name="Stat text 3"/>
          <p:cNvSpPr txBox="1"/>
          <p:nvPr/>
        </p:nvSpPr>
        <p:spPr>
          <a:xfrm>
            <a:off x="2194560" y="3154679"/>
            <a:ext cx="6492240" cy="731520"/>
          </a:xfrm>
          <a:prstGeom prst="rect">
            <a:avLst/>
          </a:prstGeom>
          <a:noFill/>
        </p:spPr>
        <p:txBody>
          <a:bodyPr wrap="square" lIns="36576" rIns="36576" tIns="18288" bIns="18288" anchor="t">
            <a:spAutoFit/>
          </a:bodyPr>
          <a:lstStyle/>
          <a:p>
            <a:pPr algn="l">
              <a:spcAft>
                <a:spcPts val="200"/>
              </a:spcAft>
            </a:pPr>
            <a:r>
              <a:rPr lang="de-AT" sz="1300" b="1">
                <a:solidFill>
                  <a:schemeClr val="tx1"/>
                </a:solidFill>
              </a:rPr>
              <a:t>Segmente: </a:t>
            </a:r>
            <a:r>
              <a:rPr lang="de-AT" sz="1300" b="0">
                <a:solidFill>
                  <a:schemeClr val="tx1"/>
                </a:solidFill>
              </a:rPr>
              <a:t>Impression bei über 50-Jährigen (18–34: −10,8); Stella Artois nur −3,5.</a:t>
            </a:r>
          </a:p>
          <a:p>
            <a:pPr algn="l">
              <a:spcAft>
                <a:spcPts val="200"/>
              </a:spcAft>
            </a:pPr>
            <a:r>
              <a:rPr lang="de-AT" sz="1050" b="0">
                <a:solidFill>
                  <a:srgbClr val="595959"/>
                </a:solidFill>
              </a:rPr>
              <a:t>YouGov BrandIndex, 1.4.–11.6.2023</a:t>
            </a:r>
          </a:p>
        </p:txBody>
      </p:sp>
      <p:sp>
        <p:nvSpPr>
          <p:cNvPr id="15" name="Callout"/>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llout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de-AT" sz="1300" b="1">
                <a:solidFill>
                  <a:schemeClr val="bg1"/>
                </a:solidFill>
              </a:rPr>
              <a:t>Lehre: </a:t>
            </a:r>
            <a:r>
              <a:rPr lang="de-AT" sz="1300" b="0">
                <a:solidFill>
                  <a:schemeClr val="bg1"/>
                </a:solidFill>
              </a:rPr>
              <a:t>Listening zeigt den Lärm; Tracking zeigt, wer seine Meinung geändert hat.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Marke in KI-Antworten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KI warum body"/>
          <p:cNvSpPr/>
          <p:nvPr/>
        </p:nvSpPr>
        <p:spPr>
          <a:xfrm>
            <a:off x="457200"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I warum band"/>
          <p:cNvSpPr/>
          <p:nvPr/>
        </p:nvSpPr>
        <p:spPr>
          <a:xfrm>
            <a:off x="457200"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I warum heading"/>
          <p:cNvSpPr txBox="1"/>
          <p:nvPr/>
        </p:nvSpPr>
        <p:spPr>
          <a:xfrm>
            <a:off x="566928" y="133502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Warum es zählt</a:t>
            </a:r>
          </a:p>
        </p:txBody>
      </p:sp>
      <p:pic>
        <p:nvPicPr>
          <p:cNvPr id="9" name="Icon LuBot" descr=""/>
          <p:cNvPicPr>
            <a:picLocks noChangeAspect="1"/>
          </p:cNvPicPr>
          <p:nvPr/>
        </p:nvPicPr>
        <p:blipFill>
          <a:blip r:embed="rId3"/>
          <a:stretch>
            <a:fillRect/>
          </a:stretch>
        </p:blipFill>
        <p:spPr>
          <a:xfrm>
            <a:off x="2660904" y="1344168"/>
            <a:ext cx="329184" cy="329184"/>
          </a:xfrm>
          <a:prstGeom prst="rect">
            <a:avLst/>
          </a:prstGeom>
        </p:spPr>
      </p:pic>
      <p:sp>
        <p:nvSpPr>
          <p:cNvPr id="10" name="KI warum text"/>
          <p:cNvSpPr txBox="1"/>
          <p:nvPr/>
        </p:nvSpPr>
        <p:spPr>
          <a:xfrm>
            <a:off x="594360" y="1847088"/>
            <a:ext cx="2359152" cy="2039112"/>
          </a:xfrm>
          <a:prstGeom prst="rect">
            <a:avLst/>
          </a:prstGeom>
          <a:noFill/>
        </p:spPr>
        <p:txBody>
          <a:bodyPr wrap="square" lIns="36576" rIns="36576" tIns="18288" bIns="18288" anchor="t">
            <a:spAutoFit/>
          </a:bodyPr>
          <a:lstStyle/>
          <a:p>
            <a:pPr algn="l">
              <a:spcAft>
                <a:spcPts val="700"/>
              </a:spcAft>
            </a:pPr>
            <a:r>
              <a:rPr lang="de-AT" sz="1200" b="0">
                <a:solidFill>
                  <a:schemeClr val="tx1"/>
                </a:solidFill>
              </a:rPr>
              <a:t>Käufer:innen fragen ChatGPT, Gemini und Perplexity nach Marken.</a:t>
            </a:r>
          </a:p>
          <a:p>
            <a:pPr algn="l">
              <a:spcAft>
                <a:spcPts val="700"/>
              </a:spcAft>
            </a:pPr>
            <a:r>
              <a:rPr lang="de-AT" sz="1200" b="0">
                <a:solidFill>
                  <a:schemeClr val="tx1"/>
                </a:solidFill>
              </a:rPr>
              <a:t>LLMs reproduzieren Positionierungskarten (Li et al., 2024), versagen aber als Befragte teils (Arora et al., 2025).</a:t>
            </a:r>
          </a:p>
        </p:txBody>
      </p:sp>
      <p:sp>
        <p:nvSpPr>
          <p:cNvPr id="11" name="KI messen body"/>
          <p:cNvSpPr/>
          <p:nvPr/>
        </p:nvSpPr>
        <p:spPr>
          <a:xfrm>
            <a:off x="3255264"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KI messen band"/>
          <p:cNvSpPr/>
          <p:nvPr/>
        </p:nvSpPr>
        <p:spPr>
          <a:xfrm>
            <a:off x="3255264"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I messen heading"/>
          <p:cNvSpPr txBox="1"/>
          <p:nvPr/>
        </p:nvSpPr>
        <p:spPr>
          <a:xfrm>
            <a:off x="3364992" y="133502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Was messen</a:t>
            </a:r>
          </a:p>
        </p:txBody>
      </p:sp>
      <p:pic>
        <p:nvPicPr>
          <p:cNvPr id="14" name="Icon LuGauge" descr=""/>
          <p:cNvPicPr>
            <a:picLocks noChangeAspect="1"/>
          </p:cNvPicPr>
          <p:nvPr/>
        </p:nvPicPr>
        <p:blipFill>
          <a:blip r:embed="rId4"/>
          <a:stretch>
            <a:fillRect/>
          </a:stretch>
        </p:blipFill>
        <p:spPr>
          <a:xfrm>
            <a:off x="5458968" y="1344168"/>
            <a:ext cx="329184" cy="329184"/>
          </a:xfrm>
          <a:prstGeom prst="rect">
            <a:avLst/>
          </a:prstGeom>
        </p:spPr>
      </p:pic>
      <p:sp>
        <p:nvSpPr>
          <p:cNvPr id="15" name="KI messen text"/>
          <p:cNvSpPr txBox="1"/>
          <p:nvPr/>
        </p:nvSpPr>
        <p:spPr>
          <a:xfrm>
            <a:off x="3392424" y="1847088"/>
            <a:ext cx="2359152" cy="2039112"/>
          </a:xfrm>
          <a:prstGeom prst="rect">
            <a:avLst/>
          </a:prstGeom>
          <a:noFill/>
        </p:spPr>
        <p:txBody>
          <a:bodyPr wrap="square" lIns="36576" rIns="36576" tIns="18288" bIns="18288" anchor="t">
            <a:spAutoFit/>
          </a:bodyPr>
          <a:lstStyle/>
          <a:p>
            <a:pPr algn="l">
              <a:spcAft>
                <a:spcPts val="700"/>
              </a:spcAft>
            </a:pPr>
            <a:r>
              <a:rPr lang="de-AT" sz="1200" b="0">
                <a:solidFill>
                  <a:schemeClr val="tx1"/>
                </a:solidFill>
              </a:rPr>
              <a:t>Nennungen und Position bei einem festen Prompt-Set.</a:t>
            </a:r>
          </a:p>
          <a:p>
            <a:pPr algn="l">
              <a:spcAft>
                <a:spcPts val="700"/>
              </a:spcAft>
            </a:pPr>
            <a:r>
              <a:rPr lang="de-AT" sz="1200" b="0">
                <a:solidFill>
                  <a:schemeClr val="tx1"/>
                </a:solidFill>
              </a:rPr>
              <a:t>Share of Voice gegenüber Wettbewerbern, Tonalität, zitierte Quellen, Richtigkeit.</a:t>
            </a:r>
          </a:p>
        </p:txBody>
      </p:sp>
      <p:sp>
        <p:nvSpPr>
          <p:cNvPr id="16" name="KI tools body"/>
          <p:cNvSpPr/>
          <p:nvPr/>
        </p:nvSpPr>
        <p:spPr>
          <a:xfrm>
            <a:off x="6053328"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KI tools band"/>
          <p:cNvSpPr/>
          <p:nvPr/>
        </p:nvSpPr>
        <p:spPr>
          <a:xfrm>
            <a:off x="6053328"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KI tools heading"/>
          <p:cNvSpPr txBox="1"/>
          <p:nvPr/>
        </p:nvSpPr>
        <p:spPr>
          <a:xfrm>
            <a:off x="6163056" y="1335024"/>
            <a:ext cx="1947672"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Tools und Daten</a:t>
            </a:r>
          </a:p>
        </p:txBody>
      </p:sp>
      <p:pic>
        <p:nvPicPr>
          <p:cNvPr id="19" name="Icon LuWrench" descr=""/>
          <p:cNvPicPr>
            <a:picLocks noChangeAspect="1"/>
          </p:cNvPicPr>
          <p:nvPr/>
        </p:nvPicPr>
        <p:blipFill>
          <a:blip r:embed="rId5"/>
          <a:stretch>
            <a:fillRect/>
          </a:stretch>
        </p:blipFill>
        <p:spPr>
          <a:xfrm>
            <a:off x="8257032" y="1344168"/>
            <a:ext cx="329184" cy="329184"/>
          </a:xfrm>
          <a:prstGeom prst="rect">
            <a:avLst/>
          </a:prstGeom>
        </p:spPr>
      </p:pic>
      <p:sp>
        <p:nvSpPr>
          <p:cNvPr id="20" name="KI tools text"/>
          <p:cNvSpPr txBox="1"/>
          <p:nvPr/>
        </p:nvSpPr>
        <p:spPr>
          <a:xfrm>
            <a:off x="6190488" y="1847088"/>
            <a:ext cx="2359152" cy="2039112"/>
          </a:xfrm>
          <a:prstGeom prst="rect">
            <a:avLst/>
          </a:prstGeom>
          <a:noFill/>
        </p:spPr>
        <p:txBody>
          <a:bodyPr wrap="square" lIns="36576" rIns="36576" tIns="18288" bIns="18288" anchor="t">
            <a:spAutoFit/>
          </a:bodyPr>
          <a:lstStyle/>
          <a:p>
            <a:pPr algn="l">
              <a:spcAft>
                <a:spcPts val="700"/>
              </a:spcAft>
            </a:pPr>
            <a:r>
              <a:rPr lang="de-AT" sz="1200" b="0">
                <a:solidFill>
                  <a:schemeClr val="tx1"/>
                </a:solidFill>
              </a:rPr>
              <a:t>Otterly.AI (Wien), Peec AI (Berlin), Profound, Semrush, Ahrefs.</a:t>
            </a:r>
          </a:p>
          <a:p>
            <a:pPr algn="l">
              <a:spcAft>
                <a:spcPts val="700"/>
              </a:spcAft>
            </a:pPr>
            <a:r>
              <a:rPr lang="de-AT" sz="1200" b="0">
                <a:solidFill>
                  <a:schemeClr val="tx1"/>
                </a:solidFill>
              </a:rPr>
              <a:t>Offene Daten: 35.640 LLM-Antworten zu 66 europäischen Marken in 12 Sprachen (Zenodo, 2026).</a:t>
            </a:r>
          </a:p>
        </p:txBody>
      </p:sp>
      <p:sp>
        <p:nvSpPr>
          <p:cNvPr id="21" name="Hinweis"/>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inweis text"/>
          <p:cNvSpPr txBox="1"/>
          <p:nvPr/>
        </p:nvSpPr>
        <p:spPr>
          <a:xfrm>
            <a:off x="640080" y="4160520"/>
            <a:ext cx="7863840" cy="54864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Ausprobieren: </a:t>
            </a:r>
            <a:r>
              <a:rPr lang="de-AT" sz="1300" b="0">
                <a:solidFill>
                  <a:schemeClr val="tx1"/>
                </a:solidFill>
              </a:rPr>
              <a:t>10 Kategorie-Prompts für die Audit-Marke und zwei Konkurrenten je dreimal stellen und Nennungen zählen.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Den Markenwert in Geld beziffern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Bewertung Tabelle"/>
          <p:cNvGraphicFramePr>
            <a:graphicFrameLocks noGrp="1"/>
          </p:cNvGraphicFramePr>
          <p:nvPr/>
        </p:nvGraphicFramePr>
        <p:xfrm>
          <a:off x="457200" y="1280160"/>
          <a:ext cx="8229600" cy="2011680"/>
        </p:xfrm>
        <a:graphic>
          <a:graphicData uri="http://schemas.openxmlformats.org/drawingml/2006/table">
            <a:tbl>
              <a:tblPr firstRow="1" bandRow="1">
                <a:tableStyleId>{5C22544A-7EE6-4342-B048-85BDC9FD1C3A}</a:tableStyleId>
              </a:tblPr>
              <a:tblGrid>
                <a:gridCol w="2011680"/>
                <a:gridCol w="3931920"/>
                <a:gridCol w="2286000"/>
              </a:tblGrid>
              <a:tr h="402336">
                <a:tc>
                  <a:txBody>
                    <a:bodyPr/>
                    <a:lstStyle/>
                    <a:p>
                      <a:r>
                        <a:rPr lang="de-AT" sz="1200" b="1">
                          <a:solidFill>
                            <a:schemeClr val="bg1"/>
                          </a:solidFill>
                        </a:rPr>
                        <a:t>Anbieter</a:t>
                      </a:r>
                    </a:p>
                  </a:txBody>
                  <a:tcPr marT="36576" marB="36576" anchor="ctr">
                    <a:solidFill>
                      <a:schemeClr val="accent1"/>
                    </a:solidFill>
                  </a:tcPr>
                </a:tc>
                <a:tc>
                  <a:txBody>
                    <a:bodyPr/>
                    <a:lstStyle/>
                    <a:p>
                      <a:r>
                        <a:rPr lang="de-AT" sz="1200" b="1">
                          <a:solidFill>
                            <a:schemeClr val="bg1"/>
                          </a:solidFill>
                        </a:rPr>
                        <a:t>Logik</a:t>
                      </a:r>
                    </a:p>
                  </a:txBody>
                  <a:tcPr marT="36576" marB="36576" anchor="ctr">
                    <a:solidFill>
                      <a:schemeClr val="accent1"/>
                    </a:solidFill>
                  </a:tcPr>
                </a:tc>
                <a:tc>
                  <a:txBody>
                    <a:bodyPr/>
                    <a:lstStyle/>
                    <a:p>
                      <a:r>
                        <a:rPr lang="de-AT" sz="1200" b="1">
                          <a:solidFill>
                            <a:schemeClr val="bg1"/>
                          </a:solidFill>
                        </a:rPr>
                        <a:t>Konsumenten-Input</a:t>
                      </a:r>
                    </a:p>
                  </a:txBody>
                  <a:tcPr marT="36576" marB="36576" anchor="ctr">
                    <a:solidFill>
                      <a:schemeClr val="accent1"/>
                    </a:solidFill>
                  </a:tcPr>
                </a:tc>
              </a:tr>
              <a:tr h="402336">
                <a:tc>
                  <a:txBody>
                    <a:bodyPr/>
                    <a:lstStyle/>
                    <a:p>
                      <a:r>
                        <a:rPr lang="de-AT" sz="1200">
                          <a:solidFill>
                            <a:schemeClr val="tx1"/>
                          </a:solidFill>
                        </a:rPr>
                        <a:t>Interbrand</a:t>
                      </a:r>
                    </a:p>
                  </a:txBody>
                  <a:tcPr marT="36576" marB="36576" anchor="ctr">
                    <a:solidFill>
                      <a:schemeClr val="bg2"/>
                    </a:solidFill>
                  </a:tcPr>
                </a:tc>
                <a:tc>
                  <a:txBody>
                    <a:bodyPr/>
                    <a:lstStyle/>
                    <a:p>
                      <a:r>
                        <a:rPr lang="de-AT" sz="1200">
                          <a:solidFill>
                            <a:schemeClr val="tx1"/>
                          </a:solidFill>
                        </a:rPr>
                        <a:t>Economic Profit × Role of Brand × Markenstärke</a:t>
                      </a:r>
                    </a:p>
                  </a:txBody>
                  <a:tcPr marT="36576" marB="36576" anchor="ctr">
                    <a:solidFill>
                      <a:schemeClr val="bg2"/>
                    </a:solidFill>
                  </a:tcPr>
                </a:tc>
                <a:tc>
                  <a:txBody>
                    <a:bodyPr/>
                    <a:lstStyle/>
                    <a:p>
                      <a:r>
                        <a:rPr lang="de-AT" sz="1200">
                          <a:solidFill>
                            <a:schemeClr val="tx1"/>
                          </a:solidFill>
                        </a:rPr>
                        <a:t>Brand Strength Score</a:t>
                      </a:r>
                    </a:p>
                  </a:txBody>
                  <a:tcPr marT="36576" marB="36576" anchor="ctr">
                    <a:solidFill>
                      <a:schemeClr val="bg2"/>
                    </a:solidFill>
                  </a:tcPr>
                </a:tc>
              </a:tr>
              <a:tr h="402336">
                <a:tc>
                  <a:txBody>
                    <a:bodyPr/>
                    <a:lstStyle/>
                    <a:p>
                      <a:r>
                        <a:rPr lang="de-AT" sz="1200">
                          <a:solidFill>
                            <a:schemeClr val="tx1"/>
                          </a:solidFill>
                        </a:rPr>
                        <a:t>Kantar BrandZ</a:t>
                      </a:r>
                    </a:p>
                  </a:txBody>
                  <a:tcPr marT="36576" marB="36576" anchor="ctr">
                    <a:solidFill>
                      <a:srgbClr val="F2F2F2"/>
                    </a:solidFill>
                  </a:tcPr>
                </a:tc>
                <a:tc>
                  <a:txBody>
                    <a:bodyPr/>
                    <a:lstStyle/>
                    <a:p>
                      <a:r>
                        <a:rPr lang="de-AT" sz="1200">
                          <a:solidFill>
                            <a:schemeClr val="tx1"/>
                          </a:solidFill>
                        </a:rPr>
                        <a:t>Finanzieller Wert × Markenbeitrag</a:t>
                      </a:r>
                    </a:p>
                  </a:txBody>
                  <a:tcPr marT="36576" marB="36576" anchor="ctr">
                    <a:solidFill>
                      <a:srgbClr val="F2F2F2"/>
                    </a:solidFill>
                  </a:tcPr>
                </a:tc>
                <a:tc>
                  <a:txBody>
                    <a:bodyPr/>
                    <a:lstStyle/>
                    <a:p>
                      <a:r>
                        <a:rPr lang="de-AT" sz="1200">
                          <a:solidFill>
                            <a:schemeClr val="tx1"/>
                          </a:solidFill>
                        </a:rPr>
                        <a:t>Meaningful, Different, Salient</a:t>
                      </a:r>
                    </a:p>
                  </a:txBody>
                  <a:tcPr marT="36576" marB="36576" anchor="ctr">
                    <a:solidFill>
                      <a:srgbClr val="F2F2F2"/>
                    </a:solidFill>
                  </a:tcPr>
                </a:tc>
              </a:tr>
              <a:tr h="402336">
                <a:tc>
                  <a:txBody>
                    <a:bodyPr/>
                    <a:lstStyle/>
                    <a:p>
                      <a:r>
                        <a:rPr lang="de-AT" sz="1200">
                          <a:solidFill>
                            <a:schemeClr val="tx1"/>
                          </a:solidFill>
                        </a:rPr>
                        <a:t>Brand Finance</a:t>
                      </a:r>
                    </a:p>
                  </a:txBody>
                  <a:tcPr marT="36576" marB="36576" anchor="ctr">
                    <a:solidFill>
                      <a:schemeClr val="bg2"/>
                    </a:solidFill>
                  </a:tcPr>
                </a:tc>
                <a:tc>
                  <a:txBody>
                    <a:bodyPr/>
                    <a:lstStyle/>
                    <a:p>
                      <a:r>
                        <a:rPr lang="de-AT" sz="1200">
                          <a:solidFill>
                            <a:schemeClr val="tx1"/>
                          </a:solidFill>
                        </a:rPr>
                        <a:t>Royalty Relief: Stärkeindex bestimmt die Lizenzrate</a:t>
                      </a:r>
                    </a:p>
                  </a:txBody>
                  <a:tcPr marT="36576" marB="36576" anchor="ctr">
                    <a:solidFill>
                      <a:schemeClr val="bg2"/>
                    </a:solidFill>
                  </a:tcPr>
                </a:tc>
                <a:tc>
                  <a:txBody>
                    <a:bodyPr/>
                    <a:lstStyle/>
                    <a:p>
                      <a:r>
                        <a:rPr lang="de-AT" sz="1200">
                          <a:solidFill>
                            <a:schemeClr val="tx1"/>
                          </a:solidFill>
                        </a:rPr>
                        <a:t>Brand Strength Index</a:t>
                      </a:r>
                    </a:p>
                  </a:txBody>
                  <a:tcPr marT="36576" marB="36576" anchor="ctr">
                    <a:solidFill>
                      <a:schemeClr val="bg2"/>
                    </a:solidFill>
                  </a:tcPr>
                </a:tc>
              </a:tr>
              <a:tr h="402336">
                <a:tc>
                  <a:txBody>
                    <a:bodyPr/>
                    <a:lstStyle/>
                    <a:p>
                      <a:r>
                        <a:rPr lang="de-AT" sz="1200">
                          <a:solidFill>
                            <a:schemeClr val="tx1"/>
                          </a:solidFill>
                        </a:rPr>
                        <a:t>European Brand Institute</a:t>
                      </a:r>
                    </a:p>
                  </a:txBody>
                  <a:tcPr marT="36576" marB="36576" anchor="ctr">
                    <a:solidFill>
                      <a:srgbClr val="F2F2F2"/>
                    </a:solidFill>
                  </a:tcPr>
                </a:tc>
                <a:tc>
                  <a:txBody>
                    <a:bodyPr/>
                    <a:lstStyle/>
                    <a:p>
                      <a:r>
                        <a:rPr lang="de-AT" sz="1200">
                          <a:solidFill>
                            <a:schemeClr val="tx1"/>
                          </a:solidFill>
                        </a:rPr>
                        <a:t>ISO-orientiert; Rankings für Österreich und Europa</a:t>
                      </a:r>
                    </a:p>
                  </a:txBody>
                  <a:tcPr marT="36576" marB="36576" anchor="ctr">
                    <a:solidFill>
                      <a:srgbClr val="F2F2F2"/>
                    </a:solidFill>
                  </a:tcPr>
                </a:tc>
                <a:tc>
                  <a:txBody>
                    <a:bodyPr/>
                    <a:lstStyle/>
                    <a:p>
                      <a:r>
                        <a:rPr lang="de-AT" sz="1200">
                          <a:solidFill>
                            <a:schemeClr val="tx1"/>
                          </a:solidFill>
                        </a:rPr>
                        <a:t>Markt- und Markendaten</a:t>
                      </a:r>
                    </a:p>
                  </a:txBody>
                  <a:tcPr marT="36576" marB="36576" anchor="ctr">
                    <a:solidFill>
                      <a:srgbClr val="F2F2F2"/>
                    </a:solidFill>
                  </a:tcPr>
                </a:tc>
              </a:tr>
            </a:tbl>
          </a:graphicData>
        </a:graphic>
      </p:graphicFrame>
      <p:sp>
        <p:nvSpPr>
          <p:cNvPr id="7" name="ISO 10668 body"/>
          <p:cNvSpPr/>
          <p:nvPr/>
        </p:nvSpPr>
        <p:spPr>
          <a:xfrm>
            <a:off x="457200" y="3520440"/>
            <a:ext cx="4032504" cy="1051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 10668 bar"/>
          <p:cNvSpPr/>
          <p:nvPr/>
        </p:nvSpPr>
        <p:spPr>
          <a:xfrm>
            <a:off x="457200" y="352044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 10668 heading"/>
          <p:cNvSpPr txBox="1"/>
          <p:nvPr/>
        </p:nvSpPr>
        <p:spPr>
          <a:xfrm>
            <a:off x="594360" y="3675888"/>
            <a:ext cx="3803904"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ISO 10668 (2010)</a:t>
            </a:r>
          </a:p>
        </p:txBody>
      </p:sp>
      <p:sp>
        <p:nvSpPr>
          <p:cNvPr id="10" name="ISO 10668 text"/>
          <p:cNvSpPr txBox="1"/>
          <p:nvPr/>
        </p:nvSpPr>
        <p:spPr>
          <a:xfrm>
            <a:off x="594360" y="4123944"/>
            <a:ext cx="3758184" cy="3749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Monetäre Bewertung: ertrags-, markt- und kostenorientierte Verfahren.</a:t>
            </a:r>
          </a:p>
        </p:txBody>
      </p:sp>
      <p:sp>
        <p:nvSpPr>
          <p:cNvPr id="11" name="ISO 20671 body"/>
          <p:cNvSpPr/>
          <p:nvPr/>
        </p:nvSpPr>
        <p:spPr>
          <a:xfrm>
            <a:off x="4654296" y="3520440"/>
            <a:ext cx="4032504" cy="1051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 20671 bar"/>
          <p:cNvSpPr/>
          <p:nvPr/>
        </p:nvSpPr>
        <p:spPr>
          <a:xfrm>
            <a:off x="4654296" y="352044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 20671 heading"/>
          <p:cNvSpPr txBox="1"/>
          <p:nvPr/>
        </p:nvSpPr>
        <p:spPr>
          <a:xfrm>
            <a:off x="4791456" y="3675888"/>
            <a:ext cx="3803904"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ISO 20671 (2019/2021)</a:t>
            </a:r>
          </a:p>
        </p:txBody>
      </p:sp>
      <p:sp>
        <p:nvSpPr>
          <p:cNvPr id="14" name="ISO 20671 text"/>
          <p:cNvSpPr txBox="1"/>
          <p:nvPr/>
        </p:nvSpPr>
        <p:spPr>
          <a:xfrm>
            <a:off x="4791456" y="4123944"/>
            <a:ext cx="3758184" cy="3749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Nicht-monetäre Markenevaluation: Inputs und Ergebnisse – eine fertige Audit-Gliederung.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Red Bull 2026: eine Marke, zwei Werte</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Wert 1"/>
          <p:cNvSpPr/>
          <p:nvPr/>
        </p:nvSpPr>
        <p:spPr>
          <a:xfrm>
            <a:off x="457200" y="1280160"/>
            <a:ext cx="4032504"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ert 1 Bar"/>
          <p:cNvSpPr/>
          <p:nvPr/>
        </p:nvSpPr>
        <p:spPr>
          <a:xfrm>
            <a:off x="457200" y="128016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ert 1 Text"/>
          <p:cNvSpPr txBox="1"/>
          <p:nvPr/>
        </p:nvSpPr>
        <p:spPr>
          <a:xfrm>
            <a:off x="640080" y="1417320"/>
            <a:ext cx="3666744" cy="1463040"/>
          </a:xfrm>
          <a:prstGeom prst="rect">
            <a:avLst/>
          </a:prstGeom>
          <a:noFill/>
        </p:spPr>
        <p:txBody>
          <a:bodyPr wrap="square" lIns="36576" rIns="36576" tIns="18288" bIns="18288" anchor="t">
            <a:spAutoFit/>
          </a:bodyPr>
          <a:lstStyle/>
          <a:p>
            <a:pPr algn="l">
              <a:spcAft>
                <a:spcPts val="600"/>
              </a:spcAft>
            </a:pPr>
            <a:r>
              <a:rPr lang="de-AT" sz="1300" b="1">
                <a:solidFill>
                  <a:schemeClr val="tx2"/>
                </a:solidFill>
              </a:rPr>
              <a:t>Brand Finance Austria 25</a:t>
            </a:r>
          </a:p>
          <a:p>
            <a:pPr algn="l">
              <a:spcAft>
                <a:spcPts val="600"/>
              </a:spcAft>
            </a:pPr>
            <a:r>
              <a:rPr lang="de-AT" sz="3200" b="1">
                <a:solidFill>
                  <a:schemeClr val="tx2"/>
                </a:solidFill>
                <a:latin typeface="+mj-lt"/>
              </a:rPr>
              <a:t>10,6 Mrd. €</a:t>
            </a:r>
          </a:p>
          <a:p>
            <a:pPr algn="l">
              <a:spcAft>
                <a:spcPts val="600"/>
              </a:spcAft>
            </a:pPr>
            <a:r>
              <a:rPr lang="de-AT" sz="1200" b="0">
                <a:solidFill>
                  <a:schemeClr val="tx1"/>
                </a:solidFill>
              </a:rPr>
              <a:t>September 2026, Royalty-Relief-Methode</a:t>
            </a:r>
          </a:p>
        </p:txBody>
      </p:sp>
      <p:sp>
        <p:nvSpPr>
          <p:cNvPr id="9" name="Wert 2"/>
          <p:cNvSpPr/>
          <p:nvPr/>
        </p:nvSpPr>
        <p:spPr>
          <a:xfrm>
            <a:off x="4654296" y="1280160"/>
            <a:ext cx="4032504"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ert 2 Bar"/>
          <p:cNvSpPr/>
          <p:nvPr/>
        </p:nvSpPr>
        <p:spPr>
          <a:xfrm>
            <a:off x="4654296" y="128016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ert 2 Text"/>
          <p:cNvSpPr txBox="1"/>
          <p:nvPr/>
        </p:nvSpPr>
        <p:spPr>
          <a:xfrm>
            <a:off x="4837176" y="1417320"/>
            <a:ext cx="3666744" cy="1463040"/>
          </a:xfrm>
          <a:prstGeom prst="rect">
            <a:avLst/>
          </a:prstGeom>
          <a:noFill/>
        </p:spPr>
        <p:txBody>
          <a:bodyPr wrap="square" lIns="36576" rIns="36576" tIns="18288" bIns="18288" anchor="t">
            <a:spAutoFit/>
          </a:bodyPr>
          <a:lstStyle/>
          <a:p>
            <a:pPr algn="l">
              <a:spcAft>
                <a:spcPts val="600"/>
              </a:spcAft>
            </a:pPr>
            <a:r>
              <a:rPr lang="de-AT" sz="1300" b="1">
                <a:solidFill>
                  <a:schemeClr val="tx2"/>
                </a:solidFill>
              </a:rPr>
              <a:t>European Brand Institute</a:t>
            </a:r>
          </a:p>
          <a:p>
            <a:pPr algn="l">
              <a:spcAft>
                <a:spcPts val="600"/>
              </a:spcAft>
            </a:pPr>
            <a:r>
              <a:rPr lang="de-AT" sz="3200" b="1">
                <a:solidFill>
                  <a:schemeClr val="tx2"/>
                </a:solidFill>
                <a:latin typeface="+mj-lt"/>
              </a:rPr>
              <a:t>~20,1 Mrd. €</a:t>
            </a:r>
          </a:p>
          <a:p>
            <a:pPr algn="l">
              <a:spcAft>
                <a:spcPts val="600"/>
              </a:spcAft>
            </a:pPr>
            <a:r>
              <a:rPr lang="de-AT" sz="1200" b="0">
                <a:solidFill>
                  <a:schemeClr val="tx1"/>
                </a:solidFill>
              </a:rPr>
              <a:t>Juli 2026, Österreichische Markenwert-Studie</a:t>
            </a:r>
          </a:p>
        </p:txBody>
      </p:sp>
      <p:sp>
        <p:nvSpPr>
          <p:cNvPr id="12" name="Punkt"/>
          <p:cNvSpPr txBox="1"/>
          <p:nvPr/>
        </p:nvSpPr>
        <p:spPr>
          <a:xfrm>
            <a:off x="457200" y="3246120"/>
            <a:ext cx="8229600" cy="91440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de-AT" sz="1300" b="1">
                <a:solidFill>
                  <a:schemeClr val="tx1"/>
                </a:solidFill>
              </a:rPr>
              <a:t>Diskussion: </a:t>
            </a:r>
            <a:r>
              <a:rPr lang="de-AT" sz="1300" b="0">
                <a:solidFill>
                  <a:schemeClr val="tx1"/>
                </a:solidFill>
              </a:rPr>
              <a:t>Warum liegen zwei ISO-orientierte Verfahren etwa um den Faktor zwei auseinander?</a:t>
            </a:r>
          </a:p>
          <a:p>
            <a:pPr algn="l" marL="182880" indent="-182880">
              <a:spcAft>
                <a:spcPts val="600"/>
              </a:spcAft>
              <a:buClr>
                <a:schemeClr val="accent1"/>
              </a:buClr>
              <a:buFont typeface="Arial"/>
              <a:buChar char="▪"/>
            </a:pPr>
            <a:r>
              <a:rPr lang="de-AT" sz="1300" b="1">
                <a:solidFill>
                  <a:schemeClr val="tx1"/>
                </a:solidFill>
              </a:rPr>
              <a:t>Evidenz: </a:t>
            </a:r>
            <a:r>
              <a:rPr lang="de-AT" sz="1300" b="0">
                <a:solidFill>
                  <a:schemeClr val="tx1"/>
                </a:solidFill>
              </a:rPr>
              <a:t>2008 sagte konsumentenbasierter Markenwert Aktienrenditen besser voraus als Interbrand-Werte (Johansson et al., 2012).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5 von 5 · Daten, Fälle, Mini-Audit, Teamprojekt</a:t>
            </a:r>
          </a:p>
        </p:txBody>
      </p:sp>
      <p:sp>
        <p:nvSpPr>
          <p:cNvPr id="3" name="Title 2"/>
          <p:cNvSpPr>
            <a:spLocks noGrp="1"/>
          </p:cNvSpPr>
          <p:nvPr>
            <p:ph type="ctrTitle"/>
          </p:nvPr>
        </p:nvSpPr>
        <p:spPr/>
        <p:txBody>
          <a:bodyPr/>
          <a:lstStyle/>
          <a:p>
            <a:r>
              <a:rPr lang="de-AT"/>
              <a:t>Das Audit anwenden</a:t>
            </a:r>
          </a:p>
        </p:txBody>
      </p:sp>
      <p:sp>
        <p:nvSpPr>
          <p:cNvPr id="4" name="Footer Placeholder 3"/>
          <p:cNvSpPr>
            <a:spLocks noGrp="1"/>
          </p:cNvSpPr>
          <p:nvPr>
            <p:ph type="ftr" idx="14" sz="quarter"/>
          </p:nvPr>
        </p:nvSpPr>
        <p:spPr/>
        <p:txBody>
          <a:bodyPr/>
          <a:p>
            <a:r>
              <a:rPr lang="de-AT"/>
              <a:t>Markenaudit</a:t>
            </a:r>
          </a:p>
        </p:txBody>
      </p:sp>
      <p:sp>
        <p:nvSpPr>
          <p:cNvPr id="5" name="Slide Number Placeholder 4"/>
          <p:cNvSpPr>
            <a:spLocks noGrp="1"/>
          </p:cNvSpPr>
          <p:nvPr>
            <p:ph type="sldNum" idx="15" sz="quarter"/>
          </p:nvPr>
        </p:nvSpPr>
        <p:spPr/>
        <p:txBody>
          <a:bodyPr/>
          <a:p>
            <a:r>
              <a:rPr lang="de-AT"/>
              <a:t>SEITE </a:t>
            </a:r>
            <a:fld id="{B6F15528-21DE-4FAA-801E-634DDDAF4B2B}" type="slidenum">
              <a:rPr lang="de-AT"/>
              <a:t>‹#›</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Freie Markendaten für Österreich</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Daten Tabelle"/>
          <p:cNvGraphicFramePr>
            <a:graphicFrameLocks noGrp="1"/>
          </p:cNvGraphicFramePr>
          <p:nvPr/>
        </p:nvGraphicFramePr>
        <p:xfrm>
          <a:off x="457200" y="1280160"/>
          <a:ext cx="8229600" cy="2514600"/>
        </p:xfrm>
        <a:graphic>
          <a:graphicData uri="http://schemas.openxmlformats.org/drawingml/2006/table">
            <a:tbl>
              <a:tblPr firstRow="1" bandRow="1">
                <a:tableStyleId>{5C22544A-7EE6-4342-B048-85BDC9FD1C3A}</a:tableStyleId>
              </a:tblPr>
              <a:tblGrid>
                <a:gridCol w="2331720"/>
                <a:gridCol w="2377440"/>
                <a:gridCol w="3520440"/>
              </a:tblGrid>
              <a:tr h="419100">
                <a:tc>
                  <a:txBody>
                    <a:bodyPr/>
                    <a:lstStyle/>
                    <a:p>
                      <a:r>
                        <a:rPr lang="de-AT" sz="1200" b="1">
                          <a:solidFill>
                            <a:schemeClr val="bg1"/>
                          </a:solidFill>
                        </a:rPr>
                        <a:t>Quelle</a:t>
                      </a:r>
                    </a:p>
                  </a:txBody>
                  <a:tcPr marT="36576" marB="36576" anchor="ctr">
                    <a:solidFill>
                      <a:schemeClr val="accent1"/>
                    </a:solidFill>
                  </a:tcPr>
                </a:tc>
                <a:tc>
                  <a:txBody>
                    <a:bodyPr/>
                    <a:lstStyle/>
                    <a:p>
                      <a:r>
                        <a:rPr lang="de-AT" sz="1200" b="1">
                          <a:solidFill>
                            <a:schemeClr val="bg1"/>
                          </a:solidFill>
                        </a:rPr>
                        <a:t>Umfang</a:t>
                      </a:r>
                    </a:p>
                  </a:txBody>
                  <a:tcPr marT="36576" marB="36576" anchor="ctr">
                    <a:solidFill>
                      <a:schemeClr val="accent1"/>
                    </a:solidFill>
                  </a:tcPr>
                </a:tc>
                <a:tc>
                  <a:txBody>
                    <a:bodyPr/>
                    <a:lstStyle/>
                    <a:p>
                      <a:r>
                        <a:rPr lang="de-AT" sz="1200" b="1">
                          <a:solidFill>
                            <a:schemeClr val="bg1"/>
                          </a:solidFill>
                        </a:rPr>
                        <a:t>Beispielbefund</a:t>
                      </a:r>
                    </a:p>
                  </a:txBody>
                  <a:tcPr marT="36576" marB="36576" anchor="ctr">
                    <a:solidFill>
                      <a:schemeClr val="accent1"/>
                    </a:solidFill>
                  </a:tcPr>
                </a:tc>
              </a:tr>
              <a:tr h="419100">
                <a:tc>
                  <a:txBody>
                    <a:bodyPr/>
                    <a:lstStyle/>
                    <a:p>
                      <a:r>
                        <a:rPr lang="de-AT" sz="1200">
                          <a:solidFill>
                            <a:schemeClr val="tx1"/>
                          </a:solidFill>
                        </a:rPr>
                        <a:t>Marketagent BRAND.Diamonds 2024</a:t>
                      </a:r>
                    </a:p>
                  </a:txBody>
                  <a:tcPr marT="36576" marB="36576" anchor="ctr">
                    <a:solidFill>
                      <a:schemeClr val="bg2"/>
                    </a:solidFill>
                  </a:tcPr>
                </a:tc>
                <a:tc>
                  <a:txBody>
                    <a:bodyPr/>
                    <a:lstStyle/>
                    <a:p>
                      <a:r>
                        <a:rPr lang="de-AT" sz="1200">
                          <a:solidFill>
                            <a:schemeClr val="tx1"/>
                          </a:solidFill>
                        </a:rPr>
                        <a:t>237.880 Bewertungen, 1.266 Marken</a:t>
                      </a:r>
                    </a:p>
                  </a:txBody>
                  <a:tcPr marT="36576" marB="36576" anchor="ctr">
                    <a:solidFill>
                      <a:schemeClr val="bg2"/>
                    </a:solidFill>
                  </a:tcPr>
                </a:tc>
                <a:tc>
                  <a:txBody>
                    <a:bodyPr/>
                    <a:lstStyle/>
                    <a:p>
                      <a:r>
                        <a:rPr lang="de-AT" sz="1200">
                          <a:solidFill>
                            <a:schemeClr val="tx1"/>
                          </a:solidFill>
                        </a:rPr>
                        <a:t>Manner Platz 1 bei Attraktivität, 84,5 %</a:t>
                      </a:r>
                    </a:p>
                  </a:txBody>
                  <a:tcPr marT="36576" marB="36576" anchor="ctr">
                    <a:solidFill>
                      <a:schemeClr val="bg2"/>
                    </a:solidFill>
                  </a:tcPr>
                </a:tc>
              </a:tr>
              <a:tr h="419100">
                <a:tc>
                  <a:txBody>
                    <a:bodyPr/>
                    <a:lstStyle/>
                    <a:p>
                      <a:r>
                        <a:rPr lang="de-AT" sz="1200">
                          <a:solidFill>
                            <a:schemeClr val="tx1"/>
                          </a:solidFill>
                        </a:rPr>
                        <a:t>BAV Austria 2025</a:t>
                      </a:r>
                    </a:p>
                  </a:txBody>
                  <a:tcPr marT="36576" marB="36576" anchor="ctr">
                    <a:solidFill>
                      <a:srgbClr val="F2F2F2"/>
                    </a:solidFill>
                  </a:tcPr>
                </a:tc>
                <a:tc>
                  <a:txBody>
                    <a:bodyPr/>
                    <a:lstStyle/>
                    <a:p>
                      <a:r>
                        <a:rPr lang="de-AT" sz="1200">
                          <a:solidFill>
                            <a:schemeClr val="tx1"/>
                          </a:solidFill>
                        </a:rPr>
                        <a:t>12.500 Befragte, ~1.000 Marken</a:t>
                      </a:r>
                    </a:p>
                  </a:txBody>
                  <a:tcPr marT="36576" marB="36576" anchor="ctr">
                    <a:solidFill>
                      <a:srgbClr val="F2F2F2"/>
                    </a:solidFill>
                  </a:tcPr>
                </a:tc>
                <a:tc>
                  <a:txBody>
                    <a:bodyPr/>
                    <a:lstStyle/>
                    <a:p>
                      <a:r>
                        <a:rPr lang="de-AT" sz="1200">
                          <a:solidFill>
                            <a:schemeClr val="tx1"/>
                          </a:solidFill>
                        </a:rPr>
                        <a:t>Manner und Apple verloren an Stärke</a:t>
                      </a:r>
                    </a:p>
                  </a:txBody>
                  <a:tcPr marT="36576" marB="36576" anchor="ctr">
                    <a:solidFill>
                      <a:srgbClr val="F2F2F2"/>
                    </a:solidFill>
                  </a:tcPr>
                </a:tc>
              </a:tr>
              <a:tr h="419100">
                <a:tc>
                  <a:txBody>
                    <a:bodyPr/>
                    <a:lstStyle/>
                    <a:p>
                      <a:r>
                        <a:rPr lang="de-AT" sz="1200">
                          <a:solidFill>
                            <a:schemeClr val="tx1"/>
                          </a:solidFill>
                        </a:rPr>
                        <a:t>Brand Finance Austria 25</a:t>
                      </a:r>
                    </a:p>
                  </a:txBody>
                  <a:tcPr marT="36576" marB="36576" anchor="ctr">
                    <a:solidFill>
                      <a:schemeClr val="bg2"/>
                    </a:solidFill>
                  </a:tcPr>
                </a:tc>
                <a:tc>
                  <a:txBody>
                    <a:bodyPr/>
                    <a:lstStyle/>
                    <a:p>
                      <a:r>
                        <a:rPr lang="de-AT" sz="1200">
                          <a:solidFill>
                            <a:schemeClr val="tx1"/>
                          </a:solidFill>
                        </a:rPr>
                        <a:t>Markenwert, Brand Strength Index</a:t>
                      </a:r>
                    </a:p>
                  </a:txBody>
                  <a:tcPr marT="36576" marB="36576" anchor="ctr">
                    <a:solidFill>
                      <a:schemeClr val="bg2"/>
                    </a:solidFill>
                  </a:tcPr>
                </a:tc>
                <a:tc>
                  <a:txBody>
                    <a:bodyPr/>
                    <a:lstStyle/>
                    <a:p>
                      <a:r>
                        <a:rPr lang="de-AT" sz="1200">
                          <a:solidFill>
                            <a:schemeClr val="tx1"/>
                          </a:solidFill>
                        </a:rPr>
                        <a:t>Top 25 mit 46,8 Mrd. EUR (2026)</a:t>
                      </a:r>
                    </a:p>
                  </a:txBody>
                  <a:tcPr marT="36576" marB="36576" anchor="ctr">
                    <a:solidFill>
                      <a:schemeClr val="bg2"/>
                    </a:solidFill>
                  </a:tcPr>
                </a:tc>
              </a:tr>
              <a:tr h="419100">
                <a:tc>
                  <a:txBody>
                    <a:bodyPr/>
                    <a:lstStyle/>
                    <a:p>
                      <a:r>
                        <a:rPr lang="de-AT" sz="1200">
                          <a:solidFill>
                            <a:schemeClr val="tx1"/>
                          </a:solidFill>
                        </a:rPr>
                        <a:t>EBI Markenwert-Studie</a:t>
                      </a:r>
                    </a:p>
                  </a:txBody>
                  <a:tcPr marT="36576" marB="36576" anchor="ctr">
                    <a:solidFill>
                      <a:srgbClr val="F2F2F2"/>
                    </a:solidFill>
                  </a:tcPr>
                </a:tc>
                <a:tc>
                  <a:txBody>
                    <a:bodyPr/>
                    <a:lstStyle/>
                    <a:p>
                      <a:r>
                        <a:rPr lang="de-AT" sz="1200">
                          <a:solidFill>
                            <a:schemeClr val="tx1"/>
                          </a:solidFill>
                        </a:rPr>
                        <a:t>180 Markenunternehmen, 16 Branchen</a:t>
                      </a:r>
                    </a:p>
                  </a:txBody>
                  <a:tcPr marT="36576" marB="36576" anchor="ctr">
                    <a:solidFill>
                      <a:srgbClr val="F2F2F2"/>
                    </a:solidFill>
                  </a:tcPr>
                </a:tc>
                <a:tc>
                  <a:txBody>
                    <a:bodyPr/>
                    <a:lstStyle/>
                    <a:p>
                      <a:r>
                        <a:rPr lang="de-AT" sz="1200">
                          <a:solidFill>
                            <a:schemeClr val="tx1"/>
                          </a:solidFill>
                        </a:rPr>
                        <a:t>ÖBB nachhaltigste Marke</a:t>
                      </a:r>
                    </a:p>
                  </a:txBody>
                  <a:tcPr marT="36576" marB="36576" anchor="ctr">
                    <a:solidFill>
                      <a:srgbClr val="F2F2F2"/>
                    </a:solidFill>
                  </a:tcPr>
                </a:tc>
              </a:tr>
              <a:tr h="419100">
                <a:tc>
                  <a:txBody>
                    <a:bodyPr/>
                    <a:lstStyle/>
                    <a:p>
                      <a:r>
                        <a:rPr lang="de-AT" sz="1200">
                          <a:solidFill>
                            <a:schemeClr val="tx1"/>
                          </a:solidFill>
                        </a:rPr>
                        <a:t>Google Trends</a:t>
                      </a:r>
                    </a:p>
                  </a:txBody>
                  <a:tcPr marT="36576" marB="36576" anchor="ctr">
                    <a:solidFill>
                      <a:schemeClr val="bg2"/>
                    </a:solidFill>
                  </a:tcPr>
                </a:tc>
                <a:tc>
                  <a:txBody>
                    <a:bodyPr/>
                    <a:lstStyle/>
                    <a:p>
                      <a:r>
                        <a:rPr lang="de-AT" sz="1200">
                          <a:solidFill>
                            <a:schemeClr val="tx1"/>
                          </a:solidFill>
                        </a:rPr>
                        <a:t>Suchinteresse nach Bundesland</a:t>
                      </a:r>
                    </a:p>
                  </a:txBody>
                  <a:tcPr marT="36576" marB="36576" anchor="ctr">
                    <a:solidFill>
                      <a:schemeClr val="bg2"/>
                    </a:solidFill>
                  </a:tcPr>
                </a:tc>
                <a:tc>
                  <a:txBody>
                    <a:bodyPr/>
                    <a:lstStyle/>
                    <a:p>
                      <a:r>
                        <a:rPr lang="de-AT" sz="1200">
                          <a:solidFill>
                            <a:schemeClr val="tx1"/>
                          </a:solidFill>
                        </a:rPr>
                        <a:t>Share of Search je Marke</a:t>
                      </a:r>
                    </a:p>
                  </a:txBody>
                  <a:tcPr marT="36576" marB="36576" anchor="ctr">
                    <a:solidFill>
                      <a:schemeClr val="bg2"/>
                    </a:solidFill>
                  </a:tcPr>
                </a:tc>
              </a:tr>
            </a:tbl>
          </a:graphicData>
        </a:graphic>
      </p:graphicFrame>
      <p:sp>
        <p:nvSpPr>
          <p:cNvPr id="7" name="Hinweis"/>
          <p:cNvSpPr/>
          <p:nvPr/>
        </p:nvSpPr>
        <p:spPr>
          <a:xfrm>
            <a:off x="457200" y="40690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069080"/>
            <a:ext cx="7863840" cy="54864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Dazu die WU-Bibliothek: </a:t>
            </a:r>
            <a:r>
              <a:rPr lang="de-AT" sz="1300" b="0">
                <a:solidFill>
                  <a:schemeClr val="tx1"/>
                </a:solidFill>
              </a:rPr>
              <a:t>Statista-Marken-KPIs und Zeitschriftenzugang. Lizenz für Qualtrics oder Unipark vor der Feldphase klären.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Fälle zur Diskussion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graphicFrame>
        <p:nvGraphicFramePr>
          <p:cNvPr id="6" name="Fälle Tabelle"/>
          <p:cNvGraphicFramePr>
            <a:graphicFrameLocks noGrp="1"/>
          </p:cNvGraphicFramePr>
          <p:nvPr/>
        </p:nvGraphicFramePr>
        <p:xfrm>
          <a:off x="457200" y="1280160"/>
          <a:ext cx="8229600" cy="2834640"/>
        </p:xfrm>
        <a:graphic>
          <a:graphicData uri="http://schemas.openxmlformats.org/drawingml/2006/table">
            <a:tbl>
              <a:tblPr firstRow="1" bandRow="1">
                <a:tableStyleId>{5C22544A-7EE6-4342-B048-85BDC9FD1C3A}</a:tableStyleId>
              </a:tblPr>
              <a:tblGrid>
                <a:gridCol w="3566160"/>
                <a:gridCol w="2286000"/>
                <a:gridCol w="2377440"/>
              </a:tblGrid>
              <a:tr h="354330">
                <a:tc>
                  <a:txBody>
                    <a:bodyPr/>
                    <a:lstStyle/>
                    <a:p>
                      <a:r>
                        <a:rPr lang="de-AT" sz="1200" b="1">
                          <a:solidFill>
                            <a:schemeClr val="bg1"/>
                          </a:solidFill>
                        </a:rPr>
                        <a:t>Fall</a:t>
                      </a:r>
                    </a:p>
                  </a:txBody>
                  <a:tcPr marT="36576" marB="36576" anchor="ctr">
                    <a:solidFill>
                      <a:schemeClr val="accent1"/>
                    </a:solidFill>
                  </a:tcPr>
                </a:tc>
                <a:tc>
                  <a:txBody>
                    <a:bodyPr/>
                    <a:lstStyle/>
                    <a:p>
                      <a:r>
                        <a:rPr lang="de-AT" sz="1200" b="1">
                          <a:solidFill>
                            <a:schemeClr val="bg1"/>
                          </a:solidFill>
                        </a:rPr>
                        <a:t>Quelle</a:t>
                      </a:r>
                    </a:p>
                  </a:txBody>
                  <a:tcPr marT="36576" marB="36576" anchor="ctr">
                    <a:solidFill>
                      <a:schemeClr val="accent1"/>
                    </a:solidFill>
                  </a:tcPr>
                </a:tc>
                <a:tc>
                  <a:txBody>
                    <a:bodyPr/>
                    <a:lstStyle/>
                    <a:p>
                      <a:r>
                        <a:rPr lang="de-AT" sz="1200" b="1">
                          <a:solidFill>
                            <a:schemeClr val="bg1"/>
                          </a:solidFill>
                        </a:rPr>
                        <a:t>Schwerpunkt</a:t>
                      </a:r>
                    </a:p>
                  </a:txBody>
                  <a:tcPr marT="36576" marB="36576" anchor="ctr">
                    <a:solidFill>
                      <a:schemeClr val="accent1"/>
                    </a:solidFill>
                  </a:tcPr>
                </a:tc>
              </a:tr>
              <a:tr h="354330">
                <a:tc>
                  <a:txBody>
                    <a:bodyPr/>
                    <a:lstStyle/>
                    <a:p>
                      <a:r>
                        <a:rPr lang="de-AT" sz="1200">
                          <a:solidFill>
                            <a:schemeClr val="tx1"/>
                          </a:solidFill>
                        </a:rPr>
                        <a:t>Red Bull Spreads its Wiiings</a:t>
                      </a:r>
                    </a:p>
                  </a:txBody>
                  <a:tcPr marT="36576" marB="36576" anchor="ctr">
                    <a:solidFill>
                      <a:schemeClr val="bg2"/>
                    </a:solidFill>
                  </a:tcPr>
                </a:tc>
                <a:tc>
                  <a:txBody>
                    <a:bodyPr/>
                    <a:lstStyle/>
                    <a:p>
                      <a:r>
                        <a:rPr lang="de-AT" sz="1200">
                          <a:solidFill>
                            <a:schemeClr val="tx1"/>
                          </a:solidFill>
                        </a:rPr>
                        <a:t>LBS CS-22-016 (2022)</a:t>
                      </a:r>
                    </a:p>
                  </a:txBody>
                  <a:tcPr marT="36576" marB="36576" anchor="ctr">
                    <a:solidFill>
                      <a:schemeClr val="bg2"/>
                    </a:solidFill>
                  </a:tcPr>
                </a:tc>
                <a:tc>
                  <a:txBody>
                    <a:bodyPr/>
                    <a:lstStyle/>
                    <a:p>
                      <a:r>
                        <a:rPr lang="de-AT" sz="1200">
                          <a:solidFill>
                            <a:schemeClr val="tx1"/>
                          </a:solidFill>
                        </a:rPr>
                        <a:t>Erweiterung, Architektur</a:t>
                      </a:r>
                    </a:p>
                  </a:txBody>
                  <a:tcPr marT="36576" marB="36576" anchor="ctr">
                    <a:solidFill>
                      <a:schemeClr val="bg2"/>
                    </a:solidFill>
                  </a:tcPr>
                </a:tc>
              </a:tr>
              <a:tr h="354330">
                <a:tc>
                  <a:txBody>
                    <a:bodyPr/>
                    <a:lstStyle/>
                    <a:p>
                      <a:r>
                        <a:rPr lang="de-AT" sz="1200">
                          <a:solidFill>
                            <a:schemeClr val="tx1"/>
                          </a:solidFill>
                        </a:rPr>
                        <a:t>Swarovski: shine through stormy weather?</a:t>
                      </a:r>
                    </a:p>
                  </a:txBody>
                  <a:tcPr marT="36576" marB="36576" anchor="ctr">
                    <a:solidFill>
                      <a:srgbClr val="F2F2F2"/>
                    </a:solidFill>
                  </a:tcPr>
                </a:tc>
                <a:tc>
                  <a:txBody>
                    <a:bodyPr/>
                    <a:lstStyle/>
                    <a:p>
                      <a:r>
                        <a:rPr lang="de-AT" sz="1200">
                          <a:solidFill>
                            <a:schemeClr val="tx1"/>
                          </a:solidFill>
                        </a:rPr>
                        <a:t>IMD-7-2430 (2023)</a:t>
                      </a:r>
                    </a:p>
                  </a:txBody>
                  <a:tcPr marT="36576" marB="36576" anchor="ctr">
                    <a:solidFill>
                      <a:srgbClr val="F2F2F2"/>
                    </a:solidFill>
                  </a:tcPr>
                </a:tc>
                <a:tc>
                  <a:txBody>
                    <a:bodyPr/>
                    <a:lstStyle/>
                    <a:p>
                      <a:r>
                        <a:rPr lang="de-AT" sz="1200">
                          <a:solidFill>
                            <a:schemeClr val="tx1"/>
                          </a:solidFill>
                        </a:rPr>
                        <a:t>Image, Strategie</a:t>
                      </a:r>
                    </a:p>
                  </a:txBody>
                  <a:tcPr marT="36576" marB="36576" anchor="ctr">
                    <a:solidFill>
                      <a:srgbClr val="F2F2F2"/>
                    </a:solidFill>
                  </a:tcPr>
                </a:tc>
              </a:tr>
              <a:tr h="354330">
                <a:tc>
                  <a:txBody>
                    <a:bodyPr/>
                    <a:lstStyle/>
                    <a:p>
                      <a:r>
                        <a:rPr lang="de-AT" sz="1200">
                          <a:solidFill>
                            <a:schemeClr val="tx1"/>
                          </a:solidFill>
                        </a:rPr>
                        <a:t>Zotter: Living by Chocolate</a:t>
                      </a:r>
                    </a:p>
                  </a:txBody>
                  <a:tcPr marT="36576" marB="36576" anchor="ctr">
                    <a:solidFill>
                      <a:schemeClr val="bg2"/>
                    </a:solidFill>
                  </a:tcPr>
                </a:tc>
                <a:tc>
                  <a:txBody>
                    <a:bodyPr/>
                    <a:lstStyle/>
                    <a:p>
                      <a:r>
                        <a:rPr lang="de-AT" sz="1200">
                          <a:solidFill>
                            <a:schemeClr val="tx1"/>
                          </a:solidFill>
                        </a:rPr>
                        <a:t>HBS 9-810-091</a:t>
                      </a:r>
                    </a:p>
                  </a:txBody>
                  <a:tcPr marT="36576" marB="36576" anchor="ctr">
                    <a:solidFill>
                      <a:schemeClr val="bg2"/>
                    </a:solidFill>
                  </a:tcPr>
                </a:tc>
                <a:tc>
                  <a:txBody>
                    <a:bodyPr/>
                    <a:lstStyle/>
                    <a:p>
                      <a:r>
                        <a:rPr lang="de-AT" sz="1200">
                          <a:solidFill>
                            <a:schemeClr val="tx1"/>
                          </a:solidFill>
                        </a:rPr>
                        <a:t>Gründermarke, Wachstum</a:t>
                      </a:r>
                    </a:p>
                  </a:txBody>
                  <a:tcPr marT="36576" marB="36576" anchor="ctr">
                    <a:solidFill>
                      <a:schemeClr val="bg2"/>
                    </a:solidFill>
                  </a:tcPr>
                </a:tc>
              </a:tr>
              <a:tr h="354330">
                <a:tc>
                  <a:txBody>
                    <a:bodyPr/>
                    <a:lstStyle/>
                    <a:p>
                      <a:r>
                        <a:rPr lang="de-AT" sz="1200">
                          <a:solidFill>
                            <a:schemeClr val="tx1"/>
                          </a:solidFill>
                        </a:rPr>
                        <a:t>Barbie: Reviving a Cultural Icon</a:t>
                      </a:r>
                    </a:p>
                  </a:txBody>
                  <a:tcPr marT="36576" marB="36576" anchor="ctr">
                    <a:solidFill>
                      <a:srgbClr val="F2F2F2"/>
                    </a:solidFill>
                  </a:tcPr>
                </a:tc>
                <a:tc>
                  <a:txBody>
                    <a:bodyPr/>
                    <a:lstStyle/>
                    <a:p>
                      <a:r>
                        <a:rPr lang="de-AT" sz="1200">
                          <a:solidFill>
                            <a:schemeClr val="tx1"/>
                          </a:solidFill>
                        </a:rPr>
                        <a:t>HBS 525-006 (2024)</a:t>
                      </a:r>
                    </a:p>
                  </a:txBody>
                  <a:tcPr marT="36576" marB="36576" anchor="ctr">
                    <a:solidFill>
                      <a:srgbClr val="F2F2F2"/>
                    </a:solidFill>
                  </a:tcPr>
                </a:tc>
                <a:tc>
                  <a:txBody>
                    <a:bodyPr/>
                    <a:lstStyle/>
                    <a:p>
                      <a:r>
                        <a:rPr lang="de-AT" sz="1200">
                          <a:solidFill>
                            <a:schemeClr val="tx1"/>
                          </a:solidFill>
                        </a:rPr>
                        <a:t>Revitalisierung</a:t>
                      </a:r>
                    </a:p>
                  </a:txBody>
                  <a:tcPr marT="36576" marB="36576" anchor="ctr">
                    <a:solidFill>
                      <a:srgbClr val="F2F2F2"/>
                    </a:solidFill>
                  </a:tcPr>
                </a:tc>
              </a:tr>
              <a:tr h="354330">
                <a:tc>
                  <a:txBody>
                    <a:bodyPr/>
                    <a:lstStyle/>
                    <a:p>
                      <a:r>
                        <a:rPr lang="de-AT" sz="1200">
                          <a:solidFill>
                            <a:schemeClr val="tx1"/>
                          </a:solidFill>
                        </a:rPr>
                        <a:t>Managing Brand Crisis: Bud Light</a:t>
                      </a:r>
                    </a:p>
                  </a:txBody>
                  <a:tcPr marT="36576" marB="36576" anchor="ctr">
                    <a:solidFill>
                      <a:schemeClr val="bg2"/>
                    </a:solidFill>
                  </a:tcPr>
                </a:tc>
                <a:tc>
                  <a:txBody>
                    <a:bodyPr/>
                    <a:lstStyle/>
                    <a:p>
                      <a:r>
                        <a:rPr lang="de-AT" sz="1200">
                          <a:solidFill>
                            <a:schemeClr val="tx1"/>
                          </a:solidFill>
                        </a:rPr>
                        <a:t>Darden M-1043 (2023)</a:t>
                      </a:r>
                    </a:p>
                  </a:txBody>
                  <a:tcPr marT="36576" marB="36576" anchor="ctr">
                    <a:solidFill>
                      <a:schemeClr val="bg2"/>
                    </a:solidFill>
                  </a:tcPr>
                </a:tc>
                <a:tc>
                  <a:txBody>
                    <a:bodyPr/>
                    <a:lstStyle/>
                    <a:p>
                      <a:r>
                        <a:rPr lang="de-AT" sz="1200">
                          <a:solidFill>
                            <a:schemeClr val="tx1"/>
                          </a:solidFill>
                        </a:rPr>
                        <a:t>Krise, Kernkäufer:innen</a:t>
                      </a:r>
                    </a:p>
                  </a:txBody>
                  <a:tcPr marT="36576" marB="36576" anchor="ctr">
                    <a:solidFill>
                      <a:schemeClr val="bg2"/>
                    </a:solidFill>
                  </a:tcPr>
                </a:tc>
              </a:tr>
              <a:tr h="354330">
                <a:tc>
                  <a:txBody>
                    <a:bodyPr/>
                    <a:lstStyle/>
                    <a:p>
                      <a:r>
                        <a:rPr lang="de-AT" sz="1200">
                          <a:solidFill>
                            <a:schemeClr val="tx1"/>
                          </a:solidFill>
                        </a:rPr>
                        <a:t>Rebuild the World (LEGO)</a:t>
                      </a:r>
                    </a:p>
                  </a:txBody>
                  <a:tcPr marT="36576" marB="36576" anchor="ctr">
                    <a:solidFill>
                      <a:srgbClr val="F2F2F2"/>
                    </a:solidFill>
                  </a:tcPr>
                </a:tc>
                <a:tc>
                  <a:txBody>
                    <a:bodyPr/>
                    <a:lstStyle/>
                    <a:p>
                      <a:r>
                        <a:rPr lang="de-AT" sz="1200">
                          <a:solidFill>
                            <a:schemeClr val="tx1"/>
                          </a:solidFill>
                        </a:rPr>
                        <a:t>AEF, kostenlos mit Daten</a:t>
                      </a:r>
                    </a:p>
                  </a:txBody>
                  <a:tcPr marT="36576" marB="36576" anchor="ctr">
                    <a:solidFill>
                      <a:srgbClr val="F2F2F2"/>
                    </a:solidFill>
                  </a:tcPr>
                </a:tc>
                <a:tc>
                  <a:txBody>
                    <a:bodyPr/>
                    <a:lstStyle/>
                    <a:p>
                      <a:r>
                        <a:rPr lang="de-AT" sz="1200">
                          <a:solidFill>
                            <a:schemeClr val="tx1"/>
                          </a:solidFill>
                        </a:rPr>
                        <a:t>Tracking, Vorstandsbericht</a:t>
                      </a:r>
                    </a:p>
                  </a:txBody>
                  <a:tcPr marT="36576" marB="36576" anchor="ctr">
                    <a:solidFill>
                      <a:srgbClr val="F2F2F2"/>
                    </a:solidFill>
                  </a:tcPr>
                </a:tc>
              </a:tr>
              <a:tr h="354330">
                <a:tc>
                  <a:txBody>
                    <a:bodyPr/>
                    <a:lstStyle/>
                    <a:p>
                      <a:r>
                        <a:rPr lang="de-AT" sz="1200">
                          <a:solidFill>
                            <a:schemeClr val="tx1"/>
                          </a:solidFill>
                        </a:rPr>
                        <a:t>Brand Report Card Exercise</a:t>
                      </a:r>
                    </a:p>
                  </a:txBody>
                  <a:tcPr marT="36576" marB="36576" anchor="ctr">
                    <a:solidFill>
                      <a:schemeClr val="bg2"/>
                    </a:solidFill>
                  </a:tcPr>
                </a:tc>
                <a:tc>
                  <a:txBody>
                    <a:bodyPr/>
                    <a:lstStyle/>
                    <a:p>
                      <a:r>
                        <a:rPr lang="de-AT" sz="1200">
                          <a:solidFill>
                            <a:schemeClr val="tx1"/>
                          </a:solidFill>
                        </a:rPr>
                        <a:t>HBS 501004</a:t>
                      </a:r>
                    </a:p>
                  </a:txBody>
                  <a:tcPr marT="36576" marB="36576" anchor="ctr">
                    <a:solidFill>
                      <a:schemeClr val="bg2"/>
                    </a:solidFill>
                  </a:tcPr>
                </a:tc>
                <a:tc>
                  <a:txBody>
                    <a:bodyPr/>
                    <a:lstStyle/>
                    <a:p>
                      <a:r>
                        <a:rPr lang="de-AT" sz="1200">
                          <a:solidFill>
                            <a:schemeClr val="tx1"/>
                          </a:solidFill>
                        </a:rPr>
                        <a:t>Bewertung mit 10 Merkmalen</a:t>
                      </a:r>
                    </a:p>
                  </a:txBody>
                  <a:tcPr marT="36576" marB="36576" anchor="ctr">
                    <a:solidFill>
                      <a:schemeClr val="bg2"/>
                    </a:solidFill>
                  </a:tcPr>
                </a:tc>
              </a:tr>
            </a:tbl>
          </a:graphicData>
        </a:graphic>
      </p:graphicFrame>
      <p:sp>
        <p:nvSpPr>
          <p:cNvPr id="7" name="Source note"/>
          <p:cNvSpPr txBox="1"/>
          <p:nvPr/>
        </p:nvSpPr>
        <p:spPr>
          <a:xfrm>
            <a:off x="457200" y="4343400"/>
            <a:ext cx="8229600" cy="45720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Österreichische Marken ohne Lehrfall (Manner, ÖBB, SPAR, Raiffeisen) sind über Presse und Daten in der Quellensammlung abgedeckt.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Übung: ein Mini-Audit in 35 Minuten</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Aufgabe"/>
          <p:cNvSpPr txBox="1"/>
          <p:nvPr/>
        </p:nvSpPr>
        <p:spPr>
          <a:xfrm>
            <a:off x="457200" y="1234440"/>
            <a:ext cx="8229600" cy="320040"/>
          </a:xfrm>
          <a:prstGeom prst="rect">
            <a:avLst/>
          </a:prstGeom>
          <a:noFill/>
        </p:spPr>
        <p:txBody>
          <a:bodyPr wrap="square" lIns="36576" rIns="36576" tIns="18288" bIns="18288" anchor="t">
            <a:spAutoFit/>
          </a:bodyPr>
          <a:lstStyle/>
          <a:p>
            <a:pPr algn="l">
              <a:spcAft>
                <a:spcPts val="0"/>
              </a:spcAft>
            </a:pPr>
            <a:r>
              <a:rPr lang="de-AT" sz="1300" b="0">
                <a:solidFill>
                  <a:schemeClr val="tx1"/>
                </a:solidFill>
              </a:rPr>
              <a:t>Viererteams, je eine österreichische Marke: Manner, Almdudler, ÖBB, SPAR, BIPA oder Stiegl.</a:t>
            </a:r>
          </a:p>
        </p:txBody>
      </p:sp>
      <p:sp>
        <p:nvSpPr>
          <p:cNvPr id="7" name="Zeit 1"/>
          <p:cNvSpPr/>
          <p:nvPr/>
        </p:nvSpPr>
        <p:spPr>
          <a:xfrm>
            <a:off x="457200" y="1691640"/>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10 Min.</a:t>
            </a:r>
          </a:p>
        </p:txBody>
      </p:sp>
      <p:sp>
        <p:nvSpPr>
          <p:cNvPr id="8" name="Aufgabe 1 Band"/>
          <p:cNvSpPr/>
          <p:nvPr/>
        </p:nvSpPr>
        <p:spPr>
          <a:xfrm>
            <a:off x="1554480" y="1691640"/>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ufgabe 1 Text"/>
          <p:cNvSpPr txBox="1"/>
          <p:nvPr/>
        </p:nvSpPr>
        <p:spPr>
          <a:xfrm>
            <a:off x="1691640" y="1691640"/>
            <a:ext cx="6858000" cy="47548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Inventory: </a:t>
            </a:r>
            <a:r>
              <a:rPr lang="de-AT" sz="1300" b="0">
                <a:solidFill>
                  <a:schemeClr val="tx1"/>
                </a:solidFill>
              </a:rPr>
              <a:t>Markenelemente, Submarken und aktueller Claim aus Website und Packungen.</a:t>
            </a:r>
          </a:p>
        </p:txBody>
      </p:sp>
      <p:sp>
        <p:nvSpPr>
          <p:cNvPr id="10" name="Zeit 2"/>
          <p:cNvSpPr/>
          <p:nvPr/>
        </p:nvSpPr>
        <p:spPr>
          <a:xfrm>
            <a:off x="457200" y="2295144"/>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5 Min.</a:t>
            </a:r>
          </a:p>
        </p:txBody>
      </p:sp>
      <p:sp>
        <p:nvSpPr>
          <p:cNvPr id="11" name="Aufgabe 2 Band"/>
          <p:cNvSpPr/>
          <p:nvPr/>
        </p:nvSpPr>
        <p:spPr>
          <a:xfrm>
            <a:off x="1554480" y="2295144"/>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ufgabe 2 Text"/>
          <p:cNvSpPr txBox="1"/>
          <p:nvPr/>
        </p:nvSpPr>
        <p:spPr>
          <a:xfrm>
            <a:off x="1691640" y="2295144"/>
            <a:ext cx="6858000" cy="47548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Freie Assoziation: </a:t>
            </a:r>
            <a:r>
              <a:rPr lang="de-AT" sz="1300" b="0">
                <a:solidFill>
                  <a:schemeClr val="tx1"/>
                </a:solidFill>
              </a:rPr>
              <a:t>fünf Mitstudierende nach je drei Begriffen fragen; Valenz codieren.</a:t>
            </a:r>
          </a:p>
        </p:txBody>
      </p:sp>
      <p:sp>
        <p:nvSpPr>
          <p:cNvPr id="13" name="Zeit 3"/>
          <p:cNvSpPr/>
          <p:nvPr/>
        </p:nvSpPr>
        <p:spPr>
          <a:xfrm>
            <a:off x="457200" y="2898648"/>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5 Min.</a:t>
            </a:r>
          </a:p>
        </p:txBody>
      </p:sp>
      <p:sp>
        <p:nvSpPr>
          <p:cNvPr id="14" name="Aufgabe 3 Band"/>
          <p:cNvSpPr/>
          <p:nvPr/>
        </p:nvSpPr>
        <p:spPr>
          <a:xfrm>
            <a:off x="1554480" y="2898648"/>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ufgabe 3 Text"/>
          <p:cNvSpPr txBox="1"/>
          <p:nvPr/>
        </p:nvSpPr>
        <p:spPr>
          <a:xfrm>
            <a:off x="1691640" y="2898648"/>
            <a:ext cx="6858000" cy="47548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Assets: </a:t>
            </a:r>
            <a:r>
              <a:rPr lang="de-AT" sz="1300" b="0">
                <a:solidFill>
                  <a:schemeClr val="tx1"/>
                </a:solidFill>
              </a:rPr>
              <a:t>drei Assets ohne Namen zeigen. Wer erkennt die Marke?</a:t>
            </a:r>
          </a:p>
        </p:txBody>
      </p:sp>
      <p:sp>
        <p:nvSpPr>
          <p:cNvPr id="16" name="Zeit 4"/>
          <p:cNvSpPr/>
          <p:nvPr/>
        </p:nvSpPr>
        <p:spPr>
          <a:xfrm>
            <a:off x="457200" y="3502152"/>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tx1"/>
                </a:solidFill>
              </a:rPr>
              <a:t>5 Min.</a:t>
            </a:r>
          </a:p>
        </p:txBody>
      </p:sp>
      <p:sp>
        <p:nvSpPr>
          <p:cNvPr id="17" name="Aufgabe 4 Band"/>
          <p:cNvSpPr/>
          <p:nvPr/>
        </p:nvSpPr>
        <p:spPr>
          <a:xfrm>
            <a:off x="1554480" y="3502152"/>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ufgabe 4 Text"/>
          <p:cNvSpPr txBox="1"/>
          <p:nvPr/>
        </p:nvSpPr>
        <p:spPr>
          <a:xfrm>
            <a:off x="1691640" y="3502152"/>
            <a:ext cx="6858000" cy="47548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Benchmark: </a:t>
            </a:r>
            <a:r>
              <a:rPr lang="de-AT" sz="1300" b="0">
                <a:solidFill>
                  <a:schemeClr val="tx1"/>
                </a:solidFill>
              </a:rPr>
              <a:t>mit den Marketagent-BRAND.Diamonds-Charts vergleichen.</a:t>
            </a:r>
          </a:p>
        </p:txBody>
      </p:sp>
      <p:sp>
        <p:nvSpPr>
          <p:cNvPr id="19" name="Zeit 5"/>
          <p:cNvSpPr/>
          <p:nvPr/>
        </p:nvSpPr>
        <p:spPr>
          <a:xfrm>
            <a:off x="457200" y="4105656"/>
            <a:ext cx="1005840" cy="47548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AT" sz="1300" b="1">
                <a:solidFill>
                  <a:schemeClr val="bg1"/>
                </a:solidFill>
              </a:rPr>
              <a:t>10 Min.</a:t>
            </a:r>
          </a:p>
        </p:txBody>
      </p:sp>
      <p:sp>
        <p:nvSpPr>
          <p:cNvPr id="20" name="Aufgabe 5 Band"/>
          <p:cNvSpPr/>
          <p:nvPr/>
        </p:nvSpPr>
        <p:spPr>
          <a:xfrm>
            <a:off x="1554480" y="4105656"/>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ufgabe 5 Text"/>
          <p:cNvSpPr txBox="1"/>
          <p:nvPr/>
        </p:nvSpPr>
        <p:spPr>
          <a:xfrm>
            <a:off x="1691640" y="4105656"/>
            <a:ext cx="6858000" cy="475488"/>
          </a:xfrm>
          <a:prstGeom prst="rect">
            <a:avLst/>
          </a:prstGeom>
          <a:noFill/>
        </p:spPr>
        <p:txBody>
          <a:bodyPr wrap="square" lIns="36576" rIns="36576" tIns="18288" bIns="18288" anchor="ctr">
            <a:spAutoFit/>
          </a:bodyPr>
          <a:lstStyle/>
          <a:p>
            <a:pPr algn="l">
              <a:spcAft>
                <a:spcPts val="0"/>
              </a:spcAft>
            </a:pPr>
            <a:r>
              <a:rPr lang="de-AT" sz="1300" b="1">
                <a:solidFill>
                  <a:schemeClr val="tx2"/>
                </a:solidFill>
              </a:rPr>
              <a:t>Pitch: </a:t>
            </a:r>
            <a:r>
              <a:rPr lang="de-AT" sz="1300" b="0">
                <a:solidFill>
                  <a:schemeClr val="tx1"/>
                </a:solidFill>
              </a:rPr>
              <a:t>ein Befund und eine Empfehlung, zwei Minuten pro Team.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Teamprojekt: ein Markenaudit</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Bericht body"/>
          <p:cNvSpPr/>
          <p:nvPr/>
        </p:nvSpPr>
        <p:spPr>
          <a:xfrm>
            <a:off x="457200" y="1280160"/>
            <a:ext cx="4032504"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erich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erich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Aufbau des Berichts</a:t>
            </a:r>
          </a:p>
        </p:txBody>
      </p:sp>
      <p:pic>
        <p:nvPicPr>
          <p:cNvPr id="9" name="Icon LuFileText" descr=""/>
          <p:cNvPicPr>
            <a:picLocks noChangeAspect="1"/>
          </p:cNvPicPr>
          <p:nvPr/>
        </p:nvPicPr>
        <p:blipFill>
          <a:blip r:embed="rId3"/>
          <a:stretch>
            <a:fillRect/>
          </a:stretch>
        </p:blipFill>
        <p:spPr>
          <a:xfrm>
            <a:off x="4059936" y="1344168"/>
            <a:ext cx="329184" cy="329184"/>
          </a:xfrm>
          <a:prstGeom prst="rect">
            <a:avLst/>
          </a:prstGeom>
        </p:spPr>
      </p:pic>
      <p:sp>
        <p:nvSpPr>
          <p:cNvPr id="10" name="Bericht text"/>
          <p:cNvSpPr txBox="1"/>
          <p:nvPr/>
        </p:nvSpPr>
        <p:spPr>
          <a:xfrm>
            <a:off x="594360" y="1847088"/>
            <a:ext cx="3758184" cy="208483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1  </a:t>
            </a:r>
            <a:r>
              <a:rPr lang="de-AT" sz="1300" b="0">
                <a:solidFill>
                  <a:schemeClr val="tx1"/>
                </a:solidFill>
              </a:rPr>
              <a:t>Executive Summary</a:t>
            </a:r>
          </a:p>
          <a:p>
            <a:pPr algn="l">
              <a:spcAft>
                <a:spcPts val="700"/>
              </a:spcAft>
            </a:pPr>
            <a:r>
              <a:rPr lang="de-AT" sz="1300" b="1">
                <a:solidFill>
                  <a:schemeClr val="tx2"/>
                </a:solidFill>
              </a:rPr>
              <a:t>2  </a:t>
            </a:r>
            <a:r>
              <a:rPr lang="de-AT" sz="1300" b="0">
                <a:solidFill>
                  <a:schemeClr val="tx1"/>
                </a:solidFill>
              </a:rPr>
              <a:t>Brand Inventory, mit zwei Wettbewerbern</a:t>
            </a:r>
          </a:p>
          <a:p>
            <a:pPr algn="l">
              <a:spcAft>
                <a:spcPts val="700"/>
              </a:spcAft>
            </a:pPr>
            <a:r>
              <a:rPr lang="de-AT" sz="1300" b="1">
                <a:solidFill>
                  <a:schemeClr val="tx2"/>
                </a:solidFill>
              </a:rPr>
              <a:t>3  </a:t>
            </a:r>
            <a:r>
              <a:rPr lang="de-AT" sz="1300" b="0">
                <a:solidFill>
                  <a:schemeClr val="tx1"/>
                </a:solidFill>
              </a:rPr>
              <a:t>Exploratory: [__] Interviews, Befragung n ≥ [__]</a:t>
            </a:r>
          </a:p>
          <a:p>
            <a:pPr algn="l">
              <a:spcAft>
                <a:spcPts val="700"/>
              </a:spcAft>
            </a:pPr>
            <a:r>
              <a:rPr lang="de-AT" sz="1300" b="1">
                <a:solidFill>
                  <a:schemeClr val="tx2"/>
                </a:solidFill>
              </a:rPr>
              <a:t>4  </a:t>
            </a:r>
            <a:r>
              <a:rPr lang="de-AT" sz="1300" b="0">
                <a:solidFill>
                  <a:schemeClr val="tx1"/>
                </a:solidFill>
              </a:rPr>
              <a:t>Diagnose: Pyramide, Asset-Raster, Identitäts-Image-Lücke</a:t>
            </a:r>
          </a:p>
          <a:p>
            <a:pPr algn="l">
              <a:spcAft>
                <a:spcPts val="700"/>
              </a:spcAft>
            </a:pPr>
            <a:r>
              <a:rPr lang="de-AT" sz="1300" b="1">
                <a:solidFill>
                  <a:schemeClr val="tx2"/>
                </a:solidFill>
              </a:rPr>
              <a:t>5  </a:t>
            </a:r>
            <a:r>
              <a:rPr lang="de-AT" sz="1300" b="0">
                <a:solidFill>
                  <a:schemeClr val="tx1"/>
                </a:solidFill>
              </a:rPr>
              <a:t>Empfehlungen und ein Vorschlag für den Tracker</a:t>
            </a:r>
          </a:p>
        </p:txBody>
      </p:sp>
      <p:sp>
        <p:nvSpPr>
          <p:cNvPr id="11" name="Organisation body"/>
          <p:cNvSpPr/>
          <p:nvPr/>
        </p:nvSpPr>
        <p:spPr>
          <a:xfrm>
            <a:off x="4654296" y="1280160"/>
            <a:ext cx="4032504"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ganisation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ganisation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Organisation</a:t>
            </a:r>
          </a:p>
        </p:txBody>
      </p:sp>
      <p:pic>
        <p:nvPicPr>
          <p:cNvPr id="14" name="Icon LuGraduationCap" descr=""/>
          <p:cNvPicPr>
            <a:picLocks noChangeAspect="1"/>
          </p:cNvPicPr>
          <p:nvPr/>
        </p:nvPicPr>
        <p:blipFill>
          <a:blip r:embed="rId4"/>
          <a:stretch>
            <a:fillRect/>
          </a:stretch>
        </p:blipFill>
        <p:spPr>
          <a:xfrm>
            <a:off x="8257031" y="1344168"/>
            <a:ext cx="329184" cy="329184"/>
          </a:xfrm>
          <a:prstGeom prst="rect">
            <a:avLst/>
          </a:prstGeom>
        </p:spPr>
      </p:pic>
      <p:sp>
        <p:nvSpPr>
          <p:cNvPr id="15" name="Organisation text"/>
          <p:cNvSpPr txBox="1"/>
          <p:nvPr/>
        </p:nvSpPr>
        <p:spPr>
          <a:xfrm>
            <a:off x="4791456" y="1847088"/>
            <a:ext cx="3758184" cy="2084832"/>
          </a:xfrm>
          <a:prstGeom prst="rect">
            <a:avLst/>
          </a:prstGeom>
          <a:noFill/>
        </p:spPr>
        <p:txBody>
          <a:bodyPr wrap="square" lIns="36576" rIns="36576" tIns="18288" bIns="18288" anchor="t">
            <a:spAutoFit/>
          </a:bodyPr>
          <a:lstStyle/>
          <a:p>
            <a:pPr algn="l">
              <a:spcAft>
                <a:spcPts val="700"/>
              </a:spcAft>
            </a:pPr>
            <a:r>
              <a:rPr lang="de-AT" sz="1300" b="1">
                <a:solidFill>
                  <a:schemeClr val="tx2"/>
                </a:solidFill>
              </a:rPr>
              <a:t>Teams: </a:t>
            </a:r>
            <a:r>
              <a:rPr lang="de-AT" sz="1300" b="0">
                <a:solidFill>
                  <a:schemeClr val="tx1"/>
                </a:solidFill>
              </a:rPr>
              <a:t>[__] Studierende</a:t>
            </a:r>
          </a:p>
          <a:p>
            <a:pPr algn="l">
              <a:spcAft>
                <a:spcPts val="700"/>
              </a:spcAft>
            </a:pPr>
            <a:r>
              <a:rPr lang="de-AT" sz="1300" b="1">
                <a:solidFill>
                  <a:schemeClr val="tx2"/>
                </a:solidFill>
              </a:rPr>
              <a:t>Marke: </a:t>
            </a:r>
            <a:r>
              <a:rPr lang="de-AT" sz="1300" b="0">
                <a:solidFill>
                  <a:schemeClr val="tx1"/>
                </a:solidFill>
              </a:rPr>
              <a:t>österreichisch, Freigabe bis [Datum]</a:t>
            </a:r>
          </a:p>
          <a:p>
            <a:pPr algn="l">
              <a:spcAft>
                <a:spcPts val="700"/>
              </a:spcAft>
            </a:pPr>
            <a:r>
              <a:rPr lang="de-AT" sz="1300" b="1">
                <a:solidFill>
                  <a:schemeClr val="tx2"/>
                </a:solidFill>
              </a:rPr>
              <a:t>Bericht: </a:t>
            </a:r>
            <a:r>
              <a:rPr lang="de-AT" sz="1300" b="0">
                <a:solidFill>
                  <a:schemeClr val="tx1"/>
                </a:solidFill>
              </a:rPr>
              <a:t>[__] Seiten plus Anhang, fällig am [Datum]</a:t>
            </a:r>
          </a:p>
          <a:p>
            <a:pPr algn="l">
              <a:spcAft>
                <a:spcPts val="700"/>
              </a:spcAft>
            </a:pPr>
            <a:r>
              <a:rPr lang="de-AT" sz="1300" b="1">
                <a:solidFill>
                  <a:schemeClr val="tx2"/>
                </a:solidFill>
              </a:rPr>
              <a:t>Präsentation: </a:t>
            </a:r>
            <a:r>
              <a:rPr lang="de-AT" sz="1300" b="0">
                <a:solidFill>
                  <a:schemeClr val="tx1"/>
                </a:solidFill>
              </a:rPr>
              <a:t>[__] Minuten am [Datum]</a:t>
            </a:r>
          </a:p>
          <a:p>
            <a:pPr algn="l">
              <a:spcAft>
                <a:spcPts val="700"/>
              </a:spcAft>
            </a:pPr>
            <a:r>
              <a:rPr lang="de-AT" sz="1300" b="1">
                <a:solidFill>
                  <a:schemeClr val="tx2"/>
                </a:solidFill>
              </a:rPr>
              <a:t>Gewichtung: </a:t>
            </a:r>
            <a:r>
              <a:rPr lang="de-AT" sz="1300" b="0">
                <a:solidFill>
                  <a:schemeClr val="tx1"/>
                </a:solidFill>
              </a:rPr>
              <a:t>[__] % der Gesamtnote</a:t>
            </a:r>
          </a:p>
        </p:txBody>
      </p:sp>
      <p:sp>
        <p:nvSpPr>
          <p:cNvPr id="16" name="Hinweis"/>
          <p:cNvSpPr/>
          <p:nvPr/>
        </p:nvSpPr>
        <p:spPr>
          <a:xfrm>
            <a:off x="457200" y="42062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de-AT" sz="1300" b="1">
                <a:solidFill>
                  <a:schemeClr val="tx1"/>
                </a:solidFill>
              </a:rPr>
              <a:t>Musterlösungen: </a:t>
            </a:r>
            <a:r>
              <a:rPr lang="de-AT" sz="1300" b="0">
                <a:solidFill>
                  <a:schemeClr val="tx1"/>
                </a:solidFill>
              </a:rPr>
              <a:t>Kellers Beispiel-Audit (Rolex) und das veröffentlichte Lacasa-Audit im Journal of Brand Strategy.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Werkzeuge für das Projekt</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Tool 1 body"/>
          <p:cNvSpPr/>
          <p:nvPr/>
        </p:nvSpPr>
        <p:spPr>
          <a:xfrm>
            <a:off x="457200"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ool 1 bar"/>
          <p:cNvSpPr/>
          <p:nvPr/>
        </p:nvSpPr>
        <p:spPr>
          <a:xfrm>
            <a:off x="457200"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LuClipboardList" descr=""/>
          <p:cNvPicPr>
            <a:picLocks noChangeAspect="1"/>
          </p:cNvPicPr>
          <p:nvPr/>
        </p:nvPicPr>
        <p:blipFill>
          <a:blip r:embed="rId3"/>
          <a:stretch>
            <a:fillRect/>
          </a:stretch>
        </p:blipFill>
        <p:spPr>
          <a:xfrm>
            <a:off x="594360" y="1463039"/>
            <a:ext cx="310896" cy="310896"/>
          </a:xfrm>
          <a:prstGeom prst="rect">
            <a:avLst/>
          </a:prstGeom>
        </p:spPr>
      </p:pic>
      <p:sp>
        <p:nvSpPr>
          <p:cNvPr id="9" name="Tool 1 heading"/>
          <p:cNvSpPr txBox="1"/>
          <p:nvPr/>
        </p:nvSpPr>
        <p:spPr>
          <a:xfrm>
            <a:off x="1005840"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Befragung</a:t>
            </a:r>
          </a:p>
        </p:txBody>
      </p:sp>
      <p:sp>
        <p:nvSpPr>
          <p:cNvPr id="10" name="Tool 1 text"/>
          <p:cNvSpPr txBox="1"/>
          <p:nvPr/>
        </p:nvSpPr>
        <p:spPr>
          <a:xfrm>
            <a:off x="594360" y="188366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LimeSurvey (Open Source); Unipark oder Qualtrics, WU-Lizenz klären.</a:t>
            </a:r>
          </a:p>
        </p:txBody>
      </p:sp>
      <p:sp>
        <p:nvSpPr>
          <p:cNvPr id="11" name="Tool 2 body"/>
          <p:cNvSpPr/>
          <p:nvPr/>
        </p:nvSpPr>
        <p:spPr>
          <a:xfrm>
            <a:off x="3255264"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ol 2 bar"/>
          <p:cNvSpPr/>
          <p:nvPr/>
        </p:nvSpPr>
        <p:spPr>
          <a:xfrm>
            <a:off x="3255264"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hartColumn" descr=""/>
          <p:cNvPicPr>
            <a:picLocks noChangeAspect="1"/>
          </p:cNvPicPr>
          <p:nvPr/>
        </p:nvPicPr>
        <p:blipFill>
          <a:blip r:embed="rId4"/>
          <a:stretch>
            <a:fillRect/>
          </a:stretch>
        </p:blipFill>
        <p:spPr>
          <a:xfrm>
            <a:off x="3392424" y="1463039"/>
            <a:ext cx="310896" cy="310896"/>
          </a:xfrm>
          <a:prstGeom prst="rect">
            <a:avLst/>
          </a:prstGeom>
        </p:spPr>
      </p:pic>
      <p:sp>
        <p:nvSpPr>
          <p:cNvPr id="14" name="Tool 2 heading"/>
          <p:cNvSpPr txBox="1"/>
          <p:nvPr/>
        </p:nvSpPr>
        <p:spPr>
          <a:xfrm>
            <a:off x="3803904"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Analyse in R</a:t>
            </a:r>
          </a:p>
        </p:txBody>
      </p:sp>
      <p:sp>
        <p:nvSpPr>
          <p:cNvPr id="15" name="Tool 2 text"/>
          <p:cNvSpPr txBox="1"/>
          <p:nvPr/>
        </p:nvSpPr>
        <p:spPr>
          <a:xfrm>
            <a:off x="3392424" y="188366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FactoMineR für Karten, lavaan für Skalen, tidytext für Texte.</a:t>
            </a:r>
          </a:p>
        </p:txBody>
      </p:sp>
      <p:sp>
        <p:nvSpPr>
          <p:cNvPr id="16" name="Tool 3 body"/>
          <p:cNvSpPr/>
          <p:nvPr/>
        </p:nvSpPr>
        <p:spPr>
          <a:xfrm>
            <a:off x="6053328"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ool 3 bar"/>
          <p:cNvSpPr/>
          <p:nvPr/>
        </p:nvSpPr>
        <p:spPr>
          <a:xfrm>
            <a:off x="6053328"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LuBrain" descr=""/>
          <p:cNvPicPr>
            <a:picLocks noChangeAspect="1"/>
          </p:cNvPicPr>
          <p:nvPr/>
        </p:nvPicPr>
        <p:blipFill>
          <a:blip r:embed="rId5"/>
          <a:stretch>
            <a:fillRect/>
          </a:stretch>
        </p:blipFill>
        <p:spPr>
          <a:xfrm>
            <a:off x="6190488" y="1463039"/>
            <a:ext cx="310896" cy="310896"/>
          </a:xfrm>
          <a:prstGeom prst="rect">
            <a:avLst/>
          </a:prstGeom>
        </p:spPr>
      </p:pic>
      <p:sp>
        <p:nvSpPr>
          <p:cNvPr id="19" name="Tool 3 heading"/>
          <p:cNvSpPr txBox="1"/>
          <p:nvPr/>
        </p:nvSpPr>
        <p:spPr>
          <a:xfrm>
            <a:off x="6601968" y="1435607"/>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Analyse in Python</a:t>
            </a:r>
          </a:p>
        </p:txBody>
      </p:sp>
      <p:sp>
        <p:nvSpPr>
          <p:cNvPr id="20" name="Tool 3 text"/>
          <p:cNvSpPr txBox="1"/>
          <p:nvPr/>
        </p:nvSpPr>
        <p:spPr>
          <a:xfrm>
            <a:off x="6190488" y="188366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prince für Karten, semopy für Skalen, BERTopic für Themen.</a:t>
            </a:r>
          </a:p>
        </p:txBody>
      </p:sp>
      <p:sp>
        <p:nvSpPr>
          <p:cNvPr id="21" name="Tool 4 body"/>
          <p:cNvSpPr/>
          <p:nvPr/>
        </p:nvSpPr>
        <p:spPr>
          <a:xfrm>
            <a:off x="457200"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ool 4 bar"/>
          <p:cNvSpPr/>
          <p:nvPr/>
        </p:nvSpPr>
        <p:spPr>
          <a:xfrm>
            <a:off x="457200"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con LuSearch" descr=""/>
          <p:cNvPicPr>
            <a:picLocks noChangeAspect="1"/>
          </p:cNvPicPr>
          <p:nvPr/>
        </p:nvPicPr>
        <p:blipFill>
          <a:blip r:embed="rId6"/>
          <a:stretch>
            <a:fillRect/>
          </a:stretch>
        </p:blipFill>
        <p:spPr>
          <a:xfrm>
            <a:off x="594360" y="2880360"/>
            <a:ext cx="310896" cy="310896"/>
          </a:xfrm>
          <a:prstGeom prst="rect">
            <a:avLst/>
          </a:prstGeom>
        </p:spPr>
      </p:pic>
      <p:sp>
        <p:nvSpPr>
          <p:cNvPr id="24" name="Tool 4 heading"/>
          <p:cNvSpPr txBox="1"/>
          <p:nvPr/>
        </p:nvSpPr>
        <p:spPr>
          <a:xfrm>
            <a:off x="1005840" y="285292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Suche und Social</a:t>
            </a:r>
          </a:p>
        </p:txBody>
      </p:sp>
      <p:sp>
        <p:nvSpPr>
          <p:cNvPr id="25" name="Tool 4 text"/>
          <p:cNvSpPr txBox="1"/>
          <p:nvPr/>
        </p:nvSpPr>
        <p:spPr>
          <a:xfrm>
            <a:off x="594360" y="330098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Google Trends für Share of Search; Brand24-Testzugang.</a:t>
            </a:r>
          </a:p>
        </p:txBody>
      </p:sp>
      <p:sp>
        <p:nvSpPr>
          <p:cNvPr id="26" name="Tool 5 body"/>
          <p:cNvSpPr/>
          <p:nvPr/>
        </p:nvSpPr>
        <p:spPr>
          <a:xfrm>
            <a:off x="3255264"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ool 5 bar"/>
          <p:cNvSpPr/>
          <p:nvPr/>
        </p:nvSpPr>
        <p:spPr>
          <a:xfrm>
            <a:off x="3255264"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 LuBot" descr=""/>
          <p:cNvPicPr>
            <a:picLocks noChangeAspect="1"/>
          </p:cNvPicPr>
          <p:nvPr/>
        </p:nvPicPr>
        <p:blipFill>
          <a:blip r:embed="rId7"/>
          <a:stretch>
            <a:fillRect/>
          </a:stretch>
        </p:blipFill>
        <p:spPr>
          <a:xfrm>
            <a:off x="3392424" y="2880360"/>
            <a:ext cx="310896" cy="310896"/>
          </a:xfrm>
          <a:prstGeom prst="rect">
            <a:avLst/>
          </a:prstGeom>
        </p:spPr>
      </p:pic>
      <p:sp>
        <p:nvSpPr>
          <p:cNvPr id="29" name="Tool 5 heading"/>
          <p:cNvSpPr txBox="1"/>
          <p:nvPr/>
        </p:nvSpPr>
        <p:spPr>
          <a:xfrm>
            <a:off x="3803904" y="285292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KI-Sichtbarkeit</a:t>
            </a:r>
          </a:p>
        </p:txBody>
      </p:sp>
      <p:sp>
        <p:nvSpPr>
          <p:cNvPr id="30" name="Tool 5 text"/>
          <p:cNvSpPr txBox="1"/>
          <p:nvPr/>
        </p:nvSpPr>
        <p:spPr>
          <a:xfrm>
            <a:off x="3392424" y="330098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Festes Prompt-Set; Otterly.AI oder Semrush-Checks.</a:t>
            </a:r>
          </a:p>
        </p:txBody>
      </p:sp>
      <p:sp>
        <p:nvSpPr>
          <p:cNvPr id="31" name="Tool 6 body"/>
          <p:cNvSpPr/>
          <p:nvPr/>
        </p:nvSpPr>
        <p:spPr>
          <a:xfrm>
            <a:off x="6053328"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ool 6 bar"/>
          <p:cNvSpPr/>
          <p:nvPr/>
        </p:nvSpPr>
        <p:spPr>
          <a:xfrm>
            <a:off x="6053328"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Icon LuPencilRuler" descr=""/>
          <p:cNvPicPr>
            <a:picLocks noChangeAspect="1"/>
          </p:cNvPicPr>
          <p:nvPr/>
        </p:nvPicPr>
        <p:blipFill>
          <a:blip r:embed="rId8"/>
          <a:stretch>
            <a:fillRect/>
          </a:stretch>
        </p:blipFill>
        <p:spPr>
          <a:xfrm>
            <a:off x="6190488" y="2880360"/>
            <a:ext cx="310896" cy="310896"/>
          </a:xfrm>
          <a:prstGeom prst="rect">
            <a:avLst/>
          </a:prstGeom>
        </p:spPr>
      </p:pic>
      <p:sp>
        <p:nvSpPr>
          <p:cNvPr id="34" name="Tool 6 heading"/>
          <p:cNvSpPr txBox="1"/>
          <p:nvPr/>
        </p:nvSpPr>
        <p:spPr>
          <a:xfrm>
            <a:off x="6601968" y="2852928"/>
            <a:ext cx="1993392" cy="384048"/>
          </a:xfrm>
          <a:prstGeom prst="rect">
            <a:avLst/>
          </a:prstGeom>
          <a:noFill/>
        </p:spPr>
        <p:txBody>
          <a:bodyPr wrap="square" lIns="36576" rIns="36576" tIns="18288" bIns="18288" anchor="ctr">
            <a:spAutoFit/>
          </a:bodyPr>
          <a:lstStyle/>
          <a:p>
            <a:pPr algn="l">
              <a:spcAft>
                <a:spcPts val="0"/>
              </a:spcAft>
            </a:pPr>
            <a:r>
              <a:rPr lang="de-AT" sz="1400" b="1">
                <a:solidFill>
                  <a:schemeClr val="tx2"/>
                </a:solidFill>
                <a:latin typeface="+mj-lt"/>
              </a:rPr>
              <a:t>Vorlagen</a:t>
            </a:r>
          </a:p>
        </p:txBody>
      </p:sp>
      <p:sp>
        <p:nvSpPr>
          <p:cNvPr id="35" name="Tool 6 text"/>
          <p:cNvSpPr txBox="1"/>
          <p:nvPr/>
        </p:nvSpPr>
        <p:spPr>
          <a:xfrm>
            <a:off x="6190488" y="3300984"/>
            <a:ext cx="2359152" cy="603503"/>
          </a:xfrm>
          <a:prstGeom prst="rect">
            <a:avLst/>
          </a:prstGeom>
          <a:noFill/>
        </p:spPr>
        <p:txBody>
          <a:bodyPr wrap="square" lIns="36576" rIns="36576" tIns="18288" bIns="18288" anchor="t">
            <a:spAutoFit/>
          </a:bodyPr>
          <a:lstStyle/>
          <a:p>
            <a:pPr algn="l">
              <a:spcAft>
                <a:spcPts val="400"/>
              </a:spcAft>
            </a:pPr>
            <a:r>
              <a:rPr lang="de-AT" sz="1200" b="0">
                <a:solidFill>
                  <a:schemeClr val="tx1"/>
                </a:solidFill>
              </a:rPr>
              <a:t>Smartsheet-Vorlagen, Miro-Audit-Board, Baumgarths Markenaudit.</a:t>
            </a:r>
          </a:p>
        </p:txBody>
      </p:sp>
      <p:sp>
        <p:nvSpPr>
          <p:cNvPr id="36" name="Source note"/>
          <p:cNvSpPr txBox="1"/>
          <p:nvPr/>
        </p:nvSpPr>
        <p:spPr>
          <a:xfrm>
            <a:off x="457200" y="4206240"/>
            <a:ext cx="8229600" cy="32004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Übungsdaten: Chapman &amp; Feit Brand Ratings (CSV im Kursordner).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Literatur</a:t>
            </a:r>
          </a:p>
        </p:txBody>
      </p:sp>
      <p:sp>
        <p:nvSpPr>
          <p:cNvPr id="4" name="Footer Placeholder 3"/>
          <p:cNvSpPr>
            <a:spLocks noGrp="1"/>
          </p:cNvSpPr>
          <p:nvPr>
            <p:ph type="ftr" idx="11" sz="quarter"/>
          </p:nvPr>
        </p:nvSpPr>
        <p:spPr/>
        <p:txBody>
          <a:bodyPr/>
          <a:p>
            <a:r>
              <a:rPr lang="de-AT"/>
              <a:t>Markenaudit</a:t>
            </a:r>
          </a:p>
        </p:txBody>
      </p:sp>
      <p:sp>
        <p:nvSpPr>
          <p:cNvPr id="5" name="Slide Number Placeholder 4"/>
          <p:cNvSpPr>
            <a:spLocks noGrp="1"/>
          </p:cNvSpPr>
          <p:nvPr>
            <p:ph type="sldNum" idx="12" sz="quarter"/>
          </p:nvPr>
        </p:nvSpPr>
        <p:spPr/>
        <p:txBody>
          <a:bodyPr/>
          <a:p>
            <a:r>
              <a:rPr lang="de-AT"/>
              <a:t>SEITE </a:t>
            </a:r>
            <a:fld id="{B6F15528-21DE-4FAA-801E-634DDDAF4B2B}" type="slidenum">
              <a:rPr lang="de-AT"/>
              <a:t>‹#›</a:t>
            </a:fld>
          </a:p>
        </p:txBody>
      </p:sp>
      <p:sp>
        <p:nvSpPr>
          <p:cNvPr id="6" name="Pflicht body"/>
          <p:cNvSpPr/>
          <p:nvPr/>
        </p:nvSpPr>
        <p:spPr>
          <a:xfrm>
            <a:off x="457200" y="1280160"/>
            <a:ext cx="4032504"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flich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flich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Pflichtlektüre</a:t>
            </a:r>
          </a:p>
        </p:txBody>
      </p:sp>
      <p:pic>
        <p:nvPicPr>
          <p:cNvPr id="9" name="Icon LuBookOpen" descr=""/>
          <p:cNvPicPr>
            <a:picLocks noChangeAspect="1"/>
          </p:cNvPicPr>
          <p:nvPr/>
        </p:nvPicPr>
        <p:blipFill>
          <a:blip r:embed="rId3"/>
          <a:stretch>
            <a:fillRect/>
          </a:stretch>
        </p:blipFill>
        <p:spPr>
          <a:xfrm>
            <a:off x="4059936" y="1344168"/>
            <a:ext cx="329184" cy="329184"/>
          </a:xfrm>
          <a:prstGeom prst="rect">
            <a:avLst/>
          </a:prstGeom>
        </p:spPr>
      </p:pic>
      <p:sp>
        <p:nvSpPr>
          <p:cNvPr id="10" name="Pflicht text"/>
          <p:cNvSpPr txBox="1"/>
          <p:nvPr/>
        </p:nvSpPr>
        <p:spPr>
          <a:xfrm>
            <a:off x="594360" y="1847088"/>
            <a:ext cx="3758184" cy="226771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de-AT" sz="1200" b="0">
                <a:solidFill>
                  <a:schemeClr val="tx1"/>
                </a:solidFill>
              </a:rPr>
              <a:t>Keller &amp; Swaminathan, Strategic Brand Management, 5. Aufl.: Kapitel zum Brand Audit und Beispiel-Audit.</a:t>
            </a:r>
          </a:p>
          <a:p>
            <a:pPr algn="l" marL="182880" indent="-182880">
              <a:spcAft>
                <a:spcPts val="700"/>
              </a:spcAft>
              <a:buClr>
                <a:schemeClr val="accent1"/>
              </a:buClr>
              <a:buFont typeface="Arial"/>
              <a:buChar char="▪"/>
            </a:pPr>
            <a:r>
              <a:rPr lang="de-AT" sz="1200" b="0">
                <a:solidFill>
                  <a:schemeClr val="tx1"/>
                </a:solidFill>
              </a:rPr>
              <a:t>Keller (1993), Journal of Marketing 57(1).</a:t>
            </a:r>
          </a:p>
          <a:p>
            <a:pPr algn="l" marL="182880" indent="-182880">
              <a:spcAft>
                <a:spcPts val="700"/>
              </a:spcAft>
              <a:buClr>
                <a:schemeClr val="accent1"/>
              </a:buClr>
              <a:buFont typeface="Arial"/>
              <a:buChar char="▪"/>
            </a:pPr>
            <a:r>
              <a:rPr lang="de-AT" sz="1200" b="0">
                <a:solidFill>
                  <a:schemeClr val="tx1"/>
                </a:solidFill>
              </a:rPr>
              <a:t>Romaniuk (2023), Better Brand Health, Oxford University Press.</a:t>
            </a:r>
          </a:p>
          <a:p>
            <a:pPr algn="l" marL="182880" indent="-182880">
              <a:spcAft>
                <a:spcPts val="700"/>
              </a:spcAft>
              <a:buClr>
                <a:schemeClr val="accent1"/>
              </a:buClr>
              <a:buFont typeface="Arial"/>
              <a:buChar char="▪"/>
            </a:pPr>
            <a:r>
              <a:rPr lang="de-AT" sz="1200" b="0">
                <a:solidFill>
                  <a:schemeClr val="tx1"/>
                </a:solidFill>
              </a:rPr>
              <a:t>Baumgarth (2016), Marken-Audit, PraxisWISSEN Marketing (kostenlos).</a:t>
            </a:r>
          </a:p>
        </p:txBody>
      </p:sp>
      <p:sp>
        <p:nvSpPr>
          <p:cNvPr id="11" name="Vertiefung body"/>
          <p:cNvSpPr/>
          <p:nvPr/>
        </p:nvSpPr>
        <p:spPr>
          <a:xfrm>
            <a:off x="4654296" y="1280160"/>
            <a:ext cx="4032504"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ertiefung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rtiefung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a:solidFill>
                  <a:schemeClr val="bg1"/>
                </a:solidFill>
                <a:latin typeface="+mj-lt"/>
              </a:rPr>
              <a:t>Vertiefung</a:t>
            </a:r>
          </a:p>
        </p:txBody>
      </p:sp>
      <p:pic>
        <p:nvPicPr>
          <p:cNvPr id="14" name="Icon LuLibrary" descr=""/>
          <p:cNvPicPr>
            <a:picLocks noChangeAspect="1"/>
          </p:cNvPicPr>
          <p:nvPr/>
        </p:nvPicPr>
        <p:blipFill>
          <a:blip r:embed="rId4"/>
          <a:stretch>
            <a:fillRect/>
          </a:stretch>
        </p:blipFill>
        <p:spPr>
          <a:xfrm>
            <a:off x="8257031" y="1344168"/>
            <a:ext cx="329184" cy="329184"/>
          </a:xfrm>
          <a:prstGeom prst="rect">
            <a:avLst/>
          </a:prstGeom>
        </p:spPr>
      </p:pic>
      <p:sp>
        <p:nvSpPr>
          <p:cNvPr id="15" name="Vertiefung text"/>
          <p:cNvSpPr txBox="1"/>
          <p:nvPr/>
        </p:nvSpPr>
        <p:spPr>
          <a:xfrm>
            <a:off x="4791456" y="1847088"/>
            <a:ext cx="3758184" cy="226771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de-AT" sz="1200" b="0">
                <a:solidFill>
                  <a:schemeClr val="tx1"/>
                </a:solidFill>
              </a:rPr>
              <a:t>Plumeyer et al. (2019), Review of Managerial Science 13(2).</a:t>
            </a:r>
          </a:p>
          <a:p>
            <a:pPr algn="l" marL="182880" indent="-182880">
              <a:spcAft>
                <a:spcPts val="700"/>
              </a:spcAft>
              <a:buClr>
                <a:schemeClr val="accent1"/>
              </a:buClr>
              <a:buFont typeface="Arial"/>
              <a:buChar char="▪"/>
            </a:pPr>
            <a:r>
              <a:rPr lang="de-AT" sz="1200" b="0">
                <a:solidFill>
                  <a:schemeClr val="tx1"/>
                </a:solidFill>
              </a:rPr>
              <a:t>Yoo &amp; Donthu (2001), Journal of Business Research 52(1).</a:t>
            </a:r>
          </a:p>
          <a:p>
            <a:pPr algn="l" marL="182880" indent="-182880">
              <a:spcAft>
                <a:spcPts val="700"/>
              </a:spcAft>
              <a:buClr>
                <a:schemeClr val="accent1"/>
              </a:buClr>
              <a:buFont typeface="Arial"/>
              <a:buChar char="▪"/>
            </a:pPr>
            <a:r>
              <a:rPr lang="de-AT" sz="1200" b="0">
                <a:solidFill>
                  <a:schemeClr val="tx1"/>
                </a:solidFill>
              </a:rPr>
              <a:t>Netzer et al. (2012), Marketing Science 31(3).</a:t>
            </a:r>
          </a:p>
          <a:p>
            <a:pPr algn="l" marL="182880" indent="-182880">
              <a:spcAft>
                <a:spcPts val="700"/>
              </a:spcAft>
              <a:buClr>
                <a:schemeClr val="accent1"/>
              </a:buClr>
              <a:buFont typeface="Arial"/>
              <a:buChar char="▪"/>
            </a:pPr>
            <a:r>
              <a:rPr lang="de-AT" sz="1200" b="0">
                <a:solidFill>
                  <a:schemeClr val="tx1"/>
                </a:solidFill>
              </a:rPr>
              <a:t>Li et al. (2024), Marketing Science 43(2).</a:t>
            </a:r>
          </a:p>
          <a:p>
            <a:pPr algn="l" marL="182880" indent="-182880">
              <a:spcAft>
                <a:spcPts val="700"/>
              </a:spcAft>
              <a:buClr>
                <a:schemeClr val="accent1"/>
              </a:buClr>
              <a:buFont typeface="Arial"/>
              <a:buChar char="▪"/>
            </a:pPr>
            <a:r>
              <a:rPr lang="de-AT" sz="1200" b="0">
                <a:solidFill>
                  <a:schemeClr val="tx1"/>
                </a:solidFill>
              </a:rPr>
              <a:t>Esch &amp; Esch (2024), Strategie und Technik der Markenführung, 10. Aufl.</a:t>
            </a:r>
          </a:p>
        </p:txBody>
      </p:sp>
      <p:sp>
        <p:nvSpPr>
          <p:cNvPr id="16" name="Source note"/>
          <p:cNvSpPr txBox="1"/>
          <p:nvPr/>
        </p:nvSpPr>
        <p:spPr>
          <a:xfrm>
            <a:off x="457200" y="4389120"/>
            <a:ext cx="8229600" cy="320040"/>
          </a:xfrm>
          <a:prstGeom prst="rect">
            <a:avLst/>
          </a:prstGeom>
          <a:noFill/>
        </p:spPr>
        <p:txBody>
          <a:bodyPr wrap="square" lIns="36576" rIns="36576" tIns="18288" bIns="18288" anchor="t">
            <a:spAutoFit/>
          </a:bodyPr>
          <a:lstStyle/>
          <a:p>
            <a:pPr algn="l">
              <a:spcAft>
                <a:spcPts val="0"/>
              </a:spcAft>
            </a:pPr>
            <a:r>
              <a:rPr lang="de-AT" sz="1050" b="0">
                <a:solidFill>
                  <a:srgbClr val="595959"/>
                </a:solidFill>
              </a:rPr>
              <a:t>Vollständige Quellensammlung mit 377 Quellen: Notion-Seite „Brand Audit“ unter Literature Search for Teaching.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de-AT"/>
              <a:t>Markenaudit</a:t>
            </a:r>
          </a:p>
        </p:txBody>
      </p:sp>
      <p:sp>
        <p:nvSpPr>
          <p:cNvPr id="3" name="Slide Number Placeholder 2"/>
          <p:cNvSpPr>
            <a:spLocks noGrp="1"/>
          </p:cNvSpPr>
          <p:nvPr>
            <p:ph type="sldNum" idx="13" sz="quarter"/>
          </p:nvPr>
        </p:nvSpPr>
        <p:spPr/>
        <p:txBody>
          <a:bodyPr/>
          <a:p>
            <a:r>
              <a:rPr lang="de-AT"/>
              <a:t>SEITE </a:t>
            </a:r>
            <a:fld id="{B6F15528-21DE-4FAA-801E-634DDDAF4B2B}" type="slidenum">
              <a:rPr lang="de-AT"/>
              <a:t>‹#›</a:t>
            </a:fld>
          </a:p>
        </p:txBody>
      </p:sp>
      <p:sp>
        <p:nvSpPr>
          <p:cNvPr id="4" name="Next heading"/>
          <p:cNvSpPr txBox="1"/>
          <p:nvPr/>
        </p:nvSpPr>
        <p:spPr>
          <a:xfrm>
            <a:off x="5166360" y="1965960"/>
            <a:ext cx="3520440" cy="365760"/>
          </a:xfrm>
          <a:prstGeom prst="rect">
            <a:avLst/>
          </a:prstGeom>
          <a:noFill/>
        </p:spPr>
        <p:txBody>
          <a:bodyPr wrap="square" lIns="36576" rIns="36576" tIns="18288" bIns="18288" anchor="t">
            <a:spAutoFit/>
          </a:bodyPr>
          <a:lstStyle/>
          <a:p>
            <a:pPr algn="l">
              <a:spcAft>
                <a:spcPts val="0"/>
              </a:spcAft>
            </a:pPr>
            <a:r>
              <a:rPr lang="de-AT" sz="1500" b="1">
                <a:solidFill>
                  <a:schemeClr val="tx2"/>
                </a:solidFill>
                <a:latin typeface="+mj-lt"/>
              </a:rPr>
              <a:t>Nächste Schritte</a:t>
            </a:r>
          </a:p>
        </p:txBody>
      </p:sp>
      <p:sp>
        <p:nvSpPr>
          <p:cNvPr id="5" name="Next 1"/>
          <p:cNvSpPr/>
          <p:nvPr/>
        </p:nvSpPr>
        <p:spPr>
          <a:xfrm>
            <a:off x="5166360" y="2423160"/>
            <a:ext cx="352044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ext 1 Text"/>
          <p:cNvSpPr txBox="1"/>
          <p:nvPr/>
        </p:nvSpPr>
        <p:spPr>
          <a:xfrm>
            <a:off x="5303520" y="2423160"/>
            <a:ext cx="3291840" cy="658368"/>
          </a:xfrm>
          <a:prstGeom prst="rect">
            <a:avLst/>
          </a:prstGeom>
          <a:noFill/>
        </p:spPr>
        <p:txBody>
          <a:bodyPr wrap="square" lIns="36576" rIns="36576" tIns="18288" bIns="18288" anchor="ctr">
            <a:spAutoFit/>
          </a:bodyPr>
          <a:lstStyle/>
          <a:p>
            <a:pPr algn="l">
              <a:spcAft>
                <a:spcPts val="0"/>
              </a:spcAft>
            </a:pPr>
            <a:r>
              <a:rPr lang="de-AT" sz="1200" b="1">
                <a:solidFill>
                  <a:schemeClr val="tx2"/>
                </a:solidFill>
              </a:rPr>
              <a:t>Teams: </a:t>
            </a:r>
            <a:r>
              <a:rPr lang="de-AT" sz="1200" b="0">
                <a:solidFill>
                  <a:schemeClr val="tx1"/>
                </a:solidFill>
              </a:rPr>
              <a:t>Team bilden und eine österreichische Marke für das Projekt wählen.</a:t>
            </a:r>
          </a:p>
        </p:txBody>
      </p:sp>
      <p:sp>
        <p:nvSpPr>
          <p:cNvPr id="7" name="Next 2"/>
          <p:cNvSpPr/>
          <p:nvPr/>
        </p:nvSpPr>
        <p:spPr>
          <a:xfrm>
            <a:off x="5166360" y="3200400"/>
            <a:ext cx="352044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ext 2 Text"/>
          <p:cNvSpPr txBox="1"/>
          <p:nvPr/>
        </p:nvSpPr>
        <p:spPr>
          <a:xfrm>
            <a:off x="5303520" y="3200400"/>
            <a:ext cx="3291840" cy="658368"/>
          </a:xfrm>
          <a:prstGeom prst="rect">
            <a:avLst/>
          </a:prstGeom>
          <a:noFill/>
        </p:spPr>
        <p:txBody>
          <a:bodyPr wrap="square" lIns="36576" rIns="36576" tIns="18288" bIns="18288" anchor="ctr">
            <a:spAutoFit/>
          </a:bodyPr>
          <a:lstStyle/>
          <a:p>
            <a:pPr algn="l">
              <a:spcAft>
                <a:spcPts val="0"/>
              </a:spcAft>
            </a:pPr>
            <a:r>
              <a:rPr lang="de-AT" sz="1200" b="1">
                <a:solidFill>
                  <a:schemeClr val="tx2"/>
                </a:solidFill>
              </a:rPr>
              <a:t>Lektüre: </a:t>
            </a:r>
            <a:r>
              <a:rPr lang="de-AT" sz="1200" b="0">
                <a:solidFill>
                  <a:schemeClr val="tx1"/>
                </a:solidFill>
              </a:rPr>
              <a:t>Kellers Kapitel zum Brand Audit und Romaniuk, Better Brand Health.</a:t>
            </a:r>
          </a:p>
        </p:txBody>
      </p:sp>
      <p:sp>
        <p:nvSpPr>
          <p:cNvPr id="9" name="Fragen"/>
          <p:cNvSpPr/>
          <p:nvPr/>
        </p:nvSpPr>
        <p:spPr>
          <a:xfrm>
            <a:off x="5166360" y="3977639"/>
            <a:ext cx="3520440" cy="6583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agen Text"/>
          <p:cNvSpPr txBox="1"/>
          <p:nvPr/>
        </p:nvSpPr>
        <p:spPr>
          <a:xfrm>
            <a:off x="5303520" y="3977639"/>
            <a:ext cx="3291840" cy="658368"/>
          </a:xfrm>
          <a:prstGeom prst="rect">
            <a:avLst/>
          </a:prstGeom>
          <a:noFill/>
        </p:spPr>
        <p:txBody>
          <a:bodyPr wrap="square" lIns="36576" rIns="36576" tIns="18288" bIns="18288" anchor="ctr">
            <a:spAutoFit/>
          </a:bodyPr>
          <a:lstStyle/>
          <a:p>
            <a:pPr algn="l">
              <a:spcAft>
                <a:spcPts val="0"/>
              </a:spcAft>
            </a:pPr>
            <a:r>
              <a:rPr lang="de-AT" sz="1200" b="1">
                <a:solidFill>
                  <a:schemeClr val="bg1"/>
                </a:solidFill>
              </a:rPr>
              <a:t>Fragen? </a:t>
            </a:r>
            <a:r>
              <a:rPr lang="de-AT" sz="1200" b="0">
                <a:solidFill>
                  <a:schemeClr val="bg1"/>
                </a:solidFill>
              </a:rPr>
              <a:t>Termin in der Sprechstunde buchen.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