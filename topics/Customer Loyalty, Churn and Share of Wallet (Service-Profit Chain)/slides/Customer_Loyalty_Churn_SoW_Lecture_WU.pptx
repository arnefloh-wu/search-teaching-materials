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en-GB">
                <a:solidFill>
                  <a:schemeClr val="tx2"/>
                </a:solidFill>
              </a:rPr>
              <a:t>Correlation: satisfaction and firm performance</a:t>
            </a:r>
          </a:p>
        </c:rich>
      </c:tx>
      <c:layout/>
      <c:overlay val="0"/>
    </c:title>
    <c:autoTitleDeleted val="0"/>
    <c:plotArea>
      <c:barChart>
        <c:barDir val="col"/>
        <c:grouping val="clustered"/>
        <c:ser>
          <c:idx val="0"/>
          <c:order val="0"/>
          <c:tx>
            <c:strRef>
              <c:f>Sheet1!$B$1</c:f>
              <c:strCache>
                <c:ptCount val="1"/>
                <c:pt idx="0">
                  <c:v>Correlation: satisfaction and firm performance</c:v>
                </c:pt>
              </c:strCache>
            </c:strRef>
          </c:tx>
          <c:spPr>
            <a:solidFill>
              <a:schemeClr val="accent1"/>
            </a:solidFill>
          </c:spPr>
          <c:dPt>
            <c:idx val="1"/>
            <c:spPr>
              <a:solidFill>
                <a:schemeClr val="tx2"/>
              </a:solidFill>
            </c:spPr>
          </c:dPt>
          <c:cat>
            <c:strRef>
              <c:f>Sheet1!$A$2:$A$3</c:f>
              <c:strCache>
                <c:ptCount val="2"/>
                <c:pt idx="0">
                  <c:v>Average</c:v>
                </c:pt>
                <c:pt idx="1">
                  <c:v>Best conditions</c:v>
                </c:pt>
              </c:strCache>
            </c:strRef>
          </c:cat>
          <c:val>
            <c:numRef>
              <c:f>Sheet1!$B$2:$B$3</c:f>
              <c:numCache>
                <c:formatCode>General</c:formatCode>
                <c:ptCount val="2"/>
                <c:pt idx="0">
                  <c:v>0.101</c:v>
                </c:pt>
                <c:pt idx="1">
                  <c:v>0.349</c:v>
                </c:pt>
              </c:numCache>
            </c:numRef>
          </c:val>
        </c:ser>
        <c:dLbls>
          <c:numFmt formatCode="0.00"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0.4"/>
          <c:min val="0.0"/>
        </c:scaling>
        <c:delete val="0"/>
        <c:axPos val="l"/>
        <c:majorGridlines>
          <c:spPr>
            <a:ln>
              <a:solidFill>
                <a:srgbClr val="D9D9D9"/>
              </a:solidFill>
            </a:ln>
          </c:spPr>
        </c:majorGridlines>
        <c:numFmt formatCode="0.00"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en-GB">
                <a:solidFill>
                  <a:schemeClr val="tx2"/>
                </a:solidFill>
              </a:rPr>
              <a:t>Gain in firm value</a:t>
            </a:r>
          </a:p>
        </c:rich>
      </c:tx>
      <c:layout/>
      <c:overlay val="0"/>
    </c:title>
    <c:autoTitleDeleted val="0"/>
    <c:plotArea>
      <c:barChart>
        <c:barDir val="bar"/>
        <c:grouping val="clustered"/>
        <c:ser>
          <c:idx val="0"/>
          <c:order val="0"/>
          <c:tx>
            <c:strRef>
              <c:f>Sheet1!$B$1</c:f>
              <c:strCache>
                <c:ptCount val="1"/>
                <c:pt idx="0">
                  <c:v>Gain in firm value</c:v>
                </c:pt>
              </c:strCache>
            </c:strRef>
          </c:tx>
          <c:spPr>
            <a:solidFill>
              <a:schemeClr val="accent1"/>
            </a:solidFill>
          </c:spPr>
          <c:dPt>
            <c:idx val="0"/>
            <c:spPr>
              <a:solidFill>
                <a:schemeClr val="tx2"/>
              </a:solidFill>
            </c:spPr>
          </c:dPt>
          <c:cat>
            <c:strRef>
              <c:f>Sheet1!$A$2:$A$4</c:f>
              <c:strCache>
                <c:ptCount val="3"/>
                <c:pt idx="0">
                  <c:v>Retention rate</c:v>
                </c:pt>
                <c:pt idx="1">
                  <c:v>Margin</c:v>
                </c:pt>
                <c:pt idx="2">
                  <c:v>Acquisition cost</c:v>
                </c:pt>
              </c:strCache>
            </c:strRef>
          </c:cat>
          <c:val>
            <c:numRef>
              <c:f>Sheet1!$B$2:$B$4</c:f>
              <c:numCache>
                <c:formatCode>General</c:formatCode>
                <c:ptCount val="3"/>
                <c:pt idx="0">
                  <c:v>5.0</c:v>
                </c:pt>
                <c:pt idx="1">
                  <c:v>1.0</c:v>
                </c:pt>
                <c:pt idx="2">
                  <c:v>0.1</c:v>
                </c:pt>
              </c:numCache>
            </c:numRef>
          </c:val>
        </c:ser>
        <c:dLbls>
          <c:numFmt formatCode="0.0&quot;%&quot;"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6.0"/>
          <c:min val="0.0"/>
        </c:scaling>
        <c:delete val="0"/>
        <c:axPos val="b"/>
        <c:majorGridlines>
          <c:spPr>
            <a:ln>
              <a:solidFill>
                <a:srgbClr val="D9D9D9"/>
              </a:solidFill>
            </a:ln>
          </c:spPr>
        </c:majorGridlines>
        <c:numFmt formatCode="0.0&quot;%&quot;"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en-GB">
                <a:solidFill>
                  <a:schemeClr val="tx2"/>
                </a:solidFill>
              </a:rPr>
              <a:t>Firm value elasticity</a:t>
            </a:r>
          </a:p>
        </c:rich>
      </c:tx>
      <c:layout/>
      <c:overlay val="0"/>
    </c:title>
    <c:autoTitleDeleted val="0"/>
    <c:plotArea>
      <c:barChart>
        <c:barDir val="col"/>
        <c:grouping val="clustered"/>
        <c:ser>
          <c:idx val="0"/>
          <c:order val="0"/>
          <c:tx>
            <c:strRef>
              <c:f>Sheet1!$B$1</c:f>
              <c:strCache>
                <c:ptCount val="1"/>
                <c:pt idx="0">
                  <c:v>Firm value elasticity</c:v>
                </c:pt>
              </c:strCache>
            </c:strRef>
          </c:tx>
          <c:spPr>
            <a:solidFill>
              <a:schemeClr val="accent1"/>
            </a:solidFill>
          </c:spPr>
          <c:dPt>
            <c:idx val="2"/>
            <c:spPr>
              <a:solidFill>
                <a:schemeClr val="tx2"/>
              </a:solidFill>
            </c:spPr>
          </c:dPt>
          <c:cat>
            <c:strRef>
              <c:f>Sheet1!$A$2:$A$4</c:f>
              <c:strCache>
                <c:ptCount val="3"/>
                <c:pt idx="0">
                  <c:v>Advertising</c:v>
                </c:pt>
                <c:pt idx="1">
                  <c:v>Brand assets</c:v>
                </c:pt>
                <c:pt idx="2">
                  <c:v>Customer assets</c:v>
                </c:pt>
              </c:strCache>
            </c:strRef>
          </c:cat>
          <c:val>
            <c:numRef>
              <c:f>Sheet1!$B$2:$B$4</c:f>
              <c:numCache>
                <c:formatCode>General</c:formatCode>
                <c:ptCount val="3"/>
                <c:pt idx="0">
                  <c:v>0.04</c:v>
                </c:pt>
                <c:pt idx="1">
                  <c:v>0.33</c:v>
                </c:pt>
                <c:pt idx="2">
                  <c:v>0.72</c:v>
                </c:pt>
              </c:numCache>
            </c:numRef>
          </c:val>
        </c:ser>
        <c:dLbls>
          <c:numFmt formatCode="0.00"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0.8"/>
          <c:min val="0.0"/>
        </c:scaling>
        <c:delete val="0"/>
        <c:axPos val="l"/>
        <c:majorGridlines>
          <c:spPr>
            <a:ln>
              <a:solidFill>
                <a:srgbClr val="D9D9D9"/>
              </a:solidFill>
            </a:ln>
          </c:spPr>
        </c:majorGridlines>
        <c:numFmt formatCode="0.00"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en-GB">
                <a:solidFill>
                  <a:schemeClr val="tx2"/>
                </a:solidFill>
              </a:rPr>
              <a:t>Variance in share of deposits explained</a:t>
            </a:r>
          </a:p>
        </c:rich>
      </c:tx>
      <c:layout/>
      <c:overlay val="0"/>
    </c:title>
    <c:autoTitleDeleted val="0"/>
    <c:plotArea>
      <c:barChart>
        <c:barDir val="col"/>
        <c:grouping val="clustered"/>
        <c:ser>
          <c:idx val="0"/>
          <c:order val="0"/>
          <c:tx>
            <c:strRef>
              <c:f>Sheet1!$B$1</c:f>
              <c:strCache>
                <c:ptCount val="1"/>
                <c:pt idx="0">
                  <c:v>Variance in share of deposits explained</c:v>
                </c:pt>
              </c:strCache>
            </c:strRef>
          </c:tx>
          <c:spPr>
            <a:solidFill>
              <a:schemeClr val="accent1"/>
            </a:solidFill>
          </c:spPr>
          <c:dPt>
            <c:idx val="1"/>
            <c:spPr>
              <a:solidFill>
                <a:schemeClr val="tx2"/>
              </a:solidFill>
            </c:spPr>
          </c:dPt>
          <c:cat>
            <c:strRef>
              <c:f>Sheet1!$A$2:$A$3</c:f>
              <c:strCache>
                <c:ptCount val="2"/>
                <c:pt idx="0">
                  <c:v>Absolute satisfaction</c:v>
                </c:pt>
                <c:pt idx="1">
                  <c:v>Rank (WAR)</c:v>
                </c:pt>
              </c:strCache>
            </c:strRef>
          </c:cat>
          <c:val>
            <c:numRef>
              <c:f>Sheet1!$B$2:$B$3</c:f>
              <c:numCache>
                <c:formatCode>General</c:formatCode>
                <c:ptCount val="2"/>
                <c:pt idx="0">
                  <c:v>9</c:v>
                </c:pt>
                <c:pt idx="1">
                  <c:v>55</c:v>
                </c:pt>
              </c:numCache>
            </c:numRef>
          </c:val>
        </c:ser>
        <c:dLbls>
          <c:numFmt formatCode="0&quot;%&quot;"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60.0"/>
          <c:min val="0.0"/>
        </c:scaling>
        <c:delete val="0"/>
        <c:axPos val="l"/>
        <c:majorGridlines>
          <c:spPr>
            <a:ln>
              <a:solidFill>
                <a:srgbClr val="D9D9D9"/>
              </a:solidFill>
            </a:ln>
          </c:spPr>
        </c:majorGridlines>
        <c:numFmt formatCode="0&quot;%&quot;" sourceLinked="0"/>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minutes in six parts: concepts and metrics, the service-profit chain, frameworks that link customers to firm value, churn, share of wallet, and critiques with a hands-on part. Core reading: Heskett et al. (1994) HBR; Gupta &amp; Zeithaml (2006) Marketing Science; Hogreve et al. (2017) Journal of Marketing; Keiningham et al. (2015) Journal of Service Management. All sources with access notes are on the Notion page and in the GitHub folder for this topic.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 which column do you believe? Practice largely follows the left column (loyalty programmes, NPS targets, retention teams). The right column collects the main empirical challenges. Part 6 returns to the tension. The 5%/25% figure is Reichheld's for financial services (Bain brief 2001); the often quoted '25 to 95%' is not in that source.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objectives map onto the six parts. The lab in Part 6 tests objectives 1 and 4 with data; the debate tests objective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about 15 minutes: definitions and measurement of loyalty, churn and share of wallet.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Loyalty typology: Dick &amp; Basu (1994, JAMS): true, latent, spurious, no loyalty. Oliver (1999): cognitive, affective, conative, action loyalty. Churn: Fader &amp; Hardie distinguish contractual vs non-contractual settings, which decides the model (sBG vs BG/NBD or Pareto/NBD). Share of wallet: Du, Kamakura &amp; Mela (2007) show internal spend says little about the size of a customer's total wallet.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Hardie note 049: 'average lifetime is not 1/churn' once customers differ. Fader &amp; Hardie (2010, Marketing Science) show that ignoring heterogeneity understates the value of a customer base. The simple CLV formula m·r/(1+d−r) assumes an infinite horizon, constant margin and constant retention (Gupta &amp; Lehmann 2005). NPS critique: Keiningham et al. (2007); van Doorn et al. (2013).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about 20 minutes: the chain, its evidence and the satisfaction-profit chain.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Heskett et al. (1994) build the chain from cases (Southwest, Taco Bell, Banc One). The 1997 book adds the 'satisfaction mirror': employee and customer satisfaction reinforce each other. German counterpart: the Erfolgskette in Meffert, Bruhn &amp; Hadwich (2018) Dienstleistungsmarketing.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Hogreve et al. (2017) also find that internal service quality works through more than employee satisfaction, so 'maximise employee satisfaction' is not a universal rule. Brown &amp; Lam (2008, Journal of Retailing) meta-analysis: employee satisfaction relates to customer satisfaction, fully mediated by perceived service quality. Hogreve, Iseke &amp; Derfuss (2022, JSR) revise the chain for digital and AI-based service. Check the Sears numbers against the original HBR article before quoting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Otto et al. (2020): average r = .101; r = .349 under the most favourable contingencies (right setting and measures). Mittal et al. (2023): 535 correlations, N about 1.16 million, positive links at customer and firm level. Mittal &amp; Kamakura (2001): in one segment satisfaction and repurchase are uncorrelated. Guenther &amp; Guenther (2021): at high levels, costs of further satisfaction gains can exceed the benefits.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about 20 minutes: frameworks beyond the service-profit chain, and the capital-market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frameworks are complements, not rivals. Return on quality (1995) makes service spending accountable. Customer equity turns retention and acquisition into firm value. Srivastava et al. (1998) explain why: customer relationships are market-based assets that affect the level, timing and risk of cash flows. Rust et al. (2004) give the 'chain of marketing productivity' that frames the whole course. Palmatier et al. (2006): relationship quality affects objective performance most, commitment least.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Gupta, Lehmann &amp; Stuart (2004) value Amazon, Ameritrade, eBay and others as the sum of customer lifetime values. A 1% gain in retention raises firm value by about 5%, against about 1% for margin and 0.1% for acquisition cost. Schulze, Skiera &amp; Wiesel (2012): a 10% rise in customer equity goes with about 15.5% higher shareholder value. McCarthy, Fader &amp; Hardie (2017) build customer-based corporate valuation for subscription firms from disclosed churn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Edeling &amp; Fischer (2016): mean firm-value elasticity .04 for advertising, .54 for marketing assets; customer-related assets .72 vs brand-related assets .33. Debate pair: Fornell, Mithas, Morgeson &amp; Krishnan (2006) 'High returns, low risk' and Fornell, Morgeson &amp; Hult (2016) versus Jacobson &amp; Mizik (2009) and Sorescu &amp; Sorescu (2016). Malshe, Colicev &amp; Mittal (2020): dissatisfaction weighs about 2.4 times more than satisfaction on abnormal returns.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about 15 minutes: churn arithmetic, prediction and why targeting by risk can fail.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with margin 100 per year and 10% discount rate: r = .7 gives 100 × .7 / .4 = 175; r = .8 gives 80 / .3 = 267; r = .9 gives 90 / .2 = 450. Ask students to compute r = .95 (950). Then discuss the assumptions: constant retention ignores heterogeneity (Fader &amp; Hardie 2007, sBG model), so cohort retention rates rise over 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Ascarza (2018, 'Retention futility', field experiments at a mobile operator and a membership organisation): targeting by predicted treatment effect beats targeting by churn risk. Ascarza, Iyengar &amp; Schleicher (2016): recommending cheaper plans raised churn from 6% to 10% by waking up inert customers. Counterpoint: Gattermann-Itschert &amp; Thonemann (2022) find risk targeting works in a B2B field study. Classroom exercise: HBS 'Managing Customer Retention at Teleko' (Ascarza, free online tool).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about 15 minutes: satisfaction and share of wallet, the Wallet Allocation Rule, loyalty programmes.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Cooil et al. (2007): 4,319 Canadian bank households over five years; changes in satisfaction relate positively but weakly to changes in share of wallet. Keiningham et al. (2015): 79,543 consumers, 650+ brands, 20 industries; ranked satisfaction links far more strongly to share of wallet. Coyles &amp; Gokey (2005, McKinsey): 1,200 households, 16 industries.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Keiningham, Aksoy, Buoye &amp; Cooil (2011, HBR) and the book The Wallet Allocation Rule (Wiley 2015). n = number of brands the customer uses. With three brands: rank 1 = (1 − 1/4) × 2/3 = 50%, rank 2 = 33%, rank 3 = 17%. Takes about 10 minutes with an online poll. Debate link: Buoye et al. (2016) reconcile WAR with Double Jeopardy.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Belli et al. (2022, JAMS) meta-analysis of 429 effects: programmes raise behavioural loyalty, attitudinal loyalty barely moves. Liu (2007, JM): light and moderate buyers change, heavy buyers only redeem. Ask: do Starbucks members spend more because of the programme, or did heavy buyers join? jö figures are self-reported (press, 2025); Billa '-25%' stickers became member-only in July 2025.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about 15 minutes: loyalty versus profitability, boundary conditions, lab and cases.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Reinartz &amp; Kumar (2002), 16,000 customers in four firms: no support that loyal customers cost less, pay more or recommend more. Shah et al. (2012, JM): 10 to 35% of cross-buyers are unprofitable and cause 39 to 88% of the losses from customers. Ask students to place their own phone, bank and supermarket relationships in the grid from the firm's point of view.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Debate motion (10 minutes): 'Firms should spend their loyalty budget on acquisition instead.' Half the room argues Heskett/Reichheld, half Sharp/Reinartz. Gao et al. (2022): lock-in reduces churn mainly when experience scores are below 5 of 10 and stops mattering above 7. ACSI (Q1 2026) warns of 'pent-up defection': dissatisfied customers who stay for lack of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Telco is the standard churn teaching set (tenure and churn flag allow survival analysis). CDNOW ships with CLVTools, BTYD and PyMC-Marketing. The Python package lifetimes is no longer maintained; use PyMC-Marketing. BTYDplus is by Michael Platzer and Thomas Reutterer (WU): Pareto/GGG and MBG/CNBD-k models that use purchase regularity.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Pilgrim Bank (Frei &amp; Campbell, HBS 2001) comes with data for about 30,000 customers; (B) adds a second year for a retention model. Teleko (Ascarza, HBS 2022) is a two-page exercise with a free online tool. Harrah's (Lal, HBS 2001) and Loveman's 'Diamonds in the Data Mine' (HBR 2003). Starbucks (Moon &amp; Quelch, HBS) asks whether a USD 40m service investment pays off.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381 further sources with access notes: Notion page and GitHub folder 'Customer Loyalty, Churn and Share of Wallet (Service-Profit Chain)' (github.com/arnefloh-wu/search-teaching-materials). Most journal articles are paywalled; check WU access. Free: Wirtz (2017) Managing Customer Relationships and Building Loyalty (78-page PDF on jochenwirtz.com), Hardie's notes (brucehardie.com/notes), Aksoy et al. (2009) NIM Marketing Intelligence Review.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slide 2: which claims in the left column survived the evidence, and which need conditions?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image" Target="../media/image1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9.png"/><Relationship Id="rId7" Type="http://schemas.openxmlformats.org/officeDocument/2006/relationships/image" Target="../media/image23.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image" Target="../media/image2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Loyalty, Churn and Share of Wallet</a:t>
            </a:r>
          </a:p>
        </p:txBody>
      </p:sp>
      <p:sp>
        <p:nvSpPr>
          <p:cNvPr id="3" name="Subtitle 2"/>
          <p:cNvSpPr>
            <a:spLocks noGrp="1"/>
          </p:cNvSpPr>
          <p:nvPr>
            <p:ph type="subTitle" idx="1"/>
          </p:nvPr>
        </p:nvSpPr>
        <p:spPr/>
        <p:txBody>
          <a:bodyPr/>
          <a:lstStyle/>
          <a:p>
            <a:r>
              <a:t>Customer metrics and firm performance</a:t>
            </a:r>
          </a:p>
        </p:txBody>
      </p:sp>
      <p:sp>
        <p:nvSpPr>
          <p:cNvPr id="4" name="Text Placeholder 3"/>
          <p:cNvSpPr>
            <a:spLocks noGrp="1"/>
          </p:cNvSpPr>
          <p:nvPr>
            <p:ph type="body" idx="12" sz="quarter"/>
          </p:nvPr>
        </p:nvSpPr>
        <p:spPr/>
        <p:txBody>
          <a:bodyPr/>
          <a:lstStyle/>
          <a:p>
            <a: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Does customer loyalty pay? Two answers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Loyalty pays body"/>
          <p:cNvSpPr/>
          <p:nvPr/>
        </p:nvSpPr>
        <p:spPr>
          <a:xfrm>
            <a:off x="457200" y="1280160"/>
            <a:ext cx="4032504"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yalty pays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yalty pays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Loyalty pays</a:t>
            </a:r>
          </a:p>
        </p:txBody>
      </p:sp>
      <p:pic>
        <p:nvPicPr>
          <p:cNvPr id="9" name="Icon LuHeartHandshake" descr="LuHeartHandshake-white.png"/>
          <p:cNvPicPr>
            <a:picLocks noChangeAspect="1"/>
          </p:cNvPicPr>
          <p:nvPr/>
        </p:nvPicPr>
        <p:blipFill>
          <a:blip r:embed="rId2"/>
          <a:stretch>
            <a:fillRect/>
          </a:stretch>
        </p:blipFill>
        <p:spPr>
          <a:xfrm>
            <a:off x="4059936" y="1344168"/>
            <a:ext cx="329184" cy="329184"/>
          </a:xfrm>
          <a:prstGeom prst="rect">
            <a:avLst/>
          </a:prstGeom>
        </p:spPr>
      </p:pic>
      <p:sp>
        <p:nvSpPr>
          <p:cNvPr id="10" name="Loyalty pays text"/>
          <p:cNvSpPr txBox="1"/>
          <p:nvPr/>
        </p:nvSpPr>
        <p:spPr>
          <a:xfrm>
            <a:off x="594360" y="1847088"/>
            <a:ext cx="3758184" cy="1993391"/>
          </a:xfrm>
          <a:prstGeom prst="rect">
            <a:avLst/>
          </a:prstGeom>
          <a:noFill/>
        </p:spPr>
        <p:txBody>
          <a:bodyPr wrap="square" lIns="36576" rIns="36576" tIns="18288" bIns="18288" anchor="t">
            <a:spAutoFit/>
          </a:bodyPr>
          <a:lstStyle/>
          <a:p>
            <a:pPr algn="l">
              <a:spcAft>
                <a:spcPts val="700"/>
              </a:spcAft>
            </a:pPr>
            <a:r>
              <a:rPr lang="en-GB" sz="1400" b="1" i="0">
                <a:solidFill>
                  <a:schemeClr val="tx1"/>
                </a:solidFill>
              </a:rPr>
              <a:t>Service-profit chain: </a:t>
            </a:r>
            <a:r>
              <a:rPr lang="en-GB" sz="1400" b="0" i="0">
                <a:solidFill>
                  <a:schemeClr val="tx1"/>
                </a:solidFill>
              </a:rPr>
              <a:t>satisfied employees and customers drive profit</a:t>
            </a:r>
          </a:p>
          <a:p>
            <a:pPr algn="l">
              <a:spcAft>
                <a:spcPts val="700"/>
              </a:spcAft>
            </a:pPr>
            <a:r>
              <a:rPr lang="en-GB" sz="1400" b="1" i="0">
                <a:solidFill>
                  <a:schemeClr val="tx1"/>
                </a:solidFill>
              </a:rPr>
              <a:t>Retention economics: </a:t>
            </a:r>
            <a:r>
              <a:rPr lang="en-GB" sz="1400" b="0" i="0">
                <a:solidFill>
                  <a:schemeClr val="tx1"/>
                </a:solidFill>
              </a:rPr>
              <a:t>5% fewer defections, 25% or more profit</a:t>
            </a:r>
          </a:p>
          <a:p>
            <a:pPr algn="l">
              <a:spcAft>
                <a:spcPts val="700"/>
              </a:spcAft>
            </a:pPr>
            <a:r>
              <a:rPr lang="en-GB" sz="1400" b="1" i="0">
                <a:solidFill>
                  <a:schemeClr val="tx1"/>
                </a:solidFill>
              </a:rPr>
              <a:t>Customer equity: </a:t>
            </a:r>
            <a:r>
              <a:rPr lang="en-GB" sz="1400" b="0" i="0">
                <a:solidFill>
                  <a:schemeClr val="tx1"/>
                </a:solidFill>
              </a:rPr>
              <a:t>retention is the strongest lever on firm value</a:t>
            </a:r>
          </a:p>
        </p:txBody>
      </p:sp>
      <p:sp>
        <p:nvSpPr>
          <p:cNvPr id="11" name="Loyalty is not enough body"/>
          <p:cNvSpPr/>
          <p:nvPr/>
        </p:nvSpPr>
        <p:spPr>
          <a:xfrm>
            <a:off x="4654296" y="1280160"/>
            <a:ext cx="4032504"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yalty is not enough band"/>
          <p:cNvSpPr/>
          <p:nvPr/>
        </p:nvSpPr>
        <p:spPr>
          <a:xfrm>
            <a:off x="4654296" y="1280160"/>
            <a:ext cx="4032504" cy="4572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oyalty is not enough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Loyalty is not enough</a:t>
            </a:r>
          </a:p>
        </p:txBody>
      </p:sp>
      <p:pic>
        <p:nvPicPr>
          <p:cNvPr id="14" name="Icon LuScale" descr="LuScale-white.png"/>
          <p:cNvPicPr>
            <a:picLocks noChangeAspect="1"/>
          </p:cNvPicPr>
          <p:nvPr/>
        </p:nvPicPr>
        <p:blipFill>
          <a:blip r:embed="rId3"/>
          <a:stretch>
            <a:fillRect/>
          </a:stretch>
        </p:blipFill>
        <p:spPr>
          <a:xfrm>
            <a:off x="8257031" y="1344168"/>
            <a:ext cx="329184" cy="329184"/>
          </a:xfrm>
          <a:prstGeom prst="rect">
            <a:avLst/>
          </a:prstGeom>
        </p:spPr>
      </p:pic>
      <p:sp>
        <p:nvSpPr>
          <p:cNvPr id="15" name="Loyalty is not enough text"/>
          <p:cNvSpPr txBox="1"/>
          <p:nvPr/>
        </p:nvSpPr>
        <p:spPr>
          <a:xfrm>
            <a:off x="4791456" y="1847088"/>
            <a:ext cx="3758184" cy="1993391"/>
          </a:xfrm>
          <a:prstGeom prst="rect">
            <a:avLst/>
          </a:prstGeom>
          <a:noFill/>
        </p:spPr>
        <p:txBody>
          <a:bodyPr wrap="square" lIns="36576" rIns="36576" tIns="18288" bIns="18288" anchor="t">
            <a:spAutoFit/>
          </a:bodyPr>
          <a:lstStyle/>
          <a:p>
            <a:pPr algn="l">
              <a:spcAft>
                <a:spcPts val="700"/>
              </a:spcAft>
            </a:pPr>
            <a:r>
              <a:rPr lang="en-GB" sz="1400" b="1" i="0">
                <a:solidFill>
                  <a:schemeClr val="tx1"/>
                </a:solidFill>
              </a:rPr>
              <a:t>Reinartz &amp; Kumar: </a:t>
            </a:r>
            <a:r>
              <a:rPr lang="en-GB" sz="1400" b="0" i="0">
                <a:solidFill>
                  <a:schemeClr val="tx1"/>
                </a:solidFill>
              </a:rPr>
              <a:t>loyal customers are not always profitable</a:t>
            </a:r>
          </a:p>
          <a:p>
            <a:pPr algn="l">
              <a:spcAft>
                <a:spcPts val="700"/>
              </a:spcAft>
            </a:pPr>
            <a:r>
              <a:rPr lang="en-GB" sz="1400" b="1" i="0">
                <a:solidFill>
                  <a:schemeClr val="tx1"/>
                </a:solidFill>
              </a:rPr>
              <a:t>Keiningham: </a:t>
            </a:r>
            <a:r>
              <a:rPr lang="en-GB" sz="1400" b="0" i="0">
                <a:solidFill>
                  <a:schemeClr val="tx1"/>
                </a:solidFill>
              </a:rPr>
              <a:t>satisfaction barely moves share of wallet</a:t>
            </a:r>
          </a:p>
          <a:p>
            <a:pPr algn="l">
              <a:spcAft>
                <a:spcPts val="700"/>
              </a:spcAft>
            </a:pPr>
            <a:r>
              <a:rPr lang="en-GB" sz="1400" b="1" i="0">
                <a:solidFill>
                  <a:schemeClr val="tx1"/>
                </a:solidFill>
              </a:rPr>
              <a:t>Ehrenberg-Bass: </a:t>
            </a:r>
            <a:r>
              <a:rPr lang="en-GB" sz="1400" b="0" i="0">
                <a:solidFill>
                  <a:schemeClr val="tx1"/>
                </a:solidFill>
              </a:rPr>
              <a:t>growth comes from more buyers, not more loyalty</a:t>
            </a:r>
          </a:p>
        </p:txBody>
      </p:sp>
      <p:sp>
        <p:nvSpPr>
          <p:cNvPr id="16" name="Central question"/>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entral question text"/>
          <p:cNvSpPr txBox="1"/>
          <p:nvPr/>
        </p:nvSpPr>
        <p:spPr>
          <a:xfrm>
            <a:off x="640080" y="4114800"/>
            <a:ext cx="7863840" cy="50292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Today: follow the chain from customers to firm value, and test each link against the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Learning objectives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Objective row 1"/>
          <p:cNvSpPr/>
          <p:nvPr/>
        </p:nvSpPr>
        <p:spPr>
          <a:xfrm>
            <a:off x="457200" y="123444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con LuGauge" descr="LuGauge-navy.png"/>
          <p:cNvPicPr>
            <a:picLocks noChangeAspect="1"/>
          </p:cNvPicPr>
          <p:nvPr/>
        </p:nvPicPr>
        <p:blipFill>
          <a:blip r:embed="rId2"/>
          <a:stretch>
            <a:fillRect/>
          </a:stretch>
        </p:blipFill>
        <p:spPr>
          <a:xfrm>
            <a:off x="658368" y="1362456"/>
            <a:ext cx="365760" cy="365760"/>
          </a:xfrm>
          <a:prstGeom prst="rect">
            <a:avLst/>
          </a:prstGeom>
        </p:spPr>
      </p:pic>
      <p:sp>
        <p:nvSpPr>
          <p:cNvPr id="8" name="Objective text 1"/>
          <p:cNvSpPr txBox="1"/>
          <p:nvPr/>
        </p:nvSpPr>
        <p:spPr>
          <a:xfrm>
            <a:off x="1234440" y="123444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Define </a:t>
            </a:r>
            <a:r>
              <a:rPr lang="en-GB" sz="1400" b="0" i="0">
                <a:solidFill>
                  <a:schemeClr val="tx1"/>
                </a:solidFill>
              </a:rPr>
              <a:t>loyalty, churn and share of wallet, and measure each correctly</a:t>
            </a:r>
          </a:p>
        </p:txBody>
      </p:sp>
      <p:sp>
        <p:nvSpPr>
          <p:cNvPr id="9" name="Objective row 2"/>
          <p:cNvSpPr/>
          <p:nvPr/>
        </p:nvSpPr>
        <p:spPr>
          <a:xfrm>
            <a:off x="457200" y="196596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LuLink" descr="LuLink-navy.png"/>
          <p:cNvPicPr>
            <a:picLocks noChangeAspect="1"/>
          </p:cNvPicPr>
          <p:nvPr/>
        </p:nvPicPr>
        <p:blipFill>
          <a:blip r:embed="rId3"/>
          <a:stretch>
            <a:fillRect/>
          </a:stretch>
        </p:blipFill>
        <p:spPr>
          <a:xfrm>
            <a:off x="658368" y="2093976"/>
            <a:ext cx="365760" cy="365760"/>
          </a:xfrm>
          <a:prstGeom prst="rect">
            <a:avLst/>
          </a:prstGeom>
        </p:spPr>
      </p:pic>
      <p:sp>
        <p:nvSpPr>
          <p:cNvPr id="11" name="Objective text 2"/>
          <p:cNvSpPr txBox="1"/>
          <p:nvPr/>
        </p:nvSpPr>
        <p:spPr>
          <a:xfrm>
            <a:off x="1234440" y="196596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Explain </a:t>
            </a:r>
            <a:r>
              <a:rPr lang="en-GB" sz="1400" b="0" i="0">
                <a:solidFill>
                  <a:schemeClr val="tx1"/>
                </a:solidFill>
              </a:rPr>
              <a:t>the service-profit chain and the satisfaction-profit chain</a:t>
            </a:r>
          </a:p>
        </p:txBody>
      </p:sp>
      <p:sp>
        <p:nvSpPr>
          <p:cNvPr id="12" name="Objective row 3"/>
          <p:cNvSpPr/>
          <p:nvPr/>
        </p:nvSpPr>
        <p:spPr>
          <a:xfrm>
            <a:off x="457200" y="269748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Coins" descr="LuCoins-navy.png"/>
          <p:cNvPicPr>
            <a:picLocks noChangeAspect="1"/>
          </p:cNvPicPr>
          <p:nvPr/>
        </p:nvPicPr>
        <p:blipFill>
          <a:blip r:embed="rId4"/>
          <a:stretch>
            <a:fillRect/>
          </a:stretch>
        </p:blipFill>
        <p:spPr>
          <a:xfrm>
            <a:off x="658368" y="2825496"/>
            <a:ext cx="365760" cy="365760"/>
          </a:xfrm>
          <a:prstGeom prst="rect">
            <a:avLst/>
          </a:prstGeom>
        </p:spPr>
      </p:pic>
      <p:sp>
        <p:nvSpPr>
          <p:cNvPr id="14" name="Objective text 3"/>
          <p:cNvSpPr txBox="1"/>
          <p:nvPr/>
        </p:nvSpPr>
        <p:spPr>
          <a:xfrm>
            <a:off x="1234440" y="269748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Connect </a:t>
            </a:r>
            <a:r>
              <a:rPr lang="en-GB" sz="1400" b="0" i="0">
                <a:solidFill>
                  <a:schemeClr val="tx1"/>
                </a:solidFill>
              </a:rPr>
              <a:t>retention and customer equity to firm value and stock returns</a:t>
            </a:r>
          </a:p>
        </p:txBody>
      </p:sp>
      <p:sp>
        <p:nvSpPr>
          <p:cNvPr id="15" name="Objective row 4"/>
          <p:cNvSpPr/>
          <p:nvPr/>
        </p:nvSpPr>
        <p:spPr>
          <a:xfrm>
            <a:off x="457200" y="342900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con LuWallet" descr="LuWallet-navy.png"/>
          <p:cNvPicPr>
            <a:picLocks noChangeAspect="1"/>
          </p:cNvPicPr>
          <p:nvPr/>
        </p:nvPicPr>
        <p:blipFill>
          <a:blip r:embed="rId5"/>
          <a:stretch>
            <a:fillRect/>
          </a:stretch>
        </p:blipFill>
        <p:spPr>
          <a:xfrm>
            <a:off x="658368" y="3557016"/>
            <a:ext cx="365760" cy="365760"/>
          </a:xfrm>
          <a:prstGeom prst="rect">
            <a:avLst/>
          </a:prstGeom>
        </p:spPr>
      </p:pic>
      <p:sp>
        <p:nvSpPr>
          <p:cNvPr id="17" name="Objective text 4"/>
          <p:cNvSpPr txBox="1"/>
          <p:nvPr/>
        </p:nvSpPr>
        <p:spPr>
          <a:xfrm>
            <a:off x="1234440" y="342900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Apply </a:t>
            </a:r>
            <a:r>
              <a:rPr lang="en-GB" sz="1400" b="0" i="0">
                <a:solidFill>
                  <a:schemeClr val="tx1"/>
                </a:solidFill>
              </a:rPr>
              <a:t>CLV, churn targeting and the Wallet Allocation Rule to data</a:t>
            </a:r>
          </a:p>
        </p:txBody>
      </p:sp>
      <p:sp>
        <p:nvSpPr>
          <p:cNvPr id="18" name="Objective row 5"/>
          <p:cNvSpPr/>
          <p:nvPr/>
        </p:nvSpPr>
        <p:spPr>
          <a:xfrm>
            <a:off x="457200" y="416052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Icon LuScale" descr="LuScale-navy.png"/>
          <p:cNvPicPr>
            <a:picLocks noChangeAspect="1"/>
          </p:cNvPicPr>
          <p:nvPr/>
        </p:nvPicPr>
        <p:blipFill>
          <a:blip r:embed="rId6"/>
          <a:stretch>
            <a:fillRect/>
          </a:stretch>
        </p:blipFill>
        <p:spPr>
          <a:xfrm>
            <a:off x="658368" y="4288536"/>
            <a:ext cx="365760" cy="365760"/>
          </a:xfrm>
          <a:prstGeom prst="rect">
            <a:avLst/>
          </a:prstGeom>
        </p:spPr>
      </p:pic>
      <p:sp>
        <p:nvSpPr>
          <p:cNvPr id="20" name="Objective text 5"/>
          <p:cNvSpPr txBox="1"/>
          <p:nvPr/>
        </p:nvSpPr>
        <p:spPr>
          <a:xfrm>
            <a:off x="1234440" y="416052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Evaluate </a:t>
            </a:r>
            <a:r>
              <a:rPr lang="en-GB" sz="1400" b="0" i="0">
                <a:solidFill>
                  <a:schemeClr val="tx1"/>
                </a:solidFill>
              </a:rPr>
              <a:t>where the chain breaks: NPS, loyalty programmes, Double Jeopardy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1 of 6 · what we measure</a:t>
            </a:r>
          </a:p>
        </p:txBody>
      </p:sp>
      <p:sp>
        <p:nvSpPr>
          <p:cNvPr id="3" name="Title 2"/>
          <p:cNvSpPr>
            <a:spLocks noGrp="1"/>
          </p:cNvSpPr>
          <p:nvPr>
            <p:ph type="ctrTitle"/>
          </p:nvPr>
        </p:nvSpPr>
        <p:spPr/>
        <p:txBody>
          <a:bodyPr/>
          <a:lstStyle/>
          <a:p>
            <a:r>
              <a:t>Concepts and metrics</a:t>
            </a:r>
          </a:p>
        </p:txBody>
      </p:sp>
      <p:sp>
        <p:nvSpPr>
          <p:cNvPr id="4" name="Footer Placeholder 3"/>
          <p:cNvSpPr>
            <a:spLocks noGrp="1"/>
          </p:cNvSpPr>
          <p:nvPr>
            <p:ph type="ftr" idx="14" sz="quarter"/>
          </p:nvPr>
        </p:nvSpPr>
        <p:spPr/>
        <p:txBody>
          <a:bodyPr/>
          <a:p>
            <a:r>
              <a:rPr lang="en-GB"/>
              <a:t>Customer Loyalty, Churn and Share of Wallet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Three customer outcomes, three questions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Outcome Loyalty body"/>
          <p:cNvSpPr/>
          <p:nvPr/>
        </p:nvSpPr>
        <p:spPr>
          <a:xfrm>
            <a:off x="457200" y="1280160"/>
            <a:ext cx="2633472"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utcome Loyalty band"/>
          <p:cNvSpPr/>
          <p:nvPr/>
        </p:nvSpPr>
        <p:spPr>
          <a:xfrm>
            <a:off x="457200"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utcome Loyalty heading"/>
          <p:cNvSpPr txBox="1"/>
          <p:nvPr/>
        </p:nvSpPr>
        <p:spPr>
          <a:xfrm>
            <a:off x="566928" y="133502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Loyalty</a:t>
            </a:r>
          </a:p>
        </p:txBody>
      </p:sp>
      <p:pic>
        <p:nvPicPr>
          <p:cNvPr id="9" name="Icon LuHeartHandshake" descr="LuHeartHandshake-white.png"/>
          <p:cNvPicPr>
            <a:picLocks noChangeAspect="1"/>
          </p:cNvPicPr>
          <p:nvPr/>
        </p:nvPicPr>
        <p:blipFill>
          <a:blip r:embed="rId2"/>
          <a:stretch>
            <a:fillRect/>
          </a:stretch>
        </p:blipFill>
        <p:spPr>
          <a:xfrm>
            <a:off x="2660904" y="1344168"/>
            <a:ext cx="329184" cy="329184"/>
          </a:xfrm>
          <a:prstGeom prst="rect">
            <a:avLst/>
          </a:prstGeom>
        </p:spPr>
      </p:pic>
      <p:sp>
        <p:nvSpPr>
          <p:cNvPr id="10" name="Outcome Loyalty text"/>
          <p:cNvSpPr txBox="1"/>
          <p:nvPr/>
        </p:nvSpPr>
        <p:spPr>
          <a:xfrm>
            <a:off x="594360" y="1847088"/>
            <a:ext cx="2359152" cy="1993391"/>
          </a:xfrm>
          <a:prstGeom prst="rect">
            <a:avLst/>
          </a:prstGeom>
          <a:noFill/>
        </p:spPr>
        <p:txBody>
          <a:bodyPr wrap="square" lIns="36576" rIns="36576" tIns="18288" bIns="18288" anchor="t">
            <a:spAutoFit/>
          </a:bodyPr>
          <a:lstStyle/>
          <a:p>
            <a:pPr algn="l">
              <a:spcAft>
                <a:spcPts val="700"/>
              </a:spcAft>
            </a:pPr>
            <a:r>
              <a:rPr lang="en-GB" sz="1200" b="1" i="0">
                <a:solidFill>
                  <a:schemeClr val="tx2"/>
                </a:solidFill>
              </a:rPr>
              <a:t>Do customers stay and prefer us?</a:t>
            </a:r>
          </a:p>
          <a:p>
            <a:pPr algn="l">
              <a:spcAft>
                <a:spcPts val="700"/>
              </a:spcAft>
            </a:pPr>
            <a:r>
              <a:rPr lang="en-GB" sz="1200" b="1" i="0">
                <a:solidFill>
                  <a:schemeClr val="tx1"/>
                </a:solidFill>
              </a:rPr>
              <a:t>Behavioural: </a:t>
            </a:r>
            <a:r>
              <a:rPr lang="en-GB" sz="1200" b="0" i="0">
                <a:solidFill>
                  <a:schemeClr val="tx1"/>
                </a:solidFill>
              </a:rPr>
              <a:t>repeat buying</a:t>
            </a:r>
          </a:p>
          <a:p>
            <a:pPr algn="l">
              <a:spcAft>
                <a:spcPts val="700"/>
              </a:spcAft>
            </a:pPr>
            <a:r>
              <a:rPr lang="en-GB" sz="1200" b="1" i="0">
                <a:solidFill>
                  <a:schemeClr val="tx1"/>
                </a:solidFill>
              </a:rPr>
              <a:t>Attitudinal: </a:t>
            </a:r>
            <a:r>
              <a:rPr lang="en-GB" sz="1200" b="0" i="0">
                <a:solidFill>
                  <a:schemeClr val="tx1"/>
                </a:solidFill>
              </a:rPr>
              <a:t>relative preference</a:t>
            </a:r>
          </a:p>
          <a:p>
            <a:pPr algn="l">
              <a:spcAft>
                <a:spcPts val="700"/>
              </a:spcAft>
            </a:pPr>
            <a:r>
              <a:rPr lang="en-GB" sz="1200" b="1" i="0">
                <a:solidFill>
                  <a:schemeClr val="tx1"/>
                </a:solidFill>
              </a:rPr>
              <a:t>True loyalty needs both </a:t>
            </a:r>
            <a:r>
              <a:rPr lang="en-GB" sz="1200" b="0" i="0">
                <a:solidFill>
                  <a:schemeClr val="tx1"/>
                </a:solidFill>
              </a:rPr>
              <a:t>(Dick &amp; Basu 1994)</a:t>
            </a:r>
          </a:p>
        </p:txBody>
      </p:sp>
      <p:sp>
        <p:nvSpPr>
          <p:cNvPr id="11" name="Outcome Churn body"/>
          <p:cNvSpPr/>
          <p:nvPr/>
        </p:nvSpPr>
        <p:spPr>
          <a:xfrm>
            <a:off x="3255264" y="1280160"/>
            <a:ext cx="2633472"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utcome Churn band"/>
          <p:cNvSpPr/>
          <p:nvPr/>
        </p:nvSpPr>
        <p:spPr>
          <a:xfrm>
            <a:off x="3255264" y="128016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utcome Churn heading"/>
          <p:cNvSpPr txBox="1"/>
          <p:nvPr/>
        </p:nvSpPr>
        <p:spPr>
          <a:xfrm>
            <a:off x="3364992" y="133502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Churn</a:t>
            </a:r>
          </a:p>
        </p:txBody>
      </p:sp>
      <p:pic>
        <p:nvPicPr>
          <p:cNvPr id="14" name="Icon LuUserMinus" descr="LuUserMinus-white.png"/>
          <p:cNvPicPr>
            <a:picLocks noChangeAspect="1"/>
          </p:cNvPicPr>
          <p:nvPr/>
        </p:nvPicPr>
        <p:blipFill>
          <a:blip r:embed="rId3"/>
          <a:stretch>
            <a:fillRect/>
          </a:stretch>
        </p:blipFill>
        <p:spPr>
          <a:xfrm>
            <a:off x="5458968" y="1344168"/>
            <a:ext cx="329184" cy="329184"/>
          </a:xfrm>
          <a:prstGeom prst="rect">
            <a:avLst/>
          </a:prstGeom>
        </p:spPr>
      </p:pic>
      <p:sp>
        <p:nvSpPr>
          <p:cNvPr id="15" name="Outcome Churn text"/>
          <p:cNvSpPr txBox="1"/>
          <p:nvPr/>
        </p:nvSpPr>
        <p:spPr>
          <a:xfrm>
            <a:off x="3392424" y="1847088"/>
            <a:ext cx="2359152" cy="1993391"/>
          </a:xfrm>
          <a:prstGeom prst="rect">
            <a:avLst/>
          </a:prstGeom>
          <a:noFill/>
        </p:spPr>
        <p:txBody>
          <a:bodyPr wrap="square" lIns="36576" rIns="36576" tIns="18288" bIns="18288" anchor="t">
            <a:spAutoFit/>
          </a:bodyPr>
          <a:lstStyle/>
          <a:p>
            <a:pPr algn="l">
              <a:spcAft>
                <a:spcPts val="700"/>
              </a:spcAft>
            </a:pPr>
            <a:r>
              <a:rPr lang="en-GB" sz="1200" b="1" i="0">
                <a:solidFill>
                  <a:schemeClr val="tx2"/>
                </a:solidFill>
              </a:rPr>
              <a:t>Do customers leave?</a:t>
            </a:r>
          </a:p>
          <a:p>
            <a:pPr algn="l">
              <a:spcAft>
                <a:spcPts val="700"/>
              </a:spcAft>
            </a:pPr>
            <a:r>
              <a:rPr lang="en-GB" sz="1200" b="1" i="0">
                <a:solidFill>
                  <a:schemeClr val="tx1"/>
                </a:solidFill>
              </a:rPr>
              <a:t>Contractual: </a:t>
            </a:r>
            <a:r>
              <a:rPr lang="en-GB" sz="1200" b="0" i="0">
                <a:solidFill>
                  <a:schemeClr val="tx1"/>
                </a:solidFill>
              </a:rPr>
              <a:t>cancellation is observed</a:t>
            </a:r>
          </a:p>
          <a:p>
            <a:pPr algn="l">
              <a:spcAft>
                <a:spcPts val="700"/>
              </a:spcAft>
            </a:pPr>
            <a:r>
              <a:rPr lang="en-GB" sz="1200" b="1" i="0">
                <a:solidFill>
                  <a:schemeClr val="tx1"/>
                </a:solidFill>
              </a:rPr>
              <a:t>Non-contractual: </a:t>
            </a:r>
            <a:r>
              <a:rPr lang="en-GB" sz="1200" b="0" i="0">
                <a:solidFill>
                  <a:schemeClr val="tx1"/>
                </a:solidFill>
              </a:rPr>
              <a:t>silence, so churn must be inferred</a:t>
            </a:r>
          </a:p>
          <a:p>
            <a:pPr algn="l">
              <a:spcAft>
                <a:spcPts val="700"/>
              </a:spcAft>
            </a:pPr>
            <a:r>
              <a:rPr lang="en-GB" sz="1200" b="1" i="0">
                <a:solidFill>
                  <a:schemeClr val="tx1"/>
                </a:solidFill>
              </a:rPr>
              <a:t>Retention rate </a:t>
            </a:r>
            <a:r>
              <a:rPr lang="en-GB" sz="1200" b="0" i="0">
                <a:solidFill>
                  <a:schemeClr val="tx1"/>
                </a:solidFill>
              </a:rPr>
              <a:t>r = 1 − churn</a:t>
            </a:r>
          </a:p>
        </p:txBody>
      </p:sp>
      <p:sp>
        <p:nvSpPr>
          <p:cNvPr id="16" name="Outcome Share of wallet body"/>
          <p:cNvSpPr/>
          <p:nvPr/>
        </p:nvSpPr>
        <p:spPr>
          <a:xfrm>
            <a:off x="6053328" y="1280160"/>
            <a:ext cx="2633472"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utcome Share of wallet band"/>
          <p:cNvSpPr/>
          <p:nvPr/>
        </p:nvSpPr>
        <p:spPr>
          <a:xfrm>
            <a:off x="6053328"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utcome Share of wallet heading"/>
          <p:cNvSpPr txBox="1"/>
          <p:nvPr/>
        </p:nvSpPr>
        <p:spPr>
          <a:xfrm>
            <a:off x="6163056" y="133502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Share of wallet</a:t>
            </a:r>
          </a:p>
        </p:txBody>
      </p:sp>
      <p:pic>
        <p:nvPicPr>
          <p:cNvPr id="19" name="Icon LuWallet" descr="LuWallet-white.png"/>
          <p:cNvPicPr>
            <a:picLocks noChangeAspect="1"/>
          </p:cNvPicPr>
          <p:nvPr/>
        </p:nvPicPr>
        <p:blipFill>
          <a:blip r:embed="rId4"/>
          <a:stretch>
            <a:fillRect/>
          </a:stretch>
        </p:blipFill>
        <p:spPr>
          <a:xfrm>
            <a:off x="8257032" y="1344168"/>
            <a:ext cx="329184" cy="329184"/>
          </a:xfrm>
          <a:prstGeom prst="rect">
            <a:avLst/>
          </a:prstGeom>
        </p:spPr>
      </p:pic>
      <p:sp>
        <p:nvSpPr>
          <p:cNvPr id="20" name="Outcome Share of wallet text"/>
          <p:cNvSpPr txBox="1"/>
          <p:nvPr/>
        </p:nvSpPr>
        <p:spPr>
          <a:xfrm>
            <a:off x="6190488" y="1847088"/>
            <a:ext cx="2359152" cy="1993391"/>
          </a:xfrm>
          <a:prstGeom prst="rect">
            <a:avLst/>
          </a:prstGeom>
          <a:noFill/>
        </p:spPr>
        <p:txBody>
          <a:bodyPr wrap="square" lIns="36576" rIns="36576" tIns="18288" bIns="18288" anchor="t">
            <a:spAutoFit/>
          </a:bodyPr>
          <a:lstStyle/>
          <a:p>
            <a:pPr algn="l">
              <a:spcAft>
                <a:spcPts val="700"/>
              </a:spcAft>
            </a:pPr>
            <a:r>
              <a:rPr lang="en-GB" sz="1200" b="1" i="0">
                <a:solidFill>
                  <a:schemeClr val="tx2"/>
                </a:solidFill>
              </a:rPr>
              <a:t>How much of their spending do we get?</a:t>
            </a:r>
          </a:p>
          <a:p>
            <a:pPr algn="l">
              <a:spcAft>
                <a:spcPts val="700"/>
              </a:spcAft>
            </a:pPr>
            <a:r>
              <a:rPr lang="en-GB" sz="1200" b="1" i="0">
                <a:solidFill>
                  <a:schemeClr val="tx1"/>
                </a:solidFill>
              </a:rPr>
              <a:t>SOW </a:t>
            </a:r>
            <a:r>
              <a:rPr lang="en-GB" sz="1200" b="0" i="0">
                <a:solidFill>
                  <a:schemeClr val="tx1"/>
                </a:solidFill>
              </a:rPr>
              <a:t>= our sales ÷ customer's category spend</a:t>
            </a:r>
          </a:p>
          <a:p>
            <a:pPr algn="l">
              <a:spcAft>
                <a:spcPts val="700"/>
              </a:spcAft>
            </a:pPr>
            <a:r>
              <a:rPr lang="en-GB" sz="1200" b="1" i="0">
                <a:solidFill>
                  <a:schemeClr val="tx1"/>
                </a:solidFill>
              </a:rPr>
              <a:t>Needs </a:t>
            </a:r>
            <a:r>
              <a:rPr lang="en-GB" sz="1200" b="0" i="0">
                <a:solidFill>
                  <a:schemeClr val="tx1"/>
                </a:solidFill>
              </a:rPr>
              <a:t>competitor spend, usually from surveys</a:t>
            </a:r>
          </a:p>
          <a:p>
            <a:pPr algn="l">
              <a:spcAft>
                <a:spcPts val="700"/>
              </a:spcAft>
            </a:pPr>
            <a:r>
              <a:rPr lang="en-GB" sz="1200" b="1" i="0">
                <a:solidFill>
                  <a:schemeClr val="tx1"/>
                </a:solidFill>
              </a:rPr>
              <a:t>Partial defection </a:t>
            </a:r>
            <a:r>
              <a:rPr lang="en-GB" sz="1200" b="0" i="0">
                <a:solidFill>
                  <a:schemeClr val="tx1"/>
                </a:solidFill>
              </a:rPr>
              <a:t>shows here first</a:t>
            </a:r>
          </a:p>
        </p:txBody>
      </p:sp>
      <p:sp>
        <p:nvSpPr>
          <p:cNvPr id="21" name="Outcome callout"/>
          <p:cNvSpPr/>
          <p:nvPr/>
        </p:nvSpPr>
        <p:spPr>
          <a:xfrm>
            <a:off x="457200" y="41148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utcome callout text"/>
          <p:cNvSpPr txBox="1"/>
          <p:nvPr/>
        </p:nvSpPr>
        <p:spPr>
          <a:xfrm>
            <a:off x="640080" y="4114800"/>
            <a:ext cx="7863840" cy="54864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Link to firm value: </a:t>
            </a:r>
            <a:r>
              <a:rPr lang="en-GB" sz="1300" b="0" i="0">
                <a:solidFill>
                  <a:schemeClr val="bg1"/>
                </a:solidFill>
              </a:rPr>
              <a:t>retention sets how long customers pay, SOW sets how much; together they drive CLV.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Measuring the outcomes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Metrics table"/>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1920240"/>
                <a:gridCol w="3017520"/>
                <a:gridCol w="3291840"/>
              </a:tblGrid>
              <a:tr h="457200">
                <a:tc>
                  <a:txBody>
                    <a:bodyPr/>
                    <a:lstStyle/>
                    <a:p>
                      <a:r>
                        <a:rPr lang="en-GB" sz="1200" b="1">
                          <a:solidFill>
                            <a:schemeClr val="bg1"/>
                          </a:solidFill>
                        </a:rPr>
                        <a:t>Metric</a:t>
                      </a:r>
                    </a:p>
                  </a:txBody>
                  <a:tcPr anchor="ctr">
                    <a:solidFill>
                      <a:schemeClr val="accent1"/>
                    </a:solidFill>
                  </a:tcPr>
                </a:tc>
                <a:tc>
                  <a:txBody>
                    <a:bodyPr/>
                    <a:lstStyle/>
                    <a:p>
                      <a:r>
                        <a:rPr lang="en-GB" sz="1200" b="1">
                          <a:solidFill>
                            <a:schemeClr val="bg1"/>
                          </a:solidFill>
                        </a:rPr>
                        <a:t>Formula</a:t>
                      </a:r>
                    </a:p>
                  </a:txBody>
                  <a:tcPr anchor="ctr">
                    <a:solidFill>
                      <a:schemeClr val="accent1"/>
                    </a:solidFill>
                  </a:tcPr>
                </a:tc>
                <a:tc>
                  <a:txBody>
                    <a:bodyPr/>
                    <a:lstStyle/>
                    <a:p>
                      <a:r>
                        <a:rPr lang="en-GB" sz="1200" b="1">
                          <a:solidFill>
                            <a:schemeClr val="bg1"/>
                          </a:solidFill>
                        </a:rPr>
                        <a:t>Watch out for</a:t>
                      </a:r>
                    </a:p>
                  </a:txBody>
                  <a:tcPr anchor="ctr">
                    <a:solidFill>
                      <a:schemeClr val="accent1"/>
                    </a:solidFill>
                  </a:tcPr>
                </a:tc>
              </a:tr>
              <a:tr h="457200">
                <a:tc>
                  <a:txBody>
                    <a:bodyPr/>
                    <a:lstStyle/>
                    <a:p>
                      <a:r>
                        <a:rPr lang="en-GB" sz="1200" b="1">
                          <a:solidFill>
                            <a:schemeClr val="bg1"/>
                          </a:solidFill>
                        </a:rPr>
                        <a:t>Retention rate</a:t>
                      </a:r>
                    </a:p>
                  </a:txBody>
                  <a:tcPr anchor="ctr">
                    <a:solidFill>
                      <a:schemeClr val="tx2"/>
                    </a:solidFill>
                  </a:tcPr>
                </a:tc>
                <a:tc>
                  <a:txBody>
                    <a:bodyPr/>
                    <a:lstStyle/>
                    <a:p>
                      <a:r>
                        <a:rPr lang="en-GB" sz="1200">
                          <a:solidFill>
                            <a:schemeClr val="tx1"/>
                          </a:solidFill>
                        </a:rPr>
                        <a:t>customers kept ÷ customers at start</a:t>
                      </a:r>
                    </a:p>
                  </a:txBody>
                  <a:tcPr anchor="ctr">
                    <a:solidFill>
                      <a:schemeClr val="bg2"/>
                    </a:solidFill>
                  </a:tcPr>
                </a:tc>
                <a:tc>
                  <a:txBody>
                    <a:bodyPr/>
                    <a:lstStyle/>
                    <a:p>
                      <a:r>
                        <a:rPr lang="en-GB" sz="1200">
                          <a:solidFill>
                            <a:schemeClr val="tx1"/>
                          </a:solidFill>
                        </a:rPr>
                        <a:t>Rises over time as weak customers leave</a:t>
                      </a:r>
                    </a:p>
                  </a:txBody>
                  <a:tcPr anchor="ctr">
                    <a:solidFill>
                      <a:schemeClr val="bg2"/>
                    </a:solidFill>
                  </a:tcPr>
                </a:tc>
              </a:tr>
              <a:tr h="457200">
                <a:tc>
                  <a:txBody>
                    <a:bodyPr/>
                    <a:lstStyle/>
                    <a:p>
                      <a:r>
                        <a:rPr lang="en-GB" sz="1200" b="1">
                          <a:solidFill>
                            <a:schemeClr val="bg1"/>
                          </a:solidFill>
                        </a:rPr>
                        <a:t>Expected lifetime</a:t>
                      </a:r>
                    </a:p>
                  </a:txBody>
                  <a:tcPr anchor="ctr">
                    <a:solidFill>
                      <a:schemeClr val="tx2"/>
                    </a:solidFill>
                  </a:tcPr>
                </a:tc>
                <a:tc>
                  <a:txBody>
                    <a:bodyPr/>
                    <a:lstStyle/>
                    <a:p>
                      <a:r>
                        <a:rPr lang="en-GB" sz="1200">
                          <a:solidFill>
                            <a:schemeClr val="tx1"/>
                          </a:solidFill>
                        </a:rPr>
                        <a:t>1 ÷ churn (only if all equal)</a:t>
                      </a:r>
                    </a:p>
                  </a:txBody>
                  <a:tcPr anchor="ctr">
                    <a:solidFill>
                      <a:schemeClr val="bg2"/>
                    </a:solidFill>
                  </a:tcPr>
                </a:tc>
                <a:tc>
                  <a:txBody>
                    <a:bodyPr/>
                    <a:lstStyle/>
                    <a:p>
                      <a:r>
                        <a:rPr lang="en-GB" sz="1200">
                          <a:solidFill>
                            <a:schemeClr val="tx1"/>
                          </a:solidFill>
                        </a:rPr>
                        <a:t>Underestimates lifetime with heterogeneity</a:t>
                      </a:r>
                    </a:p>
                  </a:txBody>
                  <a:tcPr anchor="ctr">
                    <a:solidFill>
                      <a:schemeClr val="bg2"/>
                    </a:solidFill>
                  </a:tcPr>
                </a:tc>
              </a:tr>
              <a:tr h="457200">
                <a:tc>
                  <a:txBody>
                    <a:bodyPr/>
                    <a:lstStyle/>
                    <a:p>
                      <a:r>
                        <a:rPr lang="en-GB" sz="1200" b="1">
                          <a:solidFill>
                            <a:schemeClr val="bg1"/>
                          </a:solidFill>
                        </a:rPr>
                        <a:t>CLV</a:t>
                      </a:r>
                    </a:p>
                  </a:txBody>
                  <a:tcPr anchor="ctr">
                    <a:solidFill>
                      <a:schemeClr val="tx2"/>
                    </a:solidFill>
                  </a:tcPr>
                </a:tc>
                <a:tc>
                  <a:txBody>
                    <a:bodyPr/>
                    <a:lstStyle/>
                    <a:p>
                      <a:r>
                        <a:rPr lang="en-GB" sz="1200">
                          <a:solidFill>
                            <a:schemeClr val="tx1"/>
                          </a:solidFill>
                        </a:rPr>
                        <a:t>m · r ÷ (1 + d − r)</a:t>
                      </a:r>
                    </a:p>
                  </a:txBody>
                  <a:tcPr anchor="ctr">
                    <a:solidFill>
                      <a:schemeClr val="bg2"/>
                    </a:solidFill>
                  </a:tcPr>
                </a:tc>
                <a:tc>
                  <a:txBody>
                    <a:bodyPr/>
                    <a:lstStyle/>
                    <a:p>
                      <a:r>
                        <a:rPr lang="en-GB" sz="1200">
                          <a:solidFill>
                            <a:schemeClr val="tx1"/>
                          </a:solidFill>
                        </a:rPr>
                        <a:t>Assumes constant margin and retention</a:t>
                      </a:r>
                    </a:p>
                  </a:txBody>
                  <a:tcPr anchor="ctr">
                    <a:solidFill>
                      <a:schemeClr val="bg2"/>
                    </a:solidFill>
                  </a:tcPr>
                </a:tc>
              </a:tr>
              <a:tr h="457200">
                <a:tc>
                  <a:txBody>
                    <a:bodyPr/>
                    <a:lstStyle/>
                    <a:p>
                      <a:r>
                        <a:rPr lang="en-GB" sz="1200" b="1">
                          <a:solidFill>
                            <a:schemeClr val="bg1"/>
                          </a:solidFill>
                        </a:rPr>
                        <a:t>Share of wallet</a:t>
                      </a:r>
                    </a:p>
                  </a:txBody>
                  <a:tcPr anchor="ctr">
                    <a:solidFill>
                      <a:schemeClr val="tx2"/>
                    </a:solidFill>
                  </a:tcPr>
                </a:tc>
                <a:tc>
                  <a:txBody>
                    <a:bodyPr/>
                    <a:lstStyle/>
                    <a:p>
                      <a:r>
                        <a:rPr lang="en-GB" sz="1200">
                          <a:solidFill>
                            <a:schemeClr val="tx1"/>
                          </a:solidFill>
                        </a:rPr>
                        <a:t>our spend ÷ category spend</a:t>
                      </a:r>
                    </a:p>
                  </a:txBody>
                  <a:tcPr anchor="ctr">
                    <a:solidFill>
                      <a:schemeClr val="bg2"/>
                    </a:solidFill>
                  </a:tcPr>
                </a:tc>
                <a:tc>
                  <a:txBody>
                    <a:bodyPr/>
                    <a:lstStyle/>
                    <a:p>
                      <a:r>
                        <a:rPr lang="en-GB" sz="1200">
                          <a:solidFill>
                            <a:schemeClr val="tx1"/>
                          </a:solidFill>
                        </a:rPr>
                        <a:t>Category spend needs survey or panel data</a:t>
                      </a:r>
                    </a:p>
                  </a:txBody>
                  <a:tcPr anchor="ctr">
                    <a:solidFill>
                      <a:schemeClr val="bg2"/>
                    </a:solidFill>
                  </a:tcPr>
                </a:tc>
              </a:tr>
              <a:tr h="457200">
                <a:tc>
                  <a:txBody>
                    <a:bodyPr/>
                    <a:lstStyle/>
                    <a:p>
                      <a:r>
                        <a:rPr lang="en-GB" sz="1200" b="1">
                          <a:solidFill>
                            <a:schemeClr val="bg1"/>
                          </a:solidFill>
                        </a:rPr>
                        <a:t>Net Promoter Score</a:t>
                      </a:r>
                    </a:p>
                  </a:txBody>
                  <a:tcPr anchor="ctr">
                    <a:solidFill>
                      <a:schemeClr val="tx2"/>
                    </a:solidFill>
                  </a:tcPr>
                </a:tc>
                <a:tc>
                  <a:txBody>
                    <a:bodyPr/>
                    <a:lstStyle/>
                    <a:p>
                      <a:r>
                        <a:rPr lang="en-GB" sz="1200">
                          <a:solidFill>
                            <a:schemeClr val="tx1"/>
                          </a:solidFill>
                        </a:rPr>
                        <a:t>% promoters − % detractors</a:t>
                      </a:r>
                    </a:p>
                  </a:txBody>
                  <a:tcPr anchor="ctr">
                    <a:solidFill>
                      <a:schemeClr val="bg2"/>
                    </a:solidFill>
                  </a:tcPr>
                </a:tc>
                <a:tc>
                  <a:txBody>
                    <a:bodyPr/>
                    <a:lstStyle/>
                    <a:p>
                      <a:r>
                        <a:rPr lang="en-GB" sz="1200">
                          <a:solidFill>
                            <a:schemeClr val="tx1"/>
                          </a:solidFill>
                        </a:rPr>
                        <a:t>Not a better growth predictor</a:t>
                      </a:r>
                    </a:p>
                  </a:txBody>
                  <a:tcPr anchor="ctr">
                    <a:solidFill>
                      <a:schemeClr val="bg2"/>
                    </a:solidFill>
                  </a:tcPr>
                </a:tc>
              </a:tr>
            </a:tbl>
          </a:graphicData>
        </a:graphic>
      </p:graphicFrame>
      <p:sp>
        <p:nvSpPr>
          <p:cNvPr id="7" name="Source note"/>
          <p:cNvSpPr txBox="1"/>
          <p:nvPr/>
        </p:nvSpPr>
        <p:spPr>
          <a:xfrm>
            <a:off x="457200" y="420624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Fader &amp; Hardie (2007, 2010); Hardie notes 024, 033, 049 (brucehardie.com); Farris et al. (2021) Marketing Metrics, ch. 2 and 5; Keiningham et al. (2007) Journal of Marketing.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2 of 6 · from employees to profit</a:t>
            </a:r>
          </a:p>
        </p:txBody>
      </p:sp>
      <p:sp>
        <p:nvSpPr>
          <p:cNvPr id="3" name="Title 2"/>
          <p:cNvSpPr>
            <a:spLocks noGrp="1"/>
          </p:cNvSpPr>
          <p:nvPr>
            <p:ph type="ctrTitle"/>
          </p:nvPr>
        </p:nvSpPr>
        <p:spPr/>
        <p:txBody>
          <a:bodyPr/>
          <a:lstStyle/>
          <a:p>
            <a:r>
              <a:t>The service-profit chain</a:t>
            </a:r>
          </a:p>
        </p:txBody>
      </p:sp>
      <p:sp>
        <p:nvSpPr>
          <p:cNvPr id="4" name="Footer Placeholder 3"/>
          <p:cNvSpPr>
            <a:spLocks noGrp="1"/>
          </p:cNvSpPr>
          <p:nvPr>
            <p:ph type="ftr" idx="14" sz="quarter"/>
          </p:nvPr>
        </p:nvSpPr>
        <p:spPr/>
        <p:txBody>
          <a:bodyPr/>
          <a:p>
            <a:r>
              <a:rPr lang="en-GB"/>
              <a:t>Customer Loyalty, Churn and Share of Wallet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service-profit chain</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ep 1"/>
          <p:cNvSpPr/>
          <p:nvPr/>
        </p:nvSpPr>
        <p:spPr>
          <a:xfrm>
            <a:off x="457200" y="1280160"/>
            <a:ext cx="1463039" cy="45720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400" b="1">
                <a:solidFill>
                  <a:schemeClr val="bg1"/>
                </a:solidFill>
              </a:rPr>
              <a:t>1</a:t>
            </a:r>
          </a:p>
        </p:txBody>
      </p:sp>
      <p:sp>
        <p:nvSpPr>
          <p:cNvPr id="7" name="Step 2"/>
          <p:cNvSpPr/>
          <p:nvPr/>
        </p:nvSpPr>
        <p:spPr>
          <a:xfrm>
            <a:off x="1810512"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400" b="1">
                <a:solidFill>
                  <a:schemeClr val="bg1"/>
                </a:solidFill>
              </a:rPr>
              <a:t>2</a:t>
            </a:r>
          </a:p>
        </p:txBody>
      </p:sp>
      <p:sp>
        <p:nvSpPr>
          <p:cNvPr id="8" name="Step 3"/>
          <p:cNvSpPr/>
          <p:nvPr/>
        </p:nvSpPr>
        <p:spPr>
          <a:xfrm>
            <a:off x="3163824"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400" b="1">
                <a:solidFill>
                  <a:schemeClr val="bg1"/>
                </a:solidFill>
              </a:rPr>
              <a:t>3</a:t>
            </a:r>
          </a:p>
        </p:txBody>
      </p:sp>
      <p:sp>
        <p:nvSpPr>
          <p:cNvPr id="9" name="Step 4"/>
          <p:cNvSpPr/>
          <p:nvPr/>
        </p:nvSpPr>
        <p:spPr>
          <a:xfrm>
            <a:off x="4517136"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400" b="1">
                <a:solidFill>
                  <a:schemeClr val="bg1"/>
                </a:solidFill>
              </a:rPr>
              <a:t>4</a:t>
            </a:r>
          </a:p>
        </p:txBody>
      </p:sp>
      <p:sp>
        <p:nvSpPr>
          <p:cNvPr id="10" name="Step 5"/>
          <p:cNvSpPr/>
          <p:nvPr/>
        </p:nvSpPr>
        <p:spPr>
          <a:xfrm>
            <a:off x="5870448"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400" b="1">
                <a:solidFill>
                  <a:schemeClr val="bg1"/>
                </a:solidFill>
              </a:rPr>
              <a:t>5</a:t>
            </a:r>
          </a:p>
        </p:txBody>
      </p:sp>
      <p:sp>
        <p:nvSpPr>
          <p:cNvPr id="11" name="Step 6"/>
          <p:cNvSpPr/>
          <p:nvPr/>
        </p:nvSpPr>
        <p:spPr>
          <a:xfrm>
            <a:off x="7223760" y="1280160"/>
            <a:ext cx="1463039"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400" b="1">
                <a:solidFill>
                  <a:schemeClr val="bg1"/>
                </a:solidFill>
              </a:rPr>
              <a:t>6</a:t>
            </a:r>
          </a:p>
        </p:txBody>
      </p:sp>
      <p:sp>
        <p:nvSpPr>
          <p:cNvPr id="12" name="Chain box 1"/>
          <p:cNvSpPr/>
          <p:nvPr/>
        </p:nvSpPr>
        <p:spPr>
          <a:xfrm>
            <a:off x="502920"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ain text 1"/>
          <p:cNvSpPr txBox="1"/>
          <p:nvPr/>
        </p:nvSpPr>
        <p:spPr>
          <a:xfrm>
            <a:off x="548640" y="2011680"/>
            <a:ext cx="1170431" cy="1097280"/>
          </a:xfrm>
          <a:prstGeom prst="rect">
            <a:avLst/>
          </a:prstGeom>
          <a:noFill/>
        </p:spPr>
        <p:txBody>
          <a:bodyPr wrap="square" lIns="36576" rIns="36576" tIns="18288" bIns="18288" anchor="t">
            <a:spAutoFit/>
          </a:bodyPr>
          <a:lstStyle/>
          <a:p>
            <a:pPr algn="l">
              <a:spcAft>
                <a:spcPts val="300"/>
              </a:spcAft>
            </a:pPr>
            <a:r>
              <a:rPr lang="en-GB" sz="1100" b="1" i="0">
                <a:solidFill>
                  <a:schemeClr val="tx2"/>
                </a:solidFill>
              </a:rPr>
              <a:t>Internal quality</a:t>
            </a:r>
          </a:p>
          <a:p>
            <a:pPr algn="l">
              <a:spcAft>
                <a:spcPts val="300"/>
              </a:spcAft>
            </a:pPr>
            <a:r>
              <a:rPr lang="en-GB" sz="1200" b="0" i="0">
                <a:solidFill>
                  <a:schemeClr val="tx1"/>
                </a:solidFill>
              </a:rPr>
              <a:t>Tools, training, workplace design</a:t>
            </a:r>
          </a:p>
        </p:txBody>
      </p:sp>
      <p:sp>
        <p:nvSpPr>
          <p:cNvPr id="14" name="Chain box 2"/>
          <p:cNvSpPr/>
          <p:nvPr/>
        </p:nvSpPr>
        <p:spPr>
          <a:xfrm>
            <a:off x="1856231"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ain text 2"/>
          <p:cNvSpPr txBox="1"/>
          <p:nvPr/>
        </p:nvSpPr>
        <p:spPr>
          <a:xfrm>
            <a:off x="1901952" y="2011680"/>
            <a:ext cx="1170431" cy="1097280"/>
          </a:xfrm>
          <a:prstGeom prst="rect">
            <a:avLst/>
          </a:prstGeom>
          <a:noFill/>
        </p:spPr>
        <p:txBody>
          <a:bodyPr wrap="square" lIns="36576" rIns="36576" tIns="18288" bIns="18288" anchor="t">
            <a:spAutoFit/>
          </a:bodyPr>
          <a:lstStyle/>
          <a:p>
            <a:pPr algn="l">
              <a:spcAft>
                <a:spcPts val="300"/>
              </a:spcAft>
            </a:pPr>
            <a:r>
              <a:rPr lang="en-GB" sz="1100" b="1" i="0">
                <a:solidFill>
                  <a:schemeClr val="tx2"/>
                </a:solidFill>
              </a:rPr>
              <a:t>Employees</a:t>
            </a:r>
          </a:p>
          <a:p>
            <a:pPr algn="l">
              <a:spcAft>
                <a:spcPts val="300"/>
              </a:spcAft>
            </a:pPr>
            <a:r>
              <a:rPr lang="en-GB" sz="1200" b="0" i="0">
                <a:solidFill>
                  <a:schemeClr val="tx1"/>
                </a:solidFill>
              </a:rPr>
              <a:t>Satisfaction, retention, productivity</a:t>
            </a:r>
          </a:p>
        </p:txBody>
      </p:sp>
      <p:sp>
        <p:nvSpPr>
          <p:cNvPr id="16" name="Chain box 3"/>
          <p:cNvSpPr/>
          <p:nvPr/>
        </p:nvSpPr>
        <p:spPr>
          <a:xfrm>
            <a:off x="3209544"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ain text 3"/>
          <p:cNvSpPr txBox="1"/>
          <p:nvPr/>
        </p:nvSpPr>
        <p:spPr>
          <a:xfrm>
            <a:off x="3255264" y="2011680"/>
            <a:ext cx="1170431" cy="1097280"/>
          </a:xfrm>
          <a:prstGeom prst="rect">
            <a:avLst/>
          </a:prstGeom>
          <a:noFill/>
        </p:spPr>
        <p:txBody>
          <a:bodyPr wrap="square" lIns="36576" rIns="36576" tIns="18288" bIns="18288" anchor="t">
            <a:spAutoFit/>
          </a:bodyPr>
          <a:lstStyle/>
          <a:p>
            <a:pPr algn="l">
              <a:spcAft>
                <a:spcPts val="300"/>
              </a:spcAft>
            </a:pPr>
            <a:r>
              <a:rPr lang="en-GB" sz="1100" b="1" i="0">
                <a:solidFill>
                  <a:schemeClr val="tx2"/>
                </a:solidFill>
              </a:rPr>
              <a:t>Service value</a:t>
            </a:r>
          </a:p>
          <a:p>
            <a:pPr algn="l">
              <a:spcAft>
                <a:spcPts val="300"/>
              </a:spcAft>
            </a:pPr>
            <a:r>
              <a:rPr lang="en-GB" sz="1200" b="0" i="0">
                <a:solidFill>
                  <a:schemeClr val="tx1"/>
                </a:solidFill>
              </a:rPr>
              <a:t>Results for customers relative to cost</a:t>
            </a:r>
          </a:p>
        </p:txBody>
      </p:sp>
      <p:sp>
        <p:nvSpPr>
          <p:cNvPr id="18" name="Chain box 4"/>
          <p:cNvSpPr/>
          <p:nvPr/>
        </p:nvSpPr>
        <p:spPr>
          <a:xfrm>
            <a:off x="4562855"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ain text 4"/>
          <p:cNvSpPr txBox="1"/>
          <p:nvPr/>
        </p:nvSpPr>
        <p:spPr>
          <a:xfrm>
            <a:off x="4608575" y="2011680"/>
            <a:ext cx="1170431" cy="1097280"/>
          </a:xfrm>
          <a:prstGeom prst="rect">
            <a:avLst/>
          </a:prstGeom>
          <a:noFill/>
        </p:spPr>
        <p:txBody>
          <a:bodyPr wrap="square" lIns="36576" rIns="36576" tIns="18288" bIns="18288" anchor="t">
            <a:spAutoFit/>
          </a:bodyPr>
          <a:lstStyle/>
          <a:p>
            <a:pPr algn="l">
              <a:spcAft>
                <a:spcPts val="300"/>
              </a:spcAft>
            </a:pPr>
            <a:r>
              <a:rPr lang="en-GB" sz="1100" b="1" i="0">
                <a:solidFill>
                  <a:schemeClr val="tx2"/>
                </a:solidFill>
              </a:rPr>
              <a:t>Satisfaction</a:t>
            </a:r>
          </a:p>
          <a:p>
            <a:pPr algn="l">
              <a:spcAft>
                <a:spcPts val="300"/>
              </a:spcAft>
            </a:pPr>
            <a:r>
              <a:rPr lang="en-GB" sz="1200" b="0" i="0">
                <a:solidFill>
                  <a:schemeClr val="tx1"/>
                </a:solidFill>
              </a:rPr>
              <a:t>Customers' overall judgement</a:t>
            </a:r>
          </a:p>
        </p:txBody>
      </p:sp>
      <p:sp>
        <p:nvSpPr>
          <p:cNvPr id="20" name="Chain box 5"/>
          <p:cNvSpPr/>
          <p:nvPr/>
        </p:nvSpPr>
        <p:spPr>
          <a:xfrm>
            <a:off x="5916168"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ain text 5"/>
          <p:cNvSpPr txBox="1"/>
          <p:nvPr/>
        </p:nvSpPr>
        <p:spPr>
          <a:xfrm>
            <a:off x="5961888" y="2011680"/>
            <a:ext cx="1170431" cy="1097280"/>
          </a:xfrm>
          <a:prstGeom prst="rect">
            <a:avLst/>
          </a:prstGeom>
          <a:noFill/>
        </p:spPr>
        <p:txBody>
          <a:bodyPr wrap="square" lIns="36576" rIns="36576" tIns="18288" bIns="18288" anchor="t">
            <a:spAutoFit/>
          </a:bodyPr>
          <a:lstStyle/>
          <a:p>
            <a:pPr algn="l">
              <a:spcAft>
                <a:spcPts val="300"/>
              </a:spcAft>
            </a:pPr>
            <a:r>
              <a:rPr lang="en-GB" sz="1100" b="1" i="0">
                <a:solidFill>
                  <a:schemeClr val="tx2"/>
                </a:solidFill>
              </a:rPr>
              <a:t>Loyalty</a:t>
            </a:r>
          </a:p>
          <a:p>
            <a:pPr algn="l">
              <a:spcAft>
                <a:spcPts val="300"/>
              </a:spcAft>
            </a:pPr>
            <a:r>
              <a:rPr lang="en-GB" sz="1200" b="0" i="0">
                <a:solidFill>
                  <a:schemeClr val="tx1"/>
                </a:solidFill>
              </a:rPr>
              <a:t>Retention, repeat buying, referrals</a:t>
            </a:r>
          </a:p>
        </p:txBody>
      </p:sp>
      <p:sp>
        <p:nvSpPr>
          <p:cNvPr id="22" name="Chain box 6"/>
          <p:cNvSpPr/>
          <p:nvPr/>
        </p:nvSpPr>
        <p:spPr>
          <a:xfrm>
            <a:off x="7269480" y="1874519"/>
            <a:ext cx="1261872"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ain text 6"/>
          <p:cNvSpPr txBox="1"/>
          <p:nvPr/>
        </p:nvSpPr>
        <p:spPr>
          <a:xfrm>
            <a:off x="7315200" y="2011680"/>
            <a:ext cx="1170431" cy="1097280"/>
          </a:xfrm>
          <a:prstGeom prst="rect">
            <a:avLst/>
          </a:prstGeom>
          <a:noFill/>
        </p:spPr>
        <p:txBody>
          <a:bodyPr wrap="square" lIns="36576" rIns="36576" tIns="18288" bIns="18288" anchor="t">
            <a:spAutoFit/>
          </a:bodyPr>
          <a:lstStyle/>
          <a:p>
            <a:pPr algn="l">
              <a:spcAft>
                <a:spcPts val="300"/>
              </a:spcAft>
            </a:pPr>
            <a:r>
              <a:rPr lang="en-GB" sz="1100" b="1" i="0">
                <a:solidFill>
                  <a:schemeClr val="tx2"/>
                </a:solidFill>
              </a:rPr>
              <a:t>Profit</a:t>
            </a:r>
          </a:p>
          <a:p>
            <a:pPr algn="l">
              <a:spcAft>
                <a:spcPts val="300"/>
              </a:spcAft>
            </a:pPr>
            <a:r>
              <a:rPr lang="en-GB" sz="1200" b="0" i="0">
                <a:solidFill>
                  <a:schemeClr val="tx1"/>
                </a:solidFill>
              </a:rPr>
              <a:t>Revenue growth and profitability</a:t>
            </a:r>
          </a:p>
        </p:txBody>
      </p:sp>
      <p:sp>
        <p:nvSpPr>
          <p:cNvPr id="24" name="Chain claim"/>
          <p:cNvSpPr/>
          <p:nvPr/>
        </p:nvSpPr>
        <p:spPr>
          <a:xfrm>
            <a:off x="457200" y="37033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ain claim text"/>
          <p:cNvSpPr txBox="1"/>
          <p:nvPr/>
        </p:nvSpPr>
        <p:spPr>
          <a:xfrm>
            <a:off x="640080" y="370332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The claim: </a:t>
            </a:r>
            <a:r>
              <a:rPr lang="en-GB" sz="1300" b="0" i="0">
                <a:solidFill>
                  <a:schemeClr val="bg1"/>
                </a:solidFill>
              </a:rPr>
              <a:t>each link drives the next, so investing in employees and service pays off in profit.</a:t>
            </a:r>
          </a:p>
        </p:txBody>
      </p:sp>
      <p:sp>
        <p:nvSpPr>
          <p:cNvPr id="26" name="Source note"/>
          <p:cNvSpPr txBox="1"/>
          <p:nvPr/>
        </p:nvSpPr>
        <p:spPr>
          <a:xfrm>
            <a:off x="457200" y="434340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Heskett, Jones, Loveman, Sasser &amp; Schlesinger (1994) Harvard Business Review 72(2); Heskett, Sasser &amp; Schlesinger (1997) The Service Profit Chain.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Evidence: the chain holds, with conditions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PC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C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All links</a:t>
            </a:r>
          </a:p>
        </p:txBody>
      </p:sp>
      <p:sp>
        <p:nvSpPr>
          <p:cNvPr id="8" name="SPC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significant in a meta-analysis of the full chain, but effect sizes vary strongly by type of service.</a:t>
            </a:r>
          </a:p>
          <a:p>
            <a:pPr algn="l">
              <a:spcAft>
                <a:spcPts val="200"/>
              </a:spcAft>
            </a:pPr>
            <a:r>
              <a:rPr lang="en-GB" sz="1050" b="0" i="0">
                <a:solidFill>
                  <a:srgbClr val="595959"/>
                </a:solidFill>
              </a:rPr>
              <a:t>Hogreve, Iseke, Derfuss &amp; Eller (2017) Journal of Marketing 81(3)</a:t>
            </a:r>
          </a:p>
        </p:txBody>
      </p:sp>
      <p:sp>
        <p:nvSpPr>
          <p:cNvPr id="9" name="SPC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PC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+0.5 pts</a:t>
            </a:r>
          </a:p>
        </p:txBody>
      </p:sp>
      <p:sp>
        <p:nvSpPr>
          <p:cNvPr id="11" name="SPC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revenue growth at Sears from +5 units employee attitude, via +1.3 units customer impression.</a:t>
            </a:r>
          </a:p>
          <a:p>
            <a:pPr algn="l">
              <a:spcAft>
                <a:spcPts val="200"/>
              </a:spcAft>
            </a:pPr>
            <a:r>
              <a:rPr lang="en-GB" sz="1050" b="0" i="0">
                <a:solidFill>
                  <a:srgbClr val="595959"/>
                </a:solidFill>
              </a:rPr>
              <a:t>Rucci, Kirn &amp; Quinn (1998) Harvard Business Review</a:t>
            </a:r>
          </a:p>
        </p:txBody>
      </p:sp>
      <p:sp>
        <p:nvSpPr>
          <p:cNvPr id="12" name="SPC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PC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Time lags</a:t>
            </a:r>
          </a:p>
        </p:txBody>
      </p:sp>
      <p:sp>
        <p:nvSpPr>
          <p:cNvPr id="14" name="SPC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between investment, satisfaction and performance can push managers into myopic cuts.</a:t>
            </a:r>
          </a:p>
          <a:p>
            <a:pPr algn="l">
              <a:spcAft>
                <a:spcPts val="200"/>
              </a:spcAft>
            </a:pPr>
            <a:r>
              <a:rPr lang="en-GB" sz="1050" b="0" i="0">
                <a:solidFill>
                  <a:srgbClr val="595959"/>
                </a:solidFill>
              </a:rPr>
              <a:t>Evanschitzky, von Wangenheim &amp; Wünderlich (2012) Journal of Retailing</a:t>
            </a:r>
          </a:p>
        </p:txBody>
      </p:sp>
      <p:sp>
        <p:nvSpPr>
          <p:cNvPr id="15" name="SPC caveat"/>
          <p:cNvSpPr/>
          <p:nvPr/>
        </p:nvSpPr>
        <p:spPr>
          <a:xfrm>
            <a:off x="457200" y="40690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PC caveat text"/>
          <p:cNvSpPr txBox="1"/>
          <p:nvPr/>
        </p:nvSpPr>
        <p:spPr>
          <a:xfrm>
            <a:off x="640080" y="4069080"/>
            <a:ext cx="7863840" cy="594360"/>
          </a:xfrm>
          <a:prstGeom prst="rect">
            <a:avLst/>
          </a:prstGeom>
          <a:noFill/>
        </p:spPr>
        <p:txBody>
          <a:bodyPr wrap="square" lIns="36576" rIns="36576" tIns="18288" bIns="18288" anchor="ctr">
            <a:spAutoFit/>
          </a:bodyPr>
          <a:lstStyle/>
          <a:p>
            <a:pPr algn="l">
              <a:spcAft>
                <a:spcPts val="0"/>
              </a:spcAft>
            </a:pPr>
            <a:r>
              <a:rPr lang="en-GB" sz="1300" b="1" i="0">
                <a:solidFill>
                  <a:schemeClr val="tx1"/>
                </a:solidFill>
              </a:rPr>
              <a:t>But: </a:t>
            </a:r>
            <a:r>
              <a:rPr lang="en-GB" sz="1300" b="0" i="0">
                <a:solidFill>
                  <a:schemeClr val="tx1"/>
                </a:solidFill>
              </a:rPr>
              <a:t>in UK grocery stores employee satisfaction did not drive profit (Silvestro 2002), so the employee link is contingent.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Satisfaction pays, but modestly</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Chart satisfaction correlation"/>
          <p:cNvGraphicFramePr>
            <a:graphicFrameLocks noGrp="1"/>
          </p:cNvGraphicFramePr>
          <p:nvPr/>
        </p:nvGraphicFramePr>
        <p:xfrm>
          <a:off x="457200" y="1234440"/>
          <a:ext cx="4023360" cy="3108960"/>
        </p:xfrm>
        <a:graphic>
          <a:graphicData uri="http://schemas.openxmlformats.org/drawingml/2006/chart">
            <c:chart xmlns:c="http://schemas.openxmlformats.org/drawingml/2006/chart" r:id="rId2"/>
          </a:graphicData>
        </a:graphic>
      </p:graphicFrame>
      <p:sp>
        <p:nvSpPr>
          <p:cNvPr id="7" name="Satisfaction chain body"/>
          <p:cNvSpPr/>
          <p:nvPr/>
        </p:nvSpPr>
        <p:spPr>
          <a:xfrm>
            <a:off x="4663440" y="1280160"/>
            <a:ext cx="4023360" cy="3017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atisfaction chain band"/>
          <p:cNvSpPr/>
          <p:nvPr/>
        </p:nvSpPr>
        <p:spPr>
          <a:xfrm>
            <a:off x="4663440" y="1280160"/>
            <a:ext cx="40233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atisfaction chain heading"/>
          <p:cNvSpPr txBox="1"/>
          <p:nvPr/>
        </p:nvSpPr>
        <p:spPr>
          <a:xfrm>
            <a:off x="4773168" y="1335024"/>
            <a:ext cx="333756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The satisfaction-profit chain</a:t>
            </a:r>
          </a:p>
        </p:txBody>
      </p:sp>
      <p:pic>
        <p:nvPicPr>
          <p:cNvPr id="10" name="Icon LuGauge" descr="LuGauge-white.png"/>
          <p:cNvPicPr>
            <a:picLocks noChangeAspect="1"/>
          </p:cNvPicPr>
          <p:nvPr/>
        </p:nvPicPr>
        <p:blipFill>
          <a:blip r:embed="rId3"/>
          <a:stretch>
            <a:fillRect/>
          </a:stretch>
        </p:blipFill>
        <p:spPr>
          <a:xfrm>
            <a:off x="8257031" y="1344168"/>
            <a:ext cx="329184" cy="329184"/>
          </a:xfrm>
          <a:prstGeom prst="rect">
            <a:avLst/>
          </a:prstGeom>
        </p:spPr>
      </p:pic>
      <p:sp>
        <p:nvSpPr>
          <p:cNvPr id="11" name="Satisfaction chain text"/>
          <p:cNvSpPr txBox="1"/>
          <p:nvPr/>
        </p:nvSpPr>
        <p:spPr>
          <a:xfrm>
            <a:off x="4800600" y="1847088"/>
            <a:ext cx="3749040" cy="235915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Asymmetric: </a:t>
            </a:r>
            <a:r>
              <a:rPr lang="en-GB" sz="1200" b="0" i="0">
                <a:solidFill>
                  <a:schemeClr val="tx1"/>
                </a:solidFill>
              </a:rPr>
              <a:t>a bad experience hurts more than a good one helps</a:t>
            </a:r>
          </a:p>
          <a:p>
            <a:pPr algn="l">
              <a:spcAft>
                <a:spcPts val="700"/>
              </a:spcAft>
            </a:pPr>
            <a:r>
              <a:rPr lang="en-GB" sz="1200" b="1" i="0">
                <a:solidFill>
                  <a:schemeClr val="tx1"/>
                </a:solidFill>
              </a:rPr>
              <a:t>Nonlinear: </a:t>
            </a:r>
            <a:r>
              <a:rPr lang="en-GB" sz="1200" b="0" i="0">
                <a:solidFill>
                  <a:schemeClr val="tx1"/>
                </a:solidFill>
              </a:rPr>
              <a:t>thresholds and diminishing returns</a:t>
            </a:r>
          </a:p>
          <a:p>
            <a:pPr algn="l">
              <a:spcAft>
                <a:spcPts val="700"/>
              </a:spcAft>
            </a:pPr>
            <a:r>
              <a:rPr lang="en-GB" sz="1200" b="1" i="0">
                <a:solidFill>
                  <a:schemeClr val="tx1"/>
                </a:solidFill>
              </a:rPr>
              <a:t>Intentions ≠ behaviour: </a:t>
            </a:r>
            <a:r>
              <a:rPr lang="en-GB" sz="1200" b="0" i="0">
                <a:solidFill>
                  <a:schemeClr val="tx1"/>
                </a:solidFill>
              </a:rPr>
              <a:t>same rating, different repurchase rates</a:t>
            </a:r>
          </a:p>
          <a:p>
            <a:pPr algn="l">
              <a:spcAft>
                <a:spcPts val="700"/>
              </a:spcAft>
            </a:pPr>
            <a:r>
              <a:rPr lang="en-GB" sz="1200" b="1" i="0">
                <a:solidFill>
                  <a:schemeClr val="tx1"/>
                </a:solidFill>
              </a:rPr>
              <a:t>Cost side: </a:t>
            </a:r>
            <a:r>
              <a:rPr lang="en-GB" sz="1200" b="0" i="0">
                <a:solidFill>
                  <a:schemeClr val="tx1"/>
                </a:solidFill>
              </a:rPr>
              <a:t>very high satisfaction can cost more than it earns</a:t>
            </a:r>
          </a:p>
        </p:txBody>
      </p:sp>
      <p:sp>
        <p:nvSpPr>
          <p:cNvPr id="12" name="Source note"/>
          <p:cNvSpPr txBox="1"/>
          <p:nvPr/>
        </p:nvSpPr>
        <p:spPr>
          <a:xfrm>
            <a:off x="457200" y="452628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Otto, Szymanski &amp; Varadarajan (2020) JAMS, 251 correlations; Anderson &amp; Mittal (2000) JSR; Mittal &amp; Kamakura (2001) JMR; Guenther &amp; Guenther (2021) IJRM; Mittal et al. (2023) Marketing Letters.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3 of 6 · alternative frameworks</a:t>
            </a:r>
          </a:p>
        </p:txBody>
      </p:sp>
      <p:sp>
        <p:nvSpPr>
          <p:cNvPr id="3" name="Title 2"/>
          <p:cNvSpPr>
            <a:spLocks noGrp="1"/>
          </p:cNvSpPr>
          <p:nvPr>
            <p:ph type="ctrTitle"/>
          </p:nvPr>
        </p:nvSpPr>
        <p:spPr/>
        <p:txBody>
          <a:bodyPr/>
          <a:lstStyle/>
          <a:p>
            <a:r>
              <a:t>From customers to firm value</a:t>
            </a:r>
          </a:p>
        </p:txBody>
      </p:sp>
      <p:sp>
        <p:nvSpPr>
          <p:cNvPr id="4" name="Footer Placeholder 3"/>
          <p:cNvSpPr>
            <a:spLocks noGrp="1"/>
          </p:cNvSpPr>
          <p:nvPr>
            <p:ph type="ftr" idx="14" sz="quarter"/>
          </p:nvPr>
        </p:nvSpPr>
        <p:spPr/>
        <p:txBody>
          <a:bodyPr/>
          <a:p>
            <a:r>
              <a:rPr lang="en-GB"/>
              <a:t>Customer Loyalty, Churn and Share of Wallet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Six frameworks beyond the chain</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Framework 1 body"/>
          <p:cNvSpPr/>
          <p:nvPr/>
        </p:nvSpPr>
        <p:spPr>
          <a:xfrm>
            <a:off x="457200" y="123444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amework 1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amework 1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Return on quality</a:t>
            </a:r>
          </a:p>
        </p:txBody>
      </p:sp>
      <p:pic>
        <p:nvPicPr>
          <p:cNvPr id="9" name="Icon LuCircleCheck" descr="LuCircleCheck-white.png"/>
          <p:cNvPicPr>
            <a:picLocks noChangeAspect="1"/>
          </p:cNvPicPr>
          <p:nvPr/>
        </p:nvPicPr>
        <p:blipFill>
          <a:blip r:embed="rId2"/>
          <a:stretch>
            <a:fillRect/>
          </a:stretch>
        </p:blipFill>
        <p:spPr>
          <a:xfrm>
            <a:off x="2660904" y="1298448"/>
            <a:ext cx="329184" cy="329184"/>
          </a:xfrm>
          <a:prstGeom prst="rect">
            <a:avLst/>
          </a:prstGeom>
        </p:spPr>
      </p:pic>
      <p:sp>
        <p:nvSpPr>
          <p:cNvPr id="10" name="Framework 1 text"/>
          <p:cNvSpPr txBox="1"/>
          <p:nvPr/>
        </p:nvSpPr>
        <p:spPr>
          <a:xfrm>
            <a:off x="594360" y="1801368"/>
            <a:ext cx="2359152" cy="896112"/>
          </a:xfrm>
          <a:prstGeom prst="rect">
            <a:avLst/>
          </a:prstGeom>
          <a:noFill/>
        </p:spPr>
        <p:txBody>
          <a:bodyPr wrap="square" lIns="36576" rIns="36576" tIns="18288" bIns="18288" anchor="t">
            <a:spAutoFit/>
          </a:bodyPr>
          <a:lstStyle/>
          <a:p>
            <a:pPr algn="l">
              <a:spcAft>
                <a:spcPts val="700"/>
              </a:spcAft>
            </a:pPr>
            <a:r>
              <a:rPr lang="en-GB" sz="1150" b="0" i="0">
                <a:solidFill>
                  <a:schemeClr val="tx1"/>
                </a:solidFill>
              </a:rPr>
              <a:t>Quality is an investment that must pay back; it is possible to overspend.</a:t>
            </a:r>
          </a:p>
          <a:p>
            <a:pPr algn="l">
              <a:spcAft>
                <a:spcPts val="700"/>
              </a:spcAft>
            </a:pPr>
            <a:r>
              <a:rPr lang="en-GB" sz="1050" b="0" i="0">
                <a:solidFill>
                  <a:srgbClr val="595959"/>
                </a:solidFill>
              </a:rPr>
              <a:t>Rust, Zahorik &amp; Keiningham (1995)</a:t>
            </a:r>
          </a:p>
        </p:txBody>
      </p:sp>
      <p:sp>
        <p:nvSpPr>
          <p:cNvPr id="11" name="Framework 2 body"/>
          <p:cNvSpPr/>
          <p:nvPr/>
        </p:nvSpPr>
        <p:spPr>
          <a:xfrm>
            <a:off x="3255264" y="123444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amework 2 band"/>
          <p:cNvSpPr/>
          <p:nvPr/>
        </p:nvSpPr>
        <p:spPr>
          <a:xfrm>
            <a:off x="3255264" y="123444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amework 2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Customer equity</a:t>
            </a:r>
          </a:p>
        </p:txBody>
      </p:sp>
      <p:pic>
        <p:nvPicPr>
          <p:cNvPr id="14" name="Icon LuCoins" descr="LuCoins-white.png"/>
          <p:cNvPicPr>
            <a:picLocks noChangeAspect="1"/>
          </p:cNvPicPr>
          <p:nvPr/>
        </p:nvPicPr>
        <p:blipFill>
          <a:blip r:embed="rId3"/>
          <a:stretch>
            <a:fillRect/>
          </a:stretch>
        </p:blipFill>
        <p:spPr>
          <a:xfrm>
            <a:off x="5458968" y="1298448"/>
            <a:ext cx="329184" cy="329184"/>
          </a:xfrm>
          <a:prstGeom prst="rect">
            <a:avLst/>
          </a:prstGeom>
        </p:spPr>
      </p:pic>
      <p:sp>
        <p:nvSpPr>
          <p:cNvPr id="15" name="Framework 2 text"/>
          <p:cNvSpPr txBox="1"/>
          <p:nvPr/>
        </p:nvSpPr>
        <p:spPr>
          <a:xfrm>
            <a:off x="3392424" y="1801368"/>
            <a:ext cx="2359152" cy="896112"/>
          </a:xfrm>
          <a:prstGeom prst="rect">
            <a:avLst/>
          </a:prstGeom>
          <a:noFill/>
        </p:spPr>
        <p:txBody>
          <a:bodyPr wrap="square" lIns="36576" rIns="36576" tIns="18288" bIns="18288" anchor="t">
            <a:spAutoFit/>
          </a:bodyPr>
          <a:lstStyle/>
          <a:p>
            <a:pPr algn="l">
              <a:spcAft>
                <a:spcPts val="700"/>
              </a:spcAft>
            </a:pPr>
            <a:r>
              <a:rPr lang="en-GB" sz="1150" b="0" i="0">
                <a:solidFill>
                  <a:schemeClr val="tx1"/>
                </a:solidFill>
              </a:rPr>
              <a:t>Firm value = sum of customer lifetime values; drivers are value, brand and retention.</a:t>
            </a:r>
          </a:p>
          <a:p>
            <a:pPr algn="l">
              <a:spcAft>
                <a:spcPts val="700"/>
              </a:spcAft>
            </a:pPr>
            <a:r>
              <a:rPr lang="en-GB" sz="1050" b="0" i="0">
                <a:solidFill>
                  <a:srgbClr val="595959"/>
                </a:solidFill>
              </a:rPr>
              <a:t>Rust, Lemon &amp; Zeithaml (2004); Gupta et al. (2004)</a:t>
            </a:r>
          </a:p>
        </p:txBody>
      </p:sp>
      <p:sp>
        <p:nvSpPr>
          <p:cNvPr id="16" name="Framework 3 body"/>
          <p:cNvSpPr/>
          <p:nvPr/>
        </p:nvSpPr>
        <p:spPr>
          <a:xfrm>
            <a:off x="6053328" y="123444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amework 3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amework 3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Market assets</a:t>
            </a:r>
          </a:p>
        </p:txBody>
      </p:sp>
      <p:pic>
        <p:nvPicPr>
          <p:cNvPr id="19" name="Icon LuBuilding2" descr="LuBuilding2-white.png"/>
          <p:cNvPicPr>
            <a:picLocks noChangeAspect="1"/>
          </p:cNvPicPr>
          <p:nvPr/>
        </p:nvPicPr>
        <p:blipFill>
          <a:blip r:embed="rId4"/>
          <a:stretch>
            <a:fillRect/>
          </a:stretch>
        </p:blipFill>
        <p:spPr>
          <a:xfrm>
            <a:off x="8257032" y="1298448"/>
            <a:ext cx="329184" cy="329184"/>
          </a:xfrm>
          <a:prstGeom prst="rect">
            <a:avLst/>
          </a:prstGeom>
        </p:spPr>
      </p:pic>
      <p:sp>
        <p:nvSpPr>
          <p:cNvPr id="20" name="Framework 3 text"/>
          <p:cNvSpPr txBox="1"/>
          <p:nvPr/>
        </p:nvSpPr>
        <p:spPr>
          <a:xfrm>
            <a:off x="6190488" y="1801368"/>
            <a:ext cx="2359152" cy="896112"/>
          </a:xfrm>
          <a:prstGeom prst="rect">
            <a:avLst/>
          </a:prstGeom>
          <a:noFill/>
        </p:spPr>
        <p:txBody>
          <a:bodyPr wrap="square" lIns="36576" rIns="36576" tIns="18288" bIns="18288" anchor="t">
            <a:spAutoFit/>
          </a:bodyPr>
          <a:lstStyle/>
          <a:p>
            <a:pPr algn="l">
              <a:spcAft>
                <a:spcPts val="700"/>
              </a:spcAft>
            </a:pPr>
            <a:r>
              <a:rPr lang="en-GB" sz="1150" b="0" i="0">
                <a:solidFill>
                  <a:schemeClr val="tx1"/>
                </a:solidFill>
              </a:rPr>
              <a:t>Customer relationships speed up, raise and stabilise cash flows.</a:t>
            </a:r>
          </a:p>
          <a:p>
            <a:pPr algn="l">
              <a:spcAft>
                <a:spcPts val="700"/>
              </a:spcAft>
            </a:pPr>
            <a:r>
              <a:rPr lang="en-GB" sz="1050" b="0" i="0">
                <a:solidFill>
                  <a:srgbClr val="595959"/>
                </a:solidFill>
              </a:rPr>
              <a:t>Srivastava, Shervani &amp; Fahey (1998)</a:t>
            </a:r>
          </a:p>
        </p:txBody>
      </p:sp>
      <p:sp>
        <p:nvSpPr>
          <p:cNvPr id="21" name="Framework 4 body"/>
          <p:cNvSpPr/>
          <p:nvPr/>
        </p:nvSpPr>
        <p:spPr>
          <a:xfrm>
            <a:off x="457200" y="292608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amework 4 band"/>
          <p:cNvSpPr/>
          <p:nvPr/>
        </p:nvSpPr>
        <p:spPr>
          <a:xfrm>
            <a:off x="457200" y="292608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amework 4 heading"/>
          <p:cNvSpPr txBox="1"/>
          <p:nvPr/>
        </p:nvSpPr>
        <p:spPr>
          <a:xfrm>
            <a:off x="566928" y="298094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Productivity chain</a:t>
            </a:r>
          </a:p>
        </p:txBody>
      </p:sp>
      <p:pic>
        <p:nvPicPr>
          <p:cNvPr id="24" name="Icon LuTrendingUp" descr="LuTrendingUp-white.png"/>
          <p:cNvPicPr>
            <a:picLocks noChangeAspect="1"/>
          </p:cNvPicPr>
          <p:nvPr/>
        </p:nvPicPr>
        <p:blipFill>
          <a:blip r:embed="rId5"/>
          <a:stretch>
            <a:fillRect/>
          </a:stretch>
        </p:blipFill>
        <p:spPr>
          <a:xfrm>
            <a:off x="2660904" y="2990088"/>
            <a:ext cx="329184" cy="329184"/>
          </a:xfrm>
          <a:prstGeom prst="rect">
            <a:avLst/>
          </a:prstGeom>
        </p:spPr>
      </p:pic>
      <p:sp>
        <p:nvSpPr>
          <p:cNvPr id="25" name="Framework 4 text"/>
          <p:cNvSpPr txBox="1"/>
          <p:nvPr/>
        </p:nvSpPr>
        <p:spPr>
          <a:xfrm>
            <a:off x="594360" y="3493008"/>
            <a:ext cx="2359152" cy="896112"/>
          </a:xfrm>
          <a:prstGeom prst="rect">
            <a:avLst/>
          </a:prstGeom>
          <a:noFill/>
        </p:spPr>
        <p:txBody>
          <a:bodyPr wrap="square" lIns="36576" rIns="36576" tIns="18288" bIns="18288" anchor="t">
            <a:spAutoFit/>
          </a:bodyPr>
          <a:lstStyle/>
          <a:p>
            <a:pPr algn="l">
              <a:spcAft>
                <a:spcPts val="700"/>
              </a:spcAft>
            </a:pPr>
            <a:r>
              <a:rPr lang="en-GB" sz="1150" b="0" i="0">
                <a:solidFill>
                  <a:schemeClr val="tx1"/>
                </a:solidFill>
              </a:rPr>
              <a:t>Actions → customer impact → market impact → financial impact → firm value.</a:t>
            </a:r>
          </a:p>
          <a:p>
            <a:pPr algn="l">
              <a:spcAft>
                <a:spcPts val="700"/>
              </a:spcAft>
            </a:pPr>
            <a:r>
              <a:rPr lang="en-GB" sz="1050" b="0" i="0">
                <a:solidFill>
                  <a:srgbClr val="595959"/>
                </a:solidFill>
              </a:rPr>
              <a:t>Rust et al. (2004)</a:t>
            </a:r>
          </a:p>
        </p:txBody>
      </p:sp>
      <p:sp>
        <p:nvSpPr>
          <p:cNvPr id="26" name="Framework 5 body"/>
          <p:cNvSpPr/>
          <p:nvPr/>
        </p:nvSpPr>
        <p:spPr>
          <a:xfrm>
            <a:off x="3255264" y="292608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amework 5 band"/>
          <p:cNvSpPr/>
          <p:nvPr/>
        </p:nvSpPr>
        <p:spPr>
          <a:xfrm>
            <a:off x="3255264" y="29260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amework 5 heading"/>
          <p:cNvSpPr txBox="1"/>
          <p:nvPr/>
        </p:nvSpPr>
        <p:spPr>
          <a:xfrm>
            <a:off x="3364992" y="298094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Relationships</a:t>
            </a:r>
          </a:p>
        </p:txBody>
      </p:sp>
      <p:pic>
        <p:nvPicPr>
          <p:cNvPr id="29" name="Icon LuHeartHandshake" descr="LuHeartHandshake-white.png"/>
          <p:cNvPicPr>
            <a:picLocks noChangeAspect="1"/>
          </p:cNvPicPr>
          <p:nvPr/>
        </p:nvPicPr>
        <p:blipFill>
          <a:blip r:embed="rId6"/>
          <a:stretch>
            <a:fillRect/>
          </a:stretch>
        </p:blipFill>
        <p:spPr>
          <a:xfrm>
            <a:off x="5458968" y="2990088"/>
            <a:ext cx="329184" cy="329184"/>
          </a:xfrm>
          <a:prstGeom prst="rect">
            <a:avLst/>
          </a:prstGeom>
        </p:spPr>
      </p:pic>
      <p:sp>
        <p:nvSpPr>
          <p:cNvPr id="30" name="Framework 5 text"/>
          <p:cNvSpPr txBox="1"/>
          <p:nvPr/>
        </p:nvSpPr>
        <p:spPr>
          <a:xfrm>
            <a:off x="3392424" y="3493008"/>
            <a:ext cx="2359152" cy="896112"/>
          </a:xfrm>
          <a:prstGeom prst="rect">
            <a:avLst/>
          </a:prstGeom>
          <a:noFill/>
        </p:spPr>
        <p:txBody>
          <a:bodyPr wrap="square" lIns="36576" rIns="36576" tIns="18288" bIns="18288" anchor="t">
            <a:spAutoFit/>
          </a:bodyPr>
          <a:lstStyle/>
          <a:p>
            <a:pPr algn="l">
              <a:spcAft>
                <a:spcPts val="700"/>
              </a:spcAft>
            </a:pPr>
            <a:r>
              <a:rPr lang="en-GB" sz="1150" b="0" i="0">
                <a:solidFill>
                  <a:schemeClr val="tx1"/>
                </a:solidFill>
              </a:rPr>
              <a:t>Trust and commitment keep relationships; relationship quality drives performance.</a:t>
            </a:r>
          </a:p>
          <a:p>
            <a:pPr algn="l">
              <a:spcAft>
                <a:spcPts val="700"/>
              </a:spcAft>
            </a:pPr>
            <a:r>
              <a:rPr lang="en-GB" sz="1050" b="0" i="0">
                <a:solidFill>
                  <a:srgbClr val="595959"/>
                </a:solidFill>
              </a:rPr>
              <a:t>Morgan &amp; Hunt (1994); Palmatier et al. (2006)</a:t>
            </a:r>
          </a:p>
        </p:txBody>
      </p:sp>
      <p:sp>
        <p:nvSpPr>
          <p:cNvPr id="31" name="Framework 6 body"/>
          <p:cNvSpPr/>
          <p:nvPr/>
        </p:nvSpPr>
        <p:spPr>
          <a:xfrm>
            <a:off x="6053328" y="2926080"/>
            <a:ext cx="2633472"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amework 6 band"/>
          <p:cNvSpPr/>
          <p:nvPr/>
        </p:nvSpPr>
        <p:spPr>
          <a:xfrm>
            <a:off x="6053328" y="2926080"/>
            <a:ext cx="2633472"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amework 6 heading"/>
          <p:cNvSpPr txBox="1"/>
          <p:nvPr/>
        </p:nvSpPr>
        <p:spPr>
          <a:xfrm>
            <a:off x="6163056" y="298094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Engagement value</a:t>
            </a:r>
          </a:p>
        </p:txBody>
      </p:sp>
      <p:pic>
        <p:nvPicPr>
          <p:cNvPr id="34" name="Icon LuUsers" descr="LuUsers-white.png"/>
          <p:cNvPicPr>
            <a:picLocks noChangeAspect="1"/>
          </p:cNvPicPr>
          <p:nvPr/>
        </p:nvPicPr>
        <p:blipFill>
          <a:blip r:embed="rId7"/>
          <a:stretch>
            <a:fillRect/>
          </a:stretch>
        </p:blipFill>
        <p:spPr>
          <a:xfrm>
            <a:off x="8257032" y="2990088"/>
            <a:ext cx="329184" cy="329184"/>
          </a:xfrm>
          <a:prstGeom prst="rect">
            <a:avLst/>
          </a:prstGeom>
        </p:spPr>
      </p:pic>
      <p:sp>
        <p:nvSpPr>
          <p:cNvPr id="35" name="Framework 6 text"/>
          <p:cNvSpPr txBox="1"/>
          <p:nvPr/>
        </p:nvSpPr>
        <p:spPr>
          <a:xfrm>
            <a:off x="6190488" y="3493008"/>
            <a:ext cx="2359152" cy="896112"/>
          </a:xfrm>
          <a:prstGeom prst="rect">
            <a:avLst/>
          </a:prstGeom>
          <a:noFill/>
        </p:spPr>
        <p:txBody>
          <a:bodyPr wrap="square" lIns="36576" rIns="36576" tIns="18288" bIns="18288" anchor="t">
            <a:spAutoFit/>
          </a:bodyPr>
          <a:lstStyle/>
          <a:p>
            <a:pPr algn="l">
              <a:spcAft>
                <a:spcPts val="700"/>
              </a:spcAft>
            </a:pPr>
            <a:r>
              <a:rPr lang="en-GB" sz="1150" b="0" i="0">
                <a:solidFill>
                  <a:schemeClr val="tx1"/>
                </a:solidFill>
              </a:rPr>
              <a:t>CLV plus referral, influence and knowledge value of a customer.</a:t>
            </a:r>
          </a:p>
          <a:p>
            <a:pPr algn="l">
              <a:spcAft>
                <a:spcPts val="700"/>
              </a:spcAft>
            </a:pPr>
            <a:r>
              <a:rPr lang="en-GB" sz="1050" b="0" i="0">
                <a:solidFill>
                  <a:srgbClr val="595959"/>
                </a:solidFill>
              </a:rPr>
              <a:t>Kumar et al. (2010)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Retention: the strongest value lever</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Chart value levers"/>
          <p:cNvGraphicFramePr>
            <a:graphicFrameLocks noGrp="1"/>
          </p:cNvGraphicFramePr>
          <p:nvPr/>
        </p:nvGraphicFramePr>
        <p:xfrm>
          <a:off x="457200" y="1234440"/>
          <a:ext cx="4572000" cy="3017520"/>
        </p:xfrm>
        <a:graphic>
          <a:graphicData uri="http://schemas.openxmlformats.org/drawingml/2006/chart">
            <c:chart xmlns:c="http://schemas.openxmlformats.org/drawingml/2006/chart" r:id="rId2"/>
          </a:graphicData>
        </a:graphic>
      </p:graphicFrame>
      <p:sp>
        <p:nvSpPr>
          <p:cNvPr id="7" name="Value caveats body"/>
          <p:cNvSpPr/>
          <p:nvPr/>
        </p:nvSpPr>
        <p:spPr>
          <a:xfrm>
            <a:off x="5212080" y="1280160"/>
            <a:ext cx="3474720" cy="2926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alue caveats band"/>
          <p:cNvSpPr/>
          <p:nvPr/>
        </p:nvSpPr>
        <p:spPr>
          <a:xfrm>
            <a:off x="5212080" y="1280160"/>
            <a:ext cx="347472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alue caveats heading"/>
          <p:cNvSpPr txBox="1"/>
          <p:nvPr/>
        </p:nvSpPr>
        <p:spPr>
          <a:xfrm>
            <a:off x="5321808" y="1335024"/>
            <a:ext cx="278892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Read with care</a:t>
            </a:r>
          </a:p>
        </p:txBody>
      </p:sp>
      <p:pic>
        <p:nvPicPr>
          <p:cNvPr id="10" name="Icon LuCoins" descr="LuCoins-white.png"/>
          <p:cNvPicPr>
            <a:picLocks noChangeAspect="1"/>
          </p:cNvPicPr>
          <p:nvPr/>
        </p:nvPicPr>
        <p:blipFill>
          <a:blip r:embed="rId3"/>
          <a:stretch>
            <a:fillRect/>
          </a:stretch>
        </p:blipFill>
        <p:spPr>
          <a:xfrm>
            <a:off x="8257031" y="1344168"/>
            <a:ext cx="329184" cy="329184"/>
          </a:xfrm>
          <a:prstGeom prst="rect">
            <a:avLst/>
          </a:prstGeom>
        </p:spPr>
      </p:pic>
      <p:sp>
        <p:nvSpPr>
          <p:cNvPr id="11" name="Value caveats text"/>
          <p:cNvSpPr txBox="1"/>
          <p:nvPr/>
        </p:nvSpPr>
        <p:spPr>
          <a:xfrm>
            <a:off x="5349240" y="1847088"/>
            <a:ext cx="3200400" cy="226771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Heterogeneity: </a:t>
            </a:r>
            <a:r>
              <a:rPr lang="en-GB" sz="1200" b="0" i="0">
                <a:solidFill>
                  <a:schemeClr val="tx1"/>
                </a:solidFill>
              </a:rPr>
              <a:t>a single retention rate understates the effect (Fader &amp; Hardie 2010)</a:t>
            </a:r>
          </a:p>
          <a:p>
            <a:pPr algn="l">
              <a:spcAft>
                <a:spcPts val="700"/>
              </a:spcAft>
            </a:pPr>
            <a:r>
              <a:rPr lang="en-GB" sz="1200" b="1" i="0">
                <a:solidFill>
                  <a:schemeClr val="tx1"/>
                </a:solidFill>
              </a:rPr>
              <a:t>Acquisition: </a:t>
            </a:r>
            <a:r>
              <a:rPr lang="en-GB" sz="1200" b="0" i="0">
                <a:solidFill>
                  <a:schemeClr val="tx1"/>
                </a:solidFill>
              </a:rPr>
              <a:t>future new customers matter too; leverage 1.55 (Schulze et al. 2012)</a:t>
            </a:r>
          </a:p>
          <a:p>
            <a:pPr algn="l">
              <a:spcAft>
                <a:spcPts val="700"/>
              </a:spcAft>
            </a:pPr>
            <a:r>
              <a:rPr lang="en-GB" sz="1200" b="1" i="0">
                <a:solidFill>
                  <a:schemeClr val="tx1"/>
                </a:solidFill>
              </a:rPr>
              <a:t>Market cap: </a:t>
            </a:r>
            <a:r>
              <a:rPr lang="en-GB" sz="1200" b="0" i="0">
                <a:solidFill>
                  <a:schemeClr val="tx1"/>
                </a:solidFill>
              </a:rPr>
              <a:t>customer equity predicts it (Kumar &amp; Shah 2009)</a:t>
            </a:r>
          </a:p>
        </p:txBody>
      </p:sp>
      <p:sp>
        <p:nvSpPr>
          <p:cNvPr id="12" name="Source note"/>
          <p:cNvSpPr txBox="1"/>
          <p:nvPr/>
        </p:nvSpPr>
        <p:spPr>
          <a:xfrm>
            <a:off x="457200" y="443484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Effect of a 1% improvement in each lever. Gupta, Lehmann &amp; Stuart (2004) Journal of Marketing Research 41(1): five firms valued from public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Customer assets and the stock market</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Chart elasticities"/>
          <p:cNvGraphicFramePr>
            <a:graphicFrameLocks noGrp="1"/>
          </p:cNvGraphicFramePr>
          <p:nvPr/>
        </p:nvGraphicFramePr>
        <p:xfrm>
          <a:off x="457200" y="1234440"/>
          <a:ext cx="4206240" cy="3017520"/>
        </p:xfrm>
        <a:graphic>
          <a:graphicData uri="http://schemas.openxmlformats.org/drawingml/2006/chart">
            <c:chart xmlns:c="http://schemas.openxmlformats.org/drawingml/2006/chart" r:id="rId2"/>
          </a:graphicData>
        </a:graphic>
      </p:graphicFrame>
      <p:sp>
        <p:nvSpPr>
          <p:cNvPr id="7" name="Satisfaction returns body"/>
          <p:cNvSpPr/>
          <p:nvPr/>
        </p:nvSpPr>
        <p:spPr>
          <a:xfrm>
            <a:off x="4846320" y="1280160"/>
            <a:ext cx="3840480" cy="3017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atisfaction returns band"/>
          <p:cNvSpPr/>
          <p:nvPr/>
        </p:nvSpPr>
        <p:spPr>
          <a:xfrm>
            <a:off x="4846320" y="1280160"/>
            <a:ext cx="384048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atisfaction returns heading"/>
          <p:cNvSpPr txBox="1"/>
          <p:nvPr/>
        </p:nvSpPr>
        <p:spPr>
          <a:xfrm>
            <a:off x="4956048" y="1335024"/>
            <a:ext cx="315468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Satisfaction and returns</a:t>
            </a:r>
          </a:p>
        </p:txBody>
      </p:sp>
      <p:pic>
        <p:nvPicPr>
          <p:cNvPr id="10" name="Icon LuTrendingUp" descr="LuTrendingUp-white.png"/>
          <p:cNvPicPr>
            <a:picLocks noChangeAspect="1"/>
          </p:cNvPicPr>
          <p:nvPr/>
        </p:nvPicPr>
        <p:blipFill>
          <a:blip r:embed="rId3"/>
          <a:stretch>
            <a:fillRect/>
          </a:stretch>
        </p:blipFill>
        <p:spPr>
          <a:xfrm>
            <a:off x="8257031" y="1344168"/>
            <a:ext cx="329184" cy="329184"/>
          </a:xfrm>
          <a:prstGeom prst="rect">
            <a:avLst/>
          </a:prstGeom>
        </p:spPr>
      </p:pic>
      <p:sp>
        <p:nvSpPr>
          <p:cNvPr id="11" name="Satisfaction returns text"/>
          <p:cNvSpPr txBox="1"/>
          <p:nvPr/>
        </p:nvSpPr>
        <p:spPr>
          <a:xfrm>
            <a:off x="4983480" y="1847088"/>
            <a:ext cx="3566160" cy="235915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Cash flows: </a:t>
            </a:r>
            <a:r>
              <a:rPr lang="en-GB" sz="1200" b="0" i="0">
                <a:solidFill>
                  <a:schemeClr val="tx1"/>
                </a:solidFill>
              </a:rPr>
              <a:t>more growth, less volatility (Gruca &amp; Rego 2005)</a:t>
            </a:r>
          </a:p>
          <a:p>
            <a:pPr algn="l">
              <a:spcAft>
                <a:spcPts val="700"/>
              </a:spcAft>
            </a:pPr>
            <a:r>
              <a:rPr lang="en-GB" sz="1200" b="1" i="0">
                <a:solidFill>
                  <a:schemeClr val="tx1"/>
                </a:solidFill>
              </a:rPr>
              <a:t>Risk: </a:t>
            </a:r>
            <a:r>
              <a:rPr lang="en-GB" sz="1200" b="0" i="0">
                <a:solidFill>
                  <a:schemeClr val="tx1"/>
                </a:solidFill>
              </a:rPr>
              <a:t>lower systematic risk (Tuli &amp; Bharadwaj 2009)</a:t>
            </a:r>
          </a:p>
          <a:p>
            <a:pPr algn="l">
              <a:spcAft>
                <a:spcPts val="700"/>
              </a:spcAft>
            </a:pPr>
            <a:r>
              <a:rPr lang="en-GB" sz="1200" b="1" i="0">
                <a:solidFill>
                  <a:schemeClr val="tx1"/>
                </a:solidFill>
              </a:rPr>
              <a:t>Returns: </a:t>
            </a:r>
            <a:r>
              <a:rPr lang="en-GB" sz="1200" b="0" i="0">
                <a:solidFill>
                  <a:schemeClr val="tx1"/>
                </a:solidFill>
              </a:rPr>
              <a:t>high-ACSI portfolio 518% vs S&amp;P 31%, 2000-2014 (Fornell et al. 2016)</a:t>
            </a:r>
          </a:p>
          <a:p>
            <a:pPr algn="l">
              <a:spcAft>
                <a:spcPts val="700"/>
              </a:spcAft>
            </a:pPr>
            <a:r>
              <a:rPr lang="en-GB" sz="1200" b="1" i="0">
                <a:solidFill>
                  <a:schemeClr val="tx1"/>
                </a:solidFill>
              </a:rPr>
              <a:t>Contested: </a:t>
            </a:r>
            <a:r>
              <a:rPr lang="en-GB" sz="1200" b="0" i="0">
                <a:solidFill>
                  <a:schemeClr val="tx1"/>
                </a:solidFill>
              </a:rPr>
              <a:t>mispricing limited to few firms (Jacobson &amp; Mizik 2009)</a:t>
            </a:r>
          </a:p>
        </p:txBody>
      </p:sp>
      <p:sp>
        <p:nvSpPr>
          <p:cNvPr id="12" name="Source note"/>
          <p:cNvSpPr txBox="1"/>
          <p:nvPr/>
        </p:nvSpPr>
        <p:spPr>
          <a:xfrm>
            <a:off x="457200" y="443484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Edeling &amp; Fischer (2016) Journal of Marketing Research: 488 elasticities from 83 studies.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4 of 6 · predict, then manage</a:t>
            </a:r>
          </a:p>
        </p:txBody>
      </p:sp>
      <p:sp>
        <p:nvSpPr>
          <p:cNvPr id="3" name="Title 2"/>
          <p:cNvSpPr>
            <a:spLocks noGrp="1"/>
          </p:cNvSpPr>
          <p:nvPr>
            <p:ph type="ctrTitle"/>
          </p:nvPr>
        </p:nvSpPr>
        <p:spPr/>
        <p:txBody>
          <a:bodyPr/>
          <a:lstStyle/>
          <a:p>
            <a:r>
              <a:t>Churn</a:t>
            </a:r>
          </a:p>
        </p:txBody>
      </p:sp>
      <p:sp>
        <p:nvSpPr>
          <p:cNvPr id="4" name="Footer Placeholder 3"/>
          <p:cNvSpPr>
            <a:spLocks noGrp="1"/>
          </p:cNvSpPr>
          <p:nvPr>
            <p:ph type="ftr" idx="14" sz="quarter"/>
          </p:nvPr>
        </p:nvSpPr>
        <p:spPr/>
        <p:txBody>
          <a:bodyPr/>
          <a:p>
            <a:r>
              <a:rPr lang="en-GB"/>
              <a:t>Customer Loyalty, Churn and Share of Wallet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Small churn changes, large value changes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CLV table"/>
          <p:cNvGraphicFramePr>
            <a:graphicFrameLocks noGrp="1"/>
          </p:cNvGraphicFramePr>
          <p:nvPr/>
        </p:nvGraphicFramePr>
        <p:xfrm>
          <a:off x="457200" y="1280160"/>
          <a:ext cx="4937760" cy="2011680"/>
        </p:xfrm>
        <a:graphic>
          <a:graphicData uri="http://schemas.openxmlformats.org/drawingml/2006/table">
            <a:tbl>
              <a:tblPr firstRow="1" bandRow="1">
                <a:tableStyleId>{5C22544A-7EE6-4342-B048-85BDC9FD1C3A}</a:tableStyleId>
              </a:tblPr>
              <a:tblGrid>
                <a:gridCol w="1188720"/>
                <a:gridCol w="914400"/>
                <a:gridCol w="1828800"/>
                <a:gridCol w="1005840"/>
              </a:tblGrid>
              <a:tr h="502920">
                <a:tc>
                  <a:txBody>
                    <a:bodyPr/>
                    <a:lstStyle/>
                    <a:p>
                      <a:r>
                        <a:rPr lang="en-GB" sz="1300" b="1">
                          <a:solidFill>
                            <a:schemeClr val="bg1"/>
                          </a:solidFill>
                        </a:rPr>
                        <a:t>Retention</a:t>
                      </a:r>
                    </a:p>
                  </a:txBody>
                  <a:tcPr anchor="ctr">
                    <a:solidFill>
                      <a:schemeClr val="accent1"/>
                    </a:solidFill>
                  </a:tcPr>
                </a:tc>
                <a:tc>
                  <a:txBody>
                    <a:bodyPr/>
                    <a:lstStyle/>
                    <a:p>
                      <a:r>
                        <a:rPr lang="en-GB" sz="1300" b="1">
                          <a:solidFill>
                            <a:schemeClr val="bg1"/>
                          </a:solidFill>
                        </a:rPr>
                        <a:t>Churn</a:t>
                      </a:r>
                    </a:p>
                  </a:txBody>
                  <a:tcPr anchor="ctr">
                    <a:solidFill>
                      <a:schemeClr val="accent1"/>
                    </a:solidFill>
                  </a:tcPr>
                </a:tc>
                <a:tc>
                  <a:txBody>
                    <a:bodyPr/>
                    <a:lstStyle/>
                    <a:p>
                      <a:r>
                        <a:rPr lang="en-GB" sz="1300" b="1">
                          <a:solidFill>
                            <a:schemeClr val="bg1"/>
                          </a:solidFill>
                        </a:rPr>
                        <a:t>CLV</a:t>
                      </a:r>
                    </a:p>
                  </a:txBody>
                  <a:tcPr anchor="ctr">
                    <a:solidFill>
                      <a:schemeClr val="accent1"/>
                    </a:solidFill>
                  </a:tcPr>
                </a:tc>
                <a:tc>
                  <a:txBody>
                    <a:bodyPr/>
                    <a:lstStyle/>
                    <a:p>
                      <a:r>
                        <a:rPr lang="en-GB" sz="1300" b="1">
                          <a:solidFill>
                            <a:schemeClr val="bg1"/>
                          </a:solidFill>
                        </a:rPr>
                        <a:t>Change</a:t>
                      </a:r>
                    </a:p>
                  </a:txBody>
                  <a:tcPr anchor="ctr">
                    <a:solidFill>
                      <a:schemeClr val="accent1"/>
                    </a:solidFill>
                  </a:tcPr>
                </a:tc>
              </a:tr>
              <a:tr h="502920">
                <a:tc>
                  <a:txBody>
                    <a:bodyPr/>
                    <a:lstStyle/>
                    <a:p>
                      <a:r>
                        <a:rPr lang="en-GB" sz="1300">
                          <a:solidFill>
                            <a:schemeClr val="tx1"/>
                          </a:solidFill>
                        </a:rPr>
                        <a:t>70%</a:t>
                      </a:r>
                    </a:p>
                  </a:txBody>
                  <a:tcPr anchor="ctr">
                    <a:solidFill>
                      <a:schemeClr val="bg2"/>
                    </a:solidFill>
                  </a:tcPr>
                </a:tc>
                <a:tc>
                  <a:txBody>
                    <a:bodyPr/>
                    <a:lstStyle/>
                    <a:p>
                      <a:r>
                        <a:rPr lang="en-GB" sz="1300">
                          <a:solidFill>
                            <a:schemeClr val="tx1"/>
                          </a:solidFill>
                        </a:rPr>
                        <a:t>30%</a:t>
                      </a:r>
                    </a:p>
                  </a:txBody>
                  <a:tcPr anchor="ctr">
                    <a:solidFill>
                      <a:schemeClr val="bg2"/>
                    </a:solidFill>
                  </a:tcPr>
                </a:tc>
                <a:tc>
                  <a:txBody>
                    <a:bodyPr/>
                    <a:lstStyle/>
                    <a:p>
                      <a:r>
                        <a:rPr lang="en-GB" sz="1300">
                          <a:solidFill>
                            <a:schemeClr val="tx1"/>
                          </a:solidFill>
                        </a:rPr>
                        <a:t>175</a:t>
                      </a:r>
                    </a:p>
                  </a:txBody>
                  <a:tcPr anchor="ctr">
                    <a:solidFill>
                      <a:schemeClr val="bg2"/>
                    </a:solidFill>
                  </a:tcPr>
                </a:tc>
                <a:tc>
                  <a:txBody>
                    <a:bodyPr/>
                    <a:lstStyle/>
                    <a:p>
                      <a:r>
                        <a:rPr lang="en-GB" sz="1300">
                          <a:solidFill>
                            <a:schemeClr val="tx1"/>
                          </a:solidFill>
                        </a:rPr>
                        <a:t>base</a:t>
                      </a:r>
                    </a:p>
                  </a:txBody>
                  <a:tcPr anchor="ctr">
                    <a:solidFill>
                      <a:schemeClr val="bg2"/>
                    </a:solidFill>
                  </a:tcPr>
                </a:tc>
              </a:tr>
              <a:tr h="502920">
                <a:tc>
                  <a:txBody>
                    <a:bodyPr/>
                    <a:lstStyle/>
                    <a:p>
                      <a:r>
                        <a:rPr lang="en-GB" sz="1300">
                          <a:solidFill>
                            <a:schemeClr val="tx1"/>
                          </a:solidFill>
                        </a:rPr>
                        <a:t>80%</a:t>
                      </a:r>
                    </a:p>
                  </a:txBody>
                  <a:tcPr anchor="ctr">
                    <a:solidFill>
                      <a:schemeClr val="bg2"/>
                    </a:solidFill>
                  </a:tcPr>
                </a:tc>
                <a:tc>
                  <a:txBody>
                    <a:bodyPr/>
                    <a:lstStyle/>
                    <a:p>
                      <a:r>
                        <a:rPr lang="en-GB" sz="1300">
                          <a:solidFill>
                            <a:schemeClr val="tx1"/>
                          </a:solidFill>
                        </a:rPr>
                        <a:t>20%</a:t>
                      </a:r>
                    </a:p>
                  </a:txBody>
                  <a:tcPr anchor="ctr">
                    <a:solidFill>
                      <a:schemeClr val="bg2"/>
                    </a:solidFill>
                  </a:tcPr>
                </a:tc>
                <a:tc>
                  <a:txBody>
                    <a:bodyPr/>
                    <a:lstStyle/>
                    <a:p>
                      <a:r>
                        <a:rPr lang="en-GB" sz="1300">
                          <a:solidFill>
                            <a:schemeClr val="tx1"/>
                          </a:solidFill>
                        </a:rPr>
                        <a:t>267</a:t>
                      </a:r>
                    </a:p>
                  </a:txBody>
                  <a:tcPr anchor="ctr">
                    <a:solidFill>
                      <a:schemeClr val="bg2"/>
                    </a:solidFill>
                  </a:tcPr>
                </a:tc>
                <a:tc>
                  <a:txBody>
                    <a:bodyPr/>
                    <a:lstStyle/>
                    <a:p>
                      <a:r>
                        <a:rPr lang="en-GB" sz="1300">
                          <a:solidFill>
                            <a:schemeClr val="tx1"/>
                          </a:solidFill>
                        </a:rPr>
                        <a:t>+52%</a:t>
                      </a:r>
                    </a:p>
                  </a:txBody>
                  <a:tcPr anchor="ctr">
                    <a:solidFill>
                      <a:schemeClr val="bg2"/>
                    </a:solidFill>
                  </a:tcPr>
                </a:tc>
              </a:tr>
              <a:tr h="502920">
                <a:tc>
                  <a:txBody>
                    <a:bodyPr/>
                    <a:lstStyle/>
                    <a:p>
                      <a:r>
                        <a:rPr lang="en-GB" sz="1300">
                          <a:solidFill>
                            <a:schemeClr val="tx1"/>
                          </a:solidFill>
                        </a:rPr>
                        <a:t>90%</a:t>
                      </a:r>
                    </a:p>
                  </a:txBody>
                  <a:tcPr anchor="ctr">
                    <a:solidFill>
                      <a:schemeClr val="bg2"/>
                    </a:solidFill>
                  </a:tcPr>
                </a:tc>
                <a:tc>
                  <a:txBody>
                    <a:bodyPr/>
                    <a:lstStyle/>
                    <a:p>
                      <a:r>
                        <a:rPr lang="en-GB" sz="1300">
                          <a:solidFill>
                            <a:schemeClr val="tx1"/>
                          </a:solidFill>
                        </a:rPr>
                        <a:t>10%</a:t>
                      </a:r>
                    </a:p>
                  </a:txBody>
                  <a:tcPr anchor="ctr">
                    <a:solidFill>
                      <a:schemeClr val="bg2"/>
                    </a:solidFill>
                  </a:tcPr>
                </a:tc>
                <a:tc>
                  <a:txBody>
                    <a:bodyPr/>
                    <a:lstStyle/>
                    <a:p>
                      <a:r>
                        <a:rPr lang="en-GB" sz="1300" b="1">
                          <a:solidFill>
                            <a:schemeClr val="tx1"/>
                          </a:solidFill>
                        </a:rPr>
                        <a:t>450</a:t>
                      </a:r>
                    </a:p>
                  </a:txBody>
                  <a:tcPr anchor="ctr">
                    <a:solidFill>
                      <a:schemeClr val="accent6"/>
                    </a:solidFill>
                  </a:tcPr>
                </a:tc>
                <a:tc>
                  <a:txBody>
                    <a:bodyPr/>
                    <a:lstStyle/>
                    <a:p>
                      <a:r>
                        <a:rPr lang="en-GB" sz="1300" b="1">
                          <a:solidFill>
                            <a:schemeClr val="tx1"/>
                          </a:solidFill>
                        </a:rPr>
                        <a:t>+157%</a:t>
                      </a:r>
                    </a:p>
                  </a:txBody>
                  <a:tcPr anchor="ctr">
                    <a:solidFill>
                      <a:schemeClr val="accent6"/>
                    </a:solidFill>
                  </a:tcPr>
                </a:tc>
              </a:tr>
            </a:tbl>
          </a:graphicData>
        </a:graphic>
      </p:graphicFrame>
      <p:sp>
        <p:nvSpPr>
          <p:cNvPr id="7" name="Churn why body"/>
          <p:cNvSpPr/>
          <p:nvPr/>
        </p:nvSpPr>
        <p:spPr>
          <a:xfrm>
            <a:off x="5577840" y="1280160"/>
            <a:ext cx="310896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urn why band"/>
          <p:cNvSpPr/>
          <p:nvPr/>
        </p:nvSpPr>
        <p:spPr>
          <a:xfrm>
            <a:off x="5577840" y="1280160"/>
            <a:ext cx="31089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urn why heading"/>
          <p:cNvSpPr txBox="1"/>
          <p:nvPr/>
        </p:nvSpPr>
        <p:spPr>
          <a:xfrm>
            <a:off x="5687568" y="1335024"/>
            <a:ext cx="242316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Why so steep?</a:t>
            </a:r>
          </a:p>
        </p:txBody>
      </p:sp>
      <p:pic>
        <p:nvPicPr>
          <p:cNvPr id="10" name="Icon LuCalculator" descr="LuCalculator-white.png"/>
          <p:cNvPicPr>
            <a:picLocks noChangeAspect="1"/>
          </p:cNvPicPr>
          <p:nvPr/>
        </p:nvPicPr>
        <p:blipFill>
          <a:blip r:embed="rId2"/>
          <a:stretch>
            <a:fillRect/>
          </a:stretch>
        </p:blipFill>
        <p:spPr>
          <a:xfrm>
            <a:off x="8257031" y="1344168"/>
            <a:ext cx="329184" cy="329184"/>
          </a:xfrm>
          <a:prstGeom prst="rect">
            <a:avLst/>
          </a:prstGeom>
        </p:spPr>
      </p:pic>
      <p:sp>
        <p:nvSpPr>
          <p:cNvPr id="11" name="Churn why text"/>
          <p:cNvSpPr txBox="1"/>
          <p:nvPr/>
        </p:nvSpPr>
        <p:spPr>
          <a:xfrm>
            <a:off x="5715000" y="1847088"/>
            <a:ext cx="2834640" cy="135331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Each point of churn </a:t>
            </a:r>
            <a:r>
              <a:rPr lang="en-GB" sz="1300" b="0" i="0">
                <a:solidFill>
                  <a:schemeClr val="tx1"/>
                </a:solidFill>
              </a:rPr>
              <a:t>removes a share of every future year's margin</a:t>
            </a:r>
          </a:p>
          <a:p>
            <a:pPr algn="l">
              <a:spcAft>
                <a:spcPts val="700"/>
              </a:spcAft>
            </a:pPr>
            <a:r>
              <a:rPr lang="en-GB" sz="1300" b="1" i="0">
                <a:solidFill>
                  <a:schemeClr val="tx1"/>
                </a:solidFill>
              </a:rPr>
              <a:t>Lifetime </a:t>
            </a:r>
            <a:r>
              <a:rPr lang="en-GB" sz="1300" b="0" i="0">
                <a:solidFill>
                  <a:schemeClr val="tx1"/>
                </a:solidFill>
              </a:rPr>
              <a:t>rises sharply as churn falls</a:t>
            </a:r>
          </a:p>
        </p:txBody>
      </p:sp>
      <p:sp>
        <p:nvSpPr>
          <p:cNvPr id="12" name="CLV formula"/>
          <p:cNvSpPr/>
          <p:nvPr/>
        </p:nvSpPr>
        <p:spPr>
          <a:xfrm>
            <a:off x="457200" y="352044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V formula text"/>
          <p:cNvSpPr txBox="1"/>
          <p:nvPr/>
        </p:nvSpPr>
        <p:spPr>
          <a:xfrm>
            <a:off x="640080" y="352044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tx1"/>
                </a:solidFill>
              </a:rPr>
              <a:t>Formula: </a:t>
            </a:r>
            <a:r>
              <a:rPr lang="en-GB" sz="1300" b="0" i="0">
                <a:solidFill>
                  <a:schemeClr val="tx1"/>
                </a:solidFill>
              </a:rPr>
              <a:t>CLV = m · r ÷ (1 + d − r), with margin m = 100 and discount rate d = 10%.</a:t>
            </a:r>
          </a:p>
        </p:txBody>
      </p:sp>
      <p:sp>
        <p:nvSpPr>
          <p:cNvPr id="14" name="Source note"/>
          <p:cNvSpPr txBox="1"/>
          <p:nvPr/>
        </p:nvSpPr>
        <p:spPr>
          <a:xfrm>
            <a:off x="457200" y="416052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Gupta &amp; Lehmann (2005) Managing Customers as Investments; Hardie note 024 on CLV formulas.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Predicting churn is not managing churn</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Predict churn body"/>
          <p:cNvSpPr/>
          <p:nvPr/>
        </p:nvSpPr>
        <p:spPr>
          <a:xfrm>
            <a:off x="457200"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edict churn band"/>
          <p:cNvSpPr/>
          <p:nvPr/>
        </p:nvSpPr>
        <p:spPr>
          <a:xfrm>
            <a:off x="457200" y="1280160"/>
            <a:ext cx="4032504"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edict churn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Predict: who will leave?</a:t>
            </a:r>
          </a:p>
        </p:txBody>
      </p:sp>
      <p:pic>
        <p:nvPicPr>
          <p:cNvPr id="9" name="Icon LuSearch" descr="LuSearch-white.png"/>
          <p:cNvPicPr>
            <a:picLocks noChangeAspect="1"/>
          </p:cNvPicPr>
          <p:nvPr/>
        </p:nvPicPr>
        <p:blipFill>
          <a:blip r:embed="rId2"/>
          <a:stretch>
            <a:fillRect/>
          </a:stretch>
        </p:blipFill>
        <p:spPr>
          <a:xfrm>
            <a:off x="4059936" y="1344168"/>
            <a:ext cx="329184" cy="329184"/>
          </a:xfrm>
          <a:prstGeom prst="rect">
            <a:avLst/>
          </a:prstGeom>
        </p:spPr>
      </p:pic>
      <p:sp>
        <p:nvSpPr>
          <p:cNvPr id="10" name="Predict churn text"/>
          <p:cNvSpPr txBox="1"/>
          <p:nvPr/>
        </p:nvSpPr>
        <p:spPr>
          <a:xfrm>
            <a:off x="594360" y="1847088"/>
            <a:ext cx="3758184" cy="185623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Methods matter: </a:t>
            </a:r>
            <a:r>
              <a:rPr lang="en-GB" sz="1300" b="0" i="0">
                <a:solidFill>
                  <a:schemeClr val="tx1"/>
                </a:solidFill>
              </a:rPr>
              <a:t>the churn tournament found gaps worth hundreds of thousands of dollars per campaign</a:t>
            </a:r>
          </a:p>
          <a:p>
            <a:pPr algn="l">
              <a:spcAft>
                <a:spcPts val="700"/>
              </a:spcAft>
            </a:pPr>
            <a:r>
              <a:rPr lang="en-GB" sz="1300" b="1" i="0">
                <a:solidFill>
                  <a:schemeClr val="tx1"/>
                </a:solidFill>
              </a:rPr>
              <a:t>Trees and boosting </a:t>
            </a:r>
            <a:r>
              <a:rPr lang="en-GB" sz="1300" b="0" i="0">
                <a:solidFill>
                  <a:schemeClr val="tx1"/>
                </a:solidFill>
              </a:rPr>
              <a:t>beat plain logit</a:t>
            </a:r>
          </a:p>
          <a:p>
            <a:pPr algn="l">
              <a:spcAft>
                <a:spcPts val="700"/>
              </a:spcAft>
            </a:pPr>
            <a:r>
              <a:rPr lang="en-GB" sz="1300" b="1" i="0">
                <a:solidFill>
                  <a:schemeClr val="tx1"/>
                </a:solidFill>
              </a:rPr>
              <a:t>Judge by profit, </a:t>
            </a:r>
            <a:r>
              <a:rPr lang="en-GB" sz="1300" b="0" i="0">
                <a:solidFill>
                  <a:schemeClr val="tx1"/>
                </a:solidFill>
              </a:rPr>
              <a:t>not only AUC</a:t>
            </a:r>
          </a:p>
        </p:txBody>
      </p:sp>
      <p:sp>
        <p:nvSpPr>
          <p:cNvPr id="11" name="Manage churn body"/>
          <p:cNvSpPr/>
          <p:nvPr/>
        </p:nvSpPr>
        <p:spPr>
          <a:xfrm>
            <a:off x="4654296"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anage churn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nage churn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Manage: whom to contact?</a:t>
            </a:r>
          </a:p>
        </p:txBody>
      </p:sp>
      <p:pic>
        <p:nvPicPr>
          <p:cNvPr id="14" name="Icon LuTarget" descr="LuTarget-white.png"/>
          <p:cNvPicPr>
            <a:picLocks noChangeAspect="1"/>
          </p:cNvPicPr>
          <p:nvPr/>
        </p:nvPicPr>
        <p:blipFill>
          <a:blip r:embed="rId3"/>
          <a:stretch>
            <a:fillRect/>
          </a:stretch>
        </p:blipFill>
        <p:spPr>
          <a:xfrm>
            <a:off x="8257031" y="1344168"/>
            <a:ext cx="329184" cy="329184"/>
          </a:xfrm>
          <a:prstGeom prst="rect">
            <a:avLst/>
          </a:prstGeom>
        </p:spPr>
      </p:pic>
      <p:sp>
        <p:nvSpPr>
          <p:cNvPr id="15" name="Manage churn text"/>
          <p:cNvSpPr txBox="1"/>
          <p:nvPr/>
        </p:nvSpPr>
        <p:spPr>
          <a:xfrm>
            <a:off x="4791456" y="1847088"/>
            <a:ext cx="3758184" cy="185623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Retention futility: </a:t>
            </a:r>
            <a:r>
              <a:rPr lang="en-GB" sz="1300" b="0" i="0">
                <a:solidFill>
                  <a:schemeClr val="tx1"/>
                </a:solidFill>
              </a:rPr>
              <a:t>the riskiest customers are not the most responsive</a:t>
            </a:r>
          </a:p>
          <a:p>
            <a:pPr algn="l">
              <a:spcAft>
                <a:spcPts val="700"/>
              </a:spcAft>
            </a:pPr>
            <a:r>
              <a:rPr lang="en-GB" sz="1300" b="1" i="0">
                <a:solidFill>
                  <a:schemeClr val="tx1"/>
                </a:solidFill>
              </a:rPr>
              <a:t>Target by uplift, </a:t>
            </a:r>
            <a:r>
              <a:rPr lang="en-GB" sz="1300" b="0" i="0">
                <a:solidFill>
                  <a:schemeClr val="tx1"/>
                </a:solidFill>
              </a:rPr>
              <a:t>the effect of the offer on each customer</a:t>
            </a:r>
          </a:p>
          <a:p>
            <a:pPr algn="l">
              <a:spcAft>
                <a:spcPts val="700"/>
              </a:spcAft>
            </a:pPr>
            <a:r>
              <a:rPr lang="en-GB" sz="1300" b="1" i="0">
                <a:solidFill>
                  <a:schemeClr val="tx1"/>
                </a:solidFill>
              </a:rPr>
              <a:t>Offers can backfire: </a:t>
            </a:r>
            <a:r>
              <a:rPr lang="en-GB" sz="1300" b="0" i="0">
                <a:solidFill>
                  <a:schemeClr val="tx1"/>
                </a:solidFill>
              </a:rPr>
              <a:t>churn rose from 6% to 10% after plan recommendations</a:t>
            </a:r>
          </a:p>
        </p:txBody>
      </p:sp>
      <p:sp>
        <p:nvSpPr>
          <p:cNvPr id="16" name="Churn rule"/>
          <p:cNvSpPr/>
          <p:nvPr/>
        </p:nvSpPr>
        <p:spPr>
          <a:xfrm>
            <a:off x="457200" y="3977639"/>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urn rule text"/>
          <p:cNvSpPr txBox="1"/>
          <p:nvPr/>
        </p:nvSpPr>
        <p:spPr>
          <a:xfrm>
            <a:off x="640080" y="3977639"/>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Rule: </a:t>
            </a:r>
            <a:r>
              <a:rPr lang="en-GB" sz="1300" b="0" i="0">
                <a:solidFill>
                  <a:schemeClr val="bg1"/>
                </a:solidFill>
              </a:rPr>
              <a:t>target customers whose behaviour the offer changes, weighted by their CLV.</a:t>
            </a:r>
          </a:p>
        </p:txBody>
      </p:sp>
      <p:sp>
        <p:nvSpPr>
          <p:cNvPr id="18" name="Source note"/>
          <p:cNvSpPr txBox="1"/>
          <p:nvPr/>
        </p:nvSpPr>
        <p:spPr>
          <a:xfrm>
            <a:off x="457200" y="457200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Neslin et al. (2006) JMR; Lemmens &amp; Croux (2006) JMR; Verbeke et al. (2012) EJOR; Ascarza (2018) JMR; Ascarza, Iyengar &amp; Schleicher (2016) JMR; Lemmens &amp; Gupta (2020) Marketing Science.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5 of 6 · rank beats rating</a:t>
            </a:r>
          </a:p>
        </p:txBody>
      </p:sp>
      <p:sp>
        <p:nvSpPr>
          <p:cNvPr id="3" name="Title 2"/>
          <p:cNvSpPr>
            <a:spLocks noGrp="1"/>
          </p:cNvSpPr>
          <p:nvPr>
            <p:ph type="ctrTitle"/>
          </p:nvPr>
        </p:nvSpPr>
        <p:spPr/>
        <p:txBody>
          <a:bodyPr/>
          <a:lstStyle/>
          <a:p>
            <a:r>
              <a:t>Share of wallet</a:t>
            </a:r>
          </a:p>
        </p:txBody>
      </p:sp>
      <p:sp>
        <p:nvSpPr>
          <p:cNvPr id="4" name="Footer Placeholder 3"/>
          <p:cNvSpPr>
            <a:spLocks noGrp="1"/>
          </p:cNvSpPr>
          <p:nvPr>
            <p:ph type="ftr" idx="14" sz="quarter"/>
          </p:nvPr>
        </p:nvSpPr>
        <p:spPr/>
        <p:txBody>
          <a:bodyPr/>
          <a:p>
            <a:r>
              <a:rPr lang="en-GB"/>
              <a:t>Customer Loyalty, Churn and Share of Wallet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Share of wallet follows rank</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Chart SOW variance"/>
          <p:cNvGraphicFramePr>
            <a:graphicFrameLocks noGrp="1"/>
          </p:cNvGraphicFramePr>
          <p:nvPr/>
        </p:nvGraphicFramePr>
        <p:xfrm>
          <a:off x="457200" y="1234440"/>
          <a:ext cx="4023360" cy="3017520"/>
        </p:xfrm>
        <a:graphic>
          <a:graphicData uri="http://schemas.openxmlformats.org/drawingml/2006/chart">
            <c:chart xmlns:c="http://schemas.openxmlformats.org/drawingml/2006/chart" r:id="rId2"/>
          </a:graphicData>
        </a:graphic>
      </p:graphicFrame>
      <p:sp>
        <p:nvSpPr>
          <p:cNvPr id="7" name="SOW stat box 1"/>
          <p:cNvSpPr/>
          <p:nvPr/>
        </p:nvSpPr>
        <p:spPr>
          <a:xfrm>
            <a:off x="4663440" y="1325880"/>
            <a:ext cx="40233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OW figure 1"/>
          <p:cNvSpPr txBox="1"/>
          <p:nvPr/>
        </p:nvSpPr>
        <p:spPr>
          <a:xfrm>
            <a:off x="4800600" y="1399032"/>
            <a:ext cx="1280160" cy="1097280"/>
          </a:xfrm>
          <a:prstGeom prst="rect">
            <a:avLst/>
          </a:prstGeom>
          <a:noFill/>
        </p:spPr>
        <p:txBody>
          <a:bodyPr wrap="square" lIns="36576" rIns="36576" tIns="18288" bIns="18288" anchor="ctr">
            <a:spAutoFit/>
          </a:bodyPr>
          <a:lstStyle/>
          <a:p>
            <a:pPr algn="l">
              <a:spcAft>
                <a:spcPts val="0"/>
              </a:spcAft>
            </a:pPr>
            <a:r>
              <a:rPr lang="en-GB" sz="2600" b="1" i="0">
                <a:solidFill>
                  <a:schemeClr val="tx2"/>
                </a:solidFill>
                <a:latin typeface="+mj-lt"/>
              </a:rPr>
              <a:t>≈ 0.1</a:t>
            </a:r>
          </a:p>
        </p:txBody>
      </p:sp>
      <p:sp>
        <p:nvSpPr>
          <p:cNvPr id="9" name="SOW text 1"/>
          <p:cNvSpPr txBox="1"/>
          <p:nvPr/>
        </p:nvSpPr>
        <p:spPr>
          <a:xfrm>
            <a:off x="6080760" y="1417320"/>
            <a:ext cx="2514600" cy="1097280"/>
          </a:xfrm>
          <a:prstGeom prst="rect">
            <a:avLst/>
          </a:prstGeom>
          <a:noFill/>
        </p:spPr>
        <p:txBody>
          <a:bodyPr wrap="square" lIns="36576" rIns="36576" tIns="18288" bIns="18288" anchor="t">
            <a:spAutoFit/>
          </a:bodyPr>
          <a:lstStyle/>
          <a:p>
            <a:pPr algn="l">
              <a:spcAft>
                <a:spcPts val="200"/>
              </a:spcAft>
            </a:pPr>
            <a:r>
              <a:rPr lang="en-GB" sz="1200" b="0" i="0">
                <a:solidFill>
                  <a:schemeClr val="tx1"/>
                </a:solidFill>
              </a:rPr>
              <a:t>correlation of changes in satisfaction or NPS with changes in share of wallet</a:t>
            </a:r>
          </a:p>
          <a:p>
            <a:pPr algn="l">
              <a:spcAft>
                <a:spcPts val="200"/>
              </a:spcAft>
            </a:pPr>
            <a:r>
              <a:rPr lang="en-GB" sz="1050" b="0" i="0">
                <a:solidFill>
                  <a:srgbClr val="595959"/>
                </a:solidFill>
              </a:rPr>
              <a:t>Keiningham et al. (2011) HBR</a:t>
            </a:r>
          </a:p>
        </p:txBody>
      </p:sp>
      <p:sp>
        <p:nvSpPr>
          <p:cNvPr id="10" name="SOW stat box 2"/>
          <p:cNvSpPr/>
          <p:nvPr/>
        </p:nvSpPr>
        <p:spPr>
          <a:xfrm>
            <a:off x="4663440" y="2788920"/>
            <a:ext cx="40233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OW figure 2"/>
          <p:cNvSpPr txBox="1"/>
          <p:nvPr/>
        </p:nvSpPr>
        <p:spPr>
          <a:xfrm>
            <a:off x="4800600" y="2862072"/>
            <a:ext cx="1280160" cy="1097280"/>
          </a:xfrm>
          <a:prstGeom prst="rect">
            <a:avLst/>
          </a:prstGeom>
          <a:noFill/>
        </p:spPr>
        <p:txBody>
          <a:bodyPr wrap="square" lIns="36576" rIns="36576" tIns="18288" bIns="18288" anchor="ctr">
            <a:spAutoFit/>
          </a:bodyPr>
          <a:lstStyle/>
          <a:p>
            <a:pPr algn="l">
              <a:spcAft>
                <a:spcPts val="0"/>
              </a:spcAft>
            </a:pPr>
            <a:r>
              <a:rPr lang="en-GB" sz="2600" b="1" i="0">
                <a:solidFill>
                  <a:schemeClr val="tx2"/>
                </a:solidFill>
                <a:latin typeface="+mj-lt"/>
              </a:rPr>
              <a:t>10×</a:t>
            </a:r>
          </a:p>
        </p:txBody>
      </p:sp>
      <p:sp>
        <p:nvSpPr>
          <p:cNvPr id="12" name="SOW text 2"/>
          <p:cNvSpPr txBox="1"/>
          <p:nvPr/>
        </p:nvSpPr>
        <p:spPr>
          <a:xfrm>
            <a:off x="6080760" y="2880360"/>
            <a:ext cx="2514600" cy="1097280"/>
          </a:xfrm>
          <a:prstGeom prst="rect">
            <a:avLst/>
          </a:prstGeom>
          <a:noFill/>
        </p:spPr>
        <p:txBody>
          <a:bodyPr wrap="square" lIns="36576" rIns="36576" tIns="18288" bIns="18288" anchor="t">
            <a:spAutoFit/>
          </a:bodyPr>
          <a:lstStyle/>
          <a:p>
            <a:pPr algn="l">
              <a:spcAft>
                <a:spcPts val="200"/>
              </a:spcAft>
            </a:pPr>
            <a:r>
              <a:rPr lang="en-GB" sz="1200" b="0" i="0">
                <a:solidFill>
                  <a:schemeClr val="tx1"/>
                </a:solidFill>
              </a:rPr>
              <a:t>spending shifts can be worth up to ten times more than outright defections</a:t>
            </a:r>
          </a:p>
          <a:p>
            <a:pPr algn="l">
              <a:spcAft>
                <a:spcPts val="200"/>
              </a:spcAft>
            </a:pPr>
            <a:r>
              <a:rPr lang="en-GB" sz="1050" b="0" i="0">
                <a:solidFill>
                  <a:srgbClr val="595959"/>
                </a:solidFill>
              </a:rPr>
              <a:t>Coyles &amp; Gokey (2005)</a:t>
            </a:r>
          </a:p>
        </p:txBody>
      </p:sp>
      <p:sp>
        <p:nvSpPr>
          <p:cNvPr id="13" name="Source note"/>
          <p:cNvSpPr txBox="1"/>
          <p:nvPr/>
        </p:nvSpPr>
        <p:spPr>
          <a:xfrm>
            <a:off x="457200" y="443484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Aksoy (2014) International Journal of Bank Marketing, 4,712 bank customers; Cooil et al. (2007) Journal of Marketing; Keiningham et al. (2015) Journal of Service Management.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Wallet Allocation Rule in class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WAR formula box"/>
          <p:cNvSpPr/>
          <p:nvPr/>
        </p:nvSpPr>
        <p:spPr>
          <a:xfrm>
            <a:off x="457200" y="1280160"/>
            <a:ext cx="3931920" cy="11887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AR label"/>
          <p:cNvSpPr txBox="1"/>
          <p:nvPr/>
        </p:nvSpPr>
        <p:spPr>
          <a:xfrm>
            <a:off x="640080" y="1353312"/>
            <a:ext cx="3566160" cy="365760"/>
          </a:xfrm>
          <a:prstGeom prst="rect">
            <a:avLst/>
          </a:prstGeom>
          <a:noFill/>
        </p:spPr>
        <p:txBody>
          <a:bodyPr wrap="square" lIns="36576" rIns="36576" tIns="18288" bIns="18288" anchor="t">
            <a:spAutoFit/>
          </a:bodyPr>
          <a:lstStyle/>
          <a:p>
            <a:pPr algn="l">
              <a:spcAft>
                <a:spcPts val="600"/>
              </a:spcAft>
            </a:pPr>
            <a:r>
              <a:rPr lang="en-GB" sz="1300" b="1" i="0">
                <a:solidFill>
                  <a:schemeClr val="accent6"/>
                </a:solidFill>
              </a:rPr>
              <a:t>Wallet Allocation Rule</a:t>
            </a:r>
          </a:p>
        </p:txBody>
      </p:sp>
      <p:sp>
        <p:nvSpPr>
          <p:cNvPr id="8" name="WAR formula"/>
          <p:cNvSpPr txBox="1"/>
          <p:nvPr/>
        </p:nvSpPr>
        <p:spPr>
          <a:xfrm>
            <a:off x="640080" y="1719072"/>
            <a:ext cx="3566160" cy="640080"/>
          </a:xfrm>
          <a:prstGeom prst="rect">
            <a:avLst/>
          </a:prstGeom>
          <a:noFill/>
        </p:spPr>
        <p:txBody>
          <a:bodyPr wrap="square" lIns="36576" rIns="36576" tIns="18288" bIns="18288" anchor="t">
            <a:spAutoFit/>
          </a:bodyPr>
          <a:lstStyle/>
          <a:p>
            <a:pPr algn="l">
              <a:spcAft>
                <a:spcPts val="600"/>
              </a:spcAft>
            </a:pPr>
            <a:r>
              <a:rPr lang="en-GB" sz="2000" b="1" i="0">
                <a:solidFill>
                  <a:schemeClr val="bg1"/>
                </a:solidFill>
                <a:latin typeface="+mj-lt"/>
              </a:rPr>
              <a:t>SOW = (1 − rank ÷ (n + 1)) × 2 ÷ n</a:t>
            </a:r>
          </a:p>
        </p:txBody>
      </p:sp>
      <p:graphicFrame>
        <p:nvGraphicFramePr>
          <p:cNvPr id="9" name="WAR table"/>
          <p:cNvGraphicFramePr>
            <a:graphicFrameLocks noGrp="1"/>
          </p:cNvGraphicFramePr>
          <p:nvPr/>
        </p:nvGraphicFramePr>
        <p:xfrm>
          <a:off x="457200" y="2651760"/>
          <a:ext cx="3931920" cy="1463040"/>
        </p:xfrm>
        <a:graphic>
          <a:graphicData uri="http://schemas.openxmlformats.org/drawingml/2006/table">
            <a:tbl>
              <a:tblPr firstRow="1" bandRow="1">
                <a:tableStyleId>{5C22544A-7EE6-4342-B048-85BDC9FD1C3A}</a:tableStyleId>
              </a:tblPr>
              <a:tblGrid>
                <a:gridCol w="2377440"/>
                <a:gridCol w="1554480"/>
              </a:tblGrid>
              <a:tr h="365760">
                <a:tc>
                  <a:txBody>
                    <a:bodyPr/>
                    <a:lstStyle/>
                    <a:p>
                      <a:r>
                        <a:rPr lang="en-GB" sz="1300" b="1">
                          <a:solidFill>
                            <a:schemeClr val="bg1"/>
                          </a:solidFill>
                        </a:rPr>
                        <a:t>Rank among 3 brands</a:t>
                      </a:r>
                    </a:p>
                  </a:txBody>
                  <a:tcPr anchor="ctr">
                    <a:solidFill>
                      <a:schemeClr val="accent1"/>
                    </a:solidFill>
                  </a:tcPr>
                </a:tc>
                <a:tc>
                  <a:txBody>
                    <a:bodyPr/>
                    <a:lstStyle/>
                    <a:p>
                      <a:r>
                        <a:rPr lang="en-GB" sz="1300" b="1">
                          <a:solidFill>
                            <a:schemeClr val="bg1"/>
                          </a:solidFill>
                        </a:rPr>
                        <a:t>Predicted share</a:t>
                      </a:r>
                    </a:p>
                  </a:txBody>
                  <a:tcPr anchor="ctr">
                    <a:solidFill>
                      <a:schemeClr val="accent1"/>
                    </a:solidFill>
                  </a:tcPr>
                </a:tc>
              </a:tr>
              <a:tr h="365760">
                <a:tc>
                  <a:txBody>
                    <a:bodyPr/>
                    <a:lstStyle/>
                    <a:p>
                      <a:r>
                        <a:rPr lang="en-GB" sz="1300">
                          <a:solidFill>
                            <a:schemeClr val="tx1"/>
                          </a:solidFill>
                        </a:rPr>
                        <a:t>1st</a:t>
                      </a:r>
                    </a:p>
                  </a:txBody>
                  <a:tcPr anchor="ctr">
                    <a:solidFill>
                      <a:schemeClr val="bg2"/>
                    </a:solidFill>
                  </a:tcPr>
                </a:tc>
                <a:tc>
                  <a:txBody>
                    <a:bodyPr/>
                    <a:lstStyle/>
                    <a:p>
                      <a:r>
                        <a:rPr lang="en-GB" sz="1300" b="1">
                          <a:solidFill>
                            <a:schemeClr val="tx1"/>
                          </a:solidFill>
                        </a:rPr>
                        <a:t>50%</a:t>
                      </a:r>
                    </a:p>
                  </a:txBody>
                  <a:tcPr anchor="ctr">
                    <a:solidFill>
                      <a:schemeClr val="accent6"/>
                    </a:solidFill>
                  </a:tcPr>
                </a:tc>
              </a:tr>
              <a:tr h="365760">
                <a:tc>
                  <a:txBody>
                    <a:bodyPr/>
                    <a:lstStyle/>
                    <a:p>
                      <a:r>
                        <a:rPr lang="en-GB" sz="1300">
                          <a:solidFill>
                            <a:schemeClr val="tx1"/>
                          </a:solidFill>
                        </a:rPr>
                        <a:t>2nd</a:t>
                      </a:r>
                    </a:p>
                  </a:txBody>
                  <a:tcPr anchor="ctr">
                    <a:solidFill>
                      <a:schemeClr val="bg2"/>
                    </a:solidFill>
                  </a:tcPr>
                </a:tc>
                <a:tc>
                  <a:txBody>
                    <a:bodyPr/>
                    <a:lstStyle/>
                    <a:p>
                      <a:r>
                        <a:rPr lang="en-GB" sz="1300">
                          <a:solidFill>
                            <a:schemeClr val="tx1"/>
                          </a:solidFill>
                        </a:rPr>
                        <a:t>33%</a:t>
                      </a:r>
                    </a:p>
                  </a:txBody>
                  <a:tcPr anchor="ctr">
                    <a:solidFill>
                      <a:schemeClr val="bg2"/>
                    </a:solidFill>
                  </a:tcPr>
                </a:tc>
              </a:tr>
              <a:tr h="365760">
                <a:tc>
                  <a:txBody>
                    <a:bodyPr/>
                    <a:lstStyle/>
                    <a:p>
                      <a:r>
                        <a:rPr lang="en-GB" sz="1300">
                          <a:solidFill>
                            <a:schemeClr val="tx1"/>
                          </a:solidFill>
                        </a:rPr>
                        <a:t>3rd</a:t>
                      </a:r>
                    </a:p>
                  </a:txBody>
                  <a:tcPr anchor="ctr">
                    <a:solidFill>
                      <a:schemeClr val="bg2"/>
                    </a:solidFill>
                  </a:tcPr>
                </a:tc>
                <a:tc>
                  <a:txBody>
                    <a:bodyPr/>
                    <a:lstStyle/>
                    <a:p>
                      <a:r>
                        <a:rPr lang="en-GB" sz="1300">
                          <a:solidFill>
                            <a:schemeClr val="tx1"/>
                          </a:solidFill>
                        </a:rPr>
                        <a:t>17%</a:t>
                      </a:r>
                    </a:p>
                  </a:txBody>
                  <a:tcPr anchor="ctr">
                    <a:solidFill>
                      <a:schemeClr val="bg2"/>
                    </a:solidFill>
                  </a:tcPr>
                </a:tc>
              </a:tr>
            </a:tbl>
          </a:graphicData>
        </a:graphic>
      </p:graphicFrame>
      <p:sp>
        <p:nvSpPr>
          <p:cNvPr id="10" name="WAR step number 1"/>
          <p:cNvSpPr/>
          <p:nvPr/>
        </p:nvSpPr>
        <p:spPr>
          <a:xfrm>
            <a:off x="4663440" y="1389888"/>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1</a:t>
            </a:r>
          </a:p>
        </p:txBody>
      </p:sp>
      <p:sp>
        <p:nvSpPr>
          <p:cNvPr id="11" name="WAR step 1"/>
          <p:cNvSpPr txBox="1"/>
          <p:nvPr/>
        </p:nvSpPr>
        <p:spPr>
          <a:xfrm>
            <a:off x="5166360" y="1280160"/>
            <a:ext cx="3520440" cy="594360"/>
          </a:xfrm>
          <a:prstGeom prst="rect">
            <a:avLst/>
          </a:prstGeom>
          <a:noFill/>
        </p:spPr>
        <p:txBody>
          <a:bodyPr wrap="square" lIns="36576" rIns="36576" tIns="18288" bIns="18288" anchor="ctr">
            <a:spAutoFit/>
          </a:bodyPr>
          <a:lstStyle/>
          <a:p>
            <a:pPr algn="l">
              <a:spcAft>
                <a:spcPts val="0"/>
              </a:spcAft>
            </a:pPr>
            <a:r>
              <a:rPr lang="en-GB" sz="1300" b="0" i="0">
                <a:solidFill>
                  <a:schemeClr val="tx1"/>
                </a:solidFill>
              </a:rPr>
              <a:t>Each student lists the supermarkets they used last month</a:t>
            </a:r>
          </a:p>
        </p:txBody>
      </p:sp>
      <p:sp>
        <p:nvSpPr>
          <p:cNvPr id="12" name="WAR step number 2"/>
          <p:cNvSpPr/>
          <p:nvPr/>
        </p:nvSpPr>
        <p:spPr>
          <a:xfrm>
            <a:off x="4663440" y="210312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2</a:t>
            </a:r>
          </a:p>
        </p:txBody>
      </p:sp>
      <p:sp>
        <p:nvSpPr>
          <p:cNvPr id="13" name="WAR step 2"/>
          <p:cNvSpPr txBox="1"/>
          <p:nvPr/>
        </p:nvSpPr>
        <p:spPr>
          <a:xfrm>
            <a:off x="5166360" y="1993391"/>
            <a:ext cx="3520440" cy="594360"/>
          </a:xfrm>
          <a:prstGeom prst="rect">
            <a:avLst/>
          </a:prstGeom>
          <a:noFill/>
        </p:spPr>
        <p:txBody>
          <a:bodyPr wrap="square" lIns="36576" rIns="36576" tIns="18288" bIns="18288" anchor="ctr">
            <a:spAutoFit/>
          </a:bodyPr>
          <a:lstStyle/>
          <a:p>
            <a:pPr algn="l">
              <a:spcAft>
                <a:spcPts val="0"/>
              </a:spcAft>
            </a:pPr>
            <a:r>
              <a:rPr lang="en-GB" sz="1300" b="0" i="0">
                <a:solidFill>
                  <a:schemeClr val="tx1"/>
                </a:solidFill>
              </a:rPr>
              <a:t>Rank them from most to least preferred</a:t>
            </a:r>
          </a:p>
        </p:txBody>
      </p:sp>
      <p:sp>
        <p:nvSpPr>
          <p:cNvPr id="14" name="WAR step number 3"/>
          <p:cNvSpPr/>
          <p:nvPr/>
        </p:nvSpPr>
        <p:spPr>
          <a:xfrm>
            <a:off x="4663440" y="2816352"/>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3</a:t>
            </a:r>
          </a:p>
        </p:txBody>
      </p:sp>
      <p:sp>
        <p:nvSpPr>
          <p:cNvPr id="15" name="WAR step 3"/>
          <p:cNvSpPr txBox="1"/>
          <p:nvPr/>
        </p:nvSpPr>
        <p:spPr>
          <a:xfrm>
            <a:off x="5166360" y="2706624"/>
            <a:ext cx="3520440" cy="594360"/>
          </a:xfrm>
          <a:prstGeom prst="rect">
            <a:avLst/>
          </a:prstGeom>
          <a:noFill/>
        </p:spPr>
        <p:txBody>
          <a:bodyPr wrap="square" lIns="36576" rIns="36576" tIns="18288" bIns="18288" anchor="ctr">
            <a:spAutoFit/>
          </a:bodyPr>
          <a:lstStyle/>
          <a:p>
            <a:pPr algn="l">
              <a:spcAft>
                <a:spcPts val="0"/>
              </a:spcAft>
            </a:pPr>
            <a:r>
              <a:rPr lang="en-GB" sz="1300" b="0" i="0">
                <a:solidFill>
                  <a:schemeClr val="tx1"/>
                </a:solidFill>
              </a:rPr>
              <a:t>Estimate the actual split of spending</a:t>
            </a:r>
          </a:p>
        </p:txBody>
      </p:sp>
      <p:sp>
        <p:nvSpPr>
          <p:cNvPr id="16" name="WAR step number 4"/>
          <p:cNvSpPr/>
          <p:nvPr/>
        </p:nvSpPr>
        <p:spPr>
          <a:xfrm>
            <a:off x="4663440" y="3529584"/>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4</a:t>
            </a:r>
          </a:p>
        </p:txBody>
      </p:sp>
      <p:sp>
        <p:nvSpPr>
          <p:cNvPr id="17" name="WAR step 4"/>
          <p:cNvSpPr txBox="1"/>
          <p:nvPr/>
        </p:nvSpPr>
        <p:spPr>
          <a:xfrm>
            <a:off x="5166360" y="3419856"/>
            <a:ext cx="3520440" cy="594360"/>
          </a:xfrm>
          <a:prstGeom prst="rect">
            <a:avLst/>
          </a:prstGeom>
          <a:noFill/>
        </p:spPr>
        <p:txBody>
          <a:bodyPr wrap="square" lIns="36576" rIns="36576" tIns="18288" bIns="18288" anchor="ctr">
            <a:spAutoFit/>
          </a:bodyPr>
          <a:lstStyle/>
          <a:p>
            <a:pPr algn="l">
              <a:spcAft>
                <a:spcPts val="0"/>
              </a:spcAft>
            </a:pPr>
            <a:r>
              <a:rPr lang="en-GB" sz="1300" b="0" i="0">
                <a:solidFill>
                  <a:schemeClr val="tx1"/>
                </a:solidFill>
              </a:rPr>
              <a:t>Compare predicted and actual shares in a scatter plot</a:t>
            </a:r>
          </a:p>
        </p:txBody>
      </p:sp>
      <p:sp>
        <p:nvSpPr>
          <p:cNvPr id="18" name="WAR callout"/>
          <p:cNvSpPr/>
          <p:nvPr/>
        </p:nvSpPr>
        <p:spPr>
          <a:xfrm>
            <a:off x="457200" y="42976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WAR callout text"/>
          <p:cNvSpPr txBox="1"/>
          <p:nvPr/>
        </p:nvSpPr>
        <p:spPr>
          <a:xfrm>
            <a:off x="640080" y="4297680"/>
            <a:ext cx="7863840" cy="45720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To grow share, improve your rank against the brands customers also use.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Loyalty programmes: smaller effects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LP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P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7×</a:t>
            </a:r>
          </a:p>
        </p:txBody>
      </p:sp>
      <p:sp>
        <p:nvSpPr>
          <p:cNvPr id="8" name="LP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smaller programme effect on share of wallet once self-selection of heavy buyers is controlled.</a:t>
            </a:r>
          </a:p>
          <a:p>
            <a:pPr algn="l">
              <a:spcAft>
                <a:spcPts val="200"/>
              </a:spcAft>
            </a:pPr>
            <a:r>
              <a:rPr lang="en-GB" sz="1050" b="0" i="0">
                <a:solidFill>
                  <a:srgbClr val="595959"/>
                </a:solidFill>
              </a:rPr>
              <a:t>Leenheer, van Heerde, Bijmolt &amp; Smidts (2007) IJRM</a:t>
            </a:r>
          </a:p>
        </p:txBody>
      </p:sp>
      <p:sp>
        <p:nvSpPr>
          <p:cNvPr id="9" name="LP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P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6-9</a:t>
            </a:r>
          </a:p>
        </p:txBody>
      </p:sp>
      <p:sp>
        <p:nvSpPr>
          <p:cNvPr id="11" name="LP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months until the behaviour change after joining fades again.</a:t>
            </a:r>
          </a:p>
          <a:p>
            <a:pPr algn="l">
              <a:spcAft>
                <a:spcPts val="200"/>
              </a:spcAft>
            </a:pPr>
            <a:r>
              <a:rPr lang="en-GB" sz="1050" b="0" i="0">
                <a:solidFill>
                  <a:srgbClr val="595959"/>
                </a:solidFill>
              </a:rPr>
              <a:t>Meyer-Waarden &amp; Benavent (2009) JAMS</a:t>
            </a:r>
          </a:p>
        </p:txBody>
      </p:sp>
      <p:sp>
        <p:nvSpPr>
          <p:cNvPr id="12" name="LP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P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4.4%</a:t>
            </a:r>
          </a:p>
        </p:txBody>
      </p:sp>
      <p:sp>
        <p:nvSpPr>
          <p:cNvPr id="14" name="LP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annual growth for high loyalty spenders vs 5.5% for low spenders, 55 listed firms.</a:t>
            </a:r>
          </a:p>
          <a:p>
            <a:pPr algn="l">
              <a:spcAft>
                <a:spcPts val="200"/>
              </a:spcAft>
            </a:pPr>
            <a:r>
              <a:rPr lang="en-GB" sz="1050" b="0" i="0">
                <a:solidFill>
                  <a:srgbClr val="595959"/>
                </a:solidFill>
              </a:rPr>
              <a:t>McKinsey (2013) Making loyalty pay</a:t>
            </a:r>
          </a:p>
        </p:txBody>
      </p:sp>
      <p:sp>
        <p:nvSpPr>
          <p:cNvPr id="15" name="LP cases"/>
          <p:cNvSpPr/>
          <p:nvPr/>
        </p:nvSpPr>
        <p:spPr>
          <a:xfrm>
            <a:off x="457200" y="40690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P cases text"/>
          <p:cNvSpPr txBox="1"/>
          <p:nvPr/>
        </p:nvSpPr>
        <p:spPr>
          <a:xfrm>
            <a:off x="640080" y="4069080"/>
            <a:ext cx="7863840" cy="594360"/>
          </a:xfrm>
          <a:prstGeom prst="rect">
            <a:avLst/>
          </a:prstGeom>
          <a:noFill/>
        </p:spPr>
        <p:txBody>
          <a:bodyPr wrap="square" lIns="36576" rIns="36576" tIns="18288" bIns="18288" anchor="ctr">
            <a:spAutoFit/>
          </a:bodyPr>
          <a:lstStyle/>
          <a:p>
            <a:pPr algn="l">
              <a:spcAft>
                <a:spcPts val="0"/>
              </a:spcAft>
            </a:pPr>
            <a:r>
              <a:rPr lang="en-GB" sz="1300" b="1" i="0">
                <a:solidFill>
                  <a:schemeClr val="tx1"/>
                </a:solidFill>
              </a:rPr>
              <a:t>Local cases: </a:t>
            </a:r>
            <a:r>
              <a:rPr lang="en-GB" sz="1300" b="0" i="0">
                <a:solidFill>
                  <a:schemeClr val="tx1"/>
                </a:solidFill>
              </a:rPr>
              <a:t>jö Bonus Club (4.5 to 4.7m members) and Payback; Starbucks members bring 57 to 60% of US tender.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6 of 6 · where the chain breaks</a:t>
            </a:r>
          </a:p>
        </p:txBody>
      </p:sp>
      <p:sp>
        <p:nvSpPr>
          <p:cNvPr id="3" name="Title 2"/>
          <p:cNvSpPr>
            <a:spLocks noGrp="1"/>
          </p:cNvSpPr>
          <p:nvPr>
            <p:ph type="ctrTitle"/>
          </p:nvPr>
        </p:nvSpPr>
        <p:spPr/>
        <p:txBody>
          <a:bodyPr/>
          <a:lstStyle/>
          <a:p>
            <a:r>
              <a:t>Critiques and application</a:t>
            </a:r>
          </a:p>
        </p:txBody>
      </p:sp>
      <p:sp>
        <p:nvSpPr>
          <p:cNvPr id="4" name="Footer Placeholder 3"/>
          <p:cNvSpPr>
            <a:spLocks noGrp="1"/>
          </p:cNvSpPr>
          <p:nvPr>
            <p:ph type="ftr" idx="14" sz="quarter"/>
          </p:nvPr>
        </p:nvSpPr>
        <p:spPr/>
        <p:txBody>
          <a:bodyPr/>
          <a:p>
            <a:r>
              <a:rPr lang="en-GB"/>
              <a:t>Customer Loyalty, Churn and Share of Wallet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Loyalty is not the same as profitability</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Quadrant Barnacles"/>
          <p:cNvSpPr/>
          <p:nvPr/>
        </p:nvSpPr>
        <p:spPr>
          <a:xfrm>
            <a:off x="1920240" y="123444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Quadrant heading Barnacles"/>
          <p:cNvSpPr txBox="1"/>
          <p:nvPr/>
        </p:nvSpPr>
        <p:spPr>
          <a:xfrm>
            <a:off x="2057400" y="132588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tx2"/>
                </a:solidFill>
                <a:latin typeface="+mj-lt"/>
              </a:rPr>
              <a:t>Barnacles</a:t>
            </a:r>
          </a:p>
        </p:txBody>
      </p:sp>
      <p:sp>
        <p:nvSpPr>
          <p:cNvPr id="8" name="Quadrant text Barnacles"/>
          <p:cNvSpPr txBox="1"/>
          <p:nvPr/>
        </p:nvSpPr>
        <p:spPr>
          <a:xfrm>
            <a:off x="2057400" y="178308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Loyal but unprofitable: raise share of wallet or cut cost to serve</a:t>
            </a:r>
          </a:p>
        </p:txBody>
      </p:sp>
      <p:sp>
        <p:nvSpPr>
          <p:cNvPr id="9" name="Quadrant True friends"/>
          <p:cNvSpPr/>
          <p:nvPr/>
        </p:nvSpPr>
        <p:spPr>
          <a:xfrm>
            <a:off x="4892040" y="1234440"/>
            <a:ext cx="288036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uadrant heading True friends"/>
          <p:cNvSpPr txBox="1"/>
          <p:nvPr/>
        </p:nvSpPr>
        <p:spPr>
          <a:xfrm>
            <a:off x="5029200" y="132588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bg1"/>
                </a:solidFill>
                <a:latin typeface="+mj-lt"/>
              </a:rPr>
              <a:t>True friends</a:t>
            </a:r>
          </a:p>
        </p:txBody>
      </p:sp>
      <p:sp>
        <p:nvSpPr>
          <p:cNvPr id="11" name="Quadrant text True friends"/>
          <p:cNvSpPr txBox="1"/>
          <p:nvPr/>
        </p:nvSpPr>
        <p:spPr>
          <a:xfrm>
            <a:off x="5029200" y="178308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bg1"/>
                </a:solidFill>
              </a:rPr>
              <a:t>Loyal and profitable: keep, reward, nurture</a:t>
            </a:r>
          </a:p>
        </p:txBody>
      </p:sp>
      <p:sp>
        <p:nvSpPr>
          <p:cNvPr id="12" name="Quadrant Strangers"/>
          <p:cNvSpPr/>
          <p:nvPr/>
        </p:nvSpPr>
        <p:spPr>
          <a:xfrm>
            <a:off x="1920240" y="292608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Quadrant heading Strangers"/>
          <p:cNvSpPr txBox="1"/>
          <p:nvPr/>
        </p:nvSpPr>
        <p:spPr>
          <a:xfrm>
            <a:off x="2057400" y="301752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tx2"/>
                </a:solidFill>
                <a:latin typeface="+mj-lt"/>
              </a:rPr>
              <a:t>Strangers</a:t>
            </a:r>
          </a:p>
        </p:txBody>
      </p:sp>
      <p:sp>
        <p:nvSpPr>
          <p:cNvPr id="14" name="Quadrant text Strangers"/>
          <p:cNvSpPr txBox="1"/>
          <p:nvPr/>
        </p:nvSpPr>
        <p:spPr>
          <a:xfrm>
            <a:off x="2057400" y="347472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Neither: do not invest</a:t>
            </a:r>
          </a:p>
        </p:txBody>
      </p:sp>
      <p:sp>
        <p:nvSpPr>
          <p:cNvPr id="15" name="Quadrant Butterflies"/>
          <p:cNvSpPr/>
          <p:nvPr/>
        </p:nvSpPr>
        <p:spPr>
          <a:xfrm>
            <a:off x="4892040" y="2926080"/>
            <a:ext cx="2880360" cy="1600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Quadrant heading Butterflies"/>
          <p:cNvSpPr txBox="1"/>
          <p:nvPr/>
        </p:nvSpPr>
        <p:spPr>
          <a:xfrm>
            <a:off x="5029200" y="301752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bg1"/>
                </a:solidFill>
                <a:latin typeface="+mj-lt"/>
              </a:rPr>
              <a:t>Butterflies</a:t>
            </a:r>
          </a:p>
        </p:txBody>
      </p:sp>
      <p:sp>
        <p:nvSpPr>
          <p:cNvPr id="17" name="Quadrant text Butterflies"/>
          <p:cNvSpPr txBox="1"/>
          <p:nvPr/>
        </p:nvSpPr>
        <p:spPr>
          <a:xfrm>
            <a:off x="5029200" y="347472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bg1"/>
                </a:solidFill>
              </a:rPr>
              <a:t>Profitable but short-lived: harvest, do not chase loyalty</a:t>
            </a:r>
          </a:p>
        </p:txBody>
      </p:sp>
      <p:sp>
        <p:nvSpPr>
          <p:cNvPr id="18" name="Axis loyalty"/>
          <p:cNvSpPr txBox="1"/>
          <p:nvPr/>
        </p:nvSpPr>
        <p:spPr>
          <a:xfrm>
            <a:off x="457200" y="2423160"/>
            <a:ext cx="1371600" cy="914400"/>
          </a:xfrm>
          <a:prstGeom prst="rect">
            <a:avLst/>
          </a:prstGeom>
          <a:noFill/>
        </p:spPr>
        <p:txBody>
          <a:bodyPr wrap="square" lIns="36576" rIns="36576" tIns="18288" bIns="18288" anchor="ctr">
            <a:spAutoFit/>
          </a:bodyPr>
          <a:lstStyle/>
          <a:p>
            <a:pPr algn="r">
              <a:spcAft>
                <a:spcPts val="600"/>
              </a:spcAft>
            </a:pPr>
            <a:r>
              <a:rPr lang="en-GB" sz="1100" b="0" i="0">
                <a:solidFill>
                  <a:srgbClr val="595959"/>
                </a:solidFill>
              </a:rPr>
              <a:t>Loyalty: expected relationship length</a:t>
            </a:r>
          </a:p>
        </p:txBody>
      </p:sp>
      <p:sp>
        <p:nvSpPr>
          <p:cNvPr id="19" name="Axis profit"/>
          <p:cNvSpPr txBox="1"/>
          <p:nvPr/>
        </p:nvSpPr>
        <p:spPr>
          <a:xfrm>
            <a:off x="1920240" y="4572000"/>
            <a:ext cx="5852160" cy="274320"/>
          </a:xfrm>
          <a:prstGeom prst="rect">
            <a:avLst/>
          </a:prstGeom>
          <a:noFill/>
        </p:spPr>
        <p:txBody>
          <a:bodyPr wrap="square" lIns="36576" rIns="36576" tIns="18288" bIns="18288" anchor="t">
            <a:spAutoFit/>
          </a:bodyPr>
          <a:lstStyle/>
          <a:p>
            <a:pPr algn="ctr">
              <a:spcAft>
                <a:spcPts val="600"/>
              </a:spcAft>
            </a:pPr>
            <a:r>
              <a:rPr lang="en-GB" sz="1100" b="0" i="0">
                <a:solidFill>
                  <a:srgbClr val="595959"/>
                </a:solidFill>
              </a:rPr>
              <a:t>Profitability →</a:t>
            </a:r>
          </a:p>
        </p:txBody>
      </p:sp>
      <p:sp>
        <p:nvSpPr>
          <p:cNvPr id="20" name="Axis long"/>
          <p:cNvSpPr txBox="1"/>
          <p:nvPr/>
        </p:nvSpPr>
        <p:spPr>
          <a:xfrm>
            <a:off x="457200" y="1234440"/>
            <a:ext cx="1371600" cy="274320"/>
          </a:xfrm>
          <a:prstGeom prst="rect">
            <a:avLst/>
          </a:prstGeom>
          <a:noFill/>
        </p:spPr>
        <p:txBody>
          <a:bodyPr wrap="square" lIns="36576" rIns="36576" tIns="18288" bIns="18288" anchor="t">
            <a:spAutoFit/>
          </a:bodyPr>
          <a:lstStyle/>
          <a:p>
            <a:pPr algn="r">
              <a:spcAft>
                <a:spcPts val="600"/>
              </a:spcAft>
            </a:pPr>
            <a:r>
              <a:rPr lang="en-GB" sz="1100" b="0" i="0">
                <a:solidFill>
                  <a:srgbClr val="595959"/>
                </a:solidFill>
              </a:rPr>
              <a:t>long</a:t>
            </a:r>
          </a:p>
        </p:txBody>
      </p:sp>
      <p:sp>
        <p:nvSpPr>
          <p:cNvPr id="21" name="Axis short"/>
          <p:cNvSpPr txBox="1"/>
          <p:nvPr/>
        </p:nvSpPr>
        <p:spPr>
          <a:xfrm>
            <a:off x="457200" y="4251960"/>
            <a:ext cx="1371600" cy="274320"/>
          </a:xfrm>
          <a:prstGeom prst="rect">
            <a:avLst/>
          </a:prstGeom>
          <a:noFill/>
        </p:spPr>
        <p:txBody>
          <a:bodyPr wrap="square" lIns="36576" rIns="36576" tIns="18288" bIns="18288" anchor="t">
            <a:spAutoFit/>
          </a:bodyPr>
          <a:lstStyle/>
          <a:p>
            <a:pPr algn="r">
              <a:spcAft>
                <a:spcPts val="600"/>
              </a:spcAft>
            </a:pPr>
            <a:r>
              <a:rPr lang="en-GB" sz="1100" b="0" i="0">
                <a:solidFill>
                  <a:srgbClr val="595959"/>
                </a:solidFill>
              </a:rPr>
              <a:t>short</a:t>
            </a:r>
          </a:p>
        </p:txBody>
      </p:sp>
      <p:sp>
        <p:nvSpPr>
          <p:cNvPr id="22" name="Source note"/>
          <p:cNvSpPr txBox="1"/>
          <p:nvPr/>
        </p:nvSpPr>
        <p:spPr>
          <a:xfrm>
            <a:off x="457200" y="489204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Reinartz &amp; Kumar (2002) Harvard Business Review; Reinartz &amp; Kumar (2000) Journal of Marketing.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Where the chain breaks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Break 1"/>
          <p:cNvSpPr/>
          <p:nvPr/>
        </p:nvSpPr>
        <p:spPr>
          <a:xfrm>
            <a:off x="457200"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reak bar 1"/>
          <p:cNvSpPr/>
          <p:nvPr/>
        </p:nvSpPr>
        <p:spPr>
          <a:xfrm>
            <a:off x="457200"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reak text 1"/>
          <p:cNvSpPr txBox="1"/>
          <p:nvPr/>
        </p:nvSpPr>
        <p:spPr>
          <a:xfrm>
            <a:off x="640080" y="1280160"/>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NPS</a:t>
            </a:r>
          </a:p>
          <a:p>
            <a:pPr algn="l">
              <a:spcAft>
                <a:spcPts val="200"/>
              </a:spcAft>
            </a:pPr>
            <a:r>
              <a:rPr lang="en-GB" sz="1200" b="0" i="0">
                <a:solidFill>
                  <a:schemeClr val="tx1"/>
                </a:solidFill>
              </a:rPr>
              <a:t>No better at predicting growth than satisfaction</a:t>
            </a:r>
          </a:p>
          <a:p>
            <a:pPr algn="l">
              <a:spcAft>
                <a:spcPts val="200"/>
              </a:spcAft>
            </a:pPr>
            <a:r>
              <a:rPr lang="en-GB" sz="1050" b="0" i="0">
                <a:solidFill>
                  <a:srgbClr val="595959"/>
                </a:solidFill>
              </a:rPr>
              <a:t>Keiningham et al. (2007); van Doorn et al. (2013)</a:t>
            </a:r>
          </a:p>
        </p:txBody>
      </p:sp>
      <p:sp>
        <p:nvSpPr>
          <p:cNvPr id="9" name="Break 2"/>
          <p:cNvSpPr/>
          <p:nvPr/>
        </p:nvSpPr>
        <p:spPr>
          <a:xfrm>
            <a:off x="4654296"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reak bar 2"/>
          <p:cNvSpPr/>
          <p:nvPr/>
        </p:nvSpPr>
        <p:spPr>
          <a:xfrm>
            <a:off x="4654296"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reak text 2"/>
          <p:cNvSpPr txBox="1"/>
          <p:nvPr/>
        </p:nvSpPr>
        <p:spPr>
          <a:xfrm>
            <a:off x="4837176" y="1280160"/>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Penetration</a:t>
            </a:r>
          </a:p>
          <a:p>
            <a:pPr algn="l">
              <a:spcAft>
                <a:spcPts val="200"/>
              </a:spcAft>
            </a:pPr>
            <a:r>
              <a:rPr lang="en-GB" sz="1200" b="0" i="0">
                <a:solidFill>
                  <a:schemeClr val="tx1"/>
                </a:solidFill>
              </a:rPr>
              <a:t>Brands grow mainly by acquisition; loyalty follows size</a:t>
            </a:r>
          </a:p>
          <a:p>
            <a:pPr algn="l">
              <a:spcAft>
                <a:spcPts val="200"/>
              </a:spcAft>
            </a:pPr>
            <a:r>
              <a:rPr lang="en-GB" sz="1050" b="0" i="0">
                <a:solidFill>
                  <a:srgbClr val="595959"/>
                </a:solidFill>
              </a:rPr>
              <a:t>Ehrenberg et al. (1990); Riebe et al. (2014)</a:t>
            </a:r>
          </a:p>
        </p:txBody>
      </p:sp>
      <p:sp>
        <p:nvSpPr>
          <p:cNvPr id="12" name="Break 3"/>
          <p:cNvSpPr/>
          <p:nvPr/>
        </p:nvSpPr>
        <p:spPr>
          <a:xfrm>
            <a:off x="457200"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reak bar 3"/>
          <p:cNvSpPr/>
          <p:nvPr/>
        </p:nvSpPr>
        <p:spPr>
          <a:xfrm>
            <a:off x="457200"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reak text 3"/>
          <p:cNvSpPr txBox="1"/>
          <p:nvPr/>
        </p:nvSpPr>
        <p:spPr>
          <a:xfrm>
            <a:off x="640080" y="2487168"/>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Cross-buying</a:t>
            </a:r>
          </a:p>
          <a:p>
            <a:pPr algn="l">
              <a:spcAft>
                <a:spcPts val="200"/>
              </a:spcAft>
            </a:pPr>
            <a:r>
              <a:rPr lang="en-GB" sz="1200" b="0" i="0">
                <a:solidFill>
                  <a:schemeClr val="tx1"/>
                </a:solidFill>
              </a:rPr>
              <a:t>Growing wallet share can attract unprofitable buyers</a:t>
            </a:r>
          </a:p>
          <a:p>
            <a:pPr algn="l">
              <a:spcAft>
                <a:spcPts val="200"/>
              </a:spcAft>
            </a:pPr>
            <a:r>
              <a:rPr lang="en-GB" sz="1050" b="0" i="0">
                <a:solidFill>
                  <a:srgbClr val="595959"/>
                </a:solidFill>
              </a:rPr>
              <a:t>Shah et al. (2012)</a:t>
            </a:r>
          </a:p>
        </p:txBody>
      </p:sp>
      <p:sp>
        <p:nvSpPr>
          <p:cNvPr id="15" name="Break 4"/>
          <p:cNvSpPr/>
          <p:nvPr/>
        </p:nvSpPr>
        <p:spPr>
          <a:xfrm>
            <a:off x="4654296"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reak bar 4"/>
          <p:cNvSpPr/>
          <p:nvPr/>
        </p:nvSpPr>
        <p:spPr>
          <a:xfrm>
            <a:off x="4654296"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reak text 4"/>
          <p:cNvSpPr txBox="1"/>
          <p:nvPr/>
        </p:nvSpPr>
        <p:spPr>
          <a:xfrm>
            <a:off x="4837176" y="2487168"/>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Satisfaction cost</a:t>
            </a:r>
          </a:p>
          <a:p>
            <a:pPr algn="l">
              <a:spcAft>
                <a:spcPts val="200"/>
              </a:spcAft>
            </a:pPr>
            <a:r>
              <a:rPr lang="en-GB" sz="1200" b="0" i="0">
                <a:solidFill>
                  <a:schemeClr val="tx1"/>
                </a:solidFill>
              </a:rPr>
              <a:t>Very high satisfaction can lower shareholder returns</a:t>
            </a:r>
          </a:p>
          <a:p>
            <a:pPr algn="l">
              <a:spcAft>
                <a:spcPts val="200"/>
              </a:spcAft>
            </a:pPr>
            <a:r>
              <a:rPr lang="en-GB" sz="1050" b="0" i="0">
                <a:solidFill>
                  <a:srgbClr val="595959"/>
                </a:solidFill>
              </a:rPr>
              <a:t>Guenther &amp; Guenther (2021)</a:t>
            </a:r>
          </a:p>
        </p:txBody>
      </p:sp>
      <p:sp>
        <p:nvSpPr>
          <p:cNvPr id="18" name="Break 5"/>
          <p:cNvSpPr/>
          <p:nvPr/>
        </p:nvSpPr>
        <p:spPr>
          <a:xfrm>
            <a:off x="457200"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reak bar 5"/>
          <p:cNvSpPr/>
          <p:nvPr/>
        </p:nvSpPr>
        <p:spPr>
          <a:xfrm>
            <a:off x="457200"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reak text 5"/>
          <p:cNvSpPr txBox="1"/>
          <p:nvPr/>
        </p:nvSpPr>
        <p:spPr>
          <a:xfrm>
            <a:off x="640080" y="3694176"/>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Employees</a:t>
            </a:r>
          </a:p>
          <a:p>
            <a:pPr algn="l">
              <a:spcAft>
                <a:spcPts val="200"/>
              </a:spcAft>
            </a:pPr>
            <a:r>
              <a:rPr lang="en-GB" sz="1200" b="0" i="0">
                <a:solidFill>
                  <a:schemeClr val="tx1"/>
                </a:solidFill>
              </a:rPr>
              <a:t>Employee satisfaction does not always lift profit</a:t>
            </a:r>
          </a:p>
          <a:p>
            <a:pPr algn="l">
              <a:spcAft>
                <a:spcPts val="200"/>
              </a:spcAft>
            </a:pPr>
            <a:r>
              <a:rPr lang="en-GB" sz="1050" b="0" i="0">
                <a:solidFill>
                  <a:srgbClr val="595959"/>
                </a:solidFill>
              </a:rPr>
              <a:t>Silvestro (2002)</a:t>
            </a:r>
          </a:p>
        </p:txBody>
      </p:sp>
      <p:sp>
        <p:nvSpPr>
          <p:cNvPr id="21" name="Break 6"/>
          <p:cNvSpPr/>
          <p:nvPr/>
        </p:nvSpPr>
        <p:spPr>
          <a:xfrm>
            <a:off x="4654296"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reak bar 6"/>
          <p:cNvSpPr/>
          <p:nvPr/>
        </p:nvSpPr>
        <p:spPr>
          <a:xfrm>
            <a:off x="4654296"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reak text 6"/>
          <p:cNvSpPr txBox="1"/>
          <p:nvPr/>
        </p:nvSpPr>
        <p:spPr>
          <a:xfrm>
            <a:off x="4837176" y="3694176"/>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Lock-in</a:t>
            </a:r>
          </a:p>
          <a:p>
            <a:pPr algn="l">
              <a:spcAft>
                <a:spcPts val="200"/>
              </a:spcAft>
            </a:pPr>
            <a:r>
              <a:rPr lang="en-GB" sz="1200" b="0" i="0">
                <a:solidFill>
                  <a:schemeClr val="tx1"/>
                </a:solidFill>
              </a:rPr>
              <a:t>Switching barriers retain only while experience is poor</a:t>
            </a:r>
          </a:p>
          <a:p>
            <a:pPr algn="l">
              <a:spcAft>
                <a:spcPts val="200"/>
              </a:spcAft>
            </a:pPr>
            <a:r>
              <a:rPr lang="en-GB" sz="1050" b="0" i="0">
                <a:solidFill>
                  <a:srgbClr val="595959"/>
                </a:solidFill>
              </a:rPr>
              <a:t>Gao, Melero-Polo &amp; Sese (2022)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Lab: churn and CLV in real data</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ep 1"/>
          <p:cNvSpPr/>
          <p:nvPr/>
        </p:nvSpPr>
        <p:spPr>
          <a:xfrm>
            <a:off x="457200" y="1280160"/>
            <a:ext cx="1733702" cy="5029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300" b="1">
                <a:solidFill>
                  <a:schemeClr val="bg1"/>
                </a:solidFill>
              </a:rPr>
              <a:t>Data</a:t>
            </a:r>
          </a:p>
        </p:txBody>
      </p:sp>
      <p:sp>
        <p:nvSpPr>
          <p:cNvPr id="7" name="Step 2"/>
          <p:cNvSpPr/>
          <p:nvPr/>
        </p:nvSpPr>
        <p:spPr>
          <a:xfrm>
            <a:off x="2081174"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300" b="1">
                <a:solidFill>
                  <a:schemeClr val="bg1"/>
                </a:solidFill>
              </a:rPr>
              <a:t>Describe</a:t>
            </a:r>
          </a:p>
        </p:txBody>
      </p:sp>
      <p:sp>
        <p:nvSpPr>
          <p:cNvPr id="8" name="Step 3"/>
          <p:cNvSpPr/>
          <p:nvPr/>
        </p:nvSpPr>
        <p:spPr>
          <a:xfrm>
            <a:off x="3705148"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300" b="1">
                <a:solidFill>
                  <a:schemeClr val="bg1"/>
                </a:solidFill>
              </a:rPr>
              <a:t>Model</a:t>
            </a:r>
          </a:p>
        </p:txBody>
      </p:sp>
      <p:sp>
        <p:nvSpPr>
          <p:cNvPr id="9" name="Step 4"/>
          <p:cNvSpPr/>
          <p:nvPr/>
        </p:nvSpPr>
        <p:spPr>
          <a:xfrm>
            <a:off x="5329123"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300" b="1">
                <a:solidFill>
                  <a:schemeClr val="bg1"/>
                </a:solidFill>
              </a:rPr>
              <a:t>Value</a:t>
            </a:r>
          </a:p>
        </p:txBody>
      </p:sp>
      <p:sp>
        <p:nvSpPr>
          <p:cNvPr id="10" name="Step 5"/>
          <p:cNvSpPr/>
          <p:nvPr/>
        </p:nvSpPr>
        <p:spPr>
          <a:xfrm>
            <a:off x="6953097"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r>
              <a:rPr lang="en-GB" sz="1300" b="1">
                <a:solidFill>
                  <a:schemeClr val="bg1"/>
                </a:solidFill>
              </a:rPr>
              <a:t>Decide</a:t>
            </a:r>
          </a:p>
        </p:txBody>
      </p:sp>
      <p:sp>
        <p:nvSpPr>
          <p:cNvPr id="11" name="Lab data body"/>
          <p:cNvSpPr/>
          <p:nvPr/>
        </p:nvSpPr>
        <p:spPr>
          <a:xfrm>
            <a:off x="457200" y="1965960"/>
            <a:ext cx="329184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 data band"/>
          <p:cNvSpPr/>
          <p:nvPr/>
        </p:nvSpPr>
        <p:spPr>
          <a:xfrm>
            <a:off x="457200" y="1965960"/>
            <a:ext cx="32918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 data heading"/>
          <p:cNvSpPr txBox="1"/>
          <p:nvPr/>
        </p:nvSpPr>
        <p:spPr>
          <a:xfrm>
            <a:off x="566928" y="2020824"/>
            <a:ext cx="260604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Data and tools</a:t>
            </a:r>
          </a:p>
        </p:txBody>
      </p:sp>
      <p:pic>
        <p:nvPicPr>
          <p:cNvPr id="14" name="Icon LuDatabase" descr="LuDatabase-white.png"/>
          <p:cNvPicPr>
            <a:picLocks noChangeAspect="1"/>
          </p:cNvPicPr>
          <p:nvPr/>
        </p:nvPicPr>
        <p:blipFill>
          <a:blip r:embed="rId2"/>
          <a:stretch>
            <a:fillRect/>
          </a:stretch>
        </p:blipFill>
        <p:spPr>
          <a:xfrm>
            <a:off x="3319272" y="2029967"/>
            <a:ext cx="329184" cy="329184"/>
          </a:xfrm>
          <a:prstGeom prst="rect">
            <a:avLst/>
          </a:prstGeom>
        </p:spPr>
      </p:pic>
      <p:sp>
        <p:nvSpPr>
          <p:cNvPr id="15" name="Lab data text"/>
          <p:cNvSpPr txBox="1"/>
          <p:nvPr/>
        </p:nvSpPr>
        <p:spPr>
          <a:xfrm>
            <a:off x="594360" y="2532888"/>
            <a:ext cx="3017520" cy="158191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IBM Telco: </a:t>
            </a:r>
            <a:r>
              <a:rPr lang="en-GB" sz="1200" b="0" i="0">
                <a:solidFill>
                  <a:schemeClr val="tx1"/>
                </a:solidFill>
              </a:rPr>
              <a:t>7,043 customers, churn flag</a:t>
            </a:r>
          </a:p>
          <a:p>
            <a:pPr algn="l">
              <a:spcAft>
                <a:spcPts val="700"/>
              </a:spcAft>
            </a:pPr>
            <a:r>
              <a:rPr lang="en-GB" sz="1200" b="1" i="0">
                <a:solidFill>
                  <a:schemeClr val="tx1"/>
                </a:solidFill>
              </a:rPr>
              <a:t>CDNOW: </a:t>
            </a:r>
            <a:r>
              <a:rPr lang="en-GB" sz="1200" b="0" i="0">
                <a:solidFill>
                  <a:schemeClr val="tx1"/>
                </a:solidFill>
              </a:rPr>
              <a:t>2,357 customer sample, purchases</a:t>
            </a:r>
          </a:p>
          <a:p>
            <a:pPr algn="l">
              <a:spcAft>
                <a:spcPts val="700"/>
              </a:spcAft>
            </a:pPr>
            <a:r>
              <a:rPr lang="en-GB" sz="1200" b="1" i="0">
                <a:solidFill>
                  <a:schemeClr val="tx1"/>
                </a:solidFill>
              </a:rPr>
              <a:t>R: </a:t>
            </a:r>
            <a:r>
              <a:rPr lang="en-GB" sz="1200" b="0" i="0">
                <a:solidFill>
                  <a:schemeClr val="tx1"/>
                </a:solidFill>
              </a:rPr>
              <a:t>CLVTools, BTYDplus (WU), survival</a:t>
            </a:r>
          </a:p>
          <a:p>
            <a:pPr algn="l">
              <a:spcAft>
                <a:spcPts val="700"/>
              </a:spcAft>
            </a:pPr>
            <a:r>
              <a:rPr lang="en-GB" sz="1200" b="1" i="0">
                <a:solidFill>
                  <a:schemeClr val="tx1"/>
                </a:solidFill>
              </a:rPr>
              <a:t>Python: </a:t>
            </a:r>
            <a:r>
              <a:rPr lang="en-GB" sz="1200" b="0" i="0">
                <a:solidFill>
                  <a:schemeClr val="tx1"/>
                </a:solidFill>
              </a:rPr>
              <a:t>PyMC-Marketing, lifelines</a:t>
            </a:r>
          </a:p>
        </p:txBody>
      </p:sp>
      <p:sp>
        <p:nvSpPr>
          <p:cNvPr id="16" name="Task number 1"/>
          <p:cNvSpPr/>
          <p:nvPr/>
        </p:nvSpPr>
        <p:spPr>
          <a:xfrm>
            <a:off x="3977639" y="2011679"/>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1</a:t>
            </a:r>
          </a:p>
        </p:txBody>
      </p:sp>
      <p:sp>
        <p:nvSpPr>
          <p:cNvPr id="17" name="Task 1"/>
          <p:cNvSpPr txBox="1"/>
          <p:nvPr/>
        </p:nvSpPr>
        <p:spPr>
          <a:xfrm>
            <a:off x="4434840" y="1965960"/>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Plot retention curves by contract type (Kaplan-Meier)</a:t>
            </a:r>
          </a:p>
        </p:txBody>
      </p:sp>
      <p:sp>
        <p:nvSpPr>
          <p:cNvPr id="18" name="Task number 2"/>
          <p:cNvSpPr/>
          <p:nvPr/>
        </p:nvSpPr>
        <p:spPr>
          <a:xfrm>
            <a:off x="3977639" y="25786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2</a:t>
            </a:r>
          </a:p>
        </p:txBody>
      </p:sp>
      <p:sp>
        <p:nvSpPr>
          <p:cNvPr id="19" name="Task 2"/>
          <p:cNvSpPr txBox="1"/>
          <p:nvPr/>
        </p:nvSpPr>
        <p:spPr>
          <a:xfrm>
            <a:off x="4434840" y="2532888"/>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Fit a logit churn model; build a decile lift table</a:t>
            </a:r>
          </a:p>
        </p:txBody>
      </p:sp>
      <p:sp>
        <p:nvSpPr>
          <p:cNvPr id="20" name="Task number 3"/>
          <p:cNvSpPr/>
          <p:nvPr/>
        </p:nvSpPr>
        <p:spPr>
          <a:xfrm>
            <a:off x="3977639" y="3145535"/>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3</a:t>
            </a:r>
          </a:p>
        </p:txBody>
      </p:sp>
      <p:sp>
        <p:nvSpPr>
          <p:cNvPr id="21" name="Task 3"/>
          <p:cNvSpPr txBox="1"/>
          <p:nvPr/>
        </p:nvSpPr>
        <p:spPr>
          <a:xfrm>
            <a:off x="4434840" y="3099815"/>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Fit BG/NBD on CDNOW; compute P(alive) and annual CLV</a:t>
            </a:r>
          </a:p>
        </p:txBody>
      </p:sp>
      <p:sp>
        <p:nvSpPr>
          <p:cNvPr id="22" name="Task number 4"/>
          <p:cNvSpPr/>
          <p:nvPr/>
        </p:nvSpPr>
        <p:spPr>
          <a:xfrm>
            <a:off x="3977639" y="37124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4</a:t>
            </a:r>
          </a:p>
        </p:txBody>
      </p:sp>
      <p:sp>
        <p:nvSpPr>
          <p:cNvPr id="23" name="Task 4"/>
          <p:cNvSpPr txBox="1"/>
          <p:nvPr/>
        </p:nvSpPr>
        <p:spPr>
          <a:xfrm>
            <a:off x="4434840" y="3666744"/>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Value the base: who is worth a retention offer?</a:t>
            </a:r>
          </a:p>
        </p:txBody>
      </p:sp>
      <p:sp>
        <p:nvSpPr>
          <p:cNvPr id="24" name="Deliverable"/>
          <p:cNvSpPr/>
          <p:nvPr/>
        </p:nvSpPr>
        <p:spPr>
          <a:xfrm>
            <a:off x="457200" y="43434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liverable text"/>
          <p:cNvSpPr txBox="1"/>
          <p:nvPr/>
        </p:nvSpPr>
        <p:spPr>
          <a:xfrm>
            <a:off x="640080" y="4343400"/>
            <a:ext cx="7863840" cy="45720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Deliverable: one retention chart, one CLV table, half a page on whom to target and why.</a:t>
            </a:r>
          </a:p>
        </p:txBody>
      </p:sp>
      <p:sp>
        <p:nvSpPr>
          <p:cNvPr id="26" name="Source note"/>
          <p:cNvSpPr txBox="1"/>
          <p:nvPr/>
        </p:nvSpPr>
        <p:spPr>
          <a:xfrm>
            <a:off x="457200" y="484632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Data: Kaggle (IBM Telco Customer Churn); brucehardie.com/datasets (CDNOW). Method: Fader, Hardie &amp; Lee (2005) Marketing Science.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Teaching cases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Case Pilgrim Bank body"/>
          <p:cNvSpPr/>
          <p:nvPr/>
        </p:nvSpPr>
        <p:spPr>
          <a:xfrm>
            <a:off x="457200"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se Pilgrim Bank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se Pilgrim Bank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Pilgrim Bank</a:t>
            </a:r>
          </a:p>
        </p:txBody>
      </p:sp>
      <p:sp>
        <p:nvSpPr>
          <p:cNvPr id="9" name="Case Pilgrim Bank text"/>
          <p:cNvSpPr txBox="1"/>
          <p:nvPr/>
        </p:nvSpPr>
        <p:spPr>
          <a:xfrm>
            <a:off x="594360" y="1801368"/>
            <a:ext cx="2359152" cy="1947672"/>
          </a:xfrm>
          <a:prstGeom prst="rect">
            <a:avLst/>
          </a:prstGeom>
          <a:noFill/>
        </p:spPr>
        <p:txBody>
          <a:bodyPr wrap="square" lIns="36576" rIns="36576" tIns="18288" bIns="18288" anchor="t">
            <a:spAutoFit/>
          </a:bodyPr>
          <a:lstStyle/>
          <a:p>
            <a:pPr algn="l">
              <a:spcAft>
                <a:spcPts val="700"/>
              </a:spcAft>
            </a:pPr>
            <a:r>
              <a:rPr lang="en-GB" sz="1300" b="0" i="0">
                <a:solidFill>
                  <a:schemeClr val="tx1"/>
                </a:solidFill>
              </a:rPr>
              <a:t>Cases (A) and (B), customer-level data: are online customers more profitable and better retained?</a:t>
            </a:r>
          </a:p>
          <a:p>
            <a:pPr algn="l">
              <a:spcAft>
                <a:spcPts val="700"/>
              </a:spcAft>
            </a:pPr>
            <a:r>
              <a:rPr lang="en-GB" sz="1300" b="1" i="0">
                <a:solidFill>
                  <a:schemeClr val="tx2"/>
                </a:solidFill>
              </a:rPr>
              <a:t>Profit, retention, selection bias</a:t>
            </a:r>
          </a:p>
          <a:p>
            <a:pPr algn="l">
              <a:spcAft>
                <a:spcPts val="700"/>
              </a:spcAft>
            </a:pPr>
            <a:r>
              <a:rPr lang="en-GB" sz="1050" b="0" i="0">
                <a:solidFill>
                  <a:srgbClr val="595959"/>
                </a:solidFill>
              </a:rPr>
              <a:t>HBS 602104 / 602095</a:t>
            </a:r>
          </a:p>
        </p:txBody>
      </p:sp>
      <p:sp>
        <p:nvSpPr>
          <p:cNvPr id="10" name="Case Teleko body"/>
          <p:cNvSpPr/>
          <p:nvPr/>
        </p:nvSpPr>
        <p:spPr>
          <a:xfrm>
            <a:off x="3255264"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Teleko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se Teleko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Teleko</a:t>
            </a:r>
          </a:p>
        </p:txBody>
      </p:sp>
      <p:sp>
        <p:nvSpPr>
          <p:cNvPr id="13" name="Case Teleko text"/>
          <p:cNvSpPr txBox="1"/>
          <p:nvPr/>
        </p:nvSpPr>
        <p:spPr>
          <a:xfrm>
            <a:off x="3392424" y="1801368"/>
            <a:ext cx="2359152" cy="1947672"/>
          </a:xfrm>
          <a:prstGeom prst="rect">
            <a:avLst/>
          </a:prstGeom>
          <a:noFill/>
        </p:spPr>
        <p:txBody>
          <a:bodyPr wrap="square" lIns="36576" rIns="36576" tIns="18288" bIns="18288" anchor="t">
            <a:spAutoFit/>
          </a:bodyPr>
          <a:lstStyle/>
          <a:p>
            <a:pPr algn="l">
              <a:spcAft>
                <a:spcPts val="700"/>
              </a:spcAft>
            </a:pPr>
            <a:r>
              <a:rPr lang="en-GB" sz="1300" b="0" i="0">
                <a:solidFill>
                  <a:schemeClr val="tx1"/>
                </a:solidFill>
              </a:rPr>
              <a:t>Choose whom to target with a retention offer: churn risk or uplift?</a:t>
            </a:r>
          </a:p>
          <a:p>
            <a:pPr algn="l">
              <a:spcAft>
                <a:spcPts val="700"/>
              </a:spcAft>
            </a:pPr>
            <a:r>
              <a:rPr lang="en-GB" sz="1300" b="1" i="0">
                <a:solidFill>
                  <a:schemeClr val="tx2"/>
                </a:solidFill>
              </a:rPr>
              <a:t>Churn management</a:t>
            </a:r>
          </a:p>
          <a:p>
            <a:pPr algn="l">
              <a:spcAft>
                <a:spcPts val="700"/>
              </a:spcAft>
            </a:pPr>
            <a:r>
              <a:rPr lang="en-GB" sz="1050" b="0" i="0">
                <a:solidFill>
                  <a:srgbClr val="595959"/>
                </a:solidFill>
              </a:rPr>
              <a:t>HBS 523005, free online tool</a:t>
            </a:r>
          </a:p>
        </p:txBody>
      </p:sp>
      <p:sp>
        <p:nvSpPr>
          <p:cNvPr id="14" name="Case Harrah's body"/>
          <p:cNvSpPr/>
          <p:nvPr/>
        </p:nvSpPr>
        <p:spPr>
          <a:xfrm>
            <a:off x="6053328"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se Harrah's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se Harrah's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Harrah's</a:t>
            </a:r>
          </a:p>
        </p:txBody>
      </p:sp>
      <p:sp>
        <p:nvSpPr>
          <p:cNvPr id="17" name="Case Harrah's text"/>
          <p:cNvSpPr txBox="1"/>
          <p:nvPr/>
        </p:nvSpPr>
        <p:spPr>
          <a:xfrm>
            <a:off x="6190488" y="1801368"/>
            <a:ext cx="2359152" cy="1947672"/>
          </a:xfrm>
          <a:prstGeom prst="rect">
            <a:avLst/>
          </a:prstGeom>
          <a:noFill/>
        </p:spPr>
        <p:txBody>
          <a:bodyPr wrap="square" lIns="36576" rIns="36576" tIns="18288" bIns="18288" anchor="t">
            <a:spAutoFit/>
          </a:bodyPr>
          <a:lstStyle/>
          <a:p>
            <a:pPr algn="l">
              <a:spcAft>
                <a:spcPts val="700"/>
              </a:spcAft>
            </a:pPr>
            <a:r>
              <a:rPr lang="en-GB" sz="1300" b="0" i="0">
                <a:solidFill>
                  <a:schemeClr val="tx1"/>
                </a:solidFill>
              </a:rPr>
              <a:t>Total Rewards raised share of a gaming budget that started at 36%.</a:t>
            </a:r>
          </a:p>
          <a:p>
            <a:pPr algn="l">
              <a:spcAft>
                <a:spcPts val="700"/>
              </a:spcAft>
            </a:pPr>
            <a:r>
              <a:rPr lang="en-GB" sz="1300" b="1" i="0">
                <a:solidFill>
                  <a:schemeClr val="tx2"/>
                </a:solidFill>
              </a:rPr>
              <a:t>Share of wallet, loyalty data</a:t>
            </a:r>
          </a:p>
          <a:p>
            <a:pPr algn="l">
              <a:spcAft>
                <a:spcPts val="700"/>
              </a:spcAft>
            </a:pPr>
            <a:r>
              <a:rPr lang="en-GB" sz="1050" b="0" i="0">
                <a:solidFill>
                  <a:srgbClr val="595959"/>
                </a:solidFill>
              </a:rPr>
              <a:t>HBS 502011; Loveman (2003) HBR</a:t>
            </a:r>
          </a:p>
        </p:txBody>
      </p:sp>
      <p:sp>
        <p:nvSpPr>
          <p:cNvPr id="18" name="More cases"/>
          <p:cNvSpPr/>
          <p:nvPr/>
        </p:nvSpPr>
        <p:spPr>
          <a:xfrm>
            <a:off x="457200" y="40233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More cases text"/>
          <p:cNvSpPr txBox="1"/>
          <p:nvPr/>
        </p:nvSpPr>
        <p:spPr>
          <a:xfrm>
            <a:off x="640080" y="4023360"/>
            <a:ext cx="7863840" cy="54864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Also: </a:t>
            </a:r>
            <a:r>
              <a:rPr lang="en-GB" sz="1300" b="0" i="0">
                <a:solidFill>
                  <a:schemeClr val="bg1"/>
                </a:solidFill>
              </a:rPr>
              <a:t>Sears (service-profit chain), Starbucks: Delivering Customer Service, Netflix (Darden, CLV and valuation).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References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References core body"/>
          <p:cNvSpPr/>
          <p:nvPr/>
        </p:nvSpPr>
        <p:spPr>
          <a:xfrm>
            <a:off x="457200"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ferences core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ferences core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Core reading</a:t>
            </a:r>
          </a:p>
        </p:txBody>
      </p:sp>
      <p:pic>
        <p:nvPicPr>
          <p:cNvPr id="9" name="Icon LuGraduationCap" descr="LuGraduationCap-white.png"/>
          <p:cNvPicPr>
            <a:picLocks noChangeAspect="1"/>
          </p:cNvPicPr>
          <p:nvPr/>
        </p:nvPicPr>
        <p:blipFill>
          <a:blip r:embed="rId2"/>
          <a:stretch>
            <a:fillRect/>
          </a:stretch>
        </p:blipFill>
        <p:spPr>
          <a:xfrm>
            <a:off x="2660904" y="1298448"/>
            <a:ext cx="329184" cy="329184"/>
          </a:xfrm>
          <a:prstGeom prst="rect">
            <a:avLst/>
          </a:prstGeom>
        </p:spPr>
      </p:pic>
      <p:sp>
        <p:nvSpPr>
          <p:cNvPr id="10" name="References core text"/>
          <p:cNvSpPr txBox="1"/>
          <p:nvPr/>
        </p:nvSpPr>
        <p:spPr>
          <a:xfrm>
            <a:off x="594360" y="1801368"/>
            <a:ext cx="2359152" cy="2404872"/>
          </a:xfrm>
          <a:prstGeom prst="rect">
            <a:avLst/>
          </a:prstGeom>
          <a:noFill/>
        </p:spPr>
        <p:txBody>
          <a:bodyPr wrap="square" lIns="36576" rIns="36576" tIns="18288" bIns="18288" anchor="t">
            <a:spAutoFit/>
          </a:bodyPr>
          <a:lstStyle/>
          <a:p>
            <a:pPr algn="l">
              <a:spcAft>
                <a:spcPts val="700"/>
              </a:spcAft>
            </a:pPr>
            <a:r>
              <a:rPr lang="en-GB" sz="1100" b="1" i="0">
                <a:solidFill>
                  <a:schemeClr val="tx1"/>
                </a:solidFill>
              </a:rPr>
              <a:t>Heskett et al. (1994) </a:t>
            </a:r>
            <a:r>
              <a:rPr lang="en-GB" sz="1100" b="0" i="0">
                <a:solidFill>
                  <a:schemeClr val="tx1"/>
                </a:solidFill>
              </a:rPr>
              <a:t>Putting the service-profit chain to work, HBR</a:t>
            </a:r>
          </a:p>
          <a:p>
            <a:pPr algn="l">
              <a:spcAft>
                <a:spcPts val="700"/>
              </a:spcAft>
            </a:pPr>
            <a:r>
              <a:rPr lang="en-GB" sz="1100" b="1" i="0">
                <a:solidFill>
                  <a:schemeClr val="tx1"/>
                </a:solidFill>
              </a:rPr>
              <a:t>Gupta &amp; Zeithaml (2006) </a:t>
            </a:r>
            <a:r>
              <a:rPr lang="en-GB" sz="1100" b="0" i="0">
                <a:solidFill>
                  <a:schemeClr val="tx1"/>
                </a:solidFill>
              </a:rPr>
              <a:t>Customer metrics, Marketing Science</a:t>
            </a:r>
          </a:p>
          <a:p>
            <a:pPr algn="l">
              <a:spcAft>
                <a:spcPts val="700"/>
              </a:spcAft>
            </a:pPr>
            <a:r>
              <a:rPr lang="en-GB" sz="1100" b="1" i="0">
                <a:solidFill>
                  <a:schemeClr val="tx1"/>
                </a:solidFill>
              </a:rPr>
              <a:t>Hogreve et al. (2017) </a:t>
            </a:r>
            <a:r>
              <a:rPr lang="en-GB" sz="1100" b="0" i="0">
                <a:solidFill>
                  <a:schemeClr val="tx1"/>
                </a:solidFill>
              </a:rPr>
              <a:t>SPC meta-analysis, JM</a:t>
            </a:r>
          </a:p>
          <a:p>
            <a:pPr algn="l">
              <a:spcAft>
                <a:spcPts val="700"/>
              </a:spcAft>
            </a:pPr>
            <a:r>
              <a:rPr lang="en-GB" sz="1100" b="1" i="0">
                <a:solidFill>
                  <a:schemeClr val="tx1"/>
                </a:solidFill>
              </a:rPr>
              <a:t>Gupta et al. (2004) </a:t>
            </a:r>
            <a:r>
              <a:rPr lang="en-GB" sz="1100" b="0" i="0">
                <a:solidFill>
                  <a:schemeClr val="tx1"/>
                </a:solidFill>
              </a:rPr>
              <a:t>Valuing customers, JMR</a:t>
            </a:r>
          </a:p>
          <a:p>
            <a:pPr algn="l">
              <a:spcAft>
                <a:spcPts val="700"/>
              </a:spcAft>
            </a:pPr>
            <a:r>
              <a:rPr lang="en-GB" sz="1100" b="1" i="0">
                <a:solidFill>
                  <a:schemeClr val="tx1"/>
                </a:solidFill>
              </a:rPr>
              <a:t>Keiningham et al. (2015) </a:t>
            </a:r>
            <a:r>
              <a:rPr lang="en-GB" sz="1100" b="0" i="0">
                <a:solidFill>
                  <a:schemeClr val="tx1"/>
                </a:solidFill>
              </a:rPr>
              <a:t>Perceptions are relative, JOSM</a:t>
            </a:r>
          </a:p>
        </p:txBody>
      </p:sp>
      <p:sp>
        <p:nvSpPr>
          <p:cNvPr id="11" name="References frameworks body"/>
          <p:cNvSpPr/>
          <p:nvPr/>
        </p:nvSpPr>
        <p:spPr>
          <a:xfrm>
            <a:off x="3255264"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ferences frameworks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ferences frameworks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Frameworks</a:t>
            </a:r>
          </a:p>
        </p:txBody>
      </p:sp>
      <p:pic>
        <p:nvPicPr>
          <p:cNvPr id="14" name="Icon LuLibrary" descr="LuLibrary-white.png"/>
          <p:cNvPicPr>
            <a:picLocks noChangeAspect="1"/>
          </p:cNvPicPr>
          <p:nvPr/>
        </p:nvPicPr>
        <p:blipFill>
          <a:blip r:embed="rId3"/>
          <a:stretch>
            <a:fillRect/>
          </a:stretch>
        </p:blipFill>
        <p:spPr>
          <a:xfrm>
            <a:off x="5458968" y="1298448"/>
            <a:ext cx="329184" cy="329184"/>
          </a:xfrm>
          <a:prstGeom prst="rect">
            <a:avLst/>
          </a:prstGeom>
        </p:spPr>
      </p:pic>
      <p:sp>
        <p:nvSpPr>
          <p:cNvPr id="15" name="References frameworks text"/>
          <p:cNvSpPr txBox="1"/>
          <p:nvPr/>
        </p:nvSpPr>
        <p:spPr>
          <a:xfrm>
            <a:off x="3392424" y="1801368"/>
            <a:ext cx="2359152" cy="2404872"/>
          </a:xfrm>
          <a:prstGeom prst="rect">
            <a:avLst/>
          </a:prstGeom>
          <a:noFill/>
        </p:spPr>
        <p:txBody>
          <a:bodyPr wrap="square" lIns="36576" rIns="36576" tIns="18288" bIns="18288" anchor="t">
            <a:spAutoFit/>
          </a:bodyPr>
          <a:lstStyle/>
          <a:p>
            <a:pPr algn="l">
              <a:spcAft>
                <a:spcPts val="700"/>
              </a:spcAft>
            </a:pPr>
            <a:r>
              <a:rPr lang="en-GB" sz="1100" b="1" i="0">
                <a:solidFill>
                  <a:schemeClr val="tx1"/>
                </a:solidFill>
              </a:rPr>
              <a:t>Srivastava et al. (1998) </a:t>
            </a:r>
            <a:r>
              <a:rPr lang="en-GB" sz="1100" b="0" i="0">
                <a:solidFill>
                  <a:schemeClr val="tx1"/>
                </a:solidFill>
              </a:rPr>
              <a:t>Market-based assets, JM</a:t>
            </a:r>
          </a:p>
          <a:p>
            <a:pPr algn="l">
              <a:spcAft>
                <a:spcPts val="700"/>
              </a:spcAft>
            </a:pPr>
            <a:r>
              <a:rPr lang="en-GB" sz="1100" b="1" i="0">
                <a:solidFill>
                  <a:schemeClr val="tx1"/>
                </a:solidFill>
              </a:rPr>
              <a:t>Rust et al. (2004) </a:t>
            </a:r>
            <a:r>
              <a:rPr lang="en-GB" sz="1100" b="0" i="0">
                <a:solidFill>
                  <a:schemeClr val="tx1"/>
                </a:solidFill>
              </a:rPr>
              <a:t>Return on marketing, JM</a:t>
            </a:r>
          </a:p>
          <a:p>
            <a:pPr algn="l">
              <a:spcAft>
                <a:spcPts val="700"/>
              </a:spcAft>
            </a:pPr>
            <a:r>
              <a:rPr lang="en-GB" sz="1100" b="1" i="0">
                <a:solidFill>
                  <a:schemeClr val="tx1"/>
                </a:solidFill>
              </a:rPr>
              <a:t>Reinartz &amp; Kumar (2002) </a:t>
            </a:r>
            <a:r>
              <a:rPr lang="en-GB" sz="1100" b="0" i="0">
                <a:solidFill>
                  <a:schemeClr val="tx1"/>
                </a:solidFill>
              </a:rPr>
              <a:t>Mismanagement of loyalty, HBR</a:t>
            </a:r>
          </a:p>
          <a:p>
            <a:pPr algn="l">
              <a:spcAft>
                <a:spcPts val="700"/>
              </a:spcAft>
            </a:pPr>
            <a:r>
              <a:rPr lang="en-GB" sz="1100" b="1" i="0">
                <a:solidFill>
                  <a:schemeClr val="tx1"/>
                </a:solidFill>
              </a:rPr>
              <a:t>Otto et al. (2020) </a:t>
            </a:r>
            <a:r>
              <a:rPr lang="en-GB" sz="1100" b="0" i="0">
                <a:solidFill>
                  <a:schemeClr val="tx1"/>
                </a:solidFill>
              </a:rPr>
              <a:t>Satisfaction meta-analysis, JAMS</a:t>
            </a:r>
          </a:p>
          <a:p>
            <a:pPr algn="l">
              <a:spcAft>
                <a:spcPts val="700"/>
              </a:spcAft>
            </a:pPr>
            <a:r>
              <a:rPr lang="en-GB" sz="1100" b="1" i="0">
                <a:solidFill>
                  <a:schemeClr val="tx1"/>
                </a:solidFill>
              </a:rPr>
              <a:t>Edeling &amp; Fischer (2016) </a:t>
            </a:r>
            <a:r>
              <a:rPr lang="en-GB" sz="1100" b="0" i="0">
                <a:solidFill>
                  <a:schemeClr val="tx1"/>
                </a:solidFill>
              </a:rPr>
              <a:t>Firm value meta-analysis, JMR</a:t>
            </a:r>
          </a:p>
        </p:txBody>
      </p:sp>
      <p:sp>
        <p:nvSpPr>
          <p:cNvPr id="16" name="References methods body"/>
          <p:cNvSpPr/>
          <p:nvPr/>
        </p:nvSpPr>
        <p:spPr>
          <a:xfrm>
            <a:off x="6053328"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ferences methods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ferences methods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Churn, methods</a:t>
            </a:r>
          </a:p>
        </p:txBody>
      </p:sp>
      <p:pic>
        <p:nvPicPr>
          <p:cNvPr id="19" name="Icon LuChartColumn" descr="LuChartColumn-white.png"/>
          <p:cNvPicPr>
            <a:picLocks noChangeAspect="1"/>
          </p:cNvPicPr>
          <p:nvPr/>
        </p:nvPicPr>
        <p:blipFill>
          <a:blip r:embed="rId4"/>
          <a:stretch>
            <a:fillRect/>
          </a:stretch>
        </p:blipFill>
        <p:spPr>
          <a:xfrm>
            <a:off x="8257032" y="1298448"/>
            <a:ext cx="329184" cy="329184"/>
          </a:xfrm>
          <a:prstGeom prst="rect">
            <a:avLst/>
          </a:prstGeom>
        </p:spPr>
      </p:pic>
      <p:sp>
        <p:nvSpPr>
          <p:cNvPr id="20" name="References methods text"/>
          <p:cNvSpPr txBox="1"/>
          <p:nvPr/>
        </p:nvSpPr>
        <p:spPr>
          <a:xfrm>
            <a:off x="6190488" y="1801368"/>
            <a:ext cx="2359152" cy="2404872"/>
          </a:xfrm>
          <a:prstGeom prst="rect">
            <a:avLst/>
          </a:prstGeom>
          <a:noFill/>
        </p:spPr>
        <p:txBody>
          <a:bodyPr wrap="square" lIns="36576" rIns="36576" tIns="18288" bIns="18288" anchor="t">
            <a:spAutoFit/>
          </a:bodyPr>
          <a:lstStyle/>
          <a:p>
            <a:pPr algn="l">
              <a:spcAft>
                <a:spcPts val="700"/>
              </a:spcAft>
            </a:pPr>
            <a:r>
              <a:rPr lang="en-GB" sz="1100" b="1" i="0">
                <a:solidFill>
                  <a:schemeClr val="tx1"/>
                </a:solidFill>
              </a:rPr>
              <a:t>Ascarza (2018) </a:t>
            </a:r>
            <a:r>
              <a:rPr lang="en-GB" sz="1100" b="0" i="0">
                <a:solidFill>
                  <a:schemeClr val="tx1"/>
                </a:solidFill>
              </a:rPr>
              <a:t>Retention futility, JMR</a:t>
            </a:r>
          </a:p>
          <a:p>
            <a:pPr algn="l">
              <a:spcAft>
                <a:spcPts val="700"/>
              </a:spcAft>
            </a:pPr>
            <a:r>
              <a:rPr lang="en-GB" sz="1100" b="1" i="0">
                <a:solidFill>
                  <a:schemeClr val="tx1"/>
                </a:solidFill>
              </a:rPr>
              <a:t>Neslin et al. (2006) </a:t>
            </a:r>
            <a:r>
              <a:rPr lang="en-GB" sz="1100" b="0" i="0">
                <a:solidFill>
                  <a:schemeClr val="tx1"/>
                </a:solidFill>
              </a:rPr>
              <a:t>Defection detection, JMR</a:t>
            </a:r>
          </a:p>
          <a:p>
            <a:pPr algn="l">
              <a:spcAft>
                <a:spcPts val="700"/>
              </a:spcAft>
            </a:pPr>
            <a:r>
              <a:rPr lang="en-GB" sz="1100" b="1" i="0">
                <a:solidFill>
                  <a:schemeClr val="tx1"/>
                </a:solidFill>
              </a:rPr>
              <a:t>Fader et al. (2005) </a:t>
            </a:r>
            <a:r>
              <a:rPr lang="en-GB" sz="1100" b="0" i="0">
                <a:solidFill>
                  <a:schemeClr val="tx1"/>
                </a:solidFill>
              </a:rPr>
              <a:t>BG/NBD, Marketing Science</a:t>
            </a:r>
          </a:p>
          <a:p>
            <a:pPr algn="l">
              <a:spcAft>
                <a:spcPts val="700"/>
              </a:spcAft>
            </a:pPr>
            <a:r>
              <a:rPr lang="en-GB" sz="1100" b="1" i="0">
                <a:solidFill>
                  <a:schemeClr val="tx1"/>
                </a:solidFill>
              </a:rPr>
              <a:t>McCarthy et al. (2017) </a:t>
            </a:r>
            <a:r>
              <a:rPr lang="en-GB" sz="1100" b="0" i="0">
                <a:solidFill>
                  <a:schemeClr val="tx1"/>
                </a:solidFill>
              </a:rPr>
              <a:t>Valuing subscription firms, JM</a:t>
            </a:r>
          </a:p>
          <a:p>
            <a:pPr algn="l">
              <a:spcAft>
                <a:spcPts val="700"/>
              </a:spcAft>
            </a:pPr>
            <a:r>
              <a:rPr lang="en-GB" sz="1100" b="1" i="0">
                <a:solidFill>
                  <a:schemeClr val="tx1"/>
                </a:solidFill>
              </a:rPr>
              <a:t>Platzer &amp; Reutterer (2016) </a:t>
            </a:r>
            <a:r>
              <a:rPr lang="en-GB" sz="1100" b="0" i="0">
                <a:solidFill>
                  <a:schemeClr val="tx1"/>
                </a:solidFill>
              </a:rPr>
              <a:t>Pareto/GGG, Marketing Science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Key takeaways</a:t>
            </a:r>
          </a:p>
        </p:txBody>
      </p:sp>
      <p:sp>
        <p:nvSpPr>
          <p:cNvPr id="4" name="Footer Placeholder 3"/>
          <p:cNvSpPr>
            <a:spLocks noGrp="1"/>
          </p:cNvSpPr>
          <p:nvPr>
            <p:ph type="ftr" idx="11" sz="quarter"/>
          </p:nvPr>
        </p:nvSpPr>
        <p:spPr/>
        <p:txBody>
          <a:bodyPr/>
          <a:p>
            <a:r>
              <a:rPr lang="en-GB"/>
              <a:t>Customer Loyalty, Churn and Share of Wallet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Takeaway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number 1"/>
          <p:cNvSpPr/>
          <p:nvPr/>
        </p:nvSpPr>
        <p:spPr>
          <a:xfrm>
            <a:off x="566928" y="128930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1</a:t>
            </a:r>
          </a:p>
        </p:txBody>
      </p:sp>
      <p:sp>
        <p:nvSpPr>
          <p:cNvPr id="8" name="Takeaway text 1"/>
          <p:cNvSpPr txBox="1"/>
          <p:nvPr/>
        </p:nvSpPr>
        <p:spPr>
          <a:xfrm>
            <a:off x="1097280" y="1234440"/>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Metrics: </a:t>
            </a:r>
            <a:r>
              <a:rPr lang="en-GB" sz="1300" b="0" i="0">
                <a:solidFill>
                  <a:schemeClr val="tx1"/>
                </a:solidFill>
              </a:rPr>
              <a:t>measure loyalty, churn and share of wallet separately.</a:t>
            </a:r>
          </a:p>
        </p:txBody>
      </p:sp>
      <p:sp>
        <p:nvSpPr>
          <p:cNvPr id="9" name="Takeaway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akeaway number 2"/>
          <p:cNvSpPr/>
          <p:nvPr/>
        </p:nvSpPr>
        <p:spPr>
          <a:xfrm>
            <a:off x="566928" y="1819656"/>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2</a:t>
            </a:r>
          </a:p>
        </p:txBody>
      </p:sp>
      <p:sp>
        <p:nvSpPr>
          <p:cNvPr id="11" name="Takeaway text 2"/>
          <p:cNvSpPr txBox="1"/>
          <p:nvPr/>
        </p:nvSpPr>
        <p:spPr>
          <a:xfrm>
            <a:off x="1097280" y="1764792"/>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Service-profit chain: </a:t>
            </a:r>
            <a:r>
              <a:rPr lang="en-GB" sz="1300" b="0" i="0">
                <a:solidFill>
                  <a:schemeClr val="tx1"/>
                </a:solidFill>
              </a:rPr>
              <a:t>every link holds on average, but effects depend on the setting.</a:t>
            </a:r>
          </a:p>
        </p:txBody>
      </p:sp>
      <p:sp>
        <p:nvSpPr>
          <p:cNvPr id="12" name="Takeaway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number 3"/>
          <p:cNvSpPr/>
          <p:nvPr/>
        </p:nvSpPr>
        <p:spPr>
          <a:xfrm>
            <a:off x="566928" y="23500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3</a:t>
            </a:r>
          </a:p>
        </p:txBody>
      </p:sp>
      <p:sp>
        <p:nvSpPr>
          <p:cNvPr id="14" name="Takeaway text 3"/>
          <p:cNvSpPr txBox="1"/>
          <p:nvPr/>
        </p:nvSpPr>
        <p:spPr>
          <a:xfrm>
            <a:off x="1097280" y="2295144"/>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Satisfaction: </a:t>
            </a:r>
            <a:r>
              <a:rPr lang="en-GB" sz="1300" b="0" i="0">
                <a:solidFill>
                  <a:schemeClr val="tx1"/>
                </a:solidFill>
              </a:rPr>
              <a:t>relates to performance, modestly and nonlinearly.</a:t>
            </a:r>
          </a:p>
        </p:txBody>
      </p:sp>
      <p:sp>
        <p:nvSpPr>
          <p:cNvPr id="15" name="Takeaway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number 4"/>
          <p:cNvSpPr/>
          <p:nvPr/>
        </p:nvSpPr>
        <p:spPr>
          <a:xfrm>
            <a:off x="566928" y="2880360"/>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4</a:t>
            </a:r>
          </a:p>
        </p:txBody>
      </p:sp>
      <p:sp>
        <p:nvSpPr>
          <p:cNvPr id="17" name="Takeaway text 4"/>
          <p:cNvSpPr txBox="1"/>
          <p:nvPr/>
        </p:nvSpPr>
        <p:spPr>
          <a:xfrm>
            <a:off x="1097280" y="2825496"/>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Retention: </a:t>
            </a:r>
            <a:r>
              <a:rPr lang="en-GB" sz="1300" b="0" i="0">
                <a:solidFill>
                  <a:schemeClr val="tx1"/>
                </a:solidFill>
              </a:rPr>
              <a:t>is the strongest lever in customer equity and shows up in firm value.</a:t>
            </a:r>
          </a:p>
        </p:txBody>
      </p:sp>
      <p:sp>
        <p:nvSpPr>
          <p:cNvPr id="18" name="Takeaway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number 5"/>
          <p:cNvSpPr/>
          <p:nvPr/>
        </p:nvSpPr>
        <p:spPr>
          <a:xfrm>
            <a:off x="566928" y="3410712"/>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5</a:t>
            </a:r>
          </a:p>
        </p:txBody>
      </p:sp>
      <p:sp>
        <p:nvSpPr>
          <p:cNvPr id="20" name="Takeaway text 5"/>
          <p:cNvSpPr txBox="1"/>
          <p:nvPr/>
        </p:nvSpPr>
        <p:spPr>
          <a:xfrm>
            <a:off x="1097280" y="3355848"/>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Share of wallet: </a:t>
            </a:r>
            <a:r>
              <a:rPr lang="en-GB" sz="1300" b="0" i="0">
                <a:solidFill>
                  <a:schemeClr val="tx1"/>
                </a:solidFill>
              </a:rPr>
              <a:t>follows a brand's rank against competitors, not its satisfaction score.</a:t>
            </a:r>
          </a:p>
        </p:txBody>
      </p:sp>
      <p:sp>
        <p:nvSpPr>
          <p:cNvPr id="21" name="Takeaway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number 6"/>
          <p:cNvSpPr/>
          <p:nvPr/>
        </p:nvSpPr>
        <p:spPr>
          <a:xfrm>
            <a:off x="566928" y="39410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6</a:t>
            </a:r>
          </a:p>
        </p:txBody>
      </p:sp>
      <p:sp>
        <p:nvSpPr>
          <p:cNvPr id="23" name="Takeaway text 6"/>
          <p:cNvSpPr txBox="1"/>
          <p:nvPr/>
        </p:nvSpPr>
        <p:spPr>
          <a:xfrm>
            <a:off x="1097280" y="3886200"/>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Limits: </a:t>
            </a:r>
            <a:r>
              <a:rPr lang="en-GB" sz="1300" b="0" i="0">
                <a:solidFill>
                  <a:schemeClr val="tx1"/>
                </a:solidFill>
              </a:rPr>
              <a:t>loyalty is not profit; target churn offers by uplift and CLV.</a:t>
            </a:r>
          </a:p>
        </p:txBody>
      </p:sp>
      <p:sp>
        <p:nvSpPr>
          <p:cNvPr id="24" name="Next"/>
          <p:cNvSpPr/>
          <p:nvPr/>
        </p:nvSpPr>
        <p:spPr>
          <a:xfrm>
            <a:off x="457200" y="45262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ext text"/>
          <p:cNvSpPr txBox="1"/>
          <p:nvPr/>
        </p:nvSpPr>
        <p:spPr>
          <a:xfrm>
            <a:off x="640080" y="4526280"/>
            <a:ext cx="7863840" cy="45720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Next: </a:t>
            </a:r>
            <a:r>
              <a:rPr lang="en-GB" sz="1300" b="0" i="0">
                <a:solidFill>
                  <a:schemeClr val="bg1"/>
                </a:solidFill>
              </a:rPr>
              <a:t>the churn and CLV lab. Bring a laptop with R or Python installed.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12" sz="quarter"/>
          </p:nvPr>
        </p:nvSpPr>
        <p:spPr/>
        <p:txBody>
          <a:bodyPr/>
          <a:p>
            <a:r>
              <a:rPr lang="en-GB"/>
              <a:t>Customer Loyalty, Churn and Share of Wallet</a:t>
            </a:r>
          </a:p>
        </p:txBody>
      </p:sp>
      <p:sp>
        <p:nvSpPr>
          <p:cNvPr id="3" name="Slide Number Placeholder 2"/>
          <p:cNvSpPr>
            <a:spLocks noGrp="1"/>
          </p:cNvSpPr>
          <p:nvPr>
            <p:ph type="sldNum" idx="13" sz="quarter"/>
          </p:nvPr>
        </p:nvSpPr>
        <p:spPr/>
        <p:txBody>
          <a:bodyPr/>
          <a:p>
            <a:r>
              <a:rPr lang="en-GB"/>
              <a:t>PAGE </a:t>
            </a:r>
            <a:fld id="{B6F15528-21DE-4FAA-801E-634DDDAF4B2B}" type="slidenum">
              <a:rPr lang="en-GB"/>
              <a:t>‹#›</a:t>
            </a:fld>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